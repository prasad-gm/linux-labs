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258"/>
  </p:notesMasterIdLst>
  <p:sldIdLst>
    <p:sldId id="259" r:id="rId2"/>
    <p:sldId id="260" r:id="rId3"/>
    <p:sldId id="296" r:id="rId4"/>
    <p:sldId id="506" r:id="rId5"/>
    <p:sldId id="494" r:id="rId6"/>
    <p:sldId id="472" r:id="rId7"/>
    <p:sldId id="488" r:id="rId8"/>
    <p:sldId id="338" r:id="rId9"/>
    <p:sldId id="485" r:id="rId10"/>
    <p:sldId id="486" r:id="rId11"/>
    <p:sldId id="487" r:id="rId12"/>
    <p:sldId id="489" r:id="rId13"/>
    <p:sldId id="343" r:id="rId14"/>
    <p:sldId id="507" r:id="rId15"/>
    <p:sldId id="509" r:id="rId16"/>
    <p:sldId id="490" r:id="rId17"/>
    <p:sldId id="491" r:id="rId18"/>
    <p:sldId id="493" r:id="rId19"/>
    <p:sldId id="492" r:id="rId20"/>
    <p:sldId id="267" r:id="rId21"/>
    <p:sldId id="498" r:id="rId22"/>
    <p:sldId id="499" r:id="rId23"/>
    <p:sldId id="501" r:id="rId24"/>
    <p:sldId id="356" r:id="rId25"/>
    <p:sldId id="502" r:id="rId26"/>
    <p:sldId id="504" r:id="rId27"/>
    <p:sldId id="357" r:id="rId28"/>
    <p:sldId id="505" r:id="rId29"/>
    <p:sldId id="503" r:id="rId30"/>
    <p:sldId id="515" r:id="rId31"/>
    <p:sldId id="517" r:id="rId32"/>
    <p:sldId id="513" r:id="rId33"/>
    <p:sldId id="512" r:id="rId34"/>
    <p:sldId id="514" r:id="rId35"/>
    <p:sldId id="520" r:id="rId36"/>
    <p:sldId id="522" r:id="rId37"/>
    <p:sldId id="310" r:id="rId38"/>
    <p:sldId id="306" r:id="rId39"/>
    <p:sldId id="311" r:id="rId40"/>
    <p:sldId id="313" r:id="rId41"/>
    <p:sldId id="314" r:id="rId42"/>
    <p:sldId id="312" r:id="rId43"/>
    <p:sldId id="363" r:id="rId44"/>
    <p:sldId id="367" r:id="rId45"/>
    <p:sldId id="366" r:id="rId46"/>
    <p:sldId id="365" r:id="rId47"/>
    <p:sldId id="353" r:id="rId48"/>
    <p:sldId id="354" r:id="rId49"/>
    <p:sldId id="355" r:id="rId50"/>
    <p:sldId id="364" r:id="rId51"/>
    <p:sldId id="368" r:id="rId52"/>
    <p:sldId id="371" r:id="rId53"/>
    <p:sldId id="373" r:id="rId54"/>
    <p:sldId id="374" r:id="rId55"/>
    <p:sldId id="376" r:id="rId56"/>
    <p:sldId id="377" r:id="rId57"/>
    <p:sldId id="378" r:id="rId58"/>
    <p:sldId id="379" r:id="rId59"/>
    <p:sldId id="382" r:id="rId60"/>
    <p:sldId id="383" r:id="rId61"/>
    <p:sldId id="384" r:id="rId62"/>
    <p:sldId id="385" r:id="rId63"/>
    <p:sldId id="386" r:id="rId64"/>
    <p:sldId id="387" r:id="rId65"/>
    <p:sldId id="388" r:id="rId66"/>
    <p:sldId id="389" r:id="rId67"/>
    <p:sldId id="391" r:id="rId68"/>
    <p:sldId id="390" r:id="rId69"/>
    <p:sldId id="393" r:id="rId70"/>
    <p:sldId id="394" r:id="rId71"/>
    <p:sldId id="571" r:id="rId72"/>
    <p:sldId id="572" r:id="rId73"/>
    <p:sldId id="573" r:id="rId74"/>
    <p:sldId id="574" r:id="rId75"/>
    <p:sldId id="575" r:id="rId76"/>
    <p:sldId id="577" r:id="rId77"/>
    <p:sldId id="550" r:id="rId78"/>
    <p:sldId id="553" r:id="rId79"/>
    <p:sldId id="552" r:id="rId80"/>
    <p:sldId id="551" r:id="rId81"/>
    <p:sldId id="554" r:id="rId82"/>
    <p:sldId id="396" r:id="rId83"/>
    <p:sldId id="395" r:id="rId84"/>
    <p:sldId id="563" r:id="rId85"/>
    <p:sldId id="568" r:id="rId86"/>
    <p:sldId id="564" r:id="rId87"/>
    <p:sldId id="569" r:id="rId88"/>
    <p:sldId id="565" r:id="rId89"/>
    <p:sldId id="570" r:id="rId90"/>
    <p:sldId id="566" r:id="rId91"/>
    <p:sldId id="397" r:id="rId92"/>
    <p:sldId id="405" r:id="rId93"/>
    <p:sldId id="398" r:id="rId94"/>
    <p:sldId id="399" r:id="rId95"/>
    <p:sldId id="400" r:id="rId96"/>
    <p:sldId id="401" r:id="rId97"/>
    <p:sldId id="402" r:id="rId98"/>
    <p:sldId id="404" r:id="rId99"/>
    <p:sldId id="406" r:id="rId100"/>
    <p:sldId id="408" r:id="rId101"/>
    <p:sldId id="546" r:id="rId102"/>
    <p:sldId id="412" r:id="rId103"/>
    <p:sldId id="418" r:id="rId104"/>
    <p:sldId id="411" r:id="rId105"/>
    <p:sldId id="410" r:id="rId106"/>
    <p:sldId id="414" r:id="rId107"/>
    <p:sldId id="413" r:id="rId108"/>
    <p:sldId id="415" r:id="rId109"/>
    <p:sldId id="416" r:id="rId110"/>
    <p:sldId id="403" r:id="rId111"/>
    <p:sldId id="419" r:id="rId112"/>
    <p:sldId id="420" r:id="rId113"/>
    <p:sldId id="421" r:id="rId114"/>
    <p:sldId id="422" r:id="rId115"/>
    <p:sldId id="423" r:id="rId116"/>
    <p:sldId id="424" r:id="rId117"/>
    <p:sldId id="547" r:id="rId118"/>
    <p:sldId id="548" r:id="rId119"/>
    <p:sldId id="549" r:id="rId120"/>
    <p:sldId id="578" r:id="rId121"/>
    <p:sldId id="579" r:id="rId122"/>
    <p:sldId id="425" r:id="rId123"/>
    <p:sldId id="426" r:id="rId124"/>
    <p:sldId id="427" r:id="rId125"/>
    <p:sldId id="428" r:id="rId126"/>
    <p:sldId id="429" r:id="rId127"/>
    <p:sldId id="430" r:id="rId128"/>
    <p:sldId id="431" r:id="rId129"/>
    <p:sldId id="432" r:id="rId130"/>
    <p:sldId id="433" r:id="rId131"/>
    <p:sldId id="434" r:id="rId132"/>
    <p:sldId id="437" r:id="rId133"/>
    <p:sldId id="435" r:id="rId134"/>
    <p:sldId id="436" r:id="rId135"/>
    <p:sldId id="438" r:id="rId136"/>
    <p:sldId id="439" r:id="rId137"/>
    <p:sldId id="440" r:id="rId138"/>
    <p:sldId id="441" r:id="rId139"/>
    <p:sldId id="482" r:id="rId140"/>
    <p:sldId id="557" r:id="rId141"/>
    <p:sldId id="561" r:id="rId142"/>
    <p:sldId id="560" r:id="rId143"/>
    <p:sldId id="559" r:id="rId144"/>
    <p:sldId id="558" r:id="rId145"/>
    <p:sldId id="447" r:id="rId146"/>
    <p:sldId id="448" r:id="rId147"/>
    <p:sldId id="562" r:id="rId148"/>
    <p:sldId id="555" r:id="rId149"/>
    <p:sldId id="556" r:id="rId150"/>
    <p:sldId id="457" r:id="rId151"/>
    <p:sldId id="456" r:id="rId152"/>
    <p:sldId id="458" r:id="rId153"/>
    <p:sldId id="614" r:id="rId154"/>
    <p:sldId id="615" r:id="rId155"/>
    <p:sldId id="617" r:id="rId156"/>
    <p:sldId id="618" r:id="rId157"/>
    <p:sldId id="620" r:id="rId158"/>
    <p:sldId id="621" r:id="rId159"/>
    <p:sldId id="622" r:id="rId160"/>
    <p:sldId id="623" r:id="rId161"/>
    <p:sldId id="624" r:id="rId162"/>
    <p:sldId id="477" r:id="rId163"/>
    <p:sldId id="478" r:id="rId164"/>
    <p:sldId id="479" r:id="rId165"/>
    <p:sldId id="480" r:id="rId166"/>
    <p:sldId id="481" r:id="rId167"/>
    <p:sldId id="543" r:id="rId168"/>
    <p:sldId id="528" r:id="rId169"/>
    <p:sldId id="529" r:id="rId170"/>
    <p:sldId id="530" r:id="rId171"/>
    <p:sldId id="531" r:id="rId172"/>
    <p:sldId id="532" r:id="rId173"/>
    <p:sldId id="533" r:id="rId174"/>
    <p:sldId id="534" r:id="rId175"/>
    <p:sldId id="443" r:id="rId176"/>
    <p:sldId id="525" r:id="rId177"/>
    <p:sldId id="527" r:id="rId178"/>
    <p:sldId id="526" r:id="rId179"/>
    <p:sldId id="524" r:id="rId180"/>
    <p:sldId id="449" r:id="rId181"/>
    <p:sldId id="451" r:id="rId182"/>
    <p:sldId id="452" r:id="rId183"/>
    <p:sldId id="450" r:id="rId184"/>
    <p:sldId id="473" r:id="rId185"/>
    <p:sldId id="535" r:id="rId186"/>
    <p:sldId id="474" r:id="rId187"/>
    <p:sldId id="475" r:id="rId188"/>
    <p:sldId id="476" r:id="rId189"/>
    <p:sldId id="536" r:id="rId190"/>
    <p:sldId id="537" r:id="rId191"/>
    <p:sldId id="581" r:id="rId192"/>
    <p:sldId id="582" r:id="rId193"/>
    <p:sldId id="538" r:id="rId194"/>
    <p:sldId id="539" r:id="rId195"/>
    <p:sldId id="540" r:id="rId196"/>
    <p:sldId id="444" r:id="rId197"/>
    <p:sldId id="541" r:id="rId198"/>
    <p:sldId id="459" r:id="rId199"/>
    <p:sldId id="460" r:id="rId200"/>
    <p:sldId id="461" r:id="rId201"/>
    <p:sldId id="586" r:id="rId202"/>
    <p:sldId id="583" r:id="rId203"/>
    <p:sldId id="585" r:id="rId204"/>
    <p:sldId id="584" r:id="rId205"/>
    <p:sldId id="589" r:id="rId206"/>
    <p:sldId id="591" r:id="rId207"/>
    <p:sldId id="592" r:id="rId208"/>
    <p:sldId id="594" r:id="rId209"/>
    <p:sldId id="595" r:id="rId210"/>
    <p:sldId id="596" r:id="rId211"/>
    <p:sldId id="598" r:id="rId212"/>
    <p:sldId id="599" r:id="rId213"/>
    <p:sldId id="467" r:id="rId214"/>
    <p:sldId id="468" r:id="rId215"/>
    <p:sldId id="544" r:id="rId216"/>
    <p:sldId id="545" r:id="rId217"/>
    <p:sldId id="587" r:id="rId218"/>
    <p:sldId id="588" r:id="rId219"/>
    <p:sldId id="462" r:id="rId220"/>
    <p:sldId id="542" r:id="rId221"/>
    <p:sldId id="465" r:id="rId222"/>
    <p:sldId id="466" r:id="rId223"/>
    <p:sldId id="580" r:id="rId224"/>
    <p:sldId id="600" r:id="rId225"/>
    <p:sldId id="601" r:id="rId226"/>
    <p:sldId id="602" r:id="rId227"/>
    <p:sldId id="603" r:id="rId228"/>
    <p:sldId id="604" r:id="rId229"/>
    <p:sldId id="605" r:id="rId230"/>
    <p:sldId id="606" r:id="rId231"/>
    <p:sldId id="607" r:id="rId232"/>
    <p:sldId id="608" r:id="rId233"/>
    <p:sldId id="609" r:id="rId234"/>
    <p:sldId id="610" r:id="rId235"/>
    <p:sldId id="611" r:id="rId236"/>
    <p:sldId id="612" r:id="rId237"/>
    <p:sldId id="625" r:id="rId238"/>
    <p:sldId id="626" r:id="rId239"/>
    <p:sldId id="627" r:id="rId240"/>
    <p:sldId id="629" r:id="rId241"/>
    <p:sldId id="630" r:id="rId242"/>
    <p:sldId id="631" r:id="rId243"/>
    <p:sldId id="632" r:id="rId244"/>
    <p:sldId id="634" r:id="rId245"/>
    <p:sldId id="633" r:id="rId246"/>
    <p:sldId id="613" r:id="rId247"/>
    <p:sldId id="635" r:id="rId248"/>
    <p:sldId id="636" r:id="rId249"/>
    <p:sldId id="637" r:id="rId250"/>
    <p:sldId id="638" r:id="rId251"/>
    <p:sldId id="639" r:id="rId252"/>
    <p:sldId id="640" r:id="rId253"/>
    <p:sldId id="641" r:id="rId254"/>
    <p:sldId id="642" r:id="rId255"/>
    <p:sldId id="643" r:id="rId256"/>
    <p:sldId id="644" r:id="rId257"/>
  </p:sldIdLst>
  <p:sldSz cx="9144000" cy="5143500" type="screen16x9"/>
  <p:notesSz cx="6858000" cy="9144000"/>
  <p:embeddedFontLst>
    <p:embeddedFont>
      <p:font typeface="Aptos Black" panose="020B0004020202020204" pitchFamily="34" charset="0"/>
      <p:bold r:id="rId259"/>
      <p:boldItalic r:id="rId260"/>
    </p:embeddedFont>
    <p:embeddedFont>
      <p:font typeface="Chiller" panose="04020404031007020602" pitchFamily="82" charset="0"/>
      <p:regular r:id="rId261"/>
    </p:embeddedFont>
    <p:embeddedFont>
      <p:font typeface="Epilogue" panose="020B0604020202020204" charset="0"/>
      <p:regular r:id="rId262"/>
      <p:bold r:id="rId263"/>
      <p:italic r:id="rId264"/>
      <p:boldItalic r:id="rId265"/>
    </p:embeddedFont>
    <p:embeddedFont>
      <p:font typeface="Lato" panose="020F0502020204030203" pitchFamily="34" charset="0"/>
      <p:regular r:id="rId266"/>
      <p:bold r:id="rId267"/>
      <p:italic r:id="rId268"/>
      <p:boldItalic r:id="rId269"/>
    </p:embeddedFont>
    <p:embeddedFont>
      <p:font typeface="Microsoft PhagsPa" panose="020B0502040204020203" pitchFamily="34" charset="0"/>
      <p:regular r:id="rId270"/>
      <p:bold r:id="rId271"/>
    </p:embeddedFont>
    <p:embeddedFont>
      <p:font typeface="Montserrat" panose="00000500000000000000" pitchFamily="2" charset="0"/>
      <p:regular r:id="rId272"/>
      <p:bold r:id="rId273"/>
      <p:italic r:id="rId274"/>
      <p:boldItalic r:id="rId275"/>
    </p:embeddedFont>
    <p:embeddedFont>
      <p:font typeface="Nunito Light" pitchFamily="2" charset="0"/>
      <p:regular r:id="rId276"/>
      <p:italic r:id="rId277"/>
    </p:embeddedFont>
    <p:embeddedFont>
      <p:font typeface="Raleway" pitchFamily="2" charset="0"/>
      <p:regular r:id="rId278"/>
      <p:bold r:id="rId279"/>
      <p:italic r:id="rId280"/>
      <p:boldItalic r:id="rId281"/>
    </p:embeddedFont>
    <p:embeddedFont>
      <p:font typeface="Titillium Web" panose="00000500000000000000" pitchFamily="2" charset="0"/>
      <p:regular r:id="rId282"/>
      <p:bold r:id="rId283"/>
      <p:italic r:id="rId284"/>
      <p:boldItalic r:id="rId28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OS" id="{C452F6F7-16C9-4743-B25A-81AF7097CE94}">
          <p14:sldIdLst>
            <p14:sldId id="259"/>
            <p14:sldId id="260"/>
            <p14:sldId id="296"/>
            <p14:sldId id="506"/>
            <p14:sldId id="494"/>
          </p14:sldIdLst>
        </p14:section>
        <p14:section name="Introduction to UNIX &amp; Linux OS" id="{1E4B1ABC-711F-4742-8E18-C6F38BA3C76A}">
          <p14:sldIdLst>
            <p14:sldId id="472"/>
            <p14:sldId id="488"/>
            <p14:sldId id="338"/>
            <p14:sldId id="485"/>
            <p14:sldId id="486"/>
            <p14:sldId id="487"/>
            <p14:sldId id="489"/>
            <p14:sldId id="343"/>
            <p14:sldId id="507"/>
            <p14:sldId id="509"/>
            <p14:sldId id="490"/>
            <p14:sldId id="491"/>
            <p14:sldId id="493"/>
            <p14:sldId id="492"/>
          </p14:sldIdLst>
        </p14:section>
        <p14:section name="Architecture of Linux" id="{74D2AC4C-7DB1-465E-ACD5-6106FED35DA9}">
          <p14:sldIdLst>
            <p14:sldId id="267"/>
            <p14:sldId id="498"/>
            <p14:sldId id="499"/>
          </p14:sldIdLst>
        </p14:section>
        <p14:section name="Linux Families" id="{5C437FF3-D429-4FBA-BA6F-6190DEE95C28}">
          <p14:sldIdLst>
            <p14:sldId id="501"/>
            <p14:sldId id="356"/>
            <p14:sldId id="502"/>
            <p14:sldId id="504"/>
            <p14:sldId id="357"/>
            <p14:sldId id="505"/>
            <p14:sldId id="503"/>
          </p14:sldIdLst>
        </p14:section>
        <p14:section name="Desktop Envirnoments" id="{B606DA98-ABA1-43E4-B7F3-FD921B913AB8}">
          <p14:sldIdLst>
            <p14:sldId id="515"/>
            <p14:sldId id="517"/>
            <p14:sldId id="513"/>
            <p14:sldId id="512"/>
            <p14:sldId id="514"/>
          </p14:sldIdLst>
        </p14:section>
        <p14:section name="Linux Filesystem Types" id="{0450F2CF-405A-487E-8AD9-A8F80684B2C4}">
          <p14:sldIdLst>
            <p14:sldId id="520"/>
            <p14:sldId id="522"/>
          </p14:sldIdLst>
        </p14:section>
        <p14:section name="Linux Filesystem Hierarchy" id="{D0DF3925-414C-4AFB-AFF5-49CACE56C24A}">
          <p14:sldIdLst>
            <p14:sldId id="310"/>
            <p14:sldId id="306"/>
            <p14:sldId id="311"/>
            <p14:sldId id="313"/>
            <p14:sldId id="314"/>
            <p14:sldId id="312"/>
            <p14:sldId id="363"/>
            <p14:sldId id="367"/>
            <p14:sldId id="366"/>
            <p14:sldId id="365"/>
            <p14:sldId id="353"/>
            <p14:sldId id="354"/>
            <p14:sldId id="355"/>
            <p14:sldId id="364"/>
          </p14:sldIdLst>
        </p14:section>
        <p14:section name="Basic Commands" id="{BD61B27E-6F13-48A3-B8A0-8F7957FE6B0D}">
          <p14:sldIdLst>
            <p14:sldId id="368"/>
            <p14:sldId id="371"/>
            <p14:sldId id="373"/>
            <p14:sldId id="374"/>
            <p14:sldId id="376"/>
            <p14:sldId id="377"/>
            <p14:sldId id="378"/>
          </p14:sldIdLst>
        </p14:section>
        <p14:section name="Navigating path and managing files and directory" id="{77305FB8-1267-4C5C-BE1E-72549CE214E3}">
          <p14:sldIdLst>
            <p14:sldId id="379"/>
            <p14:sldId id="382"/>
            <p14:sldId id="383"/>
            <p14:sldId id="384"/>
            <p14:sldId id="385"/>
            <p14:sldId id="386"/>
            <p14:sldId id="387"/>
          </p14:sldIdLst>
        </p14:section>
        <p14:section name="Text Editors in Linux" id="{980AB5E6-D913-43C1-8D2F-FE776F170555}">
          <p14:sldIdLst>
            <p14:sldId id="388"/>
            <p14:sldId id="389"/>
            <p14:sldId id="391"/>
            <p14:sldId id="390"/>
            <p14:sldId id="393"/>
            <p14:sldId id="394"/>
          </p14:sldIdLst>
        </p14:section>
        <p14:section name="FIND and GREP" id="{E2A1F616-589E-434F-B1A9-8895016760A0}">
          <p14:sldIdLst>
            <p14:sldId id="571"/>
            <p14:sldId id="572"/>
            <p14:sldId id="573"/>
          </p14:sldIdLst>
        </p14:section>
        <p14:section name="Grep" id="{0FEC4F43-006A-48FA-A837-CC1FF29423C0}">
          <p14:sldIdLst>
            <p14:sldId id="574"/>
            <p14:sldId id="575"/>
            <p14:sldId id="577"/>
          </p14:sldIdLst>
        </p14:section>
        <p14:section name="Hard Link and Soft Link" id="{FE8DB43C-4E4D-4B6F-8CC8-90D82C4A01D1}">
          <p14:sldIdLst>
            <p14:sldId id="550"/>
            <p14:sldId id="553"/>
            <p14:sldId id="552"/>
            <p14:sldId id="551"/>
            <p14:sldId id="554"/>
          </p14:sldIdLst>
        </p14:section>
        <p14:section name="Pipeline and Command integration" id="{F088D87A-9D1A-4EC0-950A-C82EECF4C05F}">
          <p14:sldIdLst>
            <p14:sldId id="396"/>
            <p14:sldId id="395"/>
          </p14:sldIdLst>
        </p14:section>
        <p14:section name="Understanding Key Linux Files" id="{83C3270F-518A-43BF-B9AB-FADE83934423}">
          <p14:sldIdLst>
            <p14:sldId id="563"/>
            <p14:sldId id="568"/>
            <p14:sldId id="564"/>
            <p14:sldId id="569"/>
            <p14:sldId id="565"/>
            <p14:sldId id="570"/>
            <p14:sldId id="566"/>
          </p14:sldIdLst>
        </p14:section>
        <p14:section name="Users &amp; Groups Management" id="{0EC6B233-2DEA-4104-BEE8-35C0681A1FE1}">
          <p14:sldIdLst>
            <p14:sldId id="397"/>
            <p14:sldId id="405"/>
            <p14:sldId id="398"/>
            <p14:sldId id="399"/>
            <p14:sldId id="400"/>
            <p14:sldId id="401"/>
            <p14:sldId id="402"/>
            <p14:sldId id="404"/>
            <p14:sldId id="406"/>
            <p14:sldId id="408"/>
            <p14:sldId id="546"/>
            <p14:sldId id="412"/>
            <p14:sldId id="418"/>
            <p14:sldId id="411"/>
          </p14:sldIdLst>
        </p14:section>
        <p14:section name="Group" id="{B488C8F1-8532-433C-BABF-65F3BC90676E}">
          <p14:sldIdLst>
            <p14:sldId id="410"/>
            <p14:sldId id="414"/>
            <p14:sldId id="413"/>
            <p14:sldId id="415"/>
            <p14:sldId id="416"/>
            <p14:sldId id="403"/>
            <p14:sldId id="419"/>
            <p14:sldId id="420"/>
          </p14:sldIdLst>
        </p14:section>
        <p14:section name="Group Management" id="{D7C0EB56-5EE5-49D5-B65E-489B13CD1DB2}">
          <p14:sldIdLst>
            <p14:sldId id="421"/>
            <p14:sldId id="422"/>
            <p14:sldId id="423"/>
            <p14:sldId id="424"/>
          </p14:sldIdLst>
        </p14:section>
        <p14:section name="Password for a Group" id="{0198C610-BCD1-4178-87CA-0E8575179527}">
          <p14:sldIdLst>
            <p14:sldId id="547"/>
            <p14:sldId id="548"/>
            <p14:sldId id="549"/>
          </p14:sldIdLst>
        </p14:section>
        <p14:section name="Process Management" id="{0575EC7E-B241-410E-912B-E986A15218B3}">
          <p14:sldIdLst>
            <p14:sldId id="578"/>
            <p14:sldId id="579"/>
          </p14:sldIdLst>
        </p14:section>
        <p14:section name="SUDO" id="{19D7717F-9444-4949-9DDC-90DB43D3F830}">
          <p14:sldIdLst>
            <p14:sldId id="425"/>
            <p14:sldId id="426"/>
            <p14:sldId id="427"/>
            <p14:sldId id="428"/>
            <p14:sldId id="429"/>
            <p14:sldId id="430"/>
            <p14:sldId id="431"/>
            <p14:sldId id="432"/>
            <p14:sldId id="433"/>
            <p14:sldId id="434"/>
          </p14:sldIdLst>
        </p14:section>
        <p14:section name="File Permission" id="{4ED923C4-A364-4182-877B-62ACFA849183}">
          <p14:sldIdLst>
            <p14:sldId id="437"/>
            <p14:sldId id="435"/>
            <p14:sldId id="436"/>
            <p14:sldId id="438"/>
            <p14:sldId id="439"/>
            <p14:sldId id="440"/>
            <p14:sldId id="441"/>
            <p14:sldId id="482"/>
          </p14:sldIdLst>
        </p14:section>
        <p14:section name="Special Permission" id="{FA34C21C-A8BB-4440-BCF9-D71CDBDA8733}">
          <p14:sldIdLst>
            <p14:sldId id="557"/>
            <p14:sldId id="561"/>
            <p14:sldId id="560"/>
            <p14:sldId id="559"/>
            <p14:sldId id="558"/>
            <p14:sldId id="447"/>
            <p14:sldId id="448"/>
            <p14:sldId id="562"/>
          </p14:sldIdLst>
        </p14:section>
        <p14:section name="Umask" id="{7B47F71F-C1FB-419E-B40F-5AF89EEA99CE}">
          <p14:sldIdLst>
            <p14:sldId id="555"/>
            <p14:sldId id="556"/>
          </p14:sldIdLst>
        </p14:section>
        <p14:section name="Access control list" id="{88E8CF5D-9285-4CD6-BF9F-A5777701352D}">
          <p14:sldIdLst>
            <p14:sldId id="457"/>
            <p14:sldId id="456"/>
            <p14:sldId id="458"/>
          </p14:sldIdLst>
        </p14:section>
        <p14:section name="Mount" id="{59593393-1885-4A5A-BB51-66F81C111445}">
          <p14:sldIdLst>
            <p14:sldId id="614"/>
            <p14:sldId id="615"/>
            <p14:sldId id="617"/>
            <p14:sldId id="618"/>
            <p14:sldId id="620"/>
            <p14:sldId id="621"/>
            <p14:sldId id="622"/>
            <p14:sldId id="623"/>
            <p14:sldId id="624"/>
          </p14:sldIdLst>
        </p14:section>
        <p14:section name="Network" id="{2114A3F8-B77F-45FE-9E4F-5B5DD6320D8B}">
          <p14:sldIdLst>
            <p14:sldId id="477"/>
            <p14:sldId id="478"/>
            <p14:sldId id="479"/>
            <p14:sldId id="480"/>
            <p14:sldId id="481"/>
            <p14:sldId id="543"/>
          </p14:sldIdLst>
        </p14:section>
        <p14:section name="Package Management" id="{8955028F-D1F9-45F7-AE01-C42D0736AE93}">
          <p14:sldIdLst>
            <p14:sldId id="528"/>
            <p14:sldId id="529"/>
            <p14:sldId id="530"/>
            <p14:sldId id="531"/>
            <p14:sldId id="532"/>
            <p14:sldId id="533"/>
            <p14:sldId id="534"/>
            <p14:sldId id="443"/>
            <p14:sldId id="525"/>
            <p14:sldId id="527"/>
            <p14:sldId id="526"/>
            <p14:sldId id="524"/>
            <p14:sldId id="449"/>
            <p14:sldId id="451"/>
            <p14:sldId id="452"/>
            <p14:sldId id="450"/>
            <p14:sldId id="473"/>
            <p14:sldId id="535"/>
            <p14:sldId id="474"/>
            <p14:sldId id="475"/>
            <p14:sldId id="476"/>
            <p14:sldId id="536"/>
            <p14:sldId id="537"/>
          </p14:sldIdLst>
        </p14:section>
        <p14:section name="SSH Server Configuration" id="{4DB8142A-6633-4E91-9EE3-34E3F12C8073}">
          <p14:sldIdLst>
            <p14:sldId id="581"/>
            <p14:sldId id="582"/>
            <p14:sldId id="538"/>
            <p14:sldId id="539"/>
            <p14:sldId id="540"/>
            <p14:sldId id="444"/>
            <p14:sldId id="541"/>
            <p14:sldId id="459"/>
            <p14:sldId id="460"/>
            <p14:sldId id="461"/>
            <p14:sldId id="586"/>
            <p14:sldId id="583"/>
            <p14:sldId id="585"/>
            <p14:sldId id="584"/>
          </p14:sldIdLst>
        </p14:section>
        <p14:section name="Samba" id="{69003B63-B756-42DC-B5E6-DE0427923F0F}">
          <p14:sldIdLst>
            <p14:sldId id="589"/>
            <p14:sldId id="591"/>
            <p14:sldId id="592"/>
            <p14:sldId id="594"/>
            <p14:sldId id="595"/>
            <p14:sldId id="596"/>
            <p14:sldId id="598"/>
            <p14:sldId id="599"/>
          </p14:sldIdLst>
        </p14:section>
        <p14:section name="Apache Server" id="{DA0A218C-BFA6-4084-A5AB-888F4DAFEAA3}">
          <p14:sldIdLst>
            <p14:sldId id="467"/>
            <p14:sldId id="468"/>
            <p14:sldId id="544"/>
            <p14:sldId id="545"/>
            <p14:sldId id="587"/>
            <p14:sldId id="588"/>
          </p14:sldIdLst>
        </p14:section>
        <p14:section name="Cockpit" id="{2D9DD479-8D88-4F53-8728-FE8F47308057}">
          <p14:sldIdLst>
            <p14:sldId id="462"/>
            <p14:sldId id="542"/>
            <p14:sldId id="465"/>
            <p14:sldId id="466"/>
            <p14:sldId id="580"/>
          </p14:sldIdLst>
        </p14:section>
        <p14:section name="Webmin" id="{3E8CDF51-583B-4A0F-8864-7E932EE2595A}">
          <p14:sldIdLst>
            <p14:sldId id="600"/>
            <p14:sldId id="601"/>
            <p14:sldId id="602"/>
            <p14:sldId id="603"/>
            <p14:sldId id="604"/>
            <p14:sldId id="605"/>
            <p14:sldId id="606"/>
            <p14:sldId id="607"/>
          </p14:sldIdLst>
        </p14:section>
        <p14:section name="Hdd Mount" id="{9EA98E0B-5A34-4C1B-943A-2B000BF4C448}">
          <p14:sldIdLst>
            <p14:sldId id="608"/>
            <p14:sldId id="609"/>
            <p14:sldId id="610"/>
            <p14:sldId id="611"/>
            <p14:sldId id="612"/>
            <p14:sldId id="625"/>
            <p14:sldId id="626"/>
            <p14:sldId id="627"/>
            <p14:sldId id="629"/>
            <p14:sldId id="630"/>
            <p14:sldId id="631"/>
            <p14:sldId id="632"/>
            <p14:sldId id="634"/>
            <p14:sldId id="633"/>
            <p14:sldId id="613"/>
            <p14:sldId id="635"/>
            <p14:sldId id="636"/>
            <p14:sldId id="637"/>
            <p14:sldId id="638"/>
            <p14:sldId id="639"/>
            <p14:sldId id="640"/>
            <p14:sldId id="641"/>
            <p14:sldId id="642"/>
            <p14:sldId id="643"/>
            <p14:sldId id="64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EFEC"/>
    <a:srgbClr val="EB35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3EB562A-C429-4B6A-BF84-E0F167117AFC}">
  <a:tblStyle styleId="{53EB562A-C429-4B6A-BF84-E0F167117AF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85F56EB-3500-4227-9112-0BD7F699A0AF}"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05" autoAdjust="0"/>
    <p:restoredTop sz="89493" autoAdjust="0"/>
  </p:normalViewPr>
  <p:slideViewPr>
    <p:cSldViewPr snapToGrid="0">
      <p:cViewPr varScale="1">
        <p:scale>
          <a:sx n="84" d="100"/>
          <a:sy n="84" d="100"/>
        </p:scale>
        <p:origin x="882" y="90"/>
      </p:cViewPr>
      <p:guideLst/>
    </p:cSldViewPr>
  </p:slideViewPr>
  <p:outlineViewPr>
    <p:cViewPr>
      <p:scale>
        <a:sx n="33" d="100"/>
        <a:sy n="33" d="100"/>
      </p:scale>
      <p:origin x="0" y="-30570"/>
    </p:cViewPr>
  </p:outlineViewPr>
  <p:notesTextViewPr>
    <p:cViewPr>
      <p:scale>
        <a:sx n="1" d="1"/>
        <a:sy n="1" d="1"/>
      </p:scale>
      <p:origin x="0" y="0"/>
    </p:cViewPr>
  </p:notesTextViewPr>
  <p:sorterViewPr>
    <p:cViewPr>
      <p:scale>
        <a:sx n="100" d="100"/>
        <a:sy n="100" d="100"/>
      </p:scale>
      <p:origin x="0" y="-39228"/>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font" Target="fonts/font10.fntdata"/><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font" Target="fonts/font21.fntdata"/><Relationship Id="rId43" Type="http://schemas.openxmlformats.org/officeDocument/2006/relationships/slide" Target="slides/slide42.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269" Type="http://schemas.openxmlformats.org/officeDocument/2006/relationships/font" Target="fonts/font11.fntdata"/><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font" Target="fonts/font22.fntdata"/><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font" Target="fonts/font1.fntdata"/><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font" Target="fonts/font12.fntdata"/><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font" Target="fonts/font2.fntdata"/><Relationship Id="rId281" Type="http://schemas.openxmlformats.org/officeDocument/2006/relationships/font" Target="fonts/font23.fntdata"/><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font" Target="fonts/font13.fntdata"/><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font" Target="fonts/font3.fntdata"/><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font" Target="fonts/font24.fntdata"/><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font" Target="fonts/font14.fntdata"/><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font" Target="fonts/font4.fntdata"/><Relationship Id="rId283" Type="http://schemas.openxmlformats.org/officeDocument/2006/relationships/font" Target="fonts/font25.fntdata"/><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font" Target="fonts/font15.fntdata"/><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font" Target="fonts/font5.fntdata"/><Relationship Id="rId284" Type="http://schemas.openxmlformats.org/officeDocument/2006/relationships/font" Target="fonts/font26.fntdata"/><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font" Target="fonts/font16.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font" Target="fonts/font6.fntdata"/><Relationship Id="rId285" Type="http://schemas.openxmlformats.org/officeDocument/2006/relationships/font" Target="fonts/font27.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font" Target="fonts/font17.fntdata"/><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font" Target="fonts/font7.fntdata"/><Relationship Id="rId286" Type="http://schemas.openxmlformats.org/officeDocument/2006/relationships/presProps" Target="presProps.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font" Target="fonts/font18.fntdata"/><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font" Target="fonts/font8.fntdata"/><Relationship Id="rId287" Type="http://schemas.openxmlformats.org/officeDocument/2006/relationships/viewProps" Target="viewProp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font" Target="fonts/font19.fntdata"/><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font" Target="fonts/font9.fntdata"/><Relationship Id="rId288" Type="http://schemas.openxmlformats.org/officeDocument/2006/relationships/theme" Target="theme/theme1.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font" Target="fonts/font20.fntdata"/><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tableStyles" Target="tableStyles.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notesMaster" Target="notesMasters/notesMaster1.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11" name="Google Shape;911;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18487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63" name="Google Shape;96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5431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p:cNvGrpSpPr/>
        <p:nvPr/>
      </p:nvGrpSpPr>
      <p:grpSpPr>
        <a:xfrm>
          <a:off x="0" y="0"/>
          <a:ext cx="0" cy="0"/>
          <a:chOff x="0" y="0"/>
          <a:chExt cx="0" cy="0"/>
        </a:xfrm>
      </p:grpSpPr>
      <p:sp>
        <p:nvSpPr>
          <p:cNvPr id="1244" name="Google Shape;1244;g216241d4a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45" name="Google Shape;1245;g216241d4a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3D608-2242-0945-090E-8214FCE6A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58DB45-D496-081A-74DF-15058FAEE2DD}"/>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52E64B2D-23B2-B3CE-E148-C8432A068B5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38518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32246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1561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59554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46191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60654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985153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29418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047175" y="2571975"/>
            <a:ext cx="43836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4047175" y="1321975"/>
            <a:ext cx="1235700" cy="841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 name="Google Shape;16;p3"/>
          <p:cNvSpPr>
            <a:spLocks noGrp="1"/>
          </p:cNvSpPr>
          <p:nvPr>
            <p:ph type="pic" idx="3"/>
          </p:nvPr>
        </p:nvSpPr>
        <p:spPr>
          <a:xfrm>
            <a:off x="484625" y="1076550"/>
            <a:ext cx="2990400" cy="2990400"/>
          </a:xfrm>
          <a:prstGeom prst="roundRect">
            <a:avLst>
              <a:gd name="adj" fmla="val 16667"/>
            </a:avLst>
          </a:prstGeom>
          <a:noFill/>
          <a:ln>
            <a:noFill/>
          </a:ln>
        </p:spPr>
        <p:txBody>
          <a:bodyPr/>
          <a:lstStyle/>
          <a:p>
            <a:endParaRPr lang="en-US"/>
          </a:p>
        </p:txBody>
      </p:sp>
      <p:sp>
        <p:nvSpPr>
          <p:cNvPr id="17" name="Google Shape;17;p3"/>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rot="-4592116" flipH="1">
            <a:off x="6189" y="113200"/>
            <a:ext cx="642877" cy="51982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1"/>
        <p:cNvGrpSpPr/>
        <p:nvPr/>
      </p:nvGrpSpPr>
      <p:grpSpPr>
        <a:xfrm>
          <a:off x="0" y="0"/>
          <a:ext cx="0" cy="0"/>
          <a:chOff x="0" y="0"/>
          <a:chExt cx="0" cy="0"/>
        </a:xfrm>
      </p:grpSpPr>
      <p:sp>
        <p:nvSpPr>
          <p:cNvPr id="122" name="Google Shape;12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3" name="Google Shape;123;p6"/>
          <p:cNvSpPr/>
          <p:nvPr/>
        </p:nvSpPr>
        <p:spPr>
          <a:xfrm rot="-9076707">
            <a:off x="85462" y="-755109"/>
            <a:ext cx="1683799" cy="1313891"/>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 name="Google Shape;124;p6"/>
          <p:cNvGrpSpPr/>
          <p:nvPr/>
        </p:nvGrpSpPr>
        <p:grpSpPr>
          <a:xfrm>
            <a:off x="6779278" y="192982"/>
            <a:ext cx="2107998" cy="297419"/>
            <a:chOff x="6108096" y="3265836"/>
            <a:chExt cx="1633727" cy="230504"/>
          </a:xfrm>
        </p:grpSpPr>
        <p:sp>
          <p:nvSpPr>
            <p:cNvPr id="125" name="Google Shape;125;p6"/>
            <p:cNvSpPr/>
            <p:nvPr/>
          </p:nvSpPr>
          <p:spPr>
            <a:xfrm>
              <a:off x="6108096" y="3265836"/>
              <a:ext cx="1633727" cy="230504"/>
            </a:xfrm>
            <a:custGeom>
              <a:avLst/>
              <a:gdLst/>
              <a:ahLst/>
              <a:cxnLst/>
              <a:rect l="l" t="t" r="r" b="b"/>
              <a:pathLst>
                <a:path w="1633727" h="230504" extrusionOk="0">
                  <a:moveTo>
                    <a:pt x="1518476" y="0"/>
                  </a:moveTo>
                  <a:cubicBezTo>
                    <a:pt x="1582128" y="0"/>
                    <a:pt x="1633728" y="51600"/>
                    <a:pt x="1633728" y="115253"/>
                  </a:cubicBezTo>
                  <a:lnTo>
                    <a:pt x="1633728" y="115253"/>
                  </a:lnTo>
                  <a:cubicBezTo>
                    <a:pt x="1633728" y="178905"/>
                    <a:pt x="1582128" y="230505"/>
                    <a:pt x="1518476" y="230505"/>
                  </a:cubicBezTo>
                  <a:lnTo>
                    <a:pt x="115252" y="230505"/>
                  </a:lnTo>
                  <a:cubicBezTo>
                    <a:pt x="51601" y="230505"/>
                    <a:pt x="0" y="178905"/>
                    <a:pt x="0" y="115253"/>
                  </a:cubicBezTo>
                  <a:lnTo>
                    <a:pt x="0" y="115253"/>
                  </a:lnTo>
                  <a:cubicBezTo>
                    <a:pt x="0" y="51600"/>
                    <a:pt x="51601" y="0"/>
                    <a:pt x="115252"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 name="Google Shape;126;p6"/>
            <p:cNvSpPr/>
            <p:nvPr/>
          </p:nvSpPr>
          <p:spPr>
            <a:xfrm>
              <a:off x="7528381" y="3292292"/>
              <a:ext cx="166485" cy="165854"/>
            </a:xfrm>
            <a:custGeom>
              <a:avLst/>
              <a:gdLst/>
              <a:ahLst/>
              <a:cxnLst/>
              <a:rect l="l" t="t" r="r" b="b"/>
              <a:pathLst>
                <a:path w="166485" h="165854" extrusionOk="0">
                  <a:moveTo>
                    <a:pt x="161532" y="137469"/>
                  </a:moveTo>
                  <a:lnTo>
                    <a:pt x="120003" y="95941"/>
                  </a:lnTo>
                  <a:lnTo>
                    <a:pt x="113336" y="102608"/>
                  </a:lnTo>
                  <a:lnTo>
                    <a:pt x="105811" y="95083"/>
                  </a:lnTo>
                  <a:cubicBezTo>
                    <a:pt x="123622" y="71842"/>
                    <a:pt x="122194" y="38600"/>
                    <a:pt x="100953" y="17359"/>
                  </a:cubicBezTo>
                  <a:cubicBezTo>
                    <a:pt x="77807" y="-5786"/>
                    <a:pt x="40374" y="-5786"/>
                    <a:pt x="17324" y="17359"/>
                  </a:cubicBezTo>
                  <a:cubicBezTo>
                    <a:pt x="-5727" y="40505"/>
                    <a:pt x="-5822" y="77938"/>
                    <a:pt x="17324" y="100989"/>
                  </a:cubicBezTo>
                  <a:cubicBezTo>
                    <a:pt x="38850" y="122515"/>
                    <a:pt x="72568" y="123754"/>
                    <a:pt x="95809" y="105275"/>
                  </a:cubicBezTo>
                  <a:lnTo>
                    <a:pt x="103334" y="112800"/>
                  </a:lnTo>
                  <a:lnTo>
                    <a:pt x="96667" y="119467"/>
                  </a:lnTo>
                  <a:lnTo>
                    <a:pt x="138196" y="160996"/>
                  </a:lnTo>
                  <a:cubicBezTo>
                    <a:pt x="144673" y="167473"/>
                    <a:pt x="155150" y="167473"/>
                    <a:pt x="161627" y="160996"/>
                  </a:cubicBezTo>
                  <a:lnTo>
                    <a:pt x="161627" y="160996"/>
                  </a:lnTo>
                  <a:cubicBezTo>
                    <a:pt x="168104" y="154519"/>
                    <a:pt x="168104" y="144042"/>
                    <a:pt x="161627" y="137565"/>
                  </a:cubicBezTo>
                  <a:close/>
                  <a:moveTo>
                    <a:pt x="59138" y="102513"/>
                  </a:moveTo>
                  <a:cubicBezTo>
                    <a:pt x="54471" y="102513"/>
                    <a:pt x="49899" y="101751"/>
                    <a:pt x="45612" y="100417"/>
                  </a:cubicBezTo>
                  <a:cubicBezTo>
                    <a:pt x="33611" y="96512"/>
                    <a:pt x="23896" y="87463"/>
                    <a:pt x="19133" y="75938"/>
                  </a:cubicBezTo>
                  <a:cubicBezTo>
                    <a:pt x="16942" y="70794"/>
                    <a:pt x="15799" y="65175"/>
                    <a:pt x="15799" y="59269"/>
                  </a:cubicBezTo>
                  <a:cubicBezTo>
                    <a:pt x="15799" y="35361"/>
                    <a:pt x="35231" y="15931"/>
                    <a:pt x="59138" y="15931"/>
                  </a:cubicBezTo>
                  <a:cubicBezTo>
                    <a:pt x="65044" y="15931"/>
                    <a:pt x="70663" y="17074"/>
                    <a:pt x="75807" y="19264"/>
                  </a:cubicBezTo>
                  <a:cubicBezTo>
                    <a:pt x="87332" y="24122"/>
                    <a:pt x="96381" y="33742"/>
                    <a:pt x="100286" y="45744"/>
                  </a:cubicBezTo>
                  <a:cubicBezTo>
                    <a:pt x="101715" y="50030"/>
                    <a:pt x="102382" y="54507"/>
                    <a:pt x="102382" y="59269"/>
                  </a:cubicBezTo>
                  <a:cubicBezTo>
                    <a:pt x="102382" y="83177"/>
                    <a:pt x="83046" y="102513"/>
                    <a:pt x="59138" y="10251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 name="Google Shape;127;p6"/>
            <p:cNvSpPr/>
            <p:nvPr/>
          </p:nvSpPr>
          <p:spPr>
            <a:xfrm>
              <a:off x="7475124" y="3290220"/>
              <a:ext cx="7620" cy="174307"/>
            </a:xfrm>
            <a:custGeom>
              <a:avLst/>
              <a:gdLst/>
              <a:ahLst/>
              <a:cxnLst/>
              <a:rect l="l" t="t" r="r" b="b"/>
              <a:pathLst>
                <a:path w="7620" h="174307" extrusionOk="0">
                  <a:moveTo>
                    <a:pt x="3810" y="174308"/>
                  </a:moveTo>
                  <a:lnTo>
                    <a:pt x="3810" y="174308"/>
                  </a:lnTo>
                  <a:cubicBezTo>
                    <a:pt x="1714" y="174308"/>
                    <a:pt x="0" y="172593"/>
                    <a:pt x="0" y="170497"/>
                  </a:cubicBezTo>
                  <a:lnTo>
                    <a:pt x="0" y="3810"/>
                  </a:lnTo>
                  <a:cubicBezTo>
                    <a:pt x="0" y="1714"/>
                    <a:pt x="1714" y="0"/>
                    <a:pt x="3810" y="0"/>
                  </a:cubicBezTo>
                  <a:lnTo>
                    <a:pt x="3810" y="0"/>
                  </a:lnTo>
                  <a:cubicBezTo>
                    <a:pt x="5905" y="0"/>
                    <a:pt x="7620" y="1714"/>
                    <a:pt x="7620" y="3810"/>
                  </a:cubicBezTo>
                  <a:lnTo>
                    <a:pt x="7620" y="170497"/>
                  </a:lnTo>
                  <a:cubicBezTo>
                    <a:pt x="7620" y="172593"/>
                    <a:pt x="5905" y="174308"/>
                    <a:pt x="3810" y="1743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8" name="Google Shape;128;p6"/>
          <p:cNvSpPr/>
          <p:nvPr/>
        </p:nvSpPr>
        <p:spPr>
          <a:xfrm rot="532502" flipH="1">
            <a:off x="-514115" y="4385276"/>
            <a:ext cx="1514959" cy="122499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6"/>
          <p:cNvGrpSpPr/>
          <p:nvPr/>
        </p:nvGrpSpPr>
        <p:grpSpPr>
          <a:xfrm>
            <a:off x="-148774" y="4544215"/>
            <a:ext cx="784225" cy="584398"/>
            <a:chOff x="1914620" y="1930431"/>
            <a:chExt cx="572929" cy="426911"/>
          </a:xfrm>
        </p:grpSpPr>
        <p:grpSp>
          <p:nvGrpSpPr>
            <p:cNvPr id="130" name="Google Shape;130;p6"/>
            <p:cNvGrpSpPr/>
            <p:nvPr/>
          </p:nvGrpSpPr>
          <p:grpSpPr>
            <a:xfrm>
              <a:off x="1914620" y="1930431"/>
              <a:ext cx="572929" cy="426911"/>
              <a:chOff x="1914620" y="1930431"/>
              <a:chExt cx="572929" cy="426911"/>
            </a:xfrm>
          </p:grpSpPr>
          <p:sp>
            <p:nvSpPr>
              <p:cNvPr id="131" name="Google Shape;131;p6"/>
              <p:cNvSpPr/>
              <p:nvPr/>
            </p:nvSpPr>
            <p:spPr>
              <a:xfrm>
                <a:off x="2042160" y="1930431"/>
                <a:ext cx="445389" cy="299466"/>
              </a:xfrm>
              <a:custGeom>
                <a:avLst/>
                <a:gdLst/>
                <a:ahLst/>
                <a:cxnLst/>
                <a:rect l="l" t="t" r="r" b="b"/>
                <a:pathLst>
                  <a:path w="445389" h="299466" extrusionOk="0">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 name="Google Shape;132;p6"/>
              <p:cNvSpPr/>
              <p:nvPr/>
            </p:nvSpPr>
            <p:spPr>
              <a:xfrm>
                <a:off x="1978342" y="1994058"/>
                <a:ext cx="445389" cy="299465"/>
              </a:xfrm>
              <a:custGeom>
                <a:avLst/>
                <a:gdLst/>
                <a:ahLst/>
                <a:cxnLst/>
                <a:rect l="l" t="t" r="r" b="b"/>
                <a:pathLst>
                  <a:path w="445389" h="299465" extrusionOk="0">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 name="Google Shape;133;p6"/>
              <p:cNvSpPr/>
              <p:nvPr/>
            </p:nvSpPr>
            <p:spPr>
              <a:xfrm>
                <a:off x="1914620" y="2057876"/>
                <a:ext cx="445389" cy="299466"/>
              </a:xfrm>
              <a:custGeom>
                <a:avLst/>
                <a:gdLst/>
                <a:ahLst/>
                <a:cxnLst/>
                <a:rect l="l" t="t" r="r" b="b"/>
                <a:pathLst>
                  <a:path w="445389" h="299466" extrusionOk="0">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4" name="Google Shape;134;p6"/>
            <p:cNvSpPr/>
            <p:nvPr/>
          </p:nvSpPr>
          <p:spPr>
            <a:xfrm>
              <a:off x="2024157" y="2180272"/>
              <a:ext cx="222980" cy="101917"/>
            </a:xfrm>
            <a:custGeom>
              <a:avLst/>
              <a:gdLst/>
              <a:ahLst/>
              <a:cxnLst/>
              <a:rect l="l" t="t" r="r" b="b"/>
              <a:pathLst>
                <a:path w="222980" h="101917" extrusionOk="0">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5" name="Google Shape;135;p6"/>
          <p:cNvSpPr/>
          <p:nvPr/>
        </p:nvSpPr>
        <p:spPr>
          <a:xfrm rot="5844200">
            <a:off x="8030548" y="2339312"/>
            <a:ext cx="2404301" cy="131859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6"/>
        <p:cNvGrpSpPr/>
        <p:nvPr/>
      </p:nvGrpSpPr>
      <p:grpSpPr>
        <a:xfrm>
          <a:off x="0" y="0"/>
          <a:ext cx="0" cy="0"/>
          <a:chOff x="0" y="0"/>
          <a:chExt cx="0" cy="0"/>
        </a:xfrm>
      </p:grpSpPr>
      <p:sp>
        <p:nvSpPr>
          <p:cNvPr id="137" name="Google Shape;137;p7"/>
          <p:cNvSpPr txBox="1">
            <a:spLocks noGrp="1"/>
          </p:cNvSpPr>
          <p:nvPr>
            <p:ph type="title"/>
          </p:nvPr>
        </p:nvSpPr>
        <p:spPr>
          <a:xfrm>
            <a:off x="811975" y="1032900"/>
            <a:ext cx="2804400" cy="1006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8" name="Google Shape;138;p7"/>
          <p:cNvSpPr txBox="1">
            <a:spLocks noGrp="1"/>
          </p:cNvSpPr>
          <p:nvPr>
            <p:ph type="subTitle" idx="1"/>
          </p:nvPr>
        </p:nvSpPr>
        <p:spPr>
          <a:xfrm>
            <a:off x="811975" y="2039700"/>
            <a:ext cx="4294800" cy="207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139" name="Google Shape;139;p7"/>
          <p:cNvSpPr>
            <a:spLocks noGrp="1"/>
          </p:cNvSpPr>
          <p:nvPr>
            <p:ph type="pic" idx="2"/>
          </p:nvPr>
        </p:nvSpPr>
        <p:spPr>
          <a:xfrm>
            <a:off x="5668975" y="1076550"/>
            <a:ext cx="2990400" cy="2990400"/>
          </a:xfrm>
          <a:prstGeom prst="roundRect">
            <a:avLst>
              <a:gd name="adj" fmla="val 16667"/>
            </a:avLst>
          </a:prstGeom>
          <a:noFill/>
          <a:ln>
            <a:noFill/>
          </a:ln>
        </p:spPr>
        <p:txBody>
          <a:bodyPr/>
          <a:lstStyle/>
          <a:p>
            <a:endParaRPr lang="en-US"/>
          </a:p>
        </p:txBody>
      </p:sp>
      <p:sp>
        <p:nvSpPr>
          <p:cNvPr id="140" name="Google Shape;140;p7"/>
          <p:cNvSpPr/>
          <p:nvPr/>
        </p:nvSpPr>
        <p:spPr>
          <a:xfrm rot="-2381697">
            <a:off x="-1265120" y="-661594"/>
            <a:ext cx="3096202" cy="2008988"/>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7"/>
          <p:cNvSpPr/>
          <p:nvPr/>
        </p:nvSpPr>
        <p:spPr>
          <a:xfrm rot="-7296874">
            <a:off x="-735040" y="4231574"/>
            <a:ext cx="2036053" cy="150886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 name="Google Shape;142;p7"/>
          <p:cNvGrpSpPr/>
          <p:nvPr/>
        </p:nvGrpSpPr>
        <p:grpSpPr>
          <a:xfrm>
            <a:off x="65066" y="4373044"/>
            <a:ext cx="878158" cy="654532"/>
            <a:chOff x="1114425" y="4361211"/>
            <a:chExt cx="573023" cy="427101"/>
          </a:xfrm>
        </p:grpSpPr>
        <p:grpSp>
          <p:nvGrpSpPr>
            <p:cNvPr id="143" name="Google Shape;143;p7"/>
            <p:cNvGrpSpPr/>
            <p:nvPr/>
          </p:nvGrpSpPr>
          <p:grpSpPr>
            <a:xfrm>
              <a:off x="1114425" y="4361211"/>
              <a:ext cx="573023" cy="427101"/>
              <a:chOff x="1114425" y="4361211"/>
              <a:chExt cx="573023" cy="427101"/>
            </a:xfrm>
          </p:grpSpPr>
          <p:sp>
            <p:nvSpPr>
              <p:cNvPr id="144" name="Google Shape;144;p7"/>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 name="Google Shape;145;p7"/>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 name="Google Shape;146;p7"/>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7" name="Google Shape;147;p7"/>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8"/>
        <p:cNvGrpSpPr/>
        <p:nvPr/>
      </p:nvGrpSpPr>
      <p:grpSpPr>
        <a:xfrm>
          <a:off x="0" y="0"/>
          <a:ext cx="0" cy="0"/>
          <a:chOff x="0" y="0"/>
          <a:chExt cx="0" cy="0"/>
        </a:xfrm>
      </p:grpSpPr>
      <p:sp>
        <p:nvSpPr>
          <p:cNvPr id="149" name="Google Shape;149;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50" name="Google Shape;150;p8"/>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rot="-4592116" flipH="1">
            <a:off x="6189" y="113200"/>
            <a:ext cx="642877" cy="51982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3"/>
        <p:cNvGrpSpPr/>
        <p:nvPr/>
      </p:nvGrpSpPr>
      <p:grpSpPr>
        <a:xfrm>
          <a:off x="0" y="0"/>
          <a:ext cx="0" cy="0"/>
          <a:chOff x="0" y="0"/>
          <a:chExt cx="0" cy="0"/>
        </a:xfrm>
      </p:grpSpPr>
      <p:sp>
        <p:nvSpPr>
          <p:cNvPr id="154" name="Google Shape;154;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55" name="Google Shape;155;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6" name="Google Shape;156;p9"/>
          <p:cNvSpPr/>
          <p:nvPr/>
        </p:nvSpPr>
        <p:spPr>
          <a:xfrm rot="3263452">
            <a:off x="-163955"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p:nvPr/>
        </p:nvSpPr>
        <p:spPr>
          <a:xfrm rot="-460623">
            <a:off x="-1793263"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9"/>
          <p:cNvSpPr/>
          <p:nvPr/>
        </p:nvSpPr>
        <p:spPr>
          <a:xfrm rot="4592047">
            <a:off x="7797256" y="593203"/>
            <a:ext cx="1475158" cy="119280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9"/>
        <p:cNvGrpSpPr/>
        <p:nvPr/>
      </p:nvGrpSpPr>
      <p:grpSpPr>
        <a:xfrm>
          <a:off x="0" y="0"/>
          <a:ext cx="0" cy="0"/>
          <a:chOff x="0" y="0"/>
          <a:chExt cx="0" cy="0"/>
        </a:xfrm>
      </p:grpSpPr>
      <p:sp>
        <p:nvSpPr>
          <p:cNvPr id="160" name="Google Shape;160;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3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534"/>
        <p:cNvGrpSpPr/>
        <p:nvPr/>
      </p:nvGrpSpPr>
      <p:grpSpPr>
        <a:xfrm>
          <a:off x="0" y="0"/>
          <a:ext cx="0" cy="0"/>
          <a:chOff x="0" y="0"/>
          <a:chExt cx="0" cy="0"/>
        </a:xfrm>
      </p:grpSpPr>
      <p:sp>
        <p:nvSpPr>
          <p:cNvPr id="535" name="Google Shape;535;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36" name="Google Shape;536;p18"/>
          <p:cNvSpPr/>
          <p:nvPr/>
        </p:nvSpPr>
        <p:spPr>
          <a:xfrm rot="337739" flipH="1">
            <a:off x="8212271" y="3187242"/>
            <a:ext cx="3158465" cy="3518480"/>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18"/>
          <p:cNvGrpSpPr/>
          <p:nvPr/>
        </p:nvGrpSpPr>
        <p:grpSpPr>
          <a:xfrm>
            <a:off x="90200" y="4214393"/>
            <a:ext cx="516117" cy="779220"/>
            <a:chOff x="10572463" y="3528536"/>
            <a:chExt cx="580168" cy="875823"/>
          </a:xfrm>
        </p:grpSpPr>
        <p:grpSp>
          <p:nvGrpSpPr>
            <p:cNvPr id="538" name="Google Shape;538;p18"/>
            <p:cNvGrpSpPr/>
            <p:nvPr/>
          </p:nvGrpSpPr>
          <p:grpSpPr>
            <a:xfrm>
              <a:off x="10713815" y="3528536"/>
              <a:ext cx="438816" cy="746664"/>
              <a:chOff x="10713815" y="3528536"/>
              <a:chExt cx="438816" cy="746664"/>
            </a:xfrm>
          </p:grpSpPr>
          <p:sp>
            <p:nvSpPr>
              <p:cNvPr id="539" name="Google Shape;539;p18"/>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40" name="Google Shape;540;p18"/>
              <p:cNvGrpSpPr/>
              <p:nvPr/>
            </p:nvGrpSpPr>
            <p:grpSpPr>
              <a:xfrm>
                <a:off x="10776489" y="3625310"/>
                <a:ext cx="313848" cy="288226"/>
                <a:chOff x="10776489" y="3625310"/>
                <a:chExt cx="313848" cy="288226"/>
              </a:xfrm>
            </p:grpSpPr>
            <p:sp>
              <p:nvSpPr>
                <p:cNvPr id="541" name="Google Shape;541;p18"/>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2" name="Google Shape;542;p18"/>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3" name="Google Shape;543;p18"/>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4" name="Google Shape;544;p18"/>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5" name="Google Shape;545;p18"/>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6" name="Google Shape;546;p18"/>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47" name="Google Shape;547;p18"/>
              <p:cNvGrpSpPr/>
              <p:nvPr/>
            </p:nvGrpSpPr>
            <p:grpSpPr>
              <a:xfrm>
                <a:off x="10776489" y="3999547"/>
                <a:ext cx="313848" cy="181546"/>
                <a:chOff x="10776489" y="3999547"/>
                <a:chExt cx="313848" cy="181546"/>
              </a:xfrm>
            </p:grpSpPr>
            <p:sp>
              <p:nvSpPr>
                <p:cNvPr id="548" name="Google Shape;548;p18"/>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9" name="Google Shape;549;p18"/>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0" name="Google Shape;550;p18"/>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1" name="Google Shape;551;p18"/>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52" name="Google Shape;552;p18"/>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53" name="Google Shape;553;p18"/>
            <p:cNvGrpSpPr/>
            <p:nvPr/>
          </p:nvGrpSpPr>
          <p:grpSpPr>
            <a:xfrm>
              <a:off x="10572463" y="3657790"/>
              <a:ext cx="438817" cy="746569"/>
              <a:chOff x="10572463" y="3657790"/>
              <a:chExt cx="438817" cy="746569"/>
            </a:xfrm>
          </p:grpSpPr>
          <p:sp>
            <p:nvSpPr>
              <p:cNvPr id="554" name="Google Shape;554;p18"/>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55" name="Google Shape;555;p18"/>
              <p:cNvGrpSpPr/>
              <p:nvPr/>
            </p:nvGrpSpPr>
            <p:grpSpPr>
              <a:xfrm>
                <a:off x="10635138" y="3754469"/>
                <a:ext cx="313848" cy="288321"/>
                <a:chOff x="10635138" y="3754469"/>
                <a:chExt cx="313848" cy="288321"/>
              </a:xfrm>
            </p:grpSpPr>
            <p:sp>
              <p:nvSpPr>
                <p:cNvPr id="556" name="Google Shape;556;p18"/>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7" name="Google Shape;557;p18"/>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8" name="Google Shape;558;p18"/>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 name="Google Shape;559;p18"/>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0" name="Google Shape;560;p18"/>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 name="Google Shape;561;p18"/>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62" name="Google Shape;562;p18"/>
              <p:cNvGrpSpPr/>
              <p:nvPr/>
            </p:nvGrpSpPr>
            <p:grpSpPr>
              <a:xfrm>
                <a:off x="10635138" y="4128801"/>
                <a:ext cx="313848" cy="181547"/>
                <a:chOff x="10635138" y="4128801"/>
                <a:chExt cx="313848" cy="181547"/>
              </a:xfrm>
            </p:grpSpPr>
            <p:sp>
              <p:nvSpPr>
                <p:cNvPr id="563" name="Google Shape;563;p18"/>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4" name="Google Shape;564;p18"/>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5" name="Google Shape;565;p18"/>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6" name="Google Shape;566;p18"/>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67" name="Google Shape;567;p18"/>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568" name="Google Shape;568;p18"/>
          <p:cNvSpPr/>
          <p:nvPr/>
        </p:nvSpPr>
        <p:spPr>
          <a:xfrm rot="-3657034" flipH="1">
            <a:off x="-1404232" y="-737971"/>
            <a:ext cx="2746020" cy="162787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9" name="Google Shape;569;p18"/>
          <p:cNvGrpSpPr/>
          <p:nvPr/>
        </p:nvGrpSpPr>
        <p:grpSpPr>
          <a:xfrm>
            <a:off x="8114970" y="266839"/>
            <a:ext cx="829992" cy="750888"/>
            <a:chOff x="8114596" y="445039"/>
            <a:chExt cx="633002" cy="572716"/>
          </a:xfrm>
        </p:grpSpPr>
        <p:grpSp>
          <p:nvGrpSpPr>
            <p:cNvPr id="570" name="Google Shape;570;p18"/>
            <p:cNvGrpSpPr/>
            <p:nvPr/>
          </p:nvGrpSpPr>
          <p:grpSpPr>
            <a:xfrm>
              <a:off x="8114596" y="445039"/>
              <a:ext cx="633002" cy="572716"/>
              <a:chOff x="7189660" y="520827"/>
              <a:chExt cx="598074" cy="541115"/>
            </a:xfrm>
          </p:grpSpPr>
          <p:sp>
            <p:nvSpPr>
              <p:cNvPr id="571" name="Google Shape;571;p18"/>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72" name="Google Shape;572;p18"/>
              <p:cNvGrpSpPr/>
              <p:nvPr/>
            </p:nvGrpSpPr>
            <p:grpSpPr>
              <a:xfrm>
                <a:off x="7579137" y="551973"/>
                <a:ext cx="164782" cy="41529"/>
                <a:chOff x="7579137" y="551973"/>
                <a:chExt cx="164782" cy="41529"/>
              </a:xfrm>
            </p:grpSpPr>
            <p:sp>
              <p:nvSpPr>
                <p:cNvPr id="573" name="Google Shape;573;p18"/>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4" name="Google Shape;574;p18"/>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5" name="Google Shape;575;p18"/>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76" name="Google Shape;576;p18"/>
            <p:cNvGrpSpPr/>
            <p:nvPr/>
          </p:nvGrpSpPr>
          <p:grpSpPr>
            <a:xfrm>
              <a:off x="8184962" y="619646"/>
              <a:ext cx="498115" cy="257273"/>
              <a:chOff x="7256144" y="685800"/>
              <a:chExt cx="470630" cy="243077"/>
            </a:xfrm>
          </p:grpSpPr>
          <p:sp>
            <p:nvSpPr>
              <p:cNvPr id="577" name="Google Shape;577;p18"/>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78" name="Google Shape;578;p18"/>
              <p:cNvGrpSpPr/>
              <p:nvPr/>
            </p:nvGrpSpPr>
            <p:grpSpPr>
              <a:xfrm>
                <a:off x="7512843" y="685800"/>
                <a:ext cx="213931" cy="243077"/>
                <a:chOff x="7512843" y="685800"/>
                <a:chExt cx="213931" cy="243077"/>
              </a:xfrm>
            </p:grpSpPr>
            <p:grpSp>
              <p:nvGrpSpPr>
                <p:cNvPr id="579" name="Google Shape;579;p18"/>
                <p:cNvGrpSpPr/>
                <p:nvPr/>
              </p:nvGrpSpPr>
              <p:grpSpPr>
                <a:xfrm>
                  <a:off x="7512843" y="836580"/>
                  <a:ext cx="213931" cy="92297"/>
                  <a:chOff x="7512843" y="836580"/>
                  <a:chExt cx="213931" cy="92297"/>
                </a:xfrm>
              </p:grpSpPr>
              <p:sp>
                <p:nvSpPr>
                  <p:cNvPr id="580" name="Google Shape;580;p18"/>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1" name="Google Shape;581;p18"/>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82" name="Google Shape;582;p18"/>
                <p:cNvGrpSpPr/>
                <p:nvPr/>
              </p:nvGrpSpPr>
              <p:grpSpPr>
                <a:xfrm>
                  <a:off x="7512843" y="761238"/>
                  <a:ext cx="213931" cy="92296"/>
                  <a:chOff x="7512843" y="761238"/>
                  <a:chExt cx="213931" cy="92296"/>
                </a:xfrm>
              </p:grpSpPr>
              <p:sp>
                <p:nvSpPr>
                  <p:cNvPr id="583" name="Google Shape;583;p18"/>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4" name="Google Shape;584;p18"/>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85" name="Google Shape;585;p18"/>
                <p:cNvGrpSpPr/>
                <p:nvPr/>
              </p:nvGrpSpPr>
              <p:grpSpPr>
                <a:xfrm>
                  <a:off x="7512843" y="685800"/>
                  <a:ext cx="213931" cy="92297"/>
                  <a:chOff x="7512843" y="685800"/>
                  <a:chExt cx="213931" cy="92297"/>
                </a:xfrm>
              </p:grpSpPr>
              <p:sp>
                <p:nvSpPr>
                  <p:cNvPr id="586" name="Google Shape;586;p18"/>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18"/>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588"/>
        <p:cNvGrpSpPr/>
        <p:nvPr/>
      </p:nvGrpSpPr>
      <p:grpSpPr>
        <a:xfrm>
          <a:off x="0" y="0"/>
          <a:ext cx="0" cy="0"/>
          <a:chOff x="0" y="0"/>
          <a:chExt cx="0" cy="0"/>
        </a:xfrm>
      </p:grpSpPr>
      <p:sp>
        <p:nvSpPr>
          <p:cNvPr id="589" name="Google Shape;589;p19"/>
          <p:cNvSpPr/>
          <p:nvPr/>
        </p:nvSpPr>
        <p:spPr>
          <a:xfrm rot="9076707" flipH="1">
            <a:off x="7972821" y="-586852"/>
            <a:ext cx="1683799" cy="167281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591" name="Google Shape;591;p19"/>
          <p:cNvGrpSpPr/>
          <p:nvPr/>
        </p:nvGrpSpPr>
        <p:grpSpPr>
          <a:xfrm flipH="1">
            <a:off x="683048" y="4696520"/>
            <a:ext cx="325927" cy="404808"/>
            <a:chOff x="7385113" y="1535430"/>
            <a:chExt cx="435673" cy="541115"/>
          </a:xfrm>
        </p:grpSpPr>
        <p:sp>
          <p:nvSpPr>
            <p:cNvPr id="592" name="Google Shape;592;p19"/>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93" name="Google Shape;593;p19"/>
            <p:cNvGrpSpPr/>
            <p:nvPr/>
          </p:nvGrpSpPr>
          <p:grpSpPr>
            <a:xfrm>
              <a:off x="7612094" y="1566576"/>
              <a:ext cx="164781" cy="41529"/>
              <a:chOff x="7612094" y="1566576"/>
              <a:chExt cx="164781" cy="41529"/>
            </a:xfrm>
          </p:grpSpPr>
          <p:sp>
            <p:nvSpPr>
              <p:cNvPr id="594" name="Google Shape;594;p19"/>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19"/>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6" name="Google Shape;596;p19"/>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97" name="Google Shape;597;p19"/>
          <p:cNvGrpSpPr/>
          <p:nvPr/>
        </p:nvGrpSpPr>
        <p:grpSpPr>
          <a:xfrm flipH="1">
            <a:off x="713902" y="4774546"/>
            <a:ext cx="268636" cy="280965"/>
            <a:chOff x="7420451" y="1639728"/>
            <a:chExt cx="359091" cy="375571"/>
          </a:xfrm>
        </p:grpSpPr>
        <p:sp>
          <p:nvSpPr>
            <p:cNvPr id="598" name="Google Shape;598;p19"/>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9" name="Google Shape;599;p19"/>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00" name="Google Shape;600;p19"/>
          <p:cNvGrpSpPr/>
          <p:nvPr/>
        </p:nvGrpSpPr>
        <p:grpSpPr>
          <a:xfrm flipH="1">
            <a:off x="96200" y="4469347"/>
            <a:ext cx="355444" cy="644072"/>
            <a:chOff x="1945386" y="5582316"/>
            <a:chExt cx="470725" cy="852963"/>
          </a:xfrm>
        </p:grpSpPr>
        <p:grpSp>
          <p:nvGrpSpPr>
            <p:cNvPr id="601" name="Google Shape;601;p19"/>
            <p:cNvGrpSpPr/>
            <p:nvPr/>
          </p:nvGrpSpPr>
          <p:grpSpPr>
            <a:xfrm>
              <a:off x="1945386" y="5582316"/>
              <a:ext cx="470725" cy="852963"/>
              <a:chOff x="1945386" y="5582316"/>
              <a:chExt cx="470725" cy="852963"/>
            </a:xfrm>
          </p:grpSpPr>
          <p:sp>
            <p:nvSpPr>
              <p:cNvPr id="602" name="Google Shape;602;p19"/>
              <p:cNvSpPr/>
              <p:nvPr/>
            </p:nvSpPr>
            <p:spPr>
              <a:xfrm>
                <a:off x="1945386" y="5582316"/>
                <a:ext cx="470725" cy="852963"/>
              </a:xfrm>
              <a:custGeom>
                <a:avLst/>
                <a:gdLst/>
                <a:ahLst/>
                <a:cxnLst/>
                <a:rect l="l" t="t" r="r" b="b"/>
                <a:pathLst>
                  <a:path w="470725" h="852963" extrusionOk="0">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3" name="Google Shape;603;p19"/>
              <p:cNvSpPr/>
              <p:nvPr/>
            </p:nvSpPr>
            <p:spPr>
              <a:xfrm>
                <a:off x="1965864" y="5625846"/>
                <a:ext cx="429577" cy="699420"/>
              </a:xfrm>
              <a:custGeom>
                <a:avLst/>
                <a:gdLst/>
                <a:ahLst/>
                <a:cxnLst/>
                <a:rect l="l" t="t" r="r" b="b"/>
                <a:pathLst>
                  <a:path w="429577" h="699420" extrusionOk="0">
                    <a:moveTo>
                      <a:pt x="0" y="0"/>
                    </a:moveTo>
                    <a:lnTo>
                      <a:pt x="429578" y="0"/>
                    </a:lnTo>
                    <a:lnTo>
                      <a:pt x="429578" y="699421"/>
                    </a:lnTo>
                    <a:lnTo>
                      <a:pt x="0" y="69942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04" name="Google Shape;604;p19"/>
            <p:cNvSpPr/>
            <p:nvPr/>
          </p:nvSpPr>
          <p:spPr>
            <a:xfrm>
              <a:off x="1986438" y="6371462"/>
              <a:ext cx="388334" cy="32194"/>
            </a:xfrm>
            <a:custGeom>
              <a:avLst/>
              <a:gdLst/>
              <a:ahLst/>
              <a:cxnLst/>
              <a:rect l="l" t="t" r="r" b="b"/>
              <a:pathLst>
                <a:path w="388334" h="32194" extrusionOk="0">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05" name="Google Shape;605;p19"/>
          <p:cNvGrpSpPr/>
          <p:nvPr/>
        </p:nvGrpSpPr>
        <p:grpSpPr>
          <a:xfrm>
            <a:off x="7975988" y="116167"/>
            <a:ext cx="1061979" cy="558999"/>
            <a:chOff x="3859815" y="2867310"/>
            <a:chExt cx="1262157" cy="664368"/>
          </a:xfrm>
        </p:grpSpPr>
        <p:sp>
          <p:nvSpPr>
            <p:cNvPr id="606" name="Google Shape;606;p19"/>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07" name="Google Shape;607;p19"/>
            <p:cNvGrpSpPr/>
            <p:nvPr/>
          </p:nvGrpSpPr>
          <p:grpSpPr>
            <a:xfrm>
              <a:off x="4275677" y="3065525"/>
              <a:ext cx="334517" cy="380047"/>
              <a:chOff x="4275677" y="3065525"/>
              <a:chExt cx="334517" cy="380047"/>
            </a:xfrm>
          </p:grpSpPr>
          <p:grpSp>
            <p:nvGrpSpPr>
              <p:cNvPr id="608" name="Google Shape;608;p19"/>
              <p:cNvGrpSpPr/>
              <p:nvPr/>
            </p:nvGrpSpPr>
            <p:grpSpPr>
              <a:xfrm>
                <a:off x="4275677" y="3065525"/>
                <a:ext cx="334517" cy="380047"/>
                <a:chOff x="4275677" y="3065525"/>
                <a:chExt cx="334517" cy="380047"/>
              </a:xfrm>
            </p:grpSpPr>
            <p:grpSp>
              <p:nvGrpSpPr>
                <p:cNvPr id="609" name="Google Shape;609;p19"/>
                <p:cNvGrpSpPr/>
                <p:nvPr/>
              </p:nvGrpSpPr>
              <p:grpSpPr>
                <a:xfrm>
                  <a:off x="4275677" y="3301269"/>
                  <a:ext cx="334422" cy="144303"/>
                  <a:chOff x="4275677" y="3301269"/>
                  <a:chExt cx="334422" cy="144303"/>
                </a:xfrm>
              </p:grpSpPr>
              <p:sp>
                <p:nvSpPr>
                  <p:cNvPr id="610" name="Google Shape;610;p19"/>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1" name="Google Shape;611;p19"/>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12" name="Google Shape;612;p19"/>
                <p:cNvGrpSpPr/>
                <p:nvPr/>
              </p:nvGrpSpPr>
              <p:grpSpPr>
                <a:xfrm>
                  <a:off x="4275677" y="3183350"/>
                  <a:ext cx="334422" cy="144302"/>
                  <a:chOff x="4275677" y="3183350"/>
                  <a:chExt cx="334422" cy="144302"/>
                </a:xfrm>
              </p:grpSpPr>
              <p:sp>
                <p:nvSpPr>
                  <p:cNvPr id="613" name="Google Shape;613;p19"/>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4" name="Google Shape;614;p19"/>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15" name="Google Shape;615;p19"/>
                <p:cNvGrpSpPr/>
                <p:nvPr/>
              </p:nvGrpSpPr>
              <p:grpSpPr>
                <a:xfrm>
                  <a:off x="4275677" y="3065525"/>
                  <a:ext cx="334517" cy="144303"/>
                  <a:chOff x="4275677" y="3065525"/>
                  <a:chExt cx="334517" cy="144303"/>
                </a:xfrm>
              </p:grpSpPr>
              <p:sp>
                <p:nvSpPr>
                  <p:cNvPr id="616" name="Google Shape;616;p19"/>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7" name="Google Shape;617;p19"/>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618" name="Google Shape;618;p19"/>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9" name="Google Shape;619;p19"/>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0" name="Google Shape;620;p19"/>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621" name="Google Shape;621;p19"/>
          <p:cNvGrpSpPr/>
          <p:nvPr/>
        </p:nvGrpSpPr>
        <p:grpSpPr>
          <a:xfrm rot="5400000" flipH="1">
            <a:off x="557972" y="4696603"/>
            <a:ext cx="16329" cy="218290"/>
            <a:chOff x="10809827" y="4402455"/>
            <a:chExt cx="24764" cy="330993"/>
          </a:xfrm>
        </p:grpSpPr>
        <p:sp>
          <p:nvSpPr>
            <p:cNvPr id="622" name="Google Shape;622;p19"/>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3" name="Google Shape;623;p19"/>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4" name="Google Shape;624;p19"/>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25" name="Google Shape;625;p19"/>
          <p:cNvSpPr/>
          <p:nvPr/>
        </p:nvSpPr>
        <p:spPr>
          <a:xfrm rot="-532595">
            <a:off x="7984139" y="4422751"/>
            <a:ext cx="1661199" cy="134324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9"/>
          <p:cNvSpPr/>
          <p:nvPr/>
        </p:nvSpPr>
        <p:spPr>
          <a:xfrm rot="-5145822" flipH="1">
            <a:off x="-1235221" y="72085"/>
            <a:ext cx="2404292" cy="131859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35"/>
        <p:cNvGrpSpPr/>
        <p:nvPr/>
      </p:nvGrpSpPr>
      <p:grpSpPr>
        <a:xfrm>
          <a:off x="0" y="0"/>
          <a:ext cx="0" cy="0"/>
          <a:chOff x="0" y="0"/>
          <a:chExt cx="0" cy="0"/>
        </a:xfrm>
      </p:grpSpPr>
      <p:sp>
        <p:nvSpPr>
          <p:cNvPr id="636" name="Google Shape;636;p21"/>
          <p:cNvSpPr/>
          <p:nvPr/>
        </p:nvSpPr>
        <p:spPr>
          <a:xfrm rot="-1900174" flipH="1">
            <a:off x="-500059" y="-436065"/>
            <a:ext cx="1729608" cy="139855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1"/>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1"/>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1"/>
          <p:cNvSpPr/>
          <p:nvPr/>
        </p:nvSpPr>
        <p:spPr>
          <a:xfrm rot="531593" flipH="1">
            <a:off x="-1222788" y="3829381"/>
            <a:ext cx="2902962" cy="234732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0" name="Google Shape;640;p21"/>
          <p:cNvGrpSpPr/>
          <p:nvPr/>
        </p:nvGrpSpPr>
        <p:grpSpPr>
          <a:xfrm>
            <a:off x="7931872" y="177093"/>
            <a:ext cx="997823" cy="737095"/>
            <a:chOff x="7931872" y="177093"/>
            <a:chExt cx="997823" cy="737095"/>
          </a:xfrm>
        </p:grpSpPr>
        <p:grpSp>
          <p:nvGrpSpPr>
            <p:cNvPr id="641" name="Google Shape;641;p21"/>
            <p:cNvGrpSpPr/>
            <p:nvPr/>
          </p:nvGrpSpPr>
          <p:grpSpPr>
            <a:xfrm>
              <a:off x="7931872" y="177093"/>
              <a:ext cx="919725" cy="318025"/>
              <a:chOff x="7230903" y="4635722"/>
              <a:chExt cx="652843" cy="225742"/>
            </a:xfrm>
          </p:grpSpPr>
          <p:sp>
            <p:nvSpPr>
              <p:cNvPr id="642" name="Google Shape;642;p21"/>
              <p:cNvSpPr/>
              <p:nvPr/>
            </p:nvSpPr>
            <p:spPr>
              <a:xfrm>
                <a:off x="7230903" y="4635722"/>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3" name="Google Shape;643;p21"/>
              <p:cNvSpPr/>
              <p:nvPr/>
            </p:nvSpPr>
            <p:spPr>
              <a:xfrm>
                <a:off x="7287577" y="4672107"/>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44" name="Google Shape;644;p21"/>
              <p:cNvGrpSpPr/>
              <p:nvPr/>
            </p:nvGrpSpPr>
            <p:grpSpPr>
              <a:xfrm>
                <a:off x="7487126" y="4676394"/>
                <a:ext cx="332041" cy="142684"/>
                <a:chOff x="7487126" y="4676394"/>
                <a:chExt cx="332041" cy="142684"/>
              </a:xfrm>
            </p:grpSpPr>
            <p:sp>
              <p:nvSpPr>
                <p:cNvPr id="645" name="Google Shape;645;p21"/>
                <p:cNvSpPr/>
                <p:nvPr/>
              </p:nvSpPr>
              <p:spPr>
                <a:xfrm>
                  <a:off x="7487126" y="4676394"/>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6" name="Google Shape;646;p21"/>
                <p:cNvSpPr/>
                <p:nvPr/>
              </p:nvSpPr>
              <p:spPr>
                <a:xfrm>
                  <a:off x="7487126" y="4717161"/>
                  <a:ext cx="290322" cy="20383"/>
                </a:xfrm>
                <a:custGeom>
                  <a:avLst/>
                  <a:gdLst/>
                  <a:ahLst/>
                  <a:cxnLst/>
                  <a:rect l="l" t="t" r="r" b="b"/>
                  <a:pathLst>
                    <a:path w="290322" h="20383" extrusionOk="0">
                      <a:moveTo>
                        <a:pt x="0" y="0"/>
                      </a:moveTo>
                      <a:lnTo>
                        <a:pt x="290322" y="0"/>
                      </a:lnTo>
                      <a:lnTo>
                        <a:pt x="29032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7" name="Google Shape;647;p21"/>
                <p:cNvSpPr/>
                <p:nvPr/>
              </p:nvSpPr>
              <p:spPr>
                <a:xfrm>
                  <a:off x="7487126" y="4757928"/>
                  <a:ext cx="303942" cy="20383"/>
                </a:xfrm>
                <a:custGeom>
                  <a:avLst/>
                  <a:gdLst/>
                  <a:ahLst/>
                  <a:cxnLst/>
                  <a:rect l="l" t="t" r="r" b="b"/>
                  <a:pathLst>
                    <a:path w="303942" h="20383" extrusionOk="0">
                      <a:moveTo>
                        <a:pt x="0" y="0"/>
                      </a:moveTo>
                      <a:lnTo>
                        <a:pt x="303942" y="0"/>
                      </a:lnTo>
                      <a:lnTo>
                        <a:pt x="30394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8" name="Google Shape;648;p21"/>
                <p:cNvSpPr/>
                <p:nvPr/>
              </p:nvSpPr>
              <p:spPr>
                <a:xfrm>
                  <a:off x="7487126" y="4798695"/>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649" name="Google Shape;649;p21"/>
            <p:cNvGrpSpPr/>
            <p:nvPr/>
          </p:nvGrpSpPr>
          <p:grpSpPr>
            <a:xfrm>
              <a:off x="7931872" y="596163"/>
              <a:ext cx="919725" cy="318025"/>
              <a:chOff x="7230903" y="4933188"/>
              <a:chExt cx="652843" cy="225742"/>
            </a:xfrm>
          </p:grpSpPr>
          <p:grpSp>
            <p:nvGrpSpPr>
              <p:cNvPr id="650" name="Google Shape;650;p21"/>
              <p:cNvGrpSpPr/>
              <p:nvPr/>
            </p:nvGrpSpPr>
            <p:grpSpPr>
              <a:xfrm>
                <a:off x="7230903" y="4933188"/>
                <a:ext cx="652843" cy="225742"/>
                <a:chOff x="7230903" y="4933188"/>
                <a:chExt cx="652843" cy="225742"/>
              </a:xfrm>
            </p:grpSpPr>
            <p:sp>
              <p:nvSpPr>
                <p:cNvPr id="651" name="Google Shape;651;p21"/>
                <p:cNvSpPr/>
                <p:nvPr/>
              </p:nvSpPr>
              <p:spPr>
                <a:xfrm>
                  <a:off x="7230903" y="4933188"/>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2" name="Google Shape;652;p21"/>
                <p:cNvSpPr/>
                <p:nvPr/>
              </p:nvSpPr>
              <p:spPr>
                <a:xfrm>
                  <a:off x="7287577" y="4969668"/>
                  <a:ext cx="151161" cy="151161"/>
                </a:xfrm>
                <a:custGeom>
                  <a:avLst/>
                  <a:gdLst/>
                  <a:ahLst/>
                  <a:cxnLst/>
                  <a:rect l="l" t="t" r="r" b="b"/>
                  <a:pathLst>
                    <a:path w="151161" h="151161" extrusionOk="0">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53" name="Google Shape;653;p21"/>
                <p:cNvGrpSpPr/>
                <p:nvPr/>
              </p:nvGrpSpPr>
              <p:grpSpPr>
                <a:xfrm>
                  <a:off x="7487126" y="4973859"/>
                  <a:ext cx="332041" cy="142684"/>
                  <a:chOff x="7487126" y="4973859"/>
                  <a:chExt cx="332041" cy="142684"/>
                </a:xfrm>
              </p:grpSpPr>
              <p:sp>
                <p:nvSpPr>
                  <p:cNvPr id="654" name="Google Shape;654;p21"/>
                  <p:cNvSpPr/>
                  <p:nvPr/>
                </p:nvSpPr>
                <p:spPr>
                  <a:xfrm>
                    <a:off x="7506747" y="4973859"/>
                    <a:ext cx="280034" cy="20383"/>
                  </a:xfrm>
                  <a:custGeom>
                    <a:avLst/>
                    <a:gdLst/>
                    <a:ahLst/>
                    <a:cxnLst/>
                    <a:rect l="l" t="t" r="r" b="b"/>
                    <a:pathLst>
                      <a:path w="280034" h="20383" extrusionOk="0">
                        <a:moveTo>
                          <a:pt x="0" y="0"/>
                        </a:moveTo>
                        <a:lnTo>
                          <a:pt x="280035" y="0"/>
                        </a:lnTo>
                        <a:lnTo>
                          <a:pt x="28003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5" name="Google Shape;655;p21"/>
                  <p:cNvSpPr/>
                  <p:nvPr/>
                </p:nvSpPr>
                <p:spPr>
                  <a:xfrm>
                    <a:off x="7487126" y="5014626"/>
                    <a:ext cx="205073" cy="20383"/>
                  </a:xfrm>
                  <a:custGeom>
                    <a:avLst/>
                    <a:gdLst/>
                    <a:ahLst/>
                    <a:cxnLst/>
                    <a:rect l="l" t="t" r="r" b="b"/>
                    <a:pathLst>
                      <a:path w="205073" h="20383" extrusionOk="0">
                        <a:moveTo>
                          <a:pt x="0" y="0"/>
                        </a:moveTo>
                        <a:lnTo>
                          <a:pt x="205073" y="0"/>
                        </a:lnTo>
                        <a:lnTo>
                          <a:pt x="205073"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6" name="Google Shape;656;p21"/>
                  <p:cNvSpPr/>
                  <p:nvPr/>
                </p:nvSpPr>
                <p:spPr>
                  <a:xfrm>
                    <a:off x="7487126" y="5055393"/>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7" name="Google Shape;657;p21"/>
                  <p:cNvSpPr/>
                  <p:nvPr/>
                </p:nvSpPr>
                <p:spPr>
                  <a:xfrm>
                    <a:off x="7487126" y="5096160"/>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658" name="Google Shape;658;p21"/>
              <p:cNvSpPr/>
              <p:nvPr/>
            </p:nvSpPr>
            <p:spPr>
              <a:xfrm>
                <a:off x="7338250" y="5011639"/>
                <a:ext cx="50734" cy="60632"/>
              </a:xfrm>
              <a:custGeom>
                <a:avLst/>
                <a:gdLst/>
                <a:ahLst/>
                <a:cxnLst/>
                <a:rect l="l" t="t" r="r" b="b"/>
                <a:pathLst>
                  <a:path w="50734" h="60632" extrusionOk="0">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59" name="Google Shape;659;p21"/>
            <p:cNvGrpSpPr/>
            <p:nvPr/>
          </p:nvGrpSpPr>
          <p:grpSpPr>
            <a:xfrm>
              <a:off x="8756326" y="539537"/>
              <a:ext cx="173370" cy="112691"/>
              <a:chOff x="7816120" y="4892994"/>
              <a:chExt cx="123062" cy="79991"/>
            </a:xfrm>
          </p:grpSpPr>
          <p:grpSp>
            <p:nvGrpSpPr>
              <p:cNvPr id="660" name="Google Shape;660;p21"/>
              <p:cNvGrpSpPr/>
              <p:nvPr/>
            </p:nvGrpSpPr>
            <p:grpSpPr>
              <a:xfrm>
                <a:off x="7816120" y="4902803"/>
                <a:ext cx="123062" cy="63817"/>
                <a:chOff x="7816120" y="4902803"/>
                <a:chExt cx="123062" cy="63817"/>
              </a:xfrm>
            </p:grpSpPr>
            <p:sp>
              <p:nvSpPr>
                <p:cNvPr id="661" name="Google Shape;661;p21"/>
                <p:cNvSpPr/>
                <p:nvPr/>
              </p:nvSpPr>
              <p:spPr>
                <a:xfrm>
                  <a:off x="7816120" y="4902803"/>
                  <a:ext cx="123062" cy="63817"/>
                </a:xfrm>
                <a:custGeom>
                  <a:avLst/>
                  <a:gdLst/>
                  <a:ahLst/>
                  <a:cxnLst/>
                  <a:rect l="l" t="t" r="r" b="b"/>
                  <a:pathLst>
                    <a:path w="123062" h="63817" extrusionOk="0">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2" name="Google Shape;662;p21"/>
                <p:cNvSpPr/>
                <p:nvPr/>
              </p:nvSpPr>
              <p:spPr>
                <a:xfrm>
                  <a:off x="7858029" y="4915090"/>
                  <a:ext cx="39242" cy="39243"/>
                </a:xfrm>
                <a:custGeom>
                  <a:avLst/>
                  <a:gdLst/>
                  <a:ahLst/>
                  <a:cxnLst/>
                  <a:rect l="l" t="t" r="r" b="b"/>
                  <a:pathLst>
                    <a:path w="39242" h="39243" extrusionOk="0">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63" name="Google Shape;663;p21"/>
              <p:cNvSpPr/>
              <p:nvPr/>
            </p:nvSpPr>
            <p:spPr>
              <a:xfrm rot="-2700000">
                <a:off x="7825456" y="4928129"/>
                <a:ext cx="103403" cy="9720"/>
              </a:xfrm>
              <a:custGeom>
                <a:avLst/>
                <a:gdLst/>
                <a:ahLst/>
                <a:cxnLst/>
                <a:rect l="l" t="t" r="r" b="b"/>
                <a:pathLst>
                  <a:path w="103346" h="9715" extrusionOk="0">
                    <a:moveTo>
                      <a:pt x="0" y="0"/>
                    </a:moveTo>
                    <a:lnTo>
                      <a:pt x="103346" y="0"/>
                    </a:lnTo>
                    <a:lnTo>
                      <a:pt x="103346" y="9716"/>
                    </a:lnTo>
                    <a:lnTo>
                      <a:pt x="0" y="9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664"/>
        <p:cNvGrpSpPr/>
        <p:nvPr/>
      </p:nvGrpSpPr>
      <p:grpSpPr>
        <a:xfrm>
          <a:off x="0" y="0"/>
          <a:ext cx="0" cy="0"/>
          <a:chOff x="0" y="0"/>
          <a:chExt cx="0" cy="0"/>
        </a:xfrm>
      </p:grpSpPr>
      <p:sp>
        <p:nvSpPr>
          <p:cNvPr id="665" name="Google Shape;665;p22"/>
          <p:cNvSpPr/>
          <p:nvPr/>
        </p:nvSpPr>
        <p:spPr>
          <a:xfrm rot="8819869" flipH="1">
            <a:off x="7035528" y="3933627"/>
            <a:ext cx="3158468" cy="250964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2"/>
          <p:cNvSpPr/>
          <p:nvPr/>
        </p:nvSpPr>
        <p:spPr>
          <a:xfrm rot="-3657034" flipH="1">
            <a:off x="-1336268" y="-858934"/>
            <a:ext cx="2746020" cy="192169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7" name="Google Shape;667;p22"/>
          <p:cNvGrpSpPr/>
          <p:nvPr/>
        </p:nvGrpSpPr>
        <p:grpSpPr>
          <a:xfrm>
            <a:off x="65066" y="4373044"/>
            <a:ext cx="878158" cy="654532"/>
            <a:chOff x="1114425" y="4361211"/>
            <a:chExt cx="573023" cy="427101"/>
          </a:xfrm>
        </p:grpSpPr>
        <p:grpSp>
          <p:nvGrpSpPr>
            <p:cNvPr id="668" name="Google Shape;668;p22"/>
            <p:cNvGrpSpPr/>
            <p:nvPr/>
          </p:nvGrpSpPr>
          <p:grpSpPr>
            <a:xfrm>
              <a:off x="1114425" y="4361211"/>
              <a:ext cx="573023" cy="427101"/>
              <a:chOff x="1114425" y="4361211"/>
              <a:chExt cx="573023" cy="427101"/>
            </a:xfrm>
          </p:grpSpPr>
          <p:sp>
            <p:nvSpPr>
              <p:cNvPr id="669" name="Google Shape;669;p22"/>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0" name="Google Shape;670;p22"/>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1" name="Google Shape;671;p22"/>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72" name="Google Shape;672;p22"/>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73" name="Google Shape;673;p22"/>
          <p:cNvGrpSpPr/>
          <p:nvPr/>
        </p:nvGrpSpPr>
        <p:grpSpPr>
          <a:xfrm>
            <a:off x="8114970" y="266839"/>
            <a:ext cx="829992" cy="750888"/>
            <a:chOff x="8114596" y="445039"/>
            <a:chExt cx="633002" cy="572716"/>
          </a:xfrm>
        </p:grpSpPr>
        <p:grpSp>
          <p:nvGrpSpPr>
            <p:cNvPr id="674" name="Google Shape;674;p22"/>
            <p:cNvGrpSpPr/>
            <p:nvPr/>
          </p:nvGrpSpPr>
          <p:grpSpPr>
            <a:xfrm>
              <a:off x="8114596" y="445039"/>
              <a:ext cx="633002" cy="572716"/>
              <a:chOff x="7189660" y="520827"/>
              <a:chExt cx="598074" cy="541115"/>
            </a:xfrm>
          </p:grpSpPr>
          <p:sp>
            <p:nvSpPr>
              <p:cNvPr id="675" name="Google Shape;675;p22"/>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76" name="Google Shape;676;p22"/>
              <p:cNvGrpSpPr/>
              <p:nvPr/>
            </p:nvGrpSpPr>
            <p:grpSpPr>
              <a:xfrm>
                <a:off x="7579137" y="551973"/>
                <a:ext cx="164782" cy="41529"/>
                <a:chOff x="7579137" y="551973"/>
                <a:chExt cx="164782" cy="41529"/>
              </a:xfrm>
            </p:grpSpPr>
            <p:sp>
              <p:nvSpPr>
                <p:cNvPr id="677" name="Google Shape;677;p22"/>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8" name="Google Shape;678;p22"/>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9" name="Google Shape;679;p22"/>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680" name="Google Shape;680;p22"/>
            <p:cNvGrpSpPr/>
            <p:nvPr/>
          </p:nvGrpSpPr>
          <p:grpSpPr>
            <a:xfrm>
              <a:off x="8184962" y="619646"/>
              <a:ext cx="498115" cy="257273"/>
              <a:chOff x="7256144" y="685800"/>
              <a:chExt cx="470630" cy="243077"/>
            </a:xfrm>
          </p:grpSpPr>
          <p:sp>
            <p:nvSpPr>
              <p:cNvPr id="681" name="Google Shape;681;p22"/>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82" name="Google Shape;682;p22"/>
              <p:cNvGrpSpPr/>
              <p:nvPr/>
            </p:nvGrpSpPr>
            <p:grpSpPr>
              <a:xfrm>
                <a:off x="7512843" y="685800"/>
                <a:ext cx="213931" cy="243077"/>
                <a:chOff x="7512843" y="685800"/>
                <a:chExt cx="213931" cy="243077"/>
              </a:xfrm>
            </p:grpSpPr>
            <p:grpSp>
              <p:nvGrpSpPr>
                <p:cNvPr id="683" name="Google Shape;683;p22"/>
                <p:cNvGrpSpPr/>
                <p:nvPr/>
              </p:nvGrpSpPr>
              <p:grpSpPr>
                <a:xfrm>
                  <a:off x="7512843" y="836580"/>
                  <a:ext cx="213931" cy="92297"/>
                  <a:chOff x="7512843" y="836580"/>
                  <a:chExt cx="213931" cy="92297"/>
                </a:xfrm>
              </p:grpSpPr>
              <p:sp>
                <p:nvSpPr>
                  <p:cNvPr id="684" name="Google Shape;684;p22"/>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5" name="Google Shape;685;p22"/>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86" name="Google Shape;686;p22"/>
                <p:cNvGrpSpPr/>
                <p:nvPr/>
              </p:nvGrpSpPr>
              <p:grpSpPr>
                <a:xfrm>
                  <a:off x="7512843" y="761238"/>
                  <a:ext cx="213931" cy="92296"/>
                  <a:chOff x="7512843" y="761238"/>
                  <a:chExt cx="213931" cy="92296"/>
                </a:xfrm>
              </p:grpSpPr>
              <p:sp>
                <p:nvSpPr>
                  <p:cNvPr id="687" name="Google Shape;687;p22"/>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8" name="Google Shape;688;p22"/>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89" name="Google Shape;689;p22"/>
                <p:cNvGrpSpPr/>
                <p:nvPr/>
              </p:nvGrpSpPr>
              <p:grpSpPr>
                <a:xfrm>
                  <a:off x="7512843" y="685800"/>
                  <a:ext cx="213931" cy="92297"/>
                  <a:chOff x="7512843" y="685800"/>
                  <a:chExt cx="213931" cy="92297"/>
                </a:xfrm>
              </p:grpSpPr>
              <p:sp>
                <p:nvSpPr>
                  <p:cNvPr id="690" name="Google Shape;690;p22"/>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1" name="Google Shape;691;p22"/>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484"/>
        <p:cNvGrpSpPr/>
        <p:nvPr/>
      </p:nvGrpSpPr>
      <p:grpSpPr>
        <a:xfrm>
          <a:off x="0" y="0"/>
          <a:ext cx="0" cy="0"/>
          <a:chOff x="0" y="0"/>
          <a:chExt cx="0" cy="0"/>
        </a:xfrm>
      </p:grpSpPr>
      <p:sp>
        <p:nvSpPr>
          <p:cNvPr id="485" name="Google Shape;485;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86" name="Google Shape;486;p16"/>
          <p:cNvSpPr txBox="1">
            <a:spLocks noGrp="1"/>
          </p:cNvSpPr>
          <p:nvPr>
            <p:ph type="subTitle" idx="1"/>
          </p:nvPr>
        </p:nvSpPr>
        <p:spPr>
          <a:xfrm>
            <a:off x="723900" y="171015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87" name="Google Shape;487;p16"/>
          <p:cNvSpPr txBox="1">
            <a:spLocks noGrp="1"/>
          </p:cNvSpPr>
          <p:nvPr>
            <p:ph type="subTitle" idx="2"/>
          </p:nvPr>
        </p:nvSpPr>
        <p:spPr>
          <a:xfrm>
            <a:off x="3577144" y="171016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88" name="Google Shape;488;p16"/>
          <p:cNvSpPr txBox="1">
            <a:spLocks noGrp="1"/>
          </p:cNvSpPr>
          <p:nvPr>
            <p:ph type="subTitle" idx="3"/>
          </p:nvPr>
        </p:nvSpPr>
        <p:spPr>
          <a:xfrm>
            <a:off x="723900" y="34988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89" name="Google Shape;489;p16"/>
          <p:cNvSpPr txBox="1">
            <a:spLocks noGrp="1"/>
          </p:cNvSpPr>
          <p:nvPr>
            <p:ph type="subTitle" idx="4"/>
          </p:nvPr>
        </p:nvSpPr>
        <p:spPr>
          <a:xfrm>
            <a:off x="3577144" y="34988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90" name="Google Shape;490;p16"/>
          <p:cNvSpPr txBox="1">
            <a:spLocks noGrp="1"/>
          </p:cNvSpPr>
          <p:nvPr>
            <p:ph type="subTitle" idx="5"/>
          </p:nvPr>
        </p:nvSpPr>
        <p:spPr>
          <a:xfrm>
            <a:off x="6430388" y="171016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91" name="Google Shape;491;p16"/>
          <p:cNvSpPr txBox="1">
            <a:spLocks noGrp="1"/>
          </p:cNvSpPr>
          <p:nvPr>
            <p:ph type="subTitle" idx="6"/>
          </p:nvPr>
        </p:nvSpPr>
        <p:spPr>
          <a:xfrm>
            <a:off x="6430388" y="34988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92" name="Google Shape;492;p16"/>
          <p:cNvSpPr txBox="1">
            <a:spLocks noGrp="1"/>
          </p:cNvSpPr>
          <p:nvPr>
            <p:ph type="subTitle" idx="7"/>
          </p:nvPr>
        </p:nvSpPr>
        <p:spPr>
          <a:xfrm>
            <a:off x="731700" y="1060275"/>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93" name="Google Shape;493;p16"/>
          <p:cNvSpPr txBox="1">
            <a:spLocks noGrp="1"/>
          </p:cNvSpPr>
          <p:nvPr>
            <p:ph type="subTitle" idx="8"/>
          </p:nvPr>
        </p:nvSpPr>
        <p:spPr>
          <a:xfrm>
            <a:off x="3582994" y="1060284"/>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94" name="Google Shape;494;p16"/>
          <p:cNvSpPr txBox="1">
            <a:spLocks noGrp="1"/>
          </p:cNvSpPr>
          <p:nvPr>
            <p:ph type="subTitle" idx="9"/>
          </p:nvPr>
        </p:nvSpPr>
        <p:spPr>
          <a:xfrm>
            <a:off x="6434288" y="1060284"/>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95" name="Google Shape;495;p16"/>
          <p:cNvSpPr txBox="1">
            <a:spLocks noGrp="1"/>
          </p:cNvSpPr>
          <p:nvPr>
            <p:ph type="subTitle" idx="13"/>
          </p:nvPr>
        </p:nvSpPr>
        <p:spPr>
          <a:xfrm>
            <a:off x="723900" y="2845800"/>
            <a:ext cx="19860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96" name="Google Shape;496;p16"/>
          <p:cNvSpPr txBox="1">
            <a:spLocks noGrp="1"/>
          </p:cNvSpPr>
          <p:nvPr>
            <p:ph type="subTitle" idx="14"/>
          </p:nvPr>
        </p:nvSpPr>
        <p:spPr>
          <a:xfrm>
            <a:off x="3582995" y="2845800"/>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97" name="Google Shape;497;p16"/>
          <p:cNvSpPr txBox="1">
            <a:spLocks noGrp="1"/>
          </p:cNvSpPr>
          <p:nvPr>
            <p:ph type="subTitle" idx="15"/>
          </p:nvPr>
        </p:nvSpPr>
        <p:spPr>
          <a:xfrm>
            <a:off x="6434290" y="2845800"/>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98" name="Google Shape;498;p16"/>
          <p:cNvSpPr/>
          <p:nvPr/>
        </p:nvSpPr>
        <p:spPr>
          <a:xfrm rot="-3263452" flipH="1">
            <a:off x="7372110" y="40383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6"/>
          <p:cNvSpPr/>
          <p:nvPr/>
        </p:nvSpPr>
        <p:spPr>
          <a:xfrm rot="531647" flipH="1">
            <a:off x="-1621232" y="4095570"/>
            <a:ext cx="2581069" cy="208704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6"/>
          <p:cNvSpPr/>
          <p:nvPr/>
        </p:nvSpPr>
        <p:spPr>
          <a:xfrm rot="460658" flipH="1">
            <a:off x="7344116" y="-1448948"/>
            <a:ext cx="3053845" cy="246933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1" name="Google Shape;501;p16"/>
          <p:cNvGrpSpPr/>
          <p:nvPr/>
        </p:nvGrpSpPr>
        <p:grpSpPr>
          <a:xfrm>
            <a:off x="7931872" y="177093"/>
            <a:ext cx="997823" cy="737095"/>
            <a:chOff x="7931872" y="177093"/>
            <a:chExt cx="997823" cy="737095"/>
          </a:xfrm>
        </p:grpSpPr>
        <p:grpSp>
          <p:nvGrpSpPr>
            <p:cNvPr id="502" name="Google Shape;502;p16"/>
            <p:cNvGrpSpPr/>
            <p:nvPr/>
          </p:nvGrpSpPr>
          <p:grpSpPr>
            <a:xfrm>
              <a:off x="7931872" y="177093"/>
              <a:ext cx="919725" cy="318025"/>
              <a:chOff x="7230903" y="4635722"/>
              <a:chExt cx="652843" cy="225742"/>
            </a:xfrm>
          </p:grpSpPr>
          <p:sp>
            <p:nvSpPr>
              <p:cNvPr id="503" name="Google Shape;503;p16"/>
              <p:cNvSpPr/>
              <p:nvPr/>
            </p:nvSpPr>
            <p:spPr>
              <a:xfrm>
                <a:off x="7230903" y="4635722"/>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4" name="Google Shape;504;p16"/>
              <p:cNvSpPr/>
              <p:nvPr/>
            </p:nvSpPr>
            <p:spPr>
              <a:xfrm>
                <a:off x="7287577" y="4672107"/>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05" name="Google Shape;505;p16"/>
              <p:cNvGrpSpPr/>
              <p:nvPr/>
            </p:nvGrpSpPr>
            <p:grpSpPr>
              <a:xfrm>
                <a:off x="7487126" y="4676394"/>
                <a:ext cx="332041" cy="142684"/>
                <a:chOff x="7487126" y="4676394"/>
                <a:chExt cx="332041" cy="142684"/>
              </a:xfrm>
            </p:grpSpPr>
            <p:sp>
              <p:nvSpPr>
                <p:cNvPr id="506" name="Google Shape;506;p16"/>
                <p:cNvSpPr/>
                <p:nvPr/>
              </p:nvSpPr>
              <p:spPr>
                <a:xfrm>
                  <a:off x="7487126" y="4676394"/>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7" name="Google Shape;507;p16"/>
                <p:cNvSpPr/>
                <p:nvPr/>
              </p:nvSpPr>
              <p:spPr>
                <a:xfrm>
                  <a:off x="7487126" y="4717161"/>
                  <a:ext cx="290322" cy="20383"/>
                </a:xfrm>
                <a:custGeom>
                  <a:avLst/>
                  <a:gdLst/>
                  <a:ahLst/>
                  <a:cxnLst/>
                  <a:rect l="l" t="t" r="r" b="b"/>
                  <a:pathLst>
                    <a:path w="290322" h="20383" extrusionOk="0">
                      <a:moveTo>
                        <a:pt x="0" y="0"/>
                      </a:moveTo>
                      <a:lnTo>
                        <a:pt x="290322" y="0"/>
                      </a:lnTo>
                      <a:lnTo>
                        <a:pt x="29032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8" name="Google Shape;508;p16"/>
                <p:cNvSpPr/>
                <p:nvPr/>
              </p:nvSpPr>
              <p:spPr>
                <a:xfrm>
                  <a:off x="7487126" y="4757928"/>
                  <a:ext cx="303942" cy="20383"/>
                </a:xfrm>
                <a:custGeom>
                  <a:avLst/>
                  <a:gdLst/>
                  <a:ahLst/>
                  <a:cxnLst/>
                  <a:rect l="l" t="t" r="r" b="b"/>
                  <a:pathLst>
                    <a:path w="303942" h="20383" extrusionOk="0">
                      <a:moveTo>
                        <a:pt x="0" y="0"/>
                      </a:moveTo>
                      <a:lnTo>
                        <a:pt x="303942" y="0"/>
                      </a:lnTo>
                      <a:lnTo>
                        <a:pt x="30394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9" name="Google Shape;509;p16"/>
                <p:cNvSpPr/>
                <p:nvPr/>
              </p:nvSpPr>
              <p:spPr>
                <a:xfrm>
                  <a:off x="7487126" y="4798695"/>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10" name="Google Shape;510;p16"/>
            <p:cNvGrpSpPr/>
            <p:nvPr/>
          </p:nvGrpSpPr>
          <p:grpSpPr>
            <a:xfrm>
              <a:off x="7931872" y="596163"/>
              <a:ext cx="919725" cy="318025"/>
              <a:chOff x="7230903" y="4933188"/>
              <a:chExt cx="652843" cy="225742"/>
            </a:xfrm>
          </p:grpSpPr>
          <p:grpSp>
            <p:nvGrpSpPr>
              <p:cNvPr id="511" name="Google Shape;511;p16"/>
              <p:cNvGrpSpPr/>
              <p:nvPr/>
            </p:nvGrpSpPr>
            <p:grpSpPr>
              <a:xfrm>
                <a:off x="7230903" y="4933188"/>
                <a:ext cx="652843" cy="225742"/>
                <a:chOff x="7230903" y="4933188"/>
                <a:chExt cx="652843" cy="225742"/>
              </a:xfrm>
            </p:grpSpPr>
            <p:sp>
              <p:nvSpPr>
                <p:cNvPr id="512" name="Google Shape;512;p16"/>
                <p:cNvSpPr/>
                <p:nvPr/>
              </p:nvSpPr>
              <p:spPr>
                <a:xfrm>
                  <a:off x="7230903" y="4933188"/>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3" name="Google Shape;513;p16"/>
                <p:cNvSpPr/>
                <p:nvPr/>
              </p:nvSpPr>
              <p:spPr>
                <a:xfrm>
                  <a:off x="7287577" y="4969668"/>
                  <a:ext cx="151161" cy="151161"/>
                </a:xfrm>
                <a:custGeom>
                  <a:avLst/>
                  <a:gdLst/>
                  <a:ahLst/>
                  <a:cxnLst/>
                  <a:rect l="l" t="t" r="r" b="b"/>
                  <a:pathLst>
                    <a:path w="151161" h="151161" extrusionOk="0">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14" name="Google Shape;514;p16"/>
                <p:cNvGrpSpPr/>
                <p:nvPr/>
              </p:nvGrpSpPr>
              <p:grpSpPr>
                <a:xfrm>
                  <a:off x="7487126" y="4973859"/>
                  <a:ext cx="332041" cy="142684"/>
                  <a:chOff x="7487126" y="4973859"/>
                  <a:chExt cx="332041" cy="142684"/>
                </a:xfrm>
              </p:grpSpPr>
              <p:sp>
                <p:nvSpPr>
                  <p:cNvPr id="515" name="Google Shape;515;p16"/>
                  <p:cNvSpPr/>
                  <p:nvPr/>
                </p:nvSpPr>
                <p:spPr>
                  <a:xfrm>
                    <a:off x="7506747" y="4973859"/>
                    <a:ext cx="280034" cy="20383"/>
                  </a:xfrm>
                  <a:custGeom>
                    <a:avLst/>
                    <a:gdLst/>
                    <a:ahLst/>
                    <a:cxnLst/>
                    <a:rect l="l" t="t" r="r" b="b"/>
                    <a:pathLst>
                      <a:path w="280034" h="20383" extrusionOk="0">
                        <a:moveTo>
                          <a:pt x="0" y="0"/>
                        </a:moveTo>
                        <a:lnTo>
                          <a:pt x="280035" y="0"/>
                        </a:lnTo>
                        <a:lnTo>
                          <a:pt x="28003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6" name="Google Shape;516;p16"/>
                  <p:cNvSpPr/>
                  <p:nvPr/>
                </p:nvSpPr>
                <p:spPr>
                  <a:xfrm>
                    <a:off x="7487126" y="5014626"/>
                    <a:ext cx="205073" cy="20383"/>
                  </a:xfrm>
                  <a:custGeom>
                    <a:avLst/>
                    <a:gdLst/>
                    <a:ahLst/>
                    <a:cxnLst/>
                    <a:rect l="l" t="t" r="r" b="b"/>
                    <a:pathLst>
                      <a:path w="205073" h="20383" extrusionOk="0">
                        <a:moveTo>
                          <a:pt x="0" y="0"/>
                        </a:moveTo>
                        <a:lnTo>
                          <a:pt x="205073" y="0"/>
                        </a:lnTo>
                        <a:lnTo>
                          <a:pt x="205073"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7" name="Google Shape;517;p16"/>
                  <p:cNvSpPr/>
                  <p:nvPr/>
                </p:nvSpPr>
                <p:spPr>
                  <a:xfrm>
                    <a:off x="7487126" y="5055393"/>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8" name="Google Shape;518;p16"/>
                  <p:cNvSpPr/>
                  <p:nvPr/>
                </p:nvSpPr>
                <p:spPr>
                  <a:xfrm>
                    <a:off x="7487126" y="5096160"/>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519" name="Google Shape;519;p16"/>
              <p:cNvSpPr/>
              <p:nvPr/>
            </p:nvSpPr>
            <p:spPr>
              <a:xfrm>
                <a:off x="7338250" y="5011639"/>
                <a:ext cx="50734" cy="60632"/>
              </a:xfrm>
              <a:custGeom>
                <a:avLst/>
                <a:gdLst/>
                <a:ahLst/>
                <a:cxnLst/>
                <a:rect l="l" t="t" r="r" b="b"/>
                <a:pathLst>
                  <a:path w="50734" h="60632" extrusionOk="0">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20" name="Google Shape;520;p16"/>
            <p:cNvGrpSpPr/>
            <p:nvPr/>
          </p:nvGrpSpPr>
          <p:grpSpPr>
            <a:xfrm>
              <a:off x="8756326" y="539537"/>
              <a:ext cx="173370" cy="112691"/>
              <a:chOff x="7816120" y="4892994"/>
              <a:chExt cx="123062" cy="79991"/>
            </a:xfrm>
          </p:grpSpPr>
          <p:grpSp>
            <p:nvGrpSpPr>
              <p:cNvPr id="521" name="Google Shape;521;p16"/>
              <p:cNvGrpSpPr/>
              <p:nvPr/>
            </p:nvGrpSpPr>
            <p:grpSpPr>
              <a:xfrm>
                <a:off x="7816120" y="4902803"/>
                <a:ext cx="123062" cy="63817"/>
                <a:chOff x="7816120" y="4902803"/>
                <a:chExt cx="123062" cy="63817"/>
              </a:xfrm>
            </p:grpSpPr>
            <p:sp>
              <p:nvSpPr>
                <p:cNvPr id="522" name="Google Shape;522;p16"/>
                <p:cNvSpPr/>
                <p:nvPr/>
              </p:nvSpPr>
              <p:spPr>
                <a:xfrm>
                  <a:off x="7816120" y="4902803"/>
                  <a:ext cx="123062" cy="63817"/>
                </a:xfrm>
                <a:custGeom>
                  <a:avLst/>
                  <a:gdLst/>
                  <a:ahLst/>
                  <a:cxnLst/>
                  <a:rect l="l" t="t" r="r" b="b"/>
                  <a:pathLst>
                    <a:path w="123062" h="63817" extrusionOk="0">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 name="Google Shape;523;p16"/>
                <p:cNvSpPr/>
                <p:nvPr/>
              </p:nvSpPr>
              <p:spPr>
                <a:xfrm>
                  <a:off x="7858029" y="4915090"/>
                  <a:ext cx="39242" cy="39243"/>
                </a:xfrm>
                <a:custGeom>
                  <a:avLst/>
                  <a:gdLst/>
                  <a:ahLst/>
                  <a:cxnLst/>
                  <a:rect l="l" t="t" r="r" b="b"/>
                  <a:pathLst>
                    <a:path w="39242" h="39243" extrusionOk="0">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24" name="Google Shape;524;p16"/>
              <p:cNvSpPr/>
              <p:nvPr/>
            </p:nvSpPr>
            <p:spPr>
              <a:xfrm rot="-2700000">
                <a:off x="7825456" y="4928129"/>
                <a:ext cx="103403" cy="9720"/>
              </a:xfrm>
              <a:custGeom>
                <a:avLst/>
                <a:gdLst/>
                <a:ahLst/>
                <a:cxnLst/>
                <a:rect l="l" t="t" r="r" b="b"/>
                <a:pathLst>
                  <a:path w="103346" h="9715" extrusionOk="0">
                    <a:moveTo>
                      <a:pt x="0" y="0"/>
                    </a:moveTo>
                    <a:lnTo>
                      <a:pt x="103346" y="0"/>
                    </a:lnTo>
                    <a:lnTo>
                      <a:pt x="103346" y="9716"/>
                    </a:lnTo>
                    <a:lnTo>
                      <a:pt x="0" y="9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extLst>
      <p:ext uri="{BB962C8B-B14F-4D97-AF65-F5344CB8AC3E}">
        <p14:creationId xmlns:p14="http://schemas.microsoft.com/office/powerpoint/2010/main" val="988517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1pPr>
            <a:lvl2pPr lvl="1"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2pPr>
            <a:lvl3pPr lvl="2"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3pPr>
            <a:lvl4pPr lvl="3"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4pPr>
            <a:lvl5pPr lvl="4"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5pPr>
            <a:lvl6pPr lvl="5"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6pPr>
            <a:lvl7pPr lvl="6"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7pPr>
            <a:lvl8pPr lvl="7"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8pPr>
            <a:lvl9pPr lvl="8"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1pPr>
            <a:lvl2pPr marL="914400" lvl="1"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2pPr>
            <a:lvl3pPr marL="1371600" lvl="2"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3pPr>
            <a:lvl4pPr marL="1828800" lvl="3"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4pPr>
            <a:lvl5pPr marL="2286000" lvl="4"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5pPr>
            <a:lvl6pPr marL="2743200" lvl="5"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6pPr>
            <a:lvl7pPr marL="3200400" lvl="6"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7pPr>
            <a:lvl8pPr marL="3657600" lvl="7"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8pPr>
            <a:lvl9pPr marL="4114800" lvl="8"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8" r:id="rId7"/>
    <p:sldLayoutId id="2147483664" r:id="rId8"/>
    <p:sldLayoutId id="2147483665" r:id="rId9"/>
    <p:sldLayoutId id="2147483667" r:id="rId10"/>
    <p:sldLayoutId id="2147483668" r:id="rId11"/>
    <p:sldLayoutId id="2147483674"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4" Type="http://schemas.openxmlformats.org/officeDocument/2006/relationships/hyperlink" Target="https://rol.redhat.com/rol/app/"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s://www.historyofinformation.com/detail.php?id=872" TargetMode="Externa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www.gnu.org/philosophy/free-sw.html" TargetMode="External"/><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6.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9.xml"/><Relationship Id="rId4" Type="http://schemas.openxmlformats.org/officeDocument/2006/relationships/image" Target="../media/image41.png"/></Relationships>
</file>

<file path=ppt/slides/_rels/slide1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9.xml"/></Relationships>
</file>

<file path=ppt/slides/_rels/slide1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9.xml"/></Relationships>
</file>

<file path=ppt/slides/_rels/slide1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9.xml"/><Relationship Id="rId4" Type="http://schemas.openxmlformats.org/officeDocument/2006/relationships/image" Target="../media/image46.png"/></Relationships>
</file>

<file path=ppt/slides/_rels/slide13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9.xml"/></Relationships>
</file>

<file path=ppt/slides/_rels/slide13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9.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9.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9.xml"/></Relationships>
</file>

<file path=ppt/slides/_rels/slide17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9.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9.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9.xml"/><Relationship Id="rId5" Type="http://schemas.openxmlformats.org/officeDocument/2006/relationships/image" Target="../media/image56.jpeg"/><Relationship Id="rId4" Type="http://schemas.openxmlformats.org/officeDocument/2006/relationships/image" Target="../media/image55.png"/></Relationships>
</file>

<file path=ppt/slides/_rels/slide17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9.xml"/><Relationship Id="rId4" Type="http://schemas.openxmlformats.org/officeDocument/2006/relationships/image" Target="../media/image53.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9.xml"/></Relationships>
</file>

<file path=ppt/slides/_rels/slide19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9.xml"/></Relationships>
</file>

<file path=ppt/slides/_rels/slide19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9.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9.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3.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9.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9.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6.xml.rels><?xml version="1.0" encoding="UTF-8" standalone="yes"?>
<Relationships xmlns="http://schemas.openxmlformats.org/package/2006/relationships"><Relationship Id="rId3" Type="http://schemas.openxmlformats.org/officeDocument/2006/relationships/hyperlink" Target="https://docs.redhat.com/en/documentation/red_hat_enterprise_linux/9/html/managing_file_systems/assembly_persistently-mounting-file-systems_managing-file-systems?utm_source=chatgpt.com" TargetMode="External"/><Relationship Id="rId2" Type="http://schemas.openxmlformats.org/officeDocument/2006/relationships/hyperlink" Target="https://docs.redhat.com/en/documentation/red_hat_enterprise_linux/9/html/managing_file_systems/mounting-file-systems_managing-file-systems?utm_source=chatgpt.com" TargetMode="External"/><Relationship Id="rId1" Type="http://schemas.openxmlformats.org/officeDocument/2006/relationships/slideLayout" Target="../slideLayouts/slideLayout9.xml"/><Relationship Id="rId4" Type="http://schemas.openxmlformats.org/officeDocument/2006/relationships/hyperlink" Target="https://docs.redhat.com/en/documentation/red_hat_enterprise_linux/9/html/managing_file_systems/assembly_creating-an-xfs-file-system_managing-file-systems?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29"/>
          <p:cNvSpPr/>
          <p:nvPr/>
        </p:nvSpPr>
        <p:spPr>
          <a:xfrm rot="4500170">
            <a:off x="4431673" y="-2100"/>
            <a:ext cx="5732085" cy="5096651"/>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chemeClr val="accent6">
              <a:lumMod val="50000"/>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4" name="Google Shape;914;p29"/>
          <p:cNvSpPr txBox="1">
            <a:spLocks noGrp="1"/>
          </p:cNvSpPr>
          <p:nvPr>
            <p:ph type="title"/>
          </p:nvPr>
        </p:nvSpPr>
        <p:spPr>
          <a:xfrm>
            <a:off x="3122700" y="245969"/>
            <a:ext cx="2898600" cy="62630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What is an </a:t>
            </a:r>
            <a:r>
              <a:rPr lang="en-US" dirty="0">
                <a:latin typeface="Times New Roman" panose="02020603050405020304" pitchFamily="18" charset="0"/>
                <a:cs typeface="Times New Roman" panose="02020603050405020304" pitchFamily="18" charset="0"/>
              </a:rPr>
              <a:t>OS</a:t>
            </a:r>
            <a:r>
              <a:rPr lang="en"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
        <p:nvSpPr>
          <p:cNvPr id="915" name="Google Shape;915;p29"/>
          <p:cNvSpPr txBox="1">
            <a:spLocks noGrp="1"/>
          </p:cNvSpPr>
          <p:nvPr>
            <p:ph type="subTitle" idx="1"/>
          </p:nvPr>
        </p:nvSpPr>
        <p:spPr>
          <a:xfrm>
            <a:off x="62761" y="1133219"/>
            <a:ext cx="5017715" cy="2607076"/>
          </a:xfrm>
          <a:prstGeom prst="rect">
            <a:avLst/>
          </a:prstGeom>
        </p:spPr>
        <p:txBody>
          <a:bodyPr spcFirstLastPara="1" wrap="square" lIns="91425" tIns="91425" rIns="91425" bIns="91425" anchor="t" anchorCtr="0">
            <a:noAutofit/>
          </a:bodyPr>
          <a:lstStyle/>
          <a:p>
            <a:r>
              <a:rPr lang="en-US" sz="2000" dirty="0"/>
              <a:t>An Operating System (OS) is system software that manages computer hardware, provides basic services for applications, and acts as an interface between the user and the hardware.</a:t>
            </a:r>
          </a:p>
        </p:txBody>
      </p:sp>
      <p:pic>
        <p:nvPicPr>
          <p:cNvPr id="916" name="Google Shape;916;p29"/>
          <p:cNvPicPr preferRelativeResize="0">
            <a:picLocks noGrp="1"/>
          </p:cNvPicPr>
          <p:nvPr>
            <p:ph type="pic" idx="2"/>
          </p:nvPr>
        </p:nvPicPr>
        <p:blipFill rotWithShape="1">
          <a:blip r:embed="rId3">
            <a:alphaModFix/>
          </a:blip>
          <a:srcRect l="9432" r="37002" b="10007"/>
          <a:stretch/>
        </p:blipFill>
        <p:spPr>
          <a:xfrm>
            <a:off x="5668975" y="1076550"/>
            <a:ext cx="2990400" cy="2990400"/>
          </a:xfrm>
          <a:prstGeom prst="roundRect">
            <a:avLst>
              <a:gd name="adj" fmla="val 16667"/>
            </a:avLst>
          </a:prstGeom>
        </p:spPr>
      </p:pic>
    </p:spTree>
    <p:extLst>
      <p:ext uri="{BB962C8B-B14F-4D97-AF65-F5344CB8AC3E}">
        <p14:creationId xmlns:p14="http://schemas.microsoft.com/office/powerpoint/2010/main" val="2523896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p30"/>
          <p:cNvSpPr/>
          <p:nvPr/>
        </p:nvSpPr>
        <p:spPr>
          <a:xfrm rot="-7219687" flipH="1">
            <a:off x="-1095655" y="408466"/>
            <a:ext cx="5219277" cy="470790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TextBox 8">
            <a:extLst>
              <a:ext uri="{FF2B5EF4-FFF2-40B4-BE49-F238E27FC236}">
                <a16:creationId xmlns:a16="http://schemas.microsoft.com/office/drawing/2014/main" id="{714760D2-1470-074B-1130-C5431D2CCAD5}"/>
              </a:ext>
            </a:extLst>
          </p:cNvPr>
          <p:cNvSpPr txBox="1"/>
          <p:nvPr/>
        </p:nvSpPr>
        <p:spPr>
          <a:xfrm>
            <a:off x="2351280" y="3855100"/>
            <a:ext cx="6792720" cy="369332"/>
          </a:xfrm>
          <a:prstGeom prst="rect">
            <a:avLst/>
          </a:prstGeom>
          <a:noFill/>
        </p:spPr>
        <p:txBody>
          <a:bodyPr wrap="square">
            <a:spAutoFit/>
          </a:bodyPr>
          <a:lstStyle/>
          <a:p>
            <a:pPr>
              <a:buNone/>
            </a:pPr>
            <a:r>
              <a:rPr lang="en-US" sz="1800" dirty="0">
                <a:latin typeface="Times New Roman" panose="02020603050405020304" pitchFamily="18" charset="0"/>
                <a:cs typeface="Times New Roman" pitchFamily="18" charset="0"/>
              </a:rPr>
              <a:t> </a:t>
            </a:r>
          </a:p>
        </p:txBody>
      </p:sp>
      <p:sp>
        <p:nvSpPr>
          <p:cNvPr id="11" name="TextBox 10">
            <a:extLst>
              <a:ext uri="{FF2B5EF4-FFF2-40B4-BE49-F238E27FC236}">
                <a16:creationId xmlns:a16="http://schemas.microsoft.com/office/drawing/2014/main" id="{5F0B00A0-2074-DB88-C264-DF855E024374}"/>
              </a:ext>
            </a:extLst>
          </p:cNvPr>
          <p:cNvSpPr txBox="1"/>
          <p:nvPr/>
        </p:nvSpPr>
        <p:spPr>
          <a:xfrm>
            <a:off x="247651" y="1556087"/>
            <a:ext cx="3766253" cy="2031325"/>
          </a:xfrm>
          <a:prstGeom prst="rect">
            <a:avLst/>
          </a:prstGeom>
          <a:noFill/>
        </p:spPr>
        <p:txBody>
          <a:bodyPr wrap="square">
            <a:spAutoFit/>
          </a:bodyPr>
          <a:lstStyle/>
          <a:p>
            <a:pPr algn="just"/>
            <a:r>
              <a:rPr lang="en-US" sz="1800" b="1" dirty="0">
                <a:latin typeface="Times New Roman" panose="02020603050405020304" pitchFamily="18" charset="0"/>
                <a:cs typeface="Times New Roman" panose="02020603050405020304" pitchFamily="18" charset="0"/>
              </a:rPr>
              <a:t>Definition:</a:t>
            </a:r>
            <a:r>
              <a:rPr lang="en-US" sz="1800" dirty="0">
                <a:latin typeface="Times New Roman" pitchFamily="18" charset="0"/>
                <a:cs typeface="Times New Roman" pitchFamily="18" charset="0"/>
              </a:rPr>
              <a:t> A machine (computer or system) designed for one user at a time. It focuses on providing resources like processing power and memory to a single user.</a:t>
            </a:r>
          </a:p>
          <a:p>
            <a:pPr algn="just"/>
            <a:r>
              <a:rPr lang="en-US" sz="1800" b="1" dirty="0">
                <a:latin typeface="Times New Roman" pitchFamily="18" charset="0"/>
                <a:cs typeface="Times New Roman" pitchFamily="18" charset="0"/>
              </a:rPr>
              <a:t>Ex: </a:t>
            </a:r>
            <a:r>
              <a:rPr lang="en-US" sz="1800" dirty="0">
                <a:latin typeface="Times New Roman" pitchFamily="18" charset="0"/>
                <a:cs typeface="Times New Roman" pitchFamily="18" charset="0"/>
              </a:rPr>
              <a:t>PC, Smartphone, Tablet, Gaming Console, etc. </a:t>
            </a:r>
          </a:p>
        </p:txBody>
      </p:sp>
      <p:sp>
        <p:nvSpPr>
          <p:cNvPr id="13" name="TextBox 12">
            <a:extLst>
              <a:ext uri="{FF2B5EF4-FFF2-40B4-BE49-F238E27FC236}">
                <a16:creationId xmlns:a16="http://schemas.microsoft.com/office/drawing/2014/main" id="{C0CA9FE4-633A-5834-2ED7-D063DA523CA0}"/>
              </a:ext>
            </a:extLst>
          </p:cNvPr>
          <p:cNvSpPr txBox="1"/>
          <p:nvPr/>
        </p:nvSpPr>
        <p:spPr>
          <a:xfrm>
            <a:off x="2451965" y="147839"/>
            <a:ext cx="3935269" cy="584775"/>
          </a:xfrm>
          <a:prstGeom prst="rect">
            <a:avLst/>
          </a:prstGeom>
          <a:noFill/>
        </p:spPr>
        <p:txBody>
          <a:bodyPr wrap="square">
            <a:spAutoFit/>
          </a:bodyPr>
          <a:lstStyle/>
          <a:p>
            <a:r>
              <a:rPr lang="en-US" sz="3200" b="1" dirty="0">
                <a:latin typeface="Times New Roman" pitchFamily="18" charset="0"/>
                <a:cs typeface="Times New Roman" pitchFamily="18" charset="0"/>
              </a:rPr>
              <a:t>Single-User Machine</a:t>
            </a:r>
          </a:p>
        </p:txBody>
      </p:sp>
      <p:sp>
        <p:nvSpPr>
          <p:cNvPr id="15" name="AutoShape 4" descr="single user operating system - Naukri Code 360">
            <a:extLst>
              <a:ext uri="{FF2B5EF4-FFF2-40B4-BE49-F238E27FC236}">
                <a16:creationId xmlns:a16="http://schemas.microsoft.com/office/drawing/2014/main" id="{5AE92BEE-7E5F-3251-76A6-F111D607F86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3B2F8CB7-D607-81F5-93D0-C3486DF5F9D9}"/>
              </a:ext>
            </a:extLst>
          </p:cNvPr>
          <p:cNvPicPr>
            <a:picLocks noChangeAspect="1"/>
          </p:cNvPicPr>
          <p:nvPr/>
        </p:nvPicPr>
        <p:blipFill>
          <a:blip r:embed="rId3"/>
          <a:srcRect l="13837" t="10930" r="13262" b="26050"/>
          <a:stretch/>
        </p:blipFill>
        <p:spPr>
          <a:xfrm>
            <a:off x="4419599" y="1364031"/>
            <a:ext cx="4552060" cy="2415438"/>
          </a:xfrm>
          <a:prstGeom prst="rect">
            <a:avLst/>
          </a:prstGeom>
        </p:spPr>
      </p:pic>
    </p:spTree>
    <p:extLst>
      <p:ext uri="{BB962C8B-B14F-4D97-AF65-F5344CB8AC3E}">
        <p14:creationId xmlns:p14="http://schemas.microsoft.com/office/powerpoint/2010/main" val="2864089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63F53-8300-7625-F6DB-129F0C08F098}"/>
              </a:ext>
            </a:extLst>
          </p:cNvPr>
          <p:cNvSpPr>
            <a:spLocks noGrp="1"/>
          </p:cNvSpPr>
          <p:nvPr>
            <p:ph type="title"/>
          </p:nvPr>
        </p:nvSpPr>
        <p:spPr>
          <a:xfrm>
            <a:off x="188400" y="753217"/>
            <a:ext cx="4383600" cy="1285024"/>
          </a:xfrm>
        </p:spPr>
        <p:txBody>
          <a:bodyPr/>
          <a:lstStyle/>
          <a:p>
            <a:r>
              <a:rPr lang="en-US" sz="1800" dirty="0">
                <a:latin typeface="Times New Roman" panose="02020603050405020304" pitchFamily="18" charset="0"/>
                <a:cs typeface="Times New Roman" pitchFamily="18" charset="0"/>
              </a:rPr>
              <a:t>Definition</a:t>
            </a:r>
            <a:r>
              <a:rPr lang="en-US" sz="1800" b="0" dirty="0">
                <a:latin typeface="Times New Roman" panose="02020603050405020304" pitchFamily="18" charset="0"/>
                <a:cs typeface="Times New Roman" pitchFamily="18" charset="0"/>
              </a:rPr>
              <a:t>: An OS that allows multiple users to access a computer system simultaneously or at different times.</a:t>
            </a:r>
            <a:br>
              <a:rPr lang="en-US" sz="1800" b="0" dirty="0">
                <a:latin typeface="Times New Roman" panose="02020603050405020304" pitchFamily="18" charset="0"/>
                <a:cs typeface="Times New Roman" pitchFamily="18" charset="0"/>
              </a:rPr>
            </a:br>
            <a:r>
              <a:rPr lang="en-US" sz="1800" dirty="0">
                <a:latin typeface="Times New Roman" panose="02020603050405020304" pitchFamily="18" charset="0"/>
                <a:cs typeface="Times New Roman" pitchFamily="18" charset="0"/>
              </a:rPr>
              <a:t>Ex: </a:t>
            </a:r>
            <a:r>
              <a:rPr lang="en-US" sz="1800" b="0" dirty="0">
                <a:latin typeface="Times New Roman" panose="02020603050405020304" pitchFamily="18" charset="0"/>
                <a:cs typeface="Times New Roman" pitchFamily="18" charset="0"/>
              </a:rPr>
              <a:t>Rack Servers, Blade Servers, etc.</a:t>
            </a:r>
            <a:endParaRPr lang="en-IN" sz="2000" b="0" dirty="0"/>
          </a:p>
        </p:txBody>
      </p:sp>
      <p:sp>
        <p:nvSpPr>
          <p:cNvPr id="15" name="Google Shape;965;p30">
            <a:extLst>
              <a:ext uri="{FF2B5EF4-FFF2-40B4-BE49-F238E27FC236}">
                <a16:creationId xmlns:a16="http://schemas.microsoft.com/office/drawing/2014/main" id="{25B0966C-321D-6D2B-89D4-DF6777A61CE5}"/>
              </a:ext>
            </a:extLst>
          </p:cNvPr>
          <p:cNvSpPr/>
          <p:nvPr/>
        </p:nvSpPr>
        <p:spPr>
          <a:xfrm rot="-7219687" flipH="1">
            <a:off x="-2243214" y="465438"/>
            <a:ext cx="5219277" cy="470790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TextBox 3">
            <a:extLst>
              <a:ext uri="{FF2B5EF4-FFF2-40B4-BE49-F238E27FC236}">
                <a16:creationId xmlns:a16="http://schemas.microsoft.com/office/drawing/2014/main" id="{556660B3-DE68-450F-AA73-385A3BFCCC09}"/>
              </a:ext>
            </a:extLst>
          </p:cNvPr>
          <p:cNvSpPr txBox="1"/>
          <p:nvPr/>
        </p:nvSpPr>
        <p:spPr>
          <a:xfrm>
            <a:off x="2779967" y="75352"/>
            <a:ext cx="3584065" cy="553998"/>
          </a:xfrm>
          <a:prstGeom prst="rect">
            <a:avLst/>
          </a:prstGeom>
          <a:noFill/>
        </p:spPr>
        <p:txBody>
          <a:bodyPr wrap="square">
            <a:spAutoFit/>
          </a:bodyPr>
          <a:lstStyle/>
          <a:p>
            <a:r>
              <a:rPr lang="en-US" sz="3000" b="1" dirty="0">
                <a:latin typeface="Times New Roman" panose="02020603050405020304" pitchFamily="18" charset="0"/>
                <a:cs typeface="Times New Roman" pitchFamily="18" charset="0"/>
              </a:rPr>
              <a:t>Multi-User Machine</a:t>
            </a:r>
            <a:endParaRPr lang="en-IN" sz="3000" b="1" dirty="0"/>
          </a:p>
        </p:txBody>
      </p:sp>
      <p:pic>
        <p:nvPicPr>
          <p:cNvPr id="2050" name="Picture 2" descr="TOWER V RACKMOUNT SERVERS">
            <a:extLst>
              <a:ext uri="{FF2B5EF4-FFF2-40B4-BE49-F238E27FC236}">
                <a16:creationId xmlns:a16="http://schemas.microsoft.com/office/drawing/2014/main" id="{7993280D-94ED-5712-AA71-D23C41F035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488" y="2340053"/>
            <a:ext cx="3383423" cy="2146300"/>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GitHub - zoumson/Multi-ClientServer: A single Server Handles multiple  clients request using multiple threading">
            <a:extLst>
              <a:ext uri="{FF2B5EF4-FFF2-40B4-BE49-F238E27FC236}">
                <a16:creationId xmlns:a16="http://schemas.microsoft.com/office/drawing/2014/main" id="{A559645C-F1F2-AA7E-D65A-C856BA3D19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9350" y="876300"/>
            <a:ext cx="4286250" cy="339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4242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7170EC5-7A75-84E0-6854-5D0F8D4DB568}"/>
              </a:ext>
            </a:extLst>
          </p:cNvPr>
          <p:cNvPicPr>
            <a:picLocks noChangeAspect="1"/>
          </p:cNvPicPr>
          <p:nvPr/>
        </p:nvPicPr>
        <p:blipFill>
          <a:blip r:embed="rId2"/>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CE582543-39DF-61B4-F78F-F72866A607AC}"/>
              </a:ext>
            </a:extLst>
          </p:cNvPr>
          <p:cNvSpPr txBox="1"/>
          <p:nvPr/>
        </p:nvSpPr>
        <p:spPr>
          <a:xfrm>
            <a:off x="0" y="1786920"/>
            <a:ext cx="9143999" cy="156966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sz="9600" b="1" dirty="0">
                <a:solidFill>
                  <a:srgbClr val="EB35AE"/>
                </a:solidFill>
                <a:latin typeface="Chiller" panose="04020404031007020602" pitchFamily="82" charset="0"/>
                <a:ea typeface="STXingkai" panose="020B0503020204020204" pitchFamily="2" charset="-122"/>
                <a:cs typeface="Times New Roman" pitchFamily="18" charset="0"/>
              </a:rPr>
              <a:t>   GUI</a:t>
            </a:r>
            <a:r>
              <a:rPr lang="en-US" sz="9600" b="1" dirty="0">
                <a:latin typeface="Chiller" panose="04020404031007020602" pitchFamily="82" charset="0"/>
                <a:ea typeface="STXingkai" panose="020B0503020204020204" pitchFamily="2" charset="-122"/>
                <a:cs typeface="Times New Roman" pitchFamily="18" charset="0"/>
              </a:rPr>
              <a:t>     VS    CLI</a:t>
            </a:r>
            <a:endParaRPr lang="en-IN" sz="9600" b="1" dirty="0">
              <a:latin typeface="Chiller" panose="04020404031007020602" pitchFamily="82" charset="0"/>
              <a:ea typeface="STXingkai" panose="020B0503020204020204" pitchFamily="2" charset="-122"/>
            </a:endParaRPr>
          </a:p>
        </p:txBody>
      </p:sp>
    </p:spTree>
    <p:extLst>
      <p:ext uri="{BB962C8B-B14F-4D97-AF65-F5344CB8AC3E}">
        <p14:creationId xmlns:p14="http://schemas.microsoft.com/office/powerpoint/2010/main" val="4089033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29750D0D-E438-9754-08F6-2566EFF4CD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2154" y="0"/>
            <a:ext cx="678815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387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714;p26">
            <a:extLst>
              <a:ext uri="{FF2B5EF4-FFF2-40B4-BE49-F238E27FC236}">
                <a16:creationId xmlns:a16="http://schemas.microsoft.com/office/drawing/2014/main" id="{67AB7AA9-ABBD-B785-6724-33F75C317107}"/>
              </a:ext>
            </a:extLst>
          </p:cNvPr>
          <p:cNvGrpSpPr/>
          <p:nvPr/>
        </p:nvGrpSpPr>
        <p:grpSpPr>
          <a:xfrm>
            <a:off x="0" y="4317024"/>
            <a:ext cx="2838272" cy="3487251"/>
            <a:chOff x="4022677" y="456119"/>
            <a:chExt cx="2805604" cy="3171381"/>
          </a:xfrm>
        </p:grpSpPr>
        <p:sp>
          <p:nvSpPr>
            <p:cNvPr id="3" name="Google Shape;715;p26">
              <a:extLst>
                <a:ext uri="{FF2B5EF4-FFF2-40B4-BE49-F238E27FC236}">
                  <a16:creationId xmlns:a16="http://schemas.microsoft.com/office/drawing/2014/main" id="{8C7D88AF-A8C2-8B2F-AAE8-2D4F6B3DD57C}"/>
                </a:ext>
              </a:extLst>
            </p:cNvPr>
            <p:cNvSpPr/>
            <p:nvPr/>
          </p:nvSpPr>
          <p:spPr>
            <a:xfrm>
              <a:off x="4022677" y="456119"/>
              <a:ext cx="1504568" cy="760190"/>
            </a:xfrm>
            <a:custGeom>
              <a:avLst/>
              <a:gdLst/>
              <a:ahLst/>
              <a:cxnLst/>
              <a:rect l="l" t="t" r="r" b="b"/>
              <a:pathLst>
                <a:path w="1504568" h="760190" extrusionOk="0">
                  <a:moveTo>
                    <a:pt x="1504379" y="647414"/>
                  </a:moveTo>
                  <a:cubicBezTo>
                    <a:pt x="1504379" y="709708"/>
                    <a:pt x="1453896" y="760190"/>
                    <a:pt x="1391602" y="760190"/>
                  </a:cubicBezTo>
                  <a:lnTo>
                    <a:pt x="194881" y="760190"/>
                  </a:lnTo>
                  <a:cubicBezTo>
                    <a:pt x="87249" y="760190"/>
                    <a:pt x="0" y="672941"/>
                    <a:pt x="0" y="565309"/>
                  </a:cubicBezTo>
                  <a:cubicBezTo>
                    <a:pt x="0" y="457676"/>
                    <a:pt x="87249" y="370522"/>
                    <a:pt x="194881" y="370522"/>
                  </a:cubicBezTo>
                  <a:cubicBezTo>
                    <a:pt x="220027" y="370522"/>
                    <a:pt x="244126" y="375285"/>
                    <a:pt x="266223" y="383953"/>
                  </a:cubicBezTo>
                  <a:cubicBezTo>
                    <a:pt x="266223" y="382714"/>
                    <a:pt x="266223" y="381381"/>
                    <a:pt x="266223" y="380047"/>
                  </a:cubicBezTo>
                  <a:cubicBezTo>
                    <a:pt x="266223" y="240030"/>
                    <a:pt x="341947" y="117729"/>
                    <a:pt x="454628" y="51816"/>
                  </a:cubicBezTo>
                  <a:cubicBezTo>
                    <a:pt x="510921" y="18859"/>
                    <a:pt x="576453" y="0"/>
                    <a:pt x="646366" y="0"/>
                  </a:cubicBezTo>
                  <a:cubicBezTo>
                    <a:pt x="832009" y="0"/>
                    <a:pt x="986504" y="133064"/>
                    <a:pt x="1019747" y="309086"/>
                  </a:cubicBezTo>
                  <a:cubicBezTo>
                    <a:pt x="1054989" y="288893"/>
                    <a:pt x="1095851" y="277368"/>
                    <a:pt x="1139476" y="277368"/>
                  </a:cubicBezTo>
                  <a:cubicBezTo>
                    <a:pt x="1272731" y="277368"/>
                    <a:pt x="1380839" y="385477"/>
                    <a:pt x="1380839" y="518731"/>
                  </a:cubicBezTo>
                  <a:cubicBezTo>
                    <a:pt x="1380839" y="524256"/>
                    <a:pt x="1380648" y="529685"/>
                    <a:pt x="1380268" y="535114"/>
                  </a:cubicBezTo>
                  <a:cubicBezTo>
                    <a:pt x="1384078" y="534734"/>
                    <a:pt x="1387887" y="534543"/>
                    <a:pt x="1391793" y="534543"/>
                  </a:cubicBezTo>
                  <a:cubicBezTo>
                    <a:pt x="1454086" y="534543"/>
                    <a:pt x="1504569" y="585026"/>
                    <a:pt x="1504569" y="64731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Google Shape;716;p26">
              <a:extLst>
                <a:ext uri="{FF2B5EF4-FFF2-40B4-BE49-F238E27FC236}">
                  <a16:creationId xmlns:a16="http://schemas.microsoft.com/office/drawing/2014/main" id="{3DB6026B-8B13-6D0C-8DB7-434A759A5CBA}"/>
                </a:ext>
              </a:extLst>
            </p:cNvPr>
            <p:cNvSpPr/>
            <p:nvPr/>
          </p:nvSpPr>
          <p:spPr>
            <a:xfrm>
              <a:off x="5905690" y="2918364"/>
              <a:ext cx="922591" cy="709136"/>
            </a:xfrm>
            <a:custGeom>
              <a:avLst/>
              <a:gdLst/>
              <a:ahLst/>
              <a:cxnLst/>
              <a:rect l="l" t="t" r="r" b="b"/>
              <a:pathLst>
                <a:path w="922591" h="709136" extrusionOk="0">
                  <a:moveTo>
                    <a:pt x="922305" y="709136"/>
                  </a:moveTo>
                  <a:lnTo>
                    <a:pt x="194881" y="709136"/>
                  </a:lnTo>
                  <a:cubicBezTo>
                    <a:pt x="87249" y="709136"/>
                    <a:pt x="0" y="621887"/>
                    <a:pt x="0" y="514255"/>
                  </a:cubicBezTo>
                  <a:cubicBezTo>
                    <a:pt x="0" y="406622"/>
                    <a:pt x="87249" y="319468"/>
                    <a:pt x="194881" y="319468"/>
                  </a:cubicBezTo>
                  <a:cubicBezTo>
                    <a:pt x="220027" y="319468"/>
                    <a:pt x="244126" y="324231"/>
                    <a:pt x="266223" y="332899"/>
                  </a:cubicBezTo>
                  <a:cubicBezTo>
                    <a:pt x="266223" y="331660"/>
                    <a:pt x="266223" y="330327"/>
                    <a:pt x="266223" y="328993"/>
                  </a:cubicBezTo>
                  <a:cubicBezTo>
                    <a:pt x="266223" y="188976"/>
                    <a:pt x="341947" y="66675"/>
                    <a:pt x="454628" y="762"/>
                  </a:cubicBezTo>
                  <a:cubicBezTo>
                    <a:pt x="515683" y="-2286"/>
                    <a:pt x="577024" y="3429"/>
                    <a:pt x="633984" y="24860"/>
                  </a:cubicBezTo>
                  <a:cubicBezTo>
                    <a:pt x="707803" y="52768"/>
                    <a:pt x="773239" y="110109"/>
                    <a:pt x="797052" y="185261"/>
                  </a:cubicBezTo>
                  <a:cubicBezTo>
                    <a:pt x="820864" y="260509"/>
                    <a:pt x="795433" y="352425"/>
                    <a:pt x="728472" y="394144"/>
                  </a:cubicBezTo>
                  <a:cubicBezTo>
                    <a:pt x="769334" y="388430"/>
                    <a:pt x="808863" y="395002"/>
                    <a:pt x="844010" y="416433"/>
                  </a:cubicBezTo>
                  <a:cubicBezTo>
                    <a:pt x="879157" y="437864"/>
                    <a:pt x="902970" y="481298"/>
                    <a:pt x="892302" y="521113"/>
                  </a:cubicBezTo>
                  <a:cubicBezTo>
                    <a:pt x="885730" y="545782"/>
                    <a:pt x="867156" y="565975"/>
                    <a:pt x="845629" y="579787"/>
                  </a:cubicBezTo>
                  <a:cubicBezTo>
                    <a:pt x="824769" y="593217"/>
                    <a:pt x="801148" y="601408"/>
                    <a:pt x="777621" y="609314"/>
                  </a:cubicBezTo>
                  <a:cubicBezTo>
                    <a:pt x="788479" y="605790"/>
                    <a:pt x="793623" y="605790"/>
                    <a:pt x="805910" y="605314"/>
                  </a:cubicBezTo>
                  <a:cubicBezTo>
                    <a:pt x="819055" y="604742"/>
                    <a:pt x="832961" y="608457"/>
                    <a:pt x="842010" y="618077"/>
                  </a:cubicBezTo>
                  <a:cubicBezTo>
                    <a:pt x="851059" y="627698"/>
                    <a:pt x="853440" y="643890"/>
                    <a:pt x="845153" y="654082"/>
                  </a:cubicBezTo>
                  <a:cubicBezTo>
                    <a:pt x="859727" y="639699"/>
                    <a:pt x="881919" y="651510"/>
                    <a:pt x="897541" y="664845"/>
                  </a:cubicBezTo>
                  <a:cubicBezTo>
                    <a:pt x="910971" y="676180"/>
                    <a:pt x="919067" y="691991"/>
                    <a:pt x="922591" y="70913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7" name="Picture 6">
            <a:extLst>
              <a:ext uri="{FF2B5EF4-FFF2-40B4-BE49-F238E27FC236}">
                <a16:creationId xmlns:a16="http://schemas.microsoft.com/office/drawing/2014/main" id="{522B1A14-BFC5-AC66-76C4-D8013EE60A09}"/>
              </a:ext>
            </a:extLst>
          </p:cNvPr>
          <p:cNvPicPr>
            <a:picLocks noChangeAspect="1"/>
          </p:cNvPicPr>
          <p:nvPr/>
        </p:nvPicPr>
        <p:blipFill>
          <a:blip r:embed="rId2"/>
          <a:stretch>
            <a:fillRect/>
          </a:stretch>
        </p:blipFill>
        <p:spPr>
          <a:xfrm>
            <a:off x="0" y="0"/>
            <a:ext cx="9144000" cy="5143500"/>
          </a:xfrm>
          <a:prstGeom prst="rect">
            <a:avLst/>
          </a:prstGeom>
        </p:spPr>
      </p:pic>
      <p:pic>
        <p:nvPicPr>
          <p:cNvPr id="8" name="Picture 7" descr="A red hat with a black band&#10;&#10;AI-generated content may be incorrect.">
            <a:extLst>
              <a:ext uri="{FF2B5EF4-FFF2-40B4-BE49-F238E27FC236}">
                <a16:creationId xmlns:a16="http://schemas.microsoft.com/office/drawing/2014/main" id="{9225ABF4-FF80-C75C-6FE8-2AA880EA75B8}"/>
              </a:ext>
            </a:extLst>
          </p:cNvPr>
          <p:cNvPicPr>
            <a:picLocks noChangeAspect="1"/>
          </p:cNvPicPr>
          <p:nvPr/>
        </p:nvPicPr>
        <p:blipFill>
          <a:blip r:embed="rId3"/>
          <a:stretch>
            <a:fillRect/>
          </a:stretch>
        </p:blipFill>
        <p:spPr>
          <a:xfrm>
            <a:off x="221393" y="263704"/>
            <a:ext cx="2150212" cy="1144672"/>
          </a:xfrm>
          <a:prstGeom prst="rect">
            <a:avLst/>
          </a:prstGeom>
        </p:spPr>
        <p:style>
          <a:lnRef idx="2">
            <a:schemeClr val="dk1"/>
          </a:lnRef>
          <a:fillRef idx="1">
            <a:schemeClr val="lt1"/>
          </a:fillRef>
          <a:effectRef idx="0">
            <a:schemeClr val="dk1"/>
          </a:effectRef>
          <a:fontRef idx="minor">
            <a:schemeClr val="dk1"/>
          </a:fontRef>
        </p:style>
      </p:pic>
      <p:sp>
        <p:nvSpPr>
          <p:cNvPr id="10" name="TextBox 9">
            <a:extLst>
              <a:ext uri="{FF2B5EF4-FFF2-40B4-BE49-F238E27FC236}">
                <a16:creationId xmlns:a16="http://schemas.microsoft.com/office/drawing/2014/main" id="{8D66F539-9D16-ADAB-BB0E-5AC568FAE395}"/>
              </a:ext>
            </a:extLst>
          </p:cNvPr>
          <p:cNvSpPr txBox="1"/>
          <p:nvPr/>
        </p:nvSpPr>
        <p:spPr>
          <a:xfrm>
            <a:off x="1522087" y="2571750"/>
            <a:ext cx="6197223" cy="114467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oAutofit/>
          </a:bodyPr>
          <a:lstStyle/>
          <a:p>
            <a:pPr indent="-228600">
              <a:lnSpc>
                <a:spcPct val="90000"/>
              </a:lnSpc>
              <a:spcAft>
                <a:spcPts val="600"/>
              </a:spcAf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Red Hat Certified System Administrator (RHCSA)</a:t>
            </a:r>
          </a:p>
          <a:p>
            <a:pPr indent="-228600">
              <a:lnSpc>
                <a:spcPct val="90000"/>
              </a:lnSpc>
              <a:spcAft>
                <a:spcPts val="600"/>
              </a:spcAft>
              <a:buFont typeface="Arial" panose="020B0604020202020204" pitchFamily="34" charset="0"/>
              <a:buChar char="•"/>
            </a:pPr>
            <a:r>
              <a:rPr lang="en-US" sz="2200" b="1" i="0" dirty="0">
                <a:effectLst/>
                <a:latin typeface="Times New Roman" panose="02020603050405020304" pitchFamily="18" charset="0"/>
                <a:cs typeface="Times New Roman" panose="02020603050405020304" pitchFamily="18" charset="0"/>
              </a:rPr>
              <a:t>EXAM CODE: </a:t>
            </a:r>
            <a:r>
              <a:rPr lang="en-IN" sz="2200" dirty="0">
                <a:latin typeface="Times New Roman" panose="02020603050405020304" pitchFamily="18" charset="0"/>
                <a:cs typeface="Times New Roman" panose="02020603050405020304" pitchFamily="18" charset="0"/>
              </a:rPr>
              <a:t>EX200</a:t>
            </a:r>
          </a:p>
          <a:p>
            <a:pPr indent="-228600">
              <a:lnSpc>
                <a:spcPct val="90000"/>
              </a:lnSpc>
              <a:spcAft>
                <a:spcPts val="600"/>
              </a:spcAf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Passing Score</a:t>
            </a:r>
            <a:r>
              <a:rPr lang="en-US" sz="2200" dirty="0">
                <a:latin typeface="Times New Roman" panose="02020603050405020304" pitchFamily="18" charset="0"/>
                <a:cs typeface="Times New Roman" panose="02020603050405020304" pitchFamily="18" charset="0"/>
              </a:rPr>
              <a:t>: 210 out of 300</a:t>
            </a:r>
          </a:p>
        </p:txBody>
      </p:sp>
      <p:sp>
        <p:nvSpPr>
          <p:cNvPr id="11" name="TextBox 10">
            <a:extLst>
              <a:ext uri="{FF2B5EF4-FFF2-40B4-BE49-F238E27FC236}">
                <a16:creationId xmlns:a16="http://schemas.microsoft.com/office/drawing/2014/main" id="{70D0E637-5064-DC77-707E-9B9DF1DEB62F}"/>
              </a:ext>
            </a:extLst>
          </p:cNvPr>
          <p:cNvSpPr txBox="1"/>
          <p:nvPr/>
        </p:nvSpPr>
        <p:spPr>
          <a:xfrm>
            <a:off x="6378088" y="4456438"/>
            <a:ext cx="2682444" cy="55707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nSpc>
                <a:spcPct val="90000"/>
              </a:lnSpc>
              <a:spcAft>
                <a:spcPts val="600"/>
              </a:spcAft>
            </a:pPr>
            <a:r>
              <a:rPr lang="en-US" sz="1400" dirty="0">
                <a:latin typeface="Microsoft PhagsPa" panose="020B0502040204020203" pitchFamily="34" charset="0"/>
                <a:hlinkClick r:id="rId4"/>
              </a:rPr>
              <a:t>https://rol.redhat.com/rol/app/</a:t>
            </a:r>
            <a:endParaRPr lang="en-US" sz="1400" b="1" dirty="0">
              <a:latin typeface="Microsoft PhagsPa" panose="020B0502040204020203" pitchFamily="34" charset="0"/>
            </a:endParaRPr>
          </a:p>
          <a:p>
            <a:pPr>
              <a:lnSpc>
                <a:spcPct val="90000"/>
              </a:lnSpc>
              <a:spcAft>
                <a:spcPts val="600"/>
              </a:spcAft>
            </a:pPr>
            <a:r>
              <a:rPr lang="en-US" sz="1400" dirty="0">
                <a:latin typeface="Microsoft PhagsPa" panose="020B0502040204020203" pitchFamily="34" charset="0"/>
              </a:rPr>
              <a:t>https://surl.li/hicjmt</a:t>
            </a:r>
          </a:p>
        </p:txBody>
      </p:sp>
    </p:spTree>
    <p:extLst>
      <p:ext uri="{BB962C8B-B14F-4D97-AF65-F5344CB8AC3E}">
        <p14:creationId xmlns:p14="http://schemas.microsoft.com/office/powerpoint/2010/main" val="4157446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C399E-8B12-A3C2-A92E-C50D1286AC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ED4446-6587-2A9B-40FB-AB7CDF514895}"/>
              </a:ext>
            </a:extLst>
          </p:cNvPr>
          <p:cNvSpPr>
            <a:spLocks noGrp="1"/>
          </p:cNvSpPr>
          <p:nvPr>
            <p:ph type="title"/>
          </p:nvPr>
        </p:nvSpPr>
        <p:spPr>
          <a:xfrm>
            <a:off x="659522" y="1555862"/>
            <a:ext cx="7824956" cy="2800238"/>
          </a:xfrm>
        </p:spPr>
        <p:txBody>
          <a:bodyPr/>
          <a:lstStyle/>
          <a:p>
            <a:pPr algn="just"/>
            <a:r>
              <a:rPr lang="en-US" sz="2000" b="0" i="0" dirty="0">
                <a:solidFill>
                  <a:srgbClr val="1F2D3D"/>
                </a:solidFill>
                <a:effectLst/>
                <a:latin typeface="Lato" panose="020F0502020204030203" pitchFamily="34" charset="0"/>
                <a:cs typeface="Lato" panose="020F0502020204030203" pitchFamily="34" charset="0"/>
              </a:rPr>
              <a:t>Unix is a family of operating systems that originated in the late 1960s at Bell Labs, a research facility affiliated with AT&amp;T. It is a powerful and versatile operating system that has had a significant impact on the development of modern computing. Unix-like operating systems, often referred to as Unix or Unix-like systems, are designed to be highly portable, scalable, and provide a robust set of tools and utilities for various computing tasks.</a:t>
            </a:r>
          </a:p>
        </p:txBody>
      </p:sp>
      <p:sp>
        <p:nvSpPr>
          <p:cNvPr id="4" name="TextBox 3">
            <a:extLst>
              <a:ext uri="{FF2B5EF4-FFF2-40B4-BE49-F238E27FC236}">
                <a16:creationId xmlns:a16="http://schemas.microsoft.com/office/drawing/2014/main" id="{5FE5BE99-A4BC-CF98-CE73-AE2B52A2710E}"/>
              </a:ext>
            </a:extLst>
          </p:cNvPr>
          <p:cNvSpPr txBox="1"/>
          <p:nvPr/>
        </p:nvSpPr>
        <p:spPr>
          <a:xfrm>
            <a:off x="3248024" y="690890"/>
            <a:ext cx="2898775" cy="584775"/>
          </a:xfrm>
          <a:prstGeom prst="rect">
            <a:avLst/>
          </a:prstGeom>
          <a:noFill/>
        </p:spPr>
        <p:txBody>
          <a:bodyPr wrap="square">
            <a:spAutoFit/>
          </a:bodyPr>
          <a:lstStyle/>
          <a:p>
            <a:r>
              <a:rPr lang="en-US" sz="3200" b="1" i="0" dirty="0">
                <a:solidFill>
                  <a:srgbClr val="212529"/>
                </a:solidFill>
                <a:effectLst/>
                <a:latin typeface="Lato" panose="020F0502020204030203" pitchFamily="34" charset="0"/>
                <a:cs typeface="Lato" panose="020F0502020204030203" pitchFamily="34" charset="0"/>
              </a:rPr>
              <a:t>What is UNIX?</a:t>
            </a:r>
            <a:endParaRPr lang="en-US" sz="3200"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970757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2C64463-944A-2010-BD90-30507F2C6D05}"/>
              </a:ext>
            </a:extLst>
          </p:cNvPr>
          <p:cNvSpPr>
            <a:spLocks noGrp="1"/>
          </p:cNvSpPr>
          <p:nvPr>
            <p:ph type="subTitle" idx="1"/>
          </p:nvPr>
        </p:nvSpPr>
        <p:spPr>
          <a:xfrm>
            <a:off x="1654210" y="3867150"/>
            <a:ext cx="6708666" cy="984250"/>
          </a:xfrm>
        </p:spPr>
        <p:txBody>
          <a:bodyPr/>
          <a:lstStyle/>
          <a:p>
            <a:pPr marL="152400" indent="0">
              <a:buNone/>
            </a:pPr>
            <a:r>
              <a:rPr lang="en-US" sz="2000" dirty="0">
                <a:latin typeface="Times New Roman" panose="02020603050405020304" pitchFamily="18" charset="0"/>
                <a:cs typeface="Times New Roman" panose="02020603050405020304" pitchFamily="18" charset="0"/>
              </a:rPr>
              <a:t>Ken Thompson and Dennis Ritchie were computer scientists who famously co-created the </a:t>
            </a:r>
            <a:r>
              <a:rPr lang="en-US" sz="2000" b="1" dirty="0">
                <a:latin typeface="Times New Roman" panose="02020603050405020304" pitchFamily="18" charset="0"/>
                <a:cs typeface="Times New Roman" panose="02020603050405020304" pitchFamily="18" charset="0"/>
              </a:rPr>
              <a:t>UNIX operating system</a:t>
            </a:r>
            <a:r>
              <a:rPr lang="en-US" sz="2000" dirty="0">
                <a:latin typeface="Times New Roman" panose="02020603050405020304" pitchFamily="18" charset="0"/>
                <a:cs typeface="Times New Roman" panose="02020603050405020304" pitchFamily="18" charset="0"/>
              </a:rPr>
              <a:t> and the </a:t>
            </a:r>
            <a:r>
              <a:rPr lang="en-US" sz="2000" b="1" dirty="0">
                <a:latin typeface="Times New Roman" panose="02020603050405020304" pitchFamily="18" charset="0"/>
                <a:cs typeface="Times New Roman" panose="02020603050405020304" pitchFamily="18" charset="0"/>
              </a:rPr>
              <a:t>C programming language</a:t>
            </a:r>
            <a:r>
              <a:rPr lang="en-US" sz="2000" dirty="0">
                <a:latin typeface="Times New Roman" panose="02020603050405020304" pitchFamily="18" charset="0"/>
                <a:cs typeface="Times New Roman" panose="02020603050405020304" pitchFamily="18" charset="0"/>
              </a:rPr>
              <a:t> at </a:t>
            </a:r>
            <a:r>
              <a:rPr lang="en-US" sz="2000" dirty="0">
                <a:latin typeface="Times New Roman" panose="02020603050405020304" pitchFamily="18" charset="0"/>
                <a:cs typeface="Times New Roman" panose="02020603050405020304" pitchFamily="18" charset="0"/>
                <a:hlinkClick r:id="rId2"/>
              </a:rPr>
              <a:t>Bell Labs</a:t>
            </a:r>
            <a:r>
              <a:rPr lang="en-US" sz="2000" dirty="0">
                <a:latin typeface="Times New Roman" panose="02020603050405020304" pitchFamily="18" charset="0"/>
                <a:cs typeface="Times New Roman" panose="02020603050405020304" pitchFamily="18" charset="0"/>
              </a:rPr>
              <a:t>.</a:t>
            </a:r>
          </a:p>
        </p:txBody>
      </p:sp>
      <p:pic>
        <p:nvPicPr>
          <p:cNvPr id="2054" name="Picture 6" descr="DERIVED: The history of the creation of linux">
            <a:extLst>
              <a:ext uri="{FF2B5EF4-FFF2-40B4-BE49-F238E27FC236}">
                <a16:creationId xmlns:a16="http://schemas.microsoft.com/office/drawing/2014/main" id="{D99A9779-ADC5-60C4-95C9-B1DE786242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4210" y="1246289"/>
            <a:ext cx="5835578" cy="2571201"/>
          </a:xfrm>
          <a:prstGeom prst="rect">
            <a:avLst/>
          </a:prstGeom>
          <a:ln>
            <a:noFill/>
          </a:ln>
          <a:effectLst>
            <a:outerShdw blurRad="190500" algn="tl" rotWithShape="0">
              <a:srgbClr val="000000">
                <a:alpha val="70000"/>
              </a:srgbClr>
            </a:outerShdw>
          </a:effectLst>
        </p:spPr>
      </p:pic>
      <p:sp>
        <p:nvSpPr>
          <p:cNvPr id="6" name="TextBox 5">
            <a:extLst>
              <a:ext uri="{FF2B5EF4-FFF2-40B4-BE49-F238E27FC236}">
                <a16:creationId xmlns:a16="http://schemas.microsoft.com/office/drawing/2014/main" id="{B6EC7F80-7E3F-5EBE-4755-AB855BCD530E}"/>
              </a:ext>
            </a:extLst>
          </p:cNvPr>
          <p:cNvSpPr txBox="1"/>
          <p:nvPr/>
        </p:nvSpPr>
        <p:spPr>
          <a:xfrm>
            <a:off x="3272937" y="-12700"/>
            <a:ext cx="2598123" cy="584775"/>
          </a:xfrm>
          <a:prstGeom prst="rect">
            <a:avLst/>
          </a:prstGeom>
          <a:noFill/>
        </p:spPr>
        <p:txBody>
          <a:bodyPr wrap="square">
            <a:spAutoFit/>
          </a:bodyPr>
          <a:lstStyle/>
          <a:p>
            <a:pPr algn="ctr"/>
            <a:r>
              <a:rPr lang="en-US" sz="3200" b="1" dirty="0">
                <a:latin typeface="Lato" panose="020F0502020204030203" pitchFamily="34" charset="0"/>
                <a:cs typeface="Lato" panose="020F0502020204030203" pitchFamily="34" charset="0"/>
              </a:rPr>
              <a:t>The Birth of</a:t>
            </a:r>
          </a:p>
        </p:txBody>
      </p:sp>
      <p:pic>
        <p:nvPicPr>
          <p:cNvPr id="4" name="Picture 3">
            <a:extLst>
              <a:ext uri="{FF2B5EF4-FFF2-40B4-BE49-F238E27FC236}">
                <a16:creationId xmlns:a16="http://schemas.microsoft.com/office/drawing/2014/main" id="{7CA305FF-1323-B80D-74BD-BA3B5912BA5A}"/>
              </a:ext>
            </a:extLst>
          </p:cNvPr>
          <p:cNvPicPr>
            <a:picLocks noChangeAspect="1"/>
          </p:cNvPicPr>
          <p:nvPr/>
        </p:nvPicPr>
        <p:blipFill>
          <a:blip r:embed="rId4"/>
          <a:srcRect t="35256" b="32181"/>
          <a:stretch/>
        </p:blipFill>
        <p:spPr>
          <a:xfrm>
            <a:off x="3645717" y="572075"/>
            <a:ext cx="1852561" cy="603250"/>
          </a:xfrm>
          <a:prstGeom prst="rect">
            <a:avLst/>
          </a:prstGeom>
        </p:spPr>
      </p:pic>
    </p:spTree>
    <p:extLst>
      <p:ext uri="{BB962C8B-B14F-4D97-AF65-F5344CB8AC3E}">
        <p14:creationId xmlns:p14="http://schemas.microsoft.com/office/powerpoint/2010/main" val="4216638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2054"/>
                                        </p:tgtEl>
                                        <p:attrNameLst>
                                          <p:attrName>style.visibility</p:attrName>
                                        </p:attrNameLst>
                                      </p:cBhvr>
                                      <p:to>
                                        <p:strVal val="visible"/>
                                      </p:to>
                                    </p:set>
                                    <p:animEffect transition="in" filter="fade">
                                      <p:cBhvr>
                                        <p:cTn id="11" dur="1000"/>
                                        <p:tgtEl>
                                          <p:spTgt spid="2054"/>
                                        </p:tgtEl>
                                      </p:cBhvr>
                                    </p:animEffect>
                                    <p:anim calcmode="lin" valueType="num">
                                      <p:cBhvr>
                                        <p:cTn id="12" dur="1000" fill="hold"/>
                                        <p:tgtEl>
                                          <p:spTgt spid="2054"/>
                                        </p:tgtEl>
                                        <p:attrNameLst>
                                          <p:attrName>ppt_x</p:attrName>
                                        </p:attrNameLst>
                                      </p:cBhvr>
                                      <p:tavLst>
                                        <p:tav tm="0">
                                          <p:val>
                                            <p:strVal val="#ppt_x"/>
                                          </p:val>
                                        </p:tav>
                                        <p:tav tm="100000">
                                          <p:val>
                                            <p:strVal val="#ppt_x"/>
                                          </p:val>
                                        </p:tav>
                                      </p:tavLst>
                                    </p:anim>
                                    <p:anim calcmode="lin" valueType="num">
                                      <p:cBhvr>
                                        <p:cTn id="13" dur="1000" fill="hold"/>
                                        <p:tgtEl>
                                          <p:spTgt spid="20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B6A6A-71F5-06E4-0C27-91CBBEB1A818}"/>
              </a:ext>
            </a:extLst>
          </p:cNvPr>
          <p:cNvSpPr>
            <a:spLocks noGrp="1"/>
          </p:cNvSpPr>
          <p:nvPr>
            <p:ph type="title"/>
          </p:nvPr>
        </p:nvSpPr>
        <p:spPr>
          <a:xfrm>
            <a:off x="1072737" y="169300"/>
            <a:ext cx="6998525" cy="1006800"/>
          </a:xfrm>
        </p:spPr>
        <p:txBody>
          <a:bodyPr/>
          <a:lstStyle/>
          <a:p>
            <a:r>
              <a:rPr lang="en-US" sz="2800" i="0" dirty="0">
                <a:solidFill>
                  <a:srgbClr val="212529"/>
                </a:solidFill>
                <a:effectLst/>
                <a:latin typeface="Lato" panose="020F0502020204030203" pitchFamily="34" charset="0"/>
                <a:cs typeface="Lato" panose="020F0502020204030203" pitchFamily="34" charset="0"/>
              </a:rPr>
              <a:t>Key characteristics and features of Unix and Unix-like operating systems include:</a:t>
            </a:r>
            <a:endParaRPr lang="en-US" sz="2800" dirty="0">
              <a:latin typeface="Lato" panose="020F0502020204030203" pitchFamily="34" charset="0"/>
              <a:cs typeface="Lato" panose="020F0502020204030203" pitchFamily="34" charset="0"/>
            </a:endParaRPr>
          </a:p>
        </p:txBody>
      </p:sp>
      <p:sp>
        <p:nvSpPr>
          <p:cNvPr id="5" name="Subtitle 2">
            <a:extLst>
              <a:ext uri="{FF2B5EF4-FFF2-40B4-BE49-F238E27FC236}">
                <a16:creationId xmlns:a16="http://schemas.microsoft.com/office/drawing/2014/main" id="{52EDD544-1F62-4416-C231-5C2541A8354E}"/>
              </a:ext>
            </a:extLst>
          </p:cNvPr>
          <p:cNvSpPr>
            <a:spLocks noGrp="1"/>
          </p:cNvSpPr>
          <p:nvPr>
            <p:ph type="subTitle" idx="1"/>
          </p:nvPr>
        </p:nvSpPr>
        <p:spPr>
          <a:xfrm>
            <a:off x="760500" y="1176100"/>
            <a:ext cx="8383500" cy="3688000"/>
          </a:xfrm>
        </p:spPr>
        <p:txBody>
          <a:bodyPr/>
          <a:lstStyle/>
          <a:p>
            <a:r>
              <a:rPr lang="en-US" sz="1600" b="1" dirty="0"/>
              <a:t>Multi-user and Multi-tasking:</a:t>
            </a:r>
            <a:r>
              <a:rPr lang="en-US" sz="1600" dirty="0"/>
              <a:t> Unix allows multiple users to simultaneously use the system and run multiple programs or processes concurrently.</a:t>
            </a:r>
          </a:p>
          <a:p>
            <a:endParaRPr lang="en-US" sz="1600" dirty="0"/>
          </a:p>
          <a:p>
            <a:r>
              <a:rPr lang="en-US" sz="1600" b="1" dirty="0"/>
              <a:t>Command-Line Interface (CLI):</a:t>
            </a:r>
            <a:r>
              <a:rPr lang="en-US" sz="1600" dirty="0"/>
              <a:t> Unix systems are known for their command-line interfaces, where users interact with the system by entering text-based commands.</a:t>
            </a:r>
          </a:p>
          <a:p>
            <a:endParaRPr lang="en-US" sz="1600" b="1" dirty="0"/>
          </a:p>
          <a:p>
            <a:r>
              <a:rPr lang="en-US" sz="1600" b="1" dirty="0"/>
              <a:t>File Hierarchy:</a:t>
            </a:r>
            <a:r>
              <a:rPr lang="en-US" sz="1600" dirty="0"/>
              <a:t> Unix </a:t>
            </a:r>
            <a:r>
              <a:rPr lang="en-US" sz="1600" dirty="0" err="1"/>
              <a:t>organises</a:t>
            </a:r>
            <a:r>
              <a:rPr lang="en-US" sz="1600" dirty="0"/>
              <a:t> files in a hierarchical directory structure, with a root directory (“/”) and subdirectories.</a:t>
            </a:r>
          </a:p>
          <a:p>
            <a:endParaRPr lang="en-US" sz="1600" b="1" dirty="0"/>
          </a:p>
          <a:p>
            <a:r>
              <a:rPr lang="en-US" sz="1600" b="1" dirty="0"/>
              <a:t>Everything is a File:</a:t>
            </a:r>
            <a:r>
              <a:rPr lang="en-US" sz="1600" dirty="0"/>
              <a:t> In Unix, everything, including devices and network resources, is treated as a file, making it a flexible and consistent system for managing resources.</a:t>
            </a:r>
          </a:p>
          <a:p>
            <a:endParaRPr lang="en-US" sz="1600" b="1" dirty="0"/>
          </a:p>
          <a:p>
            <a:r>
              <a:rPr lang="en-US" sz="1600" b="1" dirty="0"/>
              <a:t>Shell: The</a:t>
            </a:r>
            <a:r>
              <a:rPr lang="en-US" sz="1600" dirty="0"/>
              <a:t> Unix shell is a command interpreter that allows users to enter commands and execute them. Common Unix shells include Bash, </a:t>
            </a:r>
            <a:r>
              <a:rPr lang="en-US" sz="1600" dirty="0" err="1"/>
              <a:t>Zsh</a:t>
            </a:r>
            <a:r>
              <a:rPr lang="en-US" sz="1600" dirty="0"/>
              <a:t>, and </a:t>
            </a:r>
            <a:r>
              <a:rPr lang="en-US" sz="1600" dirty="0" err="1"/>
              <a:t>Csh</a:t>
            </a:r>
            <a:r>
              <a:rPr lang="en-US" sz="1600" dirty="0"/>
              <a:t>.</a:t>
            </a:r>
          </a:p>
        </p:txBody>
      </p:sp>
    </p:spTree>
    <p:extLst>
      <p:ext uri="{BB962C8B-B14F-4D97-AF65-F5344CB8AC3E}">
        <p14:creationId xmlns:p14="http://schemas.microsoft.com/office/powerpoint/2010/main" val="3942490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1F60A-05C5-145C-7D50-0749F32B25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AF71A6-A4C6-F5D9-AE2B-792F805C6B4E}"/>
              </a:ext>
            </a:extLst>
          </p:cNvPr>
          <p:cNvSpPr>
            <a:spLocks noGrp="1"/>
          </p:cNvSpPr>
          <p:nvPr>
            <p:ph type="title"/>
          </p:nvPr>
        </p:nvSpPr>
        <p:spPr>
          <a:xfrm>
            <a:off x="1072737" y="169300"/>
            <a:ext cx="6998525" cy="1006800"/>
          </a:xfrm>
        </p:spPr>
        <p:txBody>
          <a:bodyPr/>
          <a:lstStyle/>
          <a:p>
            <a:r>
              <a:rPr lang="en-US" sz="2800" i="0" dirty="0">
                <a:solidFill>
                  <a:srgbClr val="212529"/>
                </a:solidFill>
                <a:effectLst/>
                <a:latin typeface="Lato" panose="020F0502020204030203" pitchFamily="34" charset="0"/>
                <a:cs typeface="Lato" panose="020F0502020204030203" pitchFamily="34" charset="0"/>
              </a:rPr>
              <a:t>Key characteristics and features of Unix and Unix-like operating systems include:</a:t>
            </a:r>
            <a:endParaRPr lang="en-US" sz="2800" dirty="0">
              <a:latin typeface="Lato" panose="020F0502020204030203" pitchFamily="34" charset="0"/>
              <a:cs typeface="Lato" panose="020F0502020204030203" pitchFamily="34" charset="0"/>
            </a:endParaRPr>
          </a:p>
        </p:txBody>
      </p:sp>
      <p:sp>
        <p:nvSpPr>
          <p:cNvPr id="5" name="Subtitle 2">
            <a:extLst>
              <a:ext uri="{FF2B5EF4-FFF2-40B4-BE49-F238E27FC236}">
                <a16:creationId xmlns:a16="http://schemas.microsoft.com/office/drawing/2014/main" id="{2E7D7CFD-C07D-14E7-7D57-AC0CC2CCA94F}"/>
              </a:ext>
            </a:extLst>
          </p:cNvPr>
          <p:cNvSpPr>
            <a:spLocks noGrp="1"/>
          </p:cNvSpPr>
          <p:nvPr>
            <p:ph type="subTitle" idx="1"/>
          </p:nvPr>
        </p:nvSpPr>
        <p:spPr>
          <a:xfrm>
            <a:off x="760500" y="1176100"/>
            <a:ext cx="8383500" cy="3798100"/>
          </a:xfrm>
        </p:spPr>
        <p:txBody>
          <a:bodyPr/>
          <a:lstStyle/>
          <a:p>
            <a:r>
              <a:rPr lang="en-US" sz="1600" b="1" dirty="0"/>
              <a:t>Pipelines and Redirection:</a:t>
            </a:r>
            <a:r>
              <a:rPr lang="en-US" sz="1600" dirty="0"/>
              <a:t> Unix provides powerful mechanisms for connecting commands through pipelines and redirecting input and output streams, enabling complex data processing.</a:t>
            </a:r>
          </a:p>
          <a:p>
            <a:endParaRPr lang="en-US" sz="1600" b="1" dirty="0"/>
          </a:p>
          <a:p>
            <a:r>
              <a:rPr lang="en-US" sz="1600" b="1" dirty="0"/>
              <a:t>Portability:</a:t>
            </a:r>
            <a:r>
              <a:rPr lang="en-US" sz="1600" dirty="0"/>
              <a:t> Unix and Unix-like systems are designed to be highly portable, running on a wide range of hardware platforms with minimal modifications.</a:t>
            </a:r>
          </a:p>
          <a:p>
            <a:endParaRPr lang="en-US" sz="1600" b="1" dirty="0"/>
          </a:p>
          <a:p>
            <a:r>
              <a:rPr lang="en-US" sz="1600" b="1" dirty="0"/>
              <a:t>Networking Capabilities:</a:t>
            </a:r>
            <a:r>
              <a:rPr lang="en-US" sz="1600" dirty="0"/>
              <a:t> Unix has robust networking capabilities, making it suitable for networked environments and the development of network applications.</a:t>
            </a:r>
          </a:p>
          <a:p>
            <a:endParaRPr lang="en-US" sz="1600" b="1" dirty="0"/>
          </a:p>
          <a:p>
            <a:r>
              <a:rPr lang="en-US" sz="1600" b="1" dirty="0"/>
              <a:t>Security:</a:t>
            </a:r>
            <a:r>
              <a:rPr lang="en-US" sz="1600" dirty="0"/>
              <a:t> Unix systems implement various security mechanisms, including user and group permissions, to control access to files and resources.</a:t>
            </a:r>
          </a:p>
          <a:p>
            <a:endParaRPr lang="en-US" sz="1600" b="1" dirty="0"/>
          </a:p>
          <a:p>
            <a:r>
              <a:rPr lang="en-US" sz="1600" b="1" dirty="0"/>
              <a:t>Extensibility:</a:t>
            </a:r>
            <a:r>
              <a:rPr lang="en-US" sz="1600" dirty="0"/>
              <a:t> Unix can be extended through the use of scripts, custom applications, and third-party software packages.</a:t>
            </a:r>
          </a:p>
        </p:txBody>
      </p:sp>
    </p:spTree>
    <p:extLst>
      <p:ext uri="{BB962C8B-B14F-4D97-AF65-F5344CB8AC3E}">
        <p14:creationId xmlns:p14="http://schemas.microsoft.com/office/powerpoint/2010/main" val="2788325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12A69-BBE3-170B-1B93-1638BF15D7D7}"/>
              </a:ext>
            </a:extLst>
          </p:cNvPr>
          <p:cNvSpPr>
            <a:spLocks noGrp="1"/>
          </p:cNvSpPr>
          <p:nvPr>
            <p:ph type="title"/>
          </p:nvPr>
        </p:nvSpPr>
        <p:spPr>
          <a:xfrm>
            <a:off x="2937818" y="359800"/>
            <a:ext cx="3268364" cy="673100"/>
          </a:xfrm>
        </p:spPr>
        <p:txBody>
          <a:bodyPr/>
          <a:lstStyle/>
          <a:p>
            <a:r>
              <a:rPr lang="en-US" dirty="0"/>
              <a:t>Facts to Agree</a:t>
            </a:r>
          </a:p>
        </p:txBody>
      </p:sp>
      <p:sp>
        <p:nvSpPr>
          <p:cNvPr id="3" name="Subtitle 2">
            <a:extLst>
              <a:ext uri="{FF2B5EF4-FFF2-40B4-BE49-F238E27FC236}">
                <a16:creationId xmlns:a16="http://schemas.microsoft.com/office/drawing/2014/main" id="{582F00A5-D79D-81D5-D1EE-4DDC61B423B1}"/>
              </a:ext>
            </a:extLst>
          </p:cNvPr>
          <p:cNvSpPr>
            <a:spLocks noGrp="1"/>
          </p:cNvSpPr>
          <p:nvPr>
            <p:ph type="subTitle" idx="1"/>
          </p:nvPr>
        </p:nvSpPr>
        <p:spPr>
          <a:xfrm>
            <a:off x="755237" y="1392000"/>
            <a:ext cx="7633525" cy="2070900"/>
          </a:xfrm>
        </p:spPr>
        <p:txBody>
          <a:bodyPr/>
          <a:lstStyle/>
          <a:p>
            <a:r>
              <a:rPr lang="en-US" sz="1600" b="0" i="0" dirty="0">
                <a:solidFill>
                  <a:srgbClr val="1F2D3D"/>
                </a:solidFill>
                <a:effectLst/>
                <a:latin typeface="Lato" panose="020F0502020204030203" pitchFamily="34" charset="0"/>
                <a:cs typeface="Lato" panose="020F0502020204030203" pitchFamily="34" charset="0"/>
              </a:rPr>
              <a:t>Unix has served as the foundation for many other operating systems, including Linux and macOS.</a:t>
            </a:r>
          </a:p>
          <a:p>
            <a:r>
              <a:rPr lang="en-US" sz="1600" b="0" i="0" dirty="0">
                <a:solidFill>
                  <a:srgbClr val="1F2D3D"/>
                </a:solidFill>
                <a:effectLst/>
                <a:latin typeface="Lato" panose="020F0502020204030203" pitchFamily="34" charset="0"/>
                <a:cs typeface="Lato" panose="020F0502020204030203" pitchFamily="34" charset="0"/>
              </a:rPr>
              <a:t>Linux was developed as a Unix-like operating system that is open-source and has gained widespread popularity.</a:t>
            </a:r>
          </a:p>
          <a:p>
            <a:r>
              <a:rPr lang="en-US" sz="1600" b="0" i="0" dirty="0">
                <a:solidFill>
                  <a:srgbClr val="1F2D3D"/>
                </a:solidFill>
                <a:effectLst/>
                <a:latin typeface="Lato" panose="020F0502020204030203" pitchFamily="34" charset="0"/>
                <a:cs typeface="Lato" panose="020F0502020204030203" pitchFamily="34" charset="0"/>
              </a:rPr>
              <a:t>Unix and Unix-like systems are commonly used in server environments, scientific research, software development, and many other fields due to their stability, flexibility, and powerful command-line tools.</a:t>
            </a:r>
            <a:endParaRPr lang="en-US" sz="1600" dirty="0">
              <a:latin typeface="Lato" panose="020F0502020204030203" pitchFamily="34" charset="0"/>
              <a:cs typeface="Lato" panose="020F0502020204030203" pitchFamily="34" charset="0"/>
            </a:endParaRPr>
          </a:p>
        </p:txBody>
      </p:sp>
      <p:pic>
        <p:nvPicPr>
          <p:cNvPr id="3074" name="Picture 2" descr="Types of Unix Operating System - Naukri Code 360">
            <a:extLst>
              <a:ext uri="{FF2B5EF4-FFF2-40B4-BE49-F238E27FC236}">
                <a16:creationId xmlns:a16="http://schemas.microsoft.com/office/drawing/2014/main" id="{68E7E51F-FF71-3FB3-59EE-3C03995B72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129" t="33580" r="32128" b="32674"/>
          <a:stretch/>
        </p:blipFill>
        <p:spPr bwMode="auto">
          <a:xfrm>
            <a:off x="3153718" y="3289300"/>
            <a:ext cx="3268364" cy="1735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8777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A4AB3-BCEF-3C1B-4284-EEAB08AD927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2208787-A82C-88E8-B47E-B27999D562A7}"/>
              </a:ext>
            </a:extLst>
          </p:cNvPr>
          <p:cNvSpPr txBox="1"/>
          <p:nvPr/>
        </p:nvSpPr>
        <p:spPr>
          <a:xfrm>
            <a:off x="3376612" y="0"/>
            <a:ext cx="2390775" cy="584775"/>
          </a:xfrm>
          <a:prstGeom prst="rect">
            <a:avLst/>
          </a:prstGeom>
          <a:noFill/>
        </p:spPr>
        <p:txBody>
          <a:bodyPr wrap="square">
            <a:spAutoFit/>
          </a:bodyPr>
          <a:lstStyle/>
          <a:p>
            <a:r>
              <a:rPr lang="en-US" sz="3200" b="1" dirty="0">
                <a:latin typeface="Lato" panose="020F0502020204030203" pitchFamily="34" charset="0"/>
                <a:cs typeface="Lato" panose="020F0502020204030203" pitchFamily="34" charset="0"/>
              </a:rPr>
              <a:t>The Birth of</a:t>
            </a:r>
          </a:p>
        </p:txBody>
      </p:sp>
      <p:pic>
        <p:nvPicPr>
          <p:cNvPr id="7172" name="Picture 4" descr="Linux Logo PNG &amp; SVG Design For T-Shirts">
            <a:extLst>
              <a:ext uri="{FF2B5EF4-FFF2-40B4-BE49-F238E27FC236}">
                <a16:creationId xmlns:a16="http://schemas.microsoft.com/office/drawing/2014/main" id="{03CB3E8F-6FBF-CB4B-E87F-5DEAA0952C3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297" b="29037"/>
          <a:stretch/>
        </p:blipFill>
        <p:spPr bwMode="auto">
          <a:xfrm>
            <a:off x="3376612" y="476910"/>
            <a:ext cx="2817813" cy="117408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After Years of Abusive E-mails, the Creator of Linux Steps Aside | The New  Yorker">
            <a:extLst>
              <a:ext uri="{FF2B5EF4-FFF2-40B4-BE49-F238E27FC236}">
                <a16:creationId xmlns:a16="http://schemas.microsoft.com/office/drawing/2014/main" id="{CEF3EAAF-2614-580A-DFBE-B3D96B234C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793" y="1534771"/>
            <a:ext cx="3131819" cy="31318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91CFA09-18DF-B098-352F-EC52FB55D2F3}"/>
              </a:ext>
            </a:extLst>
          </p:cNvPr>
          <p:cNvSpPr txBox="1"/>
          <p:nvPr/>
        </p:nvSpPr>
        <p:spPr>
          <a:xfrm>
            <a:off x="1074102" y="4666590"/>
            <a:ext cx="1473199" cy="307777"/>
          </a:xfrm>
          <a:prstGeom prst="rect">
            <a:avLst/>
          </a:prstGeom>
          <a:noFill/>
        </p:spPr>
        <p:txBody>
          <a:bodyPr wrap="square">
            <a:spAutoFit/>
          </a:bodyPr>
          <a:lstStyle/>
          <a:p>
            <a:r>
              <a:rPr lang="en-US" sz="1400" b="1" dirty="0"/>
              <a:t>Linus Torvalds</a:t>
            </a:r>
            <a:r>
              <a:rPr lang="en-US" sz="1400" dirty="0"/>
              <a:t> </a:t>
            </a:r>
            <a:endParaRPr lang="en-US" dirty="0"/>
          </a:p>
        </p:txBody>
      </p:sp>
      <p:sp>
        <p:nvSpPr>
          <p:cNvPr id="9" name="TextBox 8">
            <a:extLst>
              <a:ext uri="{FF2B5EF4-FFF2-40B4-BE49-F238E27FC236}">
                <a16:creationId xmlns:a16="http://schemas.microsoft.com/office/drawing/2014/main" id="{10D82F12-4C73-03D9-30C2-D633E6A8FCFB}"/>
              </a:ext>
            </a:extLst>
          </p:cNvPr>
          <p:cNvSpPr txBox="1"/>
          <p:nvPr/>
        </p:nvSpPr>
        <p:spPr>
          <a:xfrm>
            <a:off x="3632653" y="1650999"/>
            <a:ext cx="5266553" cy="2862322"/>
          </a:xfrm>
          <a:prstGeom prst="rect">
            <a:avLst/>
          </a:prstGeom>
          <a:noFill/>
        </p:spPr>
        <p:txBody>
          <a:bodyPr wrap="square">
            <a:spAutoFit/>
          </a:bodyPr>
          <a:lstStyle/>
          <a:p>
            <a:pPr marL="438150" indent="-285750">
              <a:buFont typeface="Arial" panose="020B0604020202020204" pitchFamily="34" charset="0"/>
              <a:buChar char="•"/>
            </a:pPr>
            <a:r>
              <a:rPr lang="en-US" sz="1800" b="1" dirty="0">
                <a:latin typeface="Lato" panose="020F0502020204030203" pitchFamily="34" charset="0"/>
                <a:cs typeface="Lato" panose="020F0502020204030203" pitchFamily="34" charset="0"/>
              </a:rPr>
              <a:t>Development: </a:t>
            </a:r>
            <a:r>
              <a:rPr lang="en-US" sz="1800" dirty="0">
                <a:latin typeface="Lato" panose="020F0502020204030203" pitchFamily="34" charset="0"/>
                <a:cs typeface="Lato" panose="020F0502020204030203" pitchFamily="34" charset="0"/>
              </a:rPr>
              <a:t>Created by </a:t>
            </a:r>
            <a:r>
              <a:rPr lang="en-US" sz="1800" b="1" dirty="0">
                <a:latin typeface="Lato" panose="020F0502020204030203" pitchFamily="34" charset="0"/>
                <a:cs typeface="Lato" panose="020F0502020204030203" pitchFamily="34" charset="0"/>
              </a:rPr>
              <a:t>Linus Torvalds</a:t>
            </a:r>
            <a:r>
              <a:rPr lang="en-US" sz="1800" dirty="0">
                <a:latin typeface="Lato" panose="020F0502020204030203" pitchFamily="34" charset="0"/>
                <a:cs typeface="Lato" panose="020F0502020204030203" pitchFamily="34" charset="0"/>
              </a:rPr>
              <a:t> in </a:t>
            </a:r>
            <a:r>
              <a:rPr lang="en-US" sz="1800" b="1" dirty="0">
                <a:latin typeface="Lato" panose="020F0502020204030203" pitchFamily="34" charset="0"/>
                <a:cs typeface="Lato" panose="020F0502020204030203" pitchFamily="34" charset="0"/>
              </a:rPr>
              <a:t>1991</a:t>
            </a:r>
            <a:r>
              <a:rPr lang="en-US" sz="1800" dirty="0">
                <a:latin typeface="Lato" panose="020F0502020204030203" pitchFamily="34" charset="0"/>
                <a:cs typeface="Lato" panose="020F0502020204030203" pitchFamily="34" charset="0"/>
              </a:rPr>
              <a:t>.</a:t>
            </a:r>
          </a:p>
          <a:p>
            <a:pPr marL="438150" indent="-285750">
              <a:buFont typeface="Arial" panose="020B0604020202020204" pitchFamily="34" charset="0"/>
              <a:buChar char="•"/>
            </a:pPr>
            <a:endParaRPr lang="en-US" sz="1800" dirty="0">
              <a:latin typeface="Lato" panose="020F0502020204030203" pitchFamily="34" charset="0"/>
              <a:cs typeface="Lato" panose="020F0502020204030203" pitchFamily="34" charset="0"/>
            </a:endParaRPr>
          </a:p>
          <a:p>
            <a:pPr marL="438150" indent="-285750">
              <a:buFont typeface="Arial" panose="020B0604020202020204" pitchFamily="34" charset="0"/>
              <a:buChar char="•"/>
            </a:pPr>
            <a:r>
              <a:rPr lang="en-US" sz="1800" b="1" dirty="0">
                <a:latin typeface="Lato" panose="020F0502020204030203" pitchFamily="34" charset="0"/>
                <a:cs typeface="Lato" panose="020F0502020204030203" pitchFamily="34" charset="0"/>
              </a:rPr>
              <a:t>Source Model: </a:t>
            </a:r>
            <a:r>
              <a:rPr lang="en-US" sz="1800" dirty="0">
                <a:latin typeface="Lato" panose="020F0502020204030203" pitchFamily="34" charset="0"/>
                <a:cs typeface="Lato" panose="020F0502020204030203" pitchFamily="34" charset="0"/>
              </a:rPr>
              <a:t>Linux can be </a:t>
            </a:r>
            <a:r>
              <a:rPr lang="en-US" sz="1800" b="1" dirty="0">
                <a:latin typeface="Lato" panose="020F0502020204030203" pitchFamily="34" charset="0"/>
                <a:cs typeface="Lato" panose="020F0502020204030203" pitchFamily="34" charset="0"/>
              </a:rPr>
              <a:t>free and open-source</a:t>
            </a:r>
            <a:r>
              <a:rPr lang="en-US" sz="1800" dirty="0">
                <a:latin typeface="Lato" panose="020F0502020204030203" pitchFamily="34" charset="0"/>
                <a:cs typeface="Lato" panose="020F0502020204030203" pitchFamily="34" charset="0"/>
              </a:rPr>
              <a:t>, and some components or distributions may include </a:t>
            </a:r>
            <a:r>
              <a:rPr lang="en-US" sz="1800" b="1" dirty="0">
                <a:latin typeface="Lato" panose="020F0502020204030203" pitchFamily="34" charset="0"/>
                <a:cs typeface="Lato" panose="020F0502020204030203" pitchFamily="34" charset="0"/>
              </a:rPr>
              <a:t>proprietary</a:t>
            </a:r>
            <a:r>
              <a:rPr lang="en-US" sz="1800" dirty="0">
                <a:latin typeface="Lato" panose="020F0502020204030203" pitchFamily="34" charset="0"/>
                <a:cs typeface="Lato" panose="020F0502020204030203" pitchFamily="34" charset="0"/>
              </a:rPr>
              <a:t> elements.</a:t>
            </a:r>
          </a:p>
          <a:p>
            <a:pPr marL="438150" indent="-285750">
              <a:buFont typeface="Arial" panose="020B0604020202020204" pitchFamily="34" charset="0"/>
              <a:buChar char="•"/>
            </a:pPr>
            <a:endParaRPr lang="en-US" sz="1800" b="1" dirty="0">
              <a:latin typeface="Lato" panose="020F0502020204030203" pitchFamily="34" charset="0"/>
              <a:cs typeface="Lato" panose="020F0502020204030203" pitchFamily="34" charset="0"/>
            </a:endParaRPr>
          </a:p>
          <a:p>
            <a:pPr marL="438150" indent="-285750">
              <a:buFont typeface="Arial" panose="020B0604020202020204" pitchFamily="34" charset="0"/>
              <a:buChar char="•"/>
            </a:pPr>
            <a:r>
              <a:rPr lang="en-US" sz="1800" b="1" dirty="0">
                <a:latin typeface="Lato" panose="020F0502020204030203" pitchFamily="34" charset="0"/>
                <a:cs typeface="Lato" panose="020F0502020204030203" pitchFamily="34" charset="0"/>
              </a:rPr>
              <a:t>Unix-Based Kernel: </a:t>
            </a:r>
            <a:r>
              <a:rPr lang="en-US" sz="1800" dirty="0">
                <a:latin typeface="Lato" panose="020F0502020204030203" pitchFamily="34" charset="0"/>
                <a:cs typeface="Lato" panose="020F0502020204030203" pitchFamily="34" charset="0"/>
              </a:rPr>
              <a:t>Linux is a </a:t>
            </a:r>
            <a:r>
              <a:rPr lang="en-US" sz="1800" b="1" dirty="0">
                <a:latin typeface="Lato" panose="020F0502020204030203" pitchFamily="34" charset="0"/>
                <a:cs typeface="Lato" panose="020F0502020204030203" pitchFamily="34" charset="0"/>
              </a:rPr>
              <a:t>Unix-like operating system kernel</a:t>
            </a:r>
            <a:r>
              <a:rPr lang="en-US" sz="1800" dirty="0">
                <a:latin typeface="Lato" panose="020F0502020204030203" pitchFamily="34" charset="0"/>
                <a:cs typeface="Lato" panose="020F0502020204030203" pitchFamily="34" charset="0"/>
              </a:rPr>
              <a:t>, following Unix design principles.</a:t>
            </a:r>
          </a:p>
        </p:txBody>
      </p:sp>
    </p:spTree>
    <p:extLst>
      <p:ext uri="{BB962C8B-B14F-4D97-AF65-F5344CB8AC3E}">
        <p14:creationId xmlns:p14="http://schemas.microsoft.com/office/powerpoint/2010/main" val="2162394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EA6415A-858E-6046-7C69-3AE6B028108B}"/>
              </a:ext>
            </a:extLst>
          </p:cNvPr>
          <p:cNvSpPr>
            <a:spLocks noGrp="1"/>
          </p:cNvSpPr>
          <p:nvPr>
            <p:ph type="subTitle" idx="1"/>
          </p:nvPr>
        </p:nvSpPr>
        <p:spPr>
          <a:xfrm>
            <a:off x="846264" y="1439406"/>
            <a:ext cx="8164386" cy="3196093"/>
          </a:xfrm>
        </p:spPr>
        <p:txBody>
          <a:bodyPr/>
          <a:lstStyle/>
          <a:p>
            <a:pPr marL="152400" indent="0">
              <a:buNone/>
            </a:pPr>
            <a:r>
              <a:rPr lang="en-US" sz="2000" b="1" dirty="0"/>
              <a:t>What Linux Is:</a:t>
            </a:r>
            <a:endParaRPr lang="en-US" sz="2000" dirty="0"/>
          </a:p>
          <a:p>
            <a:pPr marL="152400" indent="0">
              <a:buNone/>
            </a:pPr>
            <a:r>
              <a:rPr lang="en-US" sz="2000" dirty="0"/>
              <a:t>Linux itself is </a:t>
            </a:r>
            <a:r>
              <a:rPr lang="en-US" sz="2000" b="1" dirty="0"/>
              <a:t>only the kernel</a:t>
            </a:r>
            <a:r>
              <a:rPr lang="en-US" sz="2000" dirty="0"/>
              <a:t>—the core part of the operating system that manages hardware and system processes.</a:t>
            </a:r>
          </a:p>
          <a:p>
            <a:pPr marL="152400" indent="0">
              <a:buNone/>
            </a:pPr>
            <a:r>
              <a:rPr lang="en-US" sz="2000" dirty="0"/>
              <a:t>https://www.kernel.org/</a:t>
            </a:r>
          </a:p>
          <a:p>
            <a:pPr marL="152400" indent="0">
              <a:buNone/>
            </a:pPr>
            <a:endParaRPr lang="en-US" sz="2000" dirty="0"/>
          </a:p>
          <a:p>
            <a:pPr marL="152400" indent="0">
              <a:buNone/>
            </a:pPr>
            <a:r>
              <a:rPr lang="en-US" sz="2000" b="1" dirty="0"/>
              <a:t>Linux Distributions:</a:t>
            </a:r>
            <a:endParaRPr lang="en-US" sz="2000" dirty="0"/>
          </a:p>
          <a:p>
            <a:pPr marL="152400" indent="0">
              <a:buNone/>
            </a:pPr>
            <a:r>
              <a:rPr lang="en-US" sz="2000" dirty="0"/>
              <a:t>The term </a:t>
            </a:r>
            <a:r>
              <a:rPr lang="en-US" sz="2000" b="1" dirty="0"/>
              <a:t>“Linux”</a:t>
            </a:r>
            <a:r>
              <a:rPr lang="en-US" sz="2000" dirty="0"/>
              <a:t> is often used to describe </a:t>
            </a:r>
            <a:r>
              <a:rPr lang="en-US" sz="2000" b="1" dirty="0"/>
              <a:t>complete operating systems</a:t>
            </a:r>
            <a:r>
              <a:rPr lang="en-US" sz="2000" dirty="0"/>
              <a:t> built using the Linux kernel. These complete systems are called </a:t>
            </a:r>
            <a:r>
              <a:rPr lang="en-US" sz="2000" b="1" dirty="0"/>
              <a:t>Linux distributions (distros)</a:t>
            </a:r>
            <a:r>
              <a:rPr lang="en-US" sz="2000" dirty="0"/>
              <a:t>, such as Ubuntu, Fedora, Debian, CentOS, and others.</a:t>
            </a:r>
          </a:p>
          <a:p>
            <a:pPr marL="152400" indent="0">
              <a:buNone/>
            </a:pPr>
            <a:endParaRPr lang="en-IN" sz="2000" dirty="0">
              <a:latin typeface="Times New Roman" panose="02020603050405020304" pitchFamily="18" charset="0"/>
              <a:cs typeface="Times New Roman" panose="02020603050405020304" pitchFamily="18" charset="0"/>
            </a:endParaRPr>
          </a:p>
        </p:txBody>
      </p:sp>
      <p:pic>
        <p:nvPicPr>
          <p:cNvPr id="4" name="Picture 4" descr="Linux Logo PNG &amp; SVG Design For T-Shirts">
            <a:extLst>
              <a:ext uri="{FF2B5EF4-FFF2-40B4-BE49-F238E27FC236}">
                <a16:creationId xmlns:a16="http://schemas.microsoft.com/office/drawing/2014/main" id="{98C4C2BD-4755-3C0D-2202-F886AE96FC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297" b="29037"/>
          <a:stretch/>
        </p:blipFill>
        <p:spPr bwMode="auto">
          <a:xfrm>
            <a:off x="3586225" y="265318"/>
            <a:ext cx="2817813" cy="1174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4636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7DE83FD-515F-3BA8-E4FE-1CA5E1B07B6F}"/>
              </a:ext>
            </a:extLst>
          </p:cNvPr>
          <p:cNvPicPr>
            <a:picLocks noChangeAspect="1"/>
          </p:cNvPicPr>
          <p:nvPr/>
        </p:nvPicPr>
        <p:blipFill>
          <a:blip r:embed="rId2"/>
          <a:stretch>
            <a:fillRect/>
          </a:stretch>
        </p:blipFill>
        <p:spPr>
          <a:xfrm>
            <a:off x="1768175" y="0"/>
            <a:ext cx="6890349" cy="5143500"/>
          </a:xfrm>
          <a:prstGeom prst="rect">
            <a:avLst/>
          </a:prstGeom>
        </p:spPr>
      </p:pic>
      <p:sp>
        <p:nvSpPr>
          <p:cNvPr id="7" name="TextBox 6">
            <a:extLst>
              <a:ext uri="{FF2B5EF4-FFF2-40B4-BE49-F238E27FC236}">
                <a16:creationId xmlns:a16="http://schemas.microsoft.com/office/drawing/2014/main" id="{761FB907-A45B-59CC-5726-A27F534C9906}"/>
              </a:ext>
            </a:extLst>
          </p:cNvPr>
          <p:cNvSpPr txBox="1"/>
          <p:nvPr/>
        </p:nvSpPr>
        <p:spPr>
          <a:xfrm>
            <a:off x="133350" y="2094696"/>
            <a:ext cx="1570037" cy="954107"/>
          </a:xfrm>
          <a:prstGeom prst="rect">
            <a:avLst/>
          </a:prstGeom>
          <a:noFill/>
        </p:spPr>
        <p:txBody>
          <a:bodyPr wrap="square">
            <a:spAutoFit/>
          </a:bodyPr>
          <a:lstStyle/>
          <a:p>
            <a:r>
              <a:rPr lang="en-US" sz="2800" b="1" dirty="0">
                <a:latin typeface="Lato" panose="020F0502020204030203" pitchFamily="34" charset="0"/>
                <a:cs typeface="Lato" panose="020F0502020204030203" pitchFamily="34" charset="0"/>
              </a:rPr>
              <a:t>SIZE: 150MB*</a:t>
            </a:r>
          </a:p>
        </p:txBody>
      </p:sp>
    </p:spTree>
    <p:extLst>
      <p:ext uri="{BB962C8B-B14F-4D97-AF65-F5344CB8AC3E}">
        <p14:creationId xmlns:p14="http://schemas.microsoft.com/office/powerpoint/2010/main" val="3749973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Seven Reasons why to use GNU / Linux as a desktop computer system">
            <a:extLst>
              <a:ext uri="{FF2B5EF4-FFF2-40B4-BE49-F238E27FC236}">
                <a16:creationId xmlns:a16="http://schemas.microsoft.com/office/drawing/2014/main" id="{2678E0C4-8560-6190-EFA5-C724C2816D9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555" t="6666" r="18981" b="8518"/>
          <a:stretch/>
        </p:blipFill>
        <p:spPr bwMode="auto">
          <a:xfrm>
            <a:off x="4572000" y="228600"/>
            <a:ext cx="4146550" cy="29083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DDF2A93-8B7E-FB99-41D5-5A470E519FB9}"/>
              </a:ext>
            </a:extLst>
          </p:cNvPr>
          <p:cNvSpPr txBox="1"/>
          <p:nvPr/>
        </p:nvSpPr>
        <p:spPr>
          <a:xfrm>
            <a:off x="2093913" y="3460631"/>
            <a:ext cx="4956174" cy="1384995"/>
          </a:xfrm>
          <a:prstGeom prst="rect">
            <a:avLst/>
          </a:prstGeom>
          <a:noFill/>
        </p:spPr>
        <p:txBody>
          <a:bodyPr wrap="square">
            <a:spAutoFit/>
          </a:bodyPr>
          <a:lstStyle/>
          <a:p>
            <a:pPr algn="l"/>
            <a:r>
              <a:rPr lang="en-US" b="0" i="0" dirty="0">
                <a:solidFill>
                  <a:srgbClr val="222222"/>
                </a:solidFill>
                <a:effectLst/>
                <a:latin typeface="Times New Roman" panose="02020603050405020304" pitchFamily="18" charset="0"/>
              </a:rPr>
              <a:t>GNU is an operating system that is </a:t>
            </a:r>
            <a:r>
              <a:rPr lang="en-US" b="0" i="0" dirty="0">
                <a:solidFill>
                  <a:srgbClr val="004499"/>
                </a:solidFill>
                <a:effectLst/>
                <a:latin typeface="Arial" panose="020B0604020202020204" pitchFamily="34" charset="0"/>
                <a:hlinkClick r:id="rId3"/>
              </a:rPr>
              <a:t>free software</a:t>
            </a:r>
            <a:r>
              <a:rPr lang="en-US" b="0" i="0" dirty="0">
                <a:solidFill>
                  <a:srgbClr val="222222"/>
                </a:solidFill>
                <a:effectLst/>
                <a:latin typeface="Times New Roman" panose="02020603050405020304" pitchFamily="18" charset="0"/>
              </a:rPr>
              <a:t>—that is, it respects </a:t>
            </a:r>
            <a:r>
              <a:rPr lang="en-US" b="0" i="0" dirty="0" err="1">
                <a:solidFill>
                  <a:srgbClr val="222222"/>
                </a:solidFill>
                <a:effectLst/>
                <a:latin typeface="Times New Roman" panose="02020603050405020304" pitchFamily="18" charset="0"/>
              </a:rPr>
              <a:t>users’s</a:t>
            </a:r>
            <a:r>
              <a:rPr lang="en-US" b="0" i="0" dirty="0">
                <a:solidFill>
                  <a:srgbClr val="222222"/>
                </a:solidFill>
                <a:effectLst/>
                <a:latin typeface="Times New Roman" panose="02020603050405020304" pitchFamily="18" charset="0"/>
              </a:rPr>
              <a:t> freedom. The GNU operating system comprises GNU packages (programs specifically developed by the GNU Project) as well as free software released by third parties. The development of GNU made it possible to use a computer without software that would trample your freedom.</a:t>
            </a:r>
          </a:p>
        </p:txBody>
      </p:sp>
      <p:pic>
        <p:nvPicPr>
          <p:cNvPr id="9220" name="Picture 4" descr="Richard Stallman | fullmetallinux">
            <a:extLst>
              <a:ext uri="{FF2B5EF4-FFF2-40B4-BE49-F238E27FC236}">
                <a16:creationId xmlns:a16="http://schemas.microsoft.com/office/drawing/2014/main" id="{2D42A022-295C-6B38-FCF0-884BC79E11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250" y="565150"/>
            <a:ext cx="3567289" cy="200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515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4824A-B296-DAE2-C886-6902AC5F6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DCF24-41C4-F344-2B9D-D1EA453D45DF}"/>
              </a:ext>
            </a:extLst>
          </p:cNvPr>
          <p:cNvSpPr>
            <a:spLocks noGrp="1"/>
          </p:cNvSpPr>
          <p:nvPr>
            <p:ph type="title"/>
          </p:nvPr>
        </p:nvSpPr>
        <p:spPr>
          <a:xfrm>
            <a:off x="1072737" y="79589"/>
            <a:ext cx="6998525" cy="1006800"/>
          </a:xfrm>
        </p:spPr>
        <p:txBody>
          <a:bodyPr/>
          <a:lstStyle/>
          <a:p>
            <a:pPr algn="ctr"/>
            <a:r>
              <a:rPr lang="en-US" i="0" dirty="0">
                <a:solidFill>
                  <a:srgbClr val="212529"/>
                </a:solidFill>
                <a:effectLst/>
                <a:latin typeface="Lato" panose="020F0502020204030203" pitchFamily="34" charset="0"/>
                <a:cs typeface="Lato" panose="020F0502020204030203" pitchFamily="34" charset="0"/>
              </a:rPr>
              <a:t>Key characteristics of Linux and Linux distributions include:</a:t>
            </a:r>
          </a:p>
        </p:txBody>
      </p:sp>
      <p:sp>
        <p:nvSpPr>
          <p:cNvPr id="3" name="Rectangle 1">
            <a:extLst>
              <a:ext uri="{FF2B5EF4-FFF2-40B4-BE49-F238E27FC236}">
                <a16:creationId xmlns:a16="http://schemas.microsoft.com/office/drawing/2014/main" id="{6215FCD3-2965-C838-828B-BE8A73A4ED06}"/>
              </a:ext>
            </a:extLst>
          </p:cNvPr>
          <p:cNvSpPr>
            <a:spLocks noChangeArrowheads="1"/>
          </p:cNvSpPr>
          <p:nvPr/>
        </p:nvSpPr>
        <p:spPr bwMode="auto">
          <a:xfrm>
            <a:off x="965199" y="1086389"/>
            <a:ext cx="83058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rPr>
              <a:t>Open Source:</a:t>
            </a: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 Linux is released under licenses like GPL, allowing anyone to view, modify, and distribute the source code.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rPr>
              <a:t>Unix-Like:</a:t>
            </a: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 Follows Unix principles—multi-user, multitasking, CLI support, hierarchical filesystem, and strong portability.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rPr>
              <a:t>Many Distributions:</a:t>
            </a: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 Hundreds of distros exist (Ubuntu, Debian, Fedora, CentOS, Arch), each with unique features and package tools.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rPr>
              <a:t>Package Management:</a:t>
            </a: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 Tools like </a:t>
            </a:r>
            <a:r>
              <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rPr>
              <a:t>APT</a:t>
            </a: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 </a:t>
            </a:r>
            <a:r>
              <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rPr>
              <a:t>DNF/YUM</a:t>
            </a: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 and </a:t>
            </a:r>
            <a:r>
              <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rPr>
              <a:t>Pacman</a:t>
            </a: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 make software installation and updates easy.</a:t>
            </a:r>
            <a:endParaRPr lang="en-US" altLang="en-US" sz="1800" dirty="0">
              <a:solidFill>
                <a:schemeClr val="tx1"/>
              </a:solidFill>
              <a:latin typeface="Lato" panose="020F0502020204030203" pitchFamily="34" charset="0"/>
              <a:cs typeface="Lato" panose="020F0502020204030203"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rPr>
              <a:t>GUI Support:</a:t>
            </a: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 Popular desktop environments include </a:t>
            </a:r>
            <a:r>
              <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rPr>
              <a:t>GNOME</a:t>
            </a: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 </a:t>
            </a:r>
            <a:r>
              <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rPr>
              <a:t>KDE Plasma</a:t>
            </a: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 and </a:t>
            </a:r>
            <a:r>
              <a:rPr kumimoji="0" lang="en-US" altLang="en-US" sz="1800" b="1" i="0" u="none" strike="noStrike" cap="none" normalizeH="0" baseline="0" dirty="0" err="1">
                <a:ln>
                  <a:noFill/>
                </a:ln>
                <a:solidFill>
                  <a:schemeClr val="tx1"/>
                </a:solidFill>
                <a:effectLst/>
                <a:latin typeface="Lato" panose="020F0502020204030203" pitchFamily="34" charset="0"/>
                <a:cs typeface="Lato" panose="020F0502020204030203" pitchFamily="34" charset="0"/>
              </a:rPr>
              <a:t>Xfce</a:t>
            </a: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 making Linux user-friendly.</a:t>
            </a:r>
          </a:p>
        </p:txBody>
      </p:sp>
    </p:spTree>
    <p:extLst>
      <p:ext uri="{BB962C8B-B14F-4D97-AF65-F5344CB8AC3E}">
        <p14:creationId xmlns:p14="http://schemas.microsoft.com/office/powerpoint/2010/main" val="1513840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84CE4-D5EA-9D17-A5E2-633774059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8B62A-9A01-7C4C-3B08-D0178E489089}"/>
              </a:ext>
            </a:extLst>
          </p:cNvPr>
          <p:cNvSpPr>
            <a:spLocks noGrp="1"/>
          </p:cNvSpPr>
          <p:nvPr>
            <p:ph type="title"/>
          </p:nvPr>
        </p:nvSpPr>
        <p:spPr>
          <a:xfrm>
            <a:off x="1072737" y="79589"/>
            <a:ext cx="6998525" cy="1006800"/>
          </a:xfrm>
        </p:spPr>
        <p:txBody>
          <a:bodyPr/>
          <a:lstStyle/>
          <a:p>
            <a:pPr algn="ctr"/>
            <a:r>
              <a:rPr lang="en-US" i="0" dirty="0">
                <a:solidFill>
                  <a:srgbClr val="212529"/>
                </a:solidFill>
                <a:effectLst/>
                <a:latin typeface="Lato" panose="020F0502020204030203" pitchFamily="34" charset="0"/>
                <a:cs typeface="Lato" panose="020F0502020204030203" pitchFamily="34" charset="0"/>
              </a:rPr>
              <a:t>Key characteristics of Linux and Linux distributions include:</a:t>
            </a:r>
          </a:p>
        </p:txBody>
      </p:sp>
      <p:sp>
        <p:nvSpPr>
          <p:cNvPr id="3" name="Rectangle 1">
            <a:extLst>
              <a:ext uri="{FF2B5EF4-FFF2-40B4-BE49-F238E27FC236}">
                <a16:creationId xmlns:a16="http://schemas.microsoft.com/office/drawing/2014/main" id="{ABA25FDA-2AEE-1E33-13B3-159C33A32DE6}"/>
              </a:ext>
            </a:extLst>
          </p:cNvPr>
          <p:cNvSpPr>
            <a:spLocks noChangeArrowheads="1"/>
          </p:cNvSpPr>
          <p:nvPr/>
        </p:nvSpPr>
        <p:spPr bwMode="auto">
          <a:xfrm>
            <a:off x="1072737" y="1086389"/>
            <a:ext cx="796290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rPr>
              <a:t>Server &amp; Desktop Use:</a:t>
            </a: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 Known for stability and security—widely used in servers, cloud, data centers, and also desktops.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rPr>
              <a:t>Strong Community:</a:t>
            </a: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 Large global community with abundant documentation and support resources.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rPr>
              <a:t>Security:</a:t>
            </a: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 Robust permissions model and frequent updates; some distros focus heavily on security.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rPr>
              <a:t>Portable:</a:t>
            </a: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 Runs on hardware ranging from embedded devices to supercomputers.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Lato" panose="020F0502020204030203" pitchFamily="34" charset="0"/>
                <a:cs typeface="Lato" panose="020F0502020204030203" pitchFamily="34" charset="0"/>
              </a:rPr>
              <a:t>Customizable:</a:t>
            </a: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 Everything can be customized—from the kernel to the desktop environment.</a:t>
            </a:r>
          </a:p>
        </p:txBody>
      </p:sp>
    </p:spTree>
    <p:extLst>
      <p:ext uri="{BB962C8B-B14F-4D97-AF65-F5344CB8AC3E}">
        <p14:creationId xmlns:p14="http://schemas.microsoft.com/office/powerpoint/2010/main" val="4043999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Linux Vs Unix | Difference Between Linux &amp; Unix in 2025">
            <a:extLst>
              <a:ext uri="{FF2B5EF4-FFF2-40B4-BE49-F238E27FC236}">
                <a16:creationId xmlns:a16="http://schemas.microsoft.com/office/drawing/2014/main" id="{240EF42D-DAF9-5A08-7E0C-07E97229BF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329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9818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B69B9-3C02-323C-BCC4-C273AFAE5C79}"/>
              </a:ext>
            </a:extLst>
          </p:cNvPr>
          <p:cNvSpPr>
            <a:spLocks noGrp="1"/>
          </p:cNvSpPr>
          <p:nvPr>
            <p:ph type="title"/>
          </p:nvPr>
        </p:nvSpPr>
        <p:spPr>
          <a:xfrm>
            <a:off x="713225" y="445025"/>
            <a:ext cx="7717500" cy="572700"/>
          </a:xfrm>
        </p:spPr>
        <p:txBody>
          <a:bodyPr wrap="square" anchor="ctr">
            <a:normAutofit/>
          </a:bodyPr>
          <a:lstStyle/>
          <a:p>
            <a:pPr>
              <a:lnSpc>
                <a:spcPct val="90000"/>
              </a:lnSpc>
            </a:pPr>
            <a:r>
              <a:rPr lang="en-US" sz="2800" b="1" i="0" dirty="0">
                <a:effectLst/>
              </a:rPr>
              <a:t>Table Summarizing the Key Differences</a:t>
            </a:r>
            <a:endParaRPr lang="en-US" sz="2800" dirty="0"/>
          </a:p>
        </p:txBody>
      </p:sp>
      <p:graphicFrame>
        <p:nvGraphicFramePr>
          <p:cNvPr id="5" name="Table 4">
            <a:extLst>
              <a:ext uri="{FF2B5EF4-FFF2-40B4-BE49-F238E27FC236}">
                <a16:creationId xmlns:a16="http://schemas.microsoft.com/office/drawing/2014/main" id="{08FC9CA0-6219-6BFB-B3B2-44777F110C07}"/>
              </a:ext>
            </a:extLst>
          </p:cNvPr>
          <p:cNvGraphicFramePr>
            <a:graphicFrameLocks noGrp="1"/>
          </p:cNvGraphicFramePr>
          <p:nvPr>
            <p:extLst>
              <p:ext uri="{D42A27DB-BD31-4B8C-83A1-F6EECF244321}">
                <p14:modId xmlns:p14="http://schemas.microsoft.com/office/powerpoint/2010/main" val="2344087120"/>
              </p:ext>
            </p:extLst>
          </p:nvPr>
        </p:nvGraphicFramePr>
        <p:xfrm>
          <a:off x="713225" y="1534220"/>
          <a:ext cx="7717502" cy="2727360"/>
        </p:xfrm>
        <a:graphic>
          <a:graphicData uri="http://schemas.openxmlformats.org/drawingml/2006/table">
            <a:tbl>
              <a:tblPr firstRow="1" bandRow="1"/>
              <a:tblGrid>
                <a:gridCol w="2490345">
                  <a:extLst>
                    <a:ext uri="{9D8B030D-6E8A-4147-A177-3AD203B41FA5}">
                      <a16:colId xmlns:a16="http://schemas.microsoft.com/office/drawing/2014/main" val="3277906100"/>
                    </a:ext>
                  </a:extLst>
                </a:gridCol>
                <a:gridCol w="2589846">
                  <a:extLst>
                    <a:ext uri="{9D8B030D-6E8A-4147-A177-3AD203B41FA5}">
                      <a16:colId xmlns:a16="http://schemas.microsoft.com/office/drawing/2014/main" val="149617996"/>
                    </a:ext>
                  </a:extLst>
                </a:gridCol>
                <a:gridCol w="2637311">
                  <a:extLst>
                    <a:ext uri="{9D8B030D-6E8A-4147-A177-3AD203B41FA5}">
                      <a16:colId xmlns:a16="http://schemas.microsoft.com/office/drawing/2014/main" val="1858839056"/>
                    </a:ext>
                  </a:extLst>
                </a:gridCol>
              </a:tblGrid>
              <a:tr h="401388">
                <a:tc>
                  <a:txBody>
                    <a:bodyPr/>
                    <a:lstStyle/>
                    <a:p>
                      <a:pPr algn="l" fontAlgn="t"/>
                      <a:r>
                        <a:rPr lang="en-US" sz="1600" b="1">
                          <a:effectLst/>
                          <a:latin typeface="Lato" panose="020F0502020204030203" pitchFamily="34" charset="0"/>
                          <a:cs typeface="Lato" panose="020F0502020204030203" pitchFamily="34" charset="0"/>
                        </a:rPr>
                        <a:t>Feature</a:t>
                      </a:r>
                      <a:endParaRPr lang="en-US" sz="1600">
                        <a:effectLst/>
                        <a:latin typeface="Lato" panose="020F0502020204030203" pitchFamily="34" charset="0"/>
                        <a:cs typeface="Lato" panose="020F0502020204030203" pitchFamily="34" charset="0"/>
                      </a:endParaRP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chemeClr val="tx2">
                        <a:lumMod val="60000"/>
                        <a:lumOff val="40000"/>
                      </a:schemeClr>
                    </a:solidFill>
                  </a:tcPr>
                </a:tc>
                <a:tc>
                  <a:txBody>
                    <a:bodyPr/>
                    <a:lstStyle/>
                    <a:p>
                      <a:pPr algn="l" fontAlgn="t"/>
                      <a:r>
                        <a:rPr lang="en-US" sz="1600" b="1" dirty="0">
                          <a:effectLst/>
                          <a:latin typeface="Lato" panose="020F0502020204030203" pitchFamily="34" charset="0"/>
                          <a:cs typeface="Lato" panose="020F0502020204030203" pitchFamily="34" charset="0"/>
                        </a:rPr>
                        <a:t>Unix</a:t>
                      </a:r>
                      <a:endParaRPr lang="en-US" sz="1600" dirty="0">
                        <a:effectLst/>
                        <a:latin typeface="Lato" panose="020F0502020204030203" pitchFamily="34" charset="0"/>
                        <a:cs typeface="Lato" panose="020F0502020204030203" pitchFamily="34" charset="0"/>
                      </a:endParaRP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chemeClr val="tx2">
                        <a:lumMod val="60000"/>
                        <a:lumOff val="40000"/>
                      </a:schemeClr>
                    </a:solidFill>
                  </a:tcPr>
                </a:tc>
                <a:tc>
                  <a:txBody>
                    <a:bodyPr/>
                    <a:lstStyle/>
                    <a:p>
                      <a:pPr algn="l" fontAlgn="t"/>
                      <a:r>
                        <a:rPr lang="en-US" sz="1600" b="1" dirty="0">
                          <a:effectLst/>
                          <a:latin typeface="Lato" panose="020F0502020204030203" pitchFamily="34" charset="0"/>
                          <a:cs typeface="Lato" panose="020F0502020204030203" pitchFamily="34" charset="0"/>
                        </a:rPr>
                        <a:t>Linux</a:t>
                      </a:r>
                      <a:endParaRPr lang="en-US" sz="1600" dirty="0">
                        <a:effectLst/>
                        <a:latin typeface="Lato" panose="020F0502020204030203" pitchFamily="34" charset="0"/>
                        <a:cs typeface="Lato" panose="020F0502020204030203" pitchFamily="34" charset="0"/>
                      </a:endParaRP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98170011"/>
                  </a:ext>
                </a:extLst>
              </a:tr>
              <a:tr h="401388">
                <a:tc>
                  <a:txBody>
                    <a:bodyPr/>
                    <a:lstStyle/>
                    <a:p>
                      <a:pPr algn="l" fontAlgn="t"/>
                      <a:r>
                        <a:rPr lang="en-US" sz="1600" dirty="0">
                          <a:effectLst/>
                          <a:latin typeface="Lato" panose="020F0502020204030203" pitchFamily="34" charset="0"/>
                          <a:cs typeface="Lato" panose="020F0502020204030203" pitchFamily="34" charset="0"/>
                        </a:rPr>
                        <a:t>Licensing</a:t>
                      </a: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chemeClr val="accent1">
                        <a:lumMod val="75000"/>
                      </a:schemeClr>
                    </a:solidFill>
                  </a:tcPr>
                </a:tc>
                <a:tc>
                  <a:txBody>
                    <a:bodyPr/>
                    <a:lstStyle/>
                    <a:p>
                      <a:pPr algn="l" fontAlgn="t"/>
                      <a:r>
                        <a:rPr lang="en-US" sz="1600" dirty="0">
                          <a:effectLst/>
                          <a:latin typeface="Lato" panose="020F0502020204030203" pitchFamily="34" charset="0"/>
                          <a:cs typeface="Lato" panose="020F0502020204030203" pitchFamily="34" charset="0"/>
                        </a:rPr>
                        <a:t>Proprietary</a:t>
                      </a: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tc>
                  <a:txBody>
                    <a:bodyPr/>
                    <a:lstStyle/>
                    <a:p>
                      <a:pPr algn="l" fontAlgn="t"/>
                      <a:r>
                        <a:rPr lang="en-US" sz="1600">
                          <a:effectLst/>
                          <a:latin typeface="Lato" panose="020F0502020204030203" pitchFamily="34" charset="0"/>
                          <a:cs typeface="Lato" panose="020F0502020204030203" pitchFamily="34" charset="0"/>
                        </a:rPr>
                        <a:t>Open-source</a:t>
                      </a: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942672050"/>
                  </a:ext>
                </a:extLst>
              </a:tr>
              <a:tr h="401388">
                <a:tc>
                  <a:txBody>
                    <a:bodyPr/>
                    <a:lstStyle/>
                    <a:p>
                      <a:pPr algn="l" fontAlgn="t"/>
                      <a:r>
                        <a:rPr lang="en-US" sz="1600" dirty="0">
                          <a:effectLst/>
                          <a:latin typeface="Lato" panose="020F0502020204030203" pitchFamily="34" charset="0"/>
                          <a:cs typeface="Lato" panose="020F0502020204030203" pitchFamily="34" charset="0"/>
                        </a:rPr>
                        <a:t>Kernel</a:t>
                      </a: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chemeClr val="accent1">
                        <a:lumMod val="75000"/>
                      </a:schemeClr>
                    </a:solidFill>
                  </a:tcPr>
                </a:tc>
                <a:tc>
                  <a:txBody>
                    <a:bodyPr/>
                    <a:lstStyle/>
                    <a:p>
                      <a:pPr algn="l" fontAlgn="t"/>
                      <a:r>
                        <a:rPr lang="en-US" sz="1600" dirty="0">
                          <a:effectLst/>
                          <a:latin typeface="Lato" panose="020F0502020204030203" pitchFamily="34" charset="0"/>
                          <a:cs typeface="Lato" panose="020F0502020204030203" pitchFamily="34" charset="0"/>
                        </a:rPr>
                        <a:t>Varies</a:t>
                      </a: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c>
                  <a:txBody>
                    <a:bodyPr/>
                    <a:lstStyle/>
                    <a:p>
                      <a:pPr algn="l" fontAlgn="t"/>
                      <a:r>
                        <a:rPr lang="en-US" sz="1600">
                          <a:effectLst/>
                          <a:latin typeface="Lato" panose="020F0502020204030203" pitchFamily="34" charset="0"/>
                          <a:cs typeface="Lato" panose="020F0502020204030203" pitchFamily="34" charset="0"/>
                        </a:rPr>
                        <a:t>Monolithic Linux kernel</a:t>
                      </a: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extLst>
                  <a:ext uri="{0D108BD9-81ED-4DB2-BD59-A6C34878D82A}">
                    <a16:rowId xmlns:a16="http://schemas.microsoft.com/office/drawing/2014/main" val="3138408636"/>
                  </a:ext>
                </a:extLst>
              </a:tr>
              <a:tr h="605483">
                <a:tc>
                  <a:txBody>
                    <a:bodyPr/>
                    <a:lstStyle/>
                    <a:p>
                      <a:pPr algn="l" fontAlgn="t"/>
                      <a:r>
                        <a:rPr lang="en-US" sz="1600">
                          <a:effectLst/>
                          <a:latin typeface="Lato" panose="020F0502020204030203" pitchFamily="34" charset="0"/>
                          <a:cs typeface="Lato" panose="020F0502020204030203" pitchFamily="34" charset="0"/>
                        </a:rPr>
                        <a:t>Availability</a:t>
                      </a: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chemeClr val="accent1">
                        <a:lumMod val="75000"/>
                      </a:schemeClr>
                    </a:solidFill>
                  </a:tcPr>
                </a:tc>
                <a:tc>
                  <a:txBody>
                    <a:bodyPr/>
                    <a:lstStyle/>
                    <a:p>
                      <a:pPr algn="l" fontAlgn="t"/>
                      <a:r>
                        <a:rPr lang="en-US" sz="1600" dirty="0">
                          <a:effectLst/>
                          <a:latin typeface="Lato" panose="020F0502020204030203" pitchFamily="34" charset="0"/>
                          <a:cs typeface="Lato" panose="020F0502020204030203" pitchFamily="34" charset="0"/>
                        </a:rPr>
                        <a:t>Servers, workstations, embedded systems</a:t>
                      </a: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tc>
                  <a:txBody>
                    <a:bodyPr/>
                    <a:lstStyle/>
                    <a:p>
                      <a:pPr algn="l" fontAlgn="t"/>
                      <a:r>
                        <a:rPr lang="fr-FR" sz="1600" dirty="0">
                          <a:effectLst/>
                          <a:latin typeface="Lato" panose="020F0502020204030203" pitchFamily="34" charset="0"/>
                          <a:cs typeface="Lato" panose="020F0502020204030203" pitchFamily="34" charset="0"/>
                        </a:rPr>
                        <a:t>Servers, desktops, laptops, smartphones, etc.</a:t>
                      </a: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702426331"/>
                  </a:ext>
                </a:extLst>
              </a:tr>
              <a:tr h="401388">
                <a:tc>
                  <a:txBody>
                    <a:bodyPr/>
                    <a:lstStyle/>
                    <a:p>
                      <a:pPr algn="l" fontAlgn="t"/>
                      <a:r>
                        <a:rPr lang="en-US" sz="1600">
                          <a:effectLst/>
                          <a:latin typeface="Lato" panose="020F0502020204030203" pitchFamily="34" charset="0"/>
                          <a:cs typeface="Lato" panose="020F0502020204030203" pitchFamily="34" charset="0"/>
                        </a:rPr>
                        <a:t>GUIs</a:t>
                      </a: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chemeClr val="accent1">
                        <a:lumMod val="75000"/>
                      </a:schemeClr>
                    </a:solidFill>
                  </a:tcPr>
                </a:tc>
                <a:tc>
                  <a:txBody>
                    <a:bodyPr/>
                    <a:lstStyle/>
                    <a:p>
                      <a:pPr algn="l" fontAlgn="t"/>
                      <a:r>
                        <a:rPr lang="en-US" sz="1600">
                          <a:effectLst/>
                          <a:latin typeface="Lato" panose="020F0502020204030203" pitchFamily="34" charset="0"/>
                          <a:cs typeface="Lato" panose="020F0502020204030203" pitchFamily="34" charset="0"/>
                        </a:rPr>
                        <a:t>Primarily CLI, some GUIs</a:t>
                      </a: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c>
                  <a:txBody>
                    <a:bodyPr/>
                    <a:lstStyle/>
                    <a:p>
                      <a:pPr algn="l" fontAlgn="t"/>
                      <a:r>
                        <a:rPr lang="en-US" sz="1600">
                          <a:effectLst/>
                          <a:latin typeface="Lato" panose="020F0502020204030203" pitchFamily="34" charset="0"/>
                          <a:cs typeface="Lato" panose="020F0502020204030203" pitchFamily="34" charset="0"/>
                        </a:rPr>
                        <a:t>Various GUI options</a:t>
                      </a: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extLst>
                  <a:ext uri="{0D108BD9-81ED-4DB2-BD59-A6C34878D82A}">
                    <a16:rowId xmlns:a16="http://schemas.microsoft.com/office/drawing/2014/main" val="3866645296"/>
                  </a:ext>
                </a:extLst>
              </a:tr>
              <a:tr h="401388">
                <a:tc>
                  <a:txBody>
                    <a:bodyPr/>
                    <a:lstStyle/>
                    <a:p>
                      <a:pPr algn="l" fontAlgn="t"/>
                      <a:r>
                        <a:rPr lang="en-US" sz="1600" dirty="0">
                          <a:effectLst/>
                          <a:latin typeface="Lato" panose="020F0502020204030203" pitchFamily="34" charset="0"/>
                          <a:cs typeface="Lato" panose="020F0502020204030203" pitchFamily="34" charset="0"/>
                        </a:rPr>
                        <a:t>Community</a:t>
                      </a: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chemeClr val="accent1">
                        <a:lumMod val="75000"/>
                      </a:schemeClr>
                    </a:solidFill>
                  </a:tcPr>
                </a:tc>
                <a:tc>
                  <a:txBody>
                    <a:bodyPr/>
                    <a:lstStyle/>
                    <a:p>
                      <a:pPr algn="l" fontAlgn="t"/>
                      <a:r>
                        <a:rPr lang="en-US" sz="1600">
                          <a:effectLst/>
                          <a:latin typeface="Lato" panose="020F0502020204030203" pitchFamily="34" charset="0"/>
                          <a:cs typeface="Lato" panose="020F0502020204030203" pitchFamily="34" charset="0"/>
                        </a:rPr>
                        <a:t>Smaller, closed</a:t>
                      </a: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tc>
                  <a:txBody>
                    <a:bodyPr/>
                    <a:lstStyle/>
                    <a:p>
                      <a:pPr algn="l" fontAlgn="t"/>
                      <a:r>
                        <a:rPr lang="en-US" sz="1600" dirty="0">
                          <a:effectLst/>
                          <a:latin typeface="Lato" panose="020F0502020204030203" pitchFamily="34" charset="0"/>
                          <a:cs typeface="Lato" panose="020F0502020204030203" pitchFamily="34" charset="0"/>
                        </a:rPr>
                        <a:t>Large, active, and open</a:t>
                      </a:r>
                    </a:p>
                  </a:txBody>
                  <a:tcPr marL="113386" marR="113386" marT="85040" marB="850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AFAFA"/>
                    </a:solidFill>
                  </a:tcPr>
                </a:tc>
                <a:extLst>
                  <a:ext uri="{0D108BD9-81ED-4DB2-BD59-A6C34878D82A}">
                    <a16:rowId xmlns:a16="http://schemas.microsoft.com/office/drawing/2014/main" val="2178425359"/>
                  </a:ext>
                </a:extLst>
              </a:tr>
            </a:tbl>
          </a:graphicData>
        </a:graphic>
      </p:graphicFrame>
    </p:spTree>
    <p:extLst>
      <p:ext uri="{BB962C8B-B14F-4D97-AF65-F5344CB8AC3E}">
        <p14:creationId xmlns:p14="http://schemas.microsoft.com/office/powerpoint/2010/main" val="781835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46"/>
        <p:cNvGrpSpPr/>
        <p:nvPr/>
      </p:nvGrpSpPr>
      <p:grpSpPr>
        <a:xfrm>
          <a:off x="0" y="0"/>
          <a:ext cx="0" cy="0"/>
          <a:chOff x="0" y="0"/>
          <a:chExt cx="0" cy="0"/>
        </a:xfrm>
      </p:grpSpPr>
      <p:sp>
        <p:nvSpPr>
          <p:cNvPr id="7" name="TextBox 6">
            <a:extLst>
              <a:ext uri="{FF2B5EF4-FFF2-40B4-BE49-F238E27FC236}">
                <a16:creationId xmlns:a16="http://schemas.microsoft.com/office/drawing/2014/main" id="{5B5E8FC5-734A-AA74-7F82-A9F36248F4A1}"/>
              </a:ext>
            </a:extLst>
          </p:cNvPr>
          <p:cNvSpPr txBox="1"/>
          <p:nvPr/>
        </p:nvSpPr>
        <p:spPr>
          <a:xfrm>
            <a:off x="2692399" y="180368"/>
            <a:ext cx="4123015" cy="553998"/>
          </a:xfrm>
          <a:prstGeom prst="rect">
            <a:avLst/>
          </a:prstGeom>
          <a:noFill/>
        </p:spPr>
        <p:txBody>
          <a:bodyPr wrap="square">
            <a:spAutoFit/>
          </a:bodyPr>
          <a:lstStyle/>
          <a:p>
            <a:r>
              <a:rPr lang="en-IN" sz="3000" b="1" dirty="0">
                <a:latin typeface="Times New Roman" panose="02020603050405020304" pitchFamily="18" charset="0"/>
                <a:cs typeface="Times New Roman" panose="02020603050405020304" pitchFamily="18" charset="0"/>
              </a:rPr>
              <a:t>Architecture of Linux</a:t>
            </a:r>
          </a:p>
        </p:txBody>
      </p:sp>
      <p:pic>
        <p:nvPicPr>
          <p:cNvPr id="11266" name="Picture 2" descr="Linux Architecture – TecAdmin">
            <a:extLst>
              <a:ext uri="{FF2B5EF4-FFF2-40B4-BE49-F238E27FC236}">
                <a16:creationId xmlns:a16="http://schemas.microsoft.com/office/drawing/2014/main" id="{B628B89C-493B-82B9-1B8A-589BC4B5889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5271"/>
          <a:stretch/>
        </p:blipFill>
        <p:spPr bwMode="auto">
          <a:xfrm>
            <a:off x="2272519" y="975009"/>
            <a:ext cx="4598962" cy="36096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What is Shell? | Linux | Shell Program | Terminal">
            <a:extLst>
              <a:ext uri="{FF2B5EF4-FFF2-40B4-BE49-F238E27FC236}">
                <a16:creationId xmlns:a16="http://schemas.microsoft.com/office/drawing/2014/main" id="{8C053EE7-88A4-CEEE-26CD-4DFD02F499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1039" cy="5143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61D153D-F417-909F-BE1B-103D30A1D9D5}"/>
              </a:ext>
            </a:extLst>
          </p:cNvPr>
          <p:cNvSpPr txBox="1"/>
          <p:nvPr/>
        </p:nvSpPr>
        <p:spPr>
          <a:xfrm>
            <a:off x="263631" y="2948772"/>
            <a:ext cx="4325937" cy="1938992"/>
          </a:xfrm>
          <a:prstGeom prst="rect">
            <a:avLst/>
          </a:prstGeom>
          <a:noFill/>
        </p:spPr>
        <p:txBody>
          <a:bodyPr wrap="square">
            <a:spAutoFit/>
          </a:bodyPr>
          <a:lstStyle/>
          <a:p>
            <a:r>
              <a:rPr lang="en-US" sz="1200" dirty="0"/>
              <a:t>The </a:t>
            </a:r>
            <a:r>
              <a:rPr lang="en-US" sz="1200" b="1" dirty="0"/>
              <a:t>kernel</a:t>
            </a:r>
            <a:r>
              <a:rPr lang="en-US" sz="1200" dirty="0"/>
              <a:t> is the </a:t>
            </a:r>
            <a:r>
              <a:rPr lang="en-US" sz="1200" b="1" dirty="0"/>
              <a:t>core component of an operating system</a:t>
            </a:r>
            <a:r>
              <a:rPr lang="en-US" sz="1200" dirty="0"/>
              <a:t> that sits between the hardware and all other software.</a:t>
            </a:r>
            <a:br>
              <a:rPr lang="en-US" sz="1200" dirty="0"/>
            </a:br>
            <a:r>
              <a:rPr lang="en-US" sz="1200" dirty="0"/>
              <a:t>It is responsible for controlling hardware, managing system resources, and enabling applications to run.</a:t>
            </a:r>
          </a:p>
          <a:p>
            <a:endParaRPr lang="en-US" sz="1200" dirty="0"/>
          </a:p>
          <a:p>
            <a:pPr marL="342900" indent="-342900">
              <a:buFont typeface="Wingdings" panose="05000000000000000000" pitchFamily="2" charset="2"/>
              <a:buChar char="Ø"/>
            </a:pPr>
            <a:r>
              <a:rPr lang="en-US" sz="1200" dirty="0"/>
              <a:t>Process Management</a:t>
            </a:r>
          </a:p>
          <a:p>
            <a:pPr marL="342900" indent="-342900">
              <a:buFont typeface="Wingdings" panose="05000000000000000000" pitchFamily="2" charset="2"/>
              <a:buChar char="Ø"/>
            </a:pPr>
            <a:r>
              <a:rPr lang="en-US" sz="1200" dirty="0"/>
              <a:t>Memory Management</a:t>
            </a:r>
          </a:p>
          <a:p>
            <a:pPr marL="342900" indent="-342900">
              <a:buFont typeface="Wingdings" panose="05000000000000000000" pitchFamily="2" charset="2"/>
              <a:buChar char="Ø"/>
            </a:pPr>
            <a:r>
              <a:rPr lang="en-US" sz="1200" dirty="0"/>
              <a:t>Device Management</a:t>
            </a:r>
          </a:p>
          <a:p>
            <a:pPr marL="342900" indent="-342900">
              <a:buFont typeface="Wingdings" panose="05000000000000000000" pitchFamily="2" charset="2"/>
              <a:buChar char="Ø"/>
            </a:pPr>
            <a:r>
              <a:rPr lang="en-US" sz="1200" dirty="0"/>
              <a:t>File System Management</a:t>
            </a:r>
          </a:p>
          <a:p>
            <a:pPr marL="342900" indent="-342900">
              <a:buFont typeface="Wingdings" panose="05000000000000000000" pitchFamily="2" charset="2"/>
              <a:buChar char="Ø"/>
            </a:pPr>
            <a:r>
              <a:rPr lang="en-US" sz="1200" dirty="0"/>
              <a:t>System Security &amp; Permissions</a:t>
            </a:r>
          </a:p>
        </p:txBody>
      </p:sp>
    </p:spTree>
    <p:extLst>
      <p:ext uri="{BB962C8B-B14F-4D97-AF65-F5344CB8AC3E}">
        <p14:creationId xmlns:p14="http://schemas.microsoft.com/office/powerpoint/2010/main" val="754631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A271D-1A18-A511-C07B-CC7F518568F5}"/>
              </a:ext>
            </a:extLst>
          </p:cNvPr>
          <p:cNvSpPr>
            <a:spLocks noGrp="1"/>
          </p:cNvSpPr>
          <p:nvPr>
            <p:ph type="title"/>
          </p:nvPr>
        </p:nvSpPr>
        <p:spPr>
          <a:xfrm>
            <a:off x="2812914" y="75820"/>
            <a:ext cx="3518171" cy="572700"/>
          </a:xfrm>
        </p:spPr>
        <p:txBody>
          <a:bodyPr/>
          <a:lstStyle/>
          <a:p>
            <a:r>
              <a:rPr lang="en-US" sz="3200" dirty="0">
                <a:latin typeface="Lato" panose="020F0502020204030203" pitchFamily="34" charset="0"/>
                <a:cs typeface="Lato" panose="020F0502020204030203" pitchFamily="34" charset="0"/>
              </a:rPr>
              <a:t>Terminal vs Shell</a:t>
            </a:r>
          </a:p>
        </p:txBody>
      </p:sp>
      <p:sp>
        <p:nvSpPr>
          <p:cNvPr id="4" name="TextBox 3">
            <a:extLst>
              <a:ext uri="{FF2B5EF4-FFF2-40B4-BE49-F238E27FC236}">
                <a16:creationId xmlns:a16="http://schemas.microsoft.com/office/drawing/2014/main" id="{88BEDAE1-3617-B17E-1757-D86C852DECAA}"/>
              </a:ext>
            </a:extLst>
          </p:cNvPr>
          <p:cNvSpPr txBox="1"/>
          <p:nvPr/>
        </p:nvSpPr>
        <p:spPr>
          <a:xfrm>
            <a:off x="832756" y="745497"/>
            <a:ext cx="7616372" cy="2249462"/>
          </a:xfrm>
          <a:prstGeom prst="rect">
            <a:avLst/>
          </a:prstGeom>
          <a:solidFill>
            <a:schemeClr val="tx2">
              <a:lumMod val="60000"/>
              <a:lumOff val="40000"/>
            </a:schemeClr>
          </a:solidFill>
          <a:ln>
            <a:solidFill>
              <a:schemeClr val="accent1"/>
            </a:solidFill>
          </a:ln>
        </p:spPr>
        <p:txBody>
          <a:bodyPr wrap="square">
            <a:spAutoFit/>
          </a:bodyPr>
          <a:lstStyle/>
          <a:p>
            <a:pPr algn="ctr">
              <a:lnSpc>
                <a:spcPct val="150000"/>
              </a:lnSpc>
            </a:pPr>
            <a:r>
              <a:rPr lang="en-US" sz="2400" b="1" dirty="0">
                <a:latin typeface="Lato" panose="020F0502020204030203" pitchFamily="34" charset="0"/>
                <a:cs typeface="Lato" panose="020F0502020204030203" pitchFamily="34" charset="0"/>
              </a:rPr>
              <a:t>Terminal</a:t>
            </a:r>
          </a:p>
          <a:p>
            <a:pPr marL="285750" indent="-285750">
              <a:lnSpc>
                <a:spcPct val="150000"/>
              </a:lnSpc>
              <a:buFont typeface="Arial" panose="020B0604020202020204" pitchFamily="34" charset="0"/>
              <a:buChar char="•"/>
            </a:pPr>
            <a:r>
              <a:rPr lang="en-US" sz="1800" dirty="0">
                <a:latin typeface="Lato" panose="020F0502020204030203" pitchFamily="34" charset="0"/>
                <a:cs typeface="Lato" panose="020F0502020204030203" pitchFamily="34" charset="0"/>
              </a:rPr>
              <a:t>A </a:t>
            </a:r>
            <a:r>
              <a:rPr lang="en-US" sz="1800" b="1" dirty="0">
                <a:latin typeface="Lato" panose="020F0502020204030203" pitchFamily="34" charset="0"/>
                <a:cs typeface="Lato" panose="020F0502020204030203" pitchFamily="34" charset="0"/>
              </a:rPr>
              <a:t>terminal</a:t>
            </a:r>
            <a:r>
              <a:rPr lang="en-US" sz="1800" dirty="0">
                <a:latin typeface="Lato" panose="020F0502020204030203" pitchFamily="34" charset="0"/>
                <a:cs typeface="Lato" panose="020F0502020204030203" pitchFamily="34" charset="0"/>
              </a:rPr>
              <a:t> is a </a:t>
            </a:r>
            <a:r>
              <a:rPr lang="en-US" sz="1800" b="1" dirty="0">
                <a:latin typeface="Lato" panose="020F0502020204030203" pitchFamily="34" charset="0"/>
                <a:cs typeface="Lato" panose="020F0502020204030203" pitchFamily="34" charset="0"/>
              </a:rPr>
              <a:t>program</a:t>
            </a:r>
            <a:r>
              <a:rPr lang="en-US" sz="1800" dirty="0">
                <a:latin typeface="Lato" panose="020F0502020204030203" pitchFamily="34" charset="0"/>
                <a:cs typeface="Lato" panose="020F0502020204030203" pitchFamily="34" charset="0"/>
              </a:rPr>
              <a:t> (or emulator) that opens a window and </a:t>
            </a:r>
            <a:r>
              <a:rPr lang="en-US" sz="1800" b="1" dirty="0">
                <a:latin typeface="Lato" panose="020F0502020204030203" pitchFamily="34" charset="0"/>
                <a:cs typeface="Lato" panose="020F0502020204030203" pitchFamily="34" charset="0"/>
              </a:rPr>
              <a:t>lets you type commands</a:t>
            </a:r>
            <a:r>
              <a:rPr lang="en-US" sz="1800" dirty="0">
                <a:latin typeface="Lato" panose="020F0502020204030203" pitchFamily="34" charset="0"/>
                <a:cs typeface="Lato" panose="020F0502020204030203" pitchFamily="34" charset="0"/>
              </a:rPr>
              <a:t>.</a:t>
            </a:r>
          </a:p>
          <a:p>
            <a:pPr marL="285750" indent="-285750">
              <a:lnSpc>
                <a:spcPct val="150000"/>
              </a:lnSpc>
              <a:buFont typeface="Arial" panose="020B0604020202020204" pitchFamily="34" charset="0"/>
              <a:buChar char="•"/>
            </a:pPr>
            <a:r>
              <a:rPr lang="en-US" sz="1800" dirty="0">
                <a:latin typeface="Lato" panose="020F0502020204030203" pitchFamily="34" charset="0"/>
                <a:cs typeface="Lato" panose="020F0502020204030203" pitchFamily="34" charset="0"/>
              </a:rPr>
              <a:t>Examples: </a:t>
            </a:r>
            <a:r>
              <a:rPr lang="en-US" sz="1800" b="1" dirty="0">
                <a:latin typeface="Lato" panose="020F0502020204030203" pitchFamily="34" charset="0"/>
                <a:cs typeface="Lato" panose="020F0502020204030203" pitchFamily="34" charset="0"/>
              </a:rPr>
              <a:t>GNOME Terminal</a:t>
            </a:r>
            <a:r>
              <a:rPr lang="en-US" sz="1800" dirty="0">
                <a:latin typeface="Lato" panose="020F0502020204030203" pitchFamily="34" charset="0"/>
                <a:cs typeface="Lato" panose="020F0502020204030203" pitchFamily="34" charset="0"/>
              </a:rPr>
              <a:t>, </a:t>
            </a:r>
            <a:r>
              <a:rPr lang="en-US" sz="1800" b="1" dirty="0" err="1">
                <a:latin typeface="Lato" panose="020F0502020204030203" pitchFamily="34" charset="0"/>
                <a:cs typeface="Lato" panose="020F0502020204030203" pitchFamily="34" charset="0"/>
              </a:rPr>
              <a:t>Konsole</a:t>
            </a:r>
            <a:r>
              <a:rPr lang="en-US" sz="1800" dirty="0">
                <a:latin typeface="Lato" panose="020F0502020204030203" pitchFamily="34" charset="0"/>
                <a:cs typeface="Lato" panose="020F0502020204030203" pitchFamily="34" charset="0"/>
              </a:rPr>
              <a:t>, </a:t>
            </a:r>
            <a:r>
              <a:rPr lang="en-US" sz="1800" b="1" dirty="0" err="1">
                <a:latin typeface="Lato" panose="020F0502020204030203" pitchFamily="34" charset="0"/>
                <a:cs typeface="Lato" panose="020F0502020204030203" pitchFamily="34" charset="0"/>
              </a:rPr>
              <a:t>xterm</a:t>
            </a:r>
            <a:r>
              <a:rPr lang="en-US" sz="1800" dirty="0">
                <a:latin typeface="Lato" panose="020F0502020204030203" pitchFamily="34" charset="0"/>
                <a:cs typeface="Lato" panose="020F0502020204030203" pitchFamily="34" charset="0"/>
              </a:rPr>
              <a:t>, </a:t>
            </a:r>
            <a:r>
              <a:rPr lang="en-US" sz="1800" b="1" dirty="0">
                <a:latin typeface="Lato" panose="020F0502020204030203" pitchFamily="34" charset="0"/>
                <a:cs typeface="Lato" panose="020F0502020204030203" pitchFamily="34" charset="0"/>
              </a:rPr>
              <a:t>TTY (Ctrl+Alt+F3)</a:t>
            </a:r>
            <a:r>
              <a:rPr lang="en-US" sz="1800" dirty="0">
                <a:latin typeface="Lato" panose="020F0502020204030203" pitchFamily="34" charset="0"/>
                <a:cs typeface="Lato" panose="020F0502020204030203" pitchFamily="34" charset="0"/>
              </a:rPr>
              <a:t>.</a:t>
            </a:r>
          </a:p>
          <a:p>
            <a:pPr marL="285750" indent="-285750">
              <a:lnSpc>
                <a:spcPct val="150000"/>
              </a:lnSpc>
              <a:buFont typeface="Arial" panose="020B0604020202020204" pitchFamily="34" charset="0"/>
              <a:buChar char="•"/>
            </a:pPr>
            <a:r>
              <a:rPr lang="en-US" sz="1800" dirty="0">
                <a:latin typeface="Lato" panose="020F0502020204030203" pitchFamily="34" charset="0"/>
                <a:cs typeface="Lato" panose="020F0502020204030203" pitchFamily="34" charset="0"/>
              </a:rPr>
              <a:t>It provides the </a:t>
            </a:r>
            <a:r>
              <a:rPr lang="en-US" sz="1800" i="1" dirty="0">
                <a:latin typeface="Lato" panose="020F0502020204030203" pitchFamily="34" charset="0"/>
                <a:cs typeface="Lato" panose="020F0502020204030203" pitchFamily="34" charset="0"/>
              </a:rPr>
              <a:t>interface</a:t>
            </a:r>
            <a:r>
              <a:rPr lang="en-US" sz="1800" dirty="0">
                <a:latin typeface="Lato" panose="020F0502020204030203" pitchFamily="34" charset="0"/>
                <a:cs typeface="Lato" panose="020F0502020204030203" pitchFamily="34" charset="0"/>
              </a:rPr>
              <a:t> where text input/output happens.</a:t>
            </a:r>
            <a:endParaRPr lang="en-US" sz="2400" b="1" dirty="0">
              <a:latin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BCE1346A-0BBD-066C-67B7-F7AC78B103B4}"/>
              </a:ext>
            </a:extLst>
          </p:cNvPr>
          <p:cNvSpPr txBox="1"/>
          <p:nvPr/>
        </p:nvSpPr>
        <p:spPr>
          <a:xfrm>
            <a:off x="832756" y="2994959"/>
            <a:ext cx="7616372" cy="2058256"/>
          </a:xfrm>
          <a:prstGeom prst="rect">
            <a:avLst/>
          </a:prstGeom>
          <a:solidFill>
            <a:schemeClr val="accent3">
              <a:lumMod val="60000"/>
              <a:lumOff val="40000"/>
            </a:schemeClr>
          </a:solidFill>
          <a:ln>
            <a:solidFill>
              <a:schemeClr val="accent1"/>
            </a:solidFill>
          </a:ln>
        </p:spPr>
        <p:txBody>
          <a:bodyPr wrap="square">
            <a:spAutoFit/>
          </a:bodyPr>
          <a:lstStyle/>
          <a:p>
            <a:pPr algn="ctr">
              <a:lnSpc>
                <a:spcPct val="150000"/>
              </a:lnSpc>
            </a:pPr>
            <a:r>
              <a:rPr lang="en-US" sz="2800" b="1" dirty="0">
                <a:latin typeface="Lato" panose="020F0502020204030203" pitchFamily="34" charset="0"/>
                <a:cs typeface="Lato" panose="020F0502020204030203" pitchFamily="34" charset="0"/>
              </a:rPr>
              <a:t>Shell</a:t>
            </a:r>
          </a:p>
          <a:p>
            <a:pPr marL="285750" indent="-285750">
              <a:lnSpc>
                <a:spcPct val="150000"/>
              </a:lnSpc>
              <a:buFont typeface="Arial" panose="020B0604020202020204" pitchFamily="34" charset="0"/>
              <a:buChar char="•"/>
            </a:pPr>
            <a:r>
              <a:rPr lang="en-US" sz="2000" dirty="0">
                <a:latin typeface="Lato" panose="020F0502020204030203" pitchFamily="34" charset="0"/>
                <a:cs typeface="Lato" panose="020F0502020204030203" pitchFamily="34" charset="0"/>
              </a:rPr>
              <a:t>A </a:t>
            </a:r>
            <a:r>
              <a:rPr lang="en-US" sz="2000" b="1" dirty="0">
                <a:latin typeface="Lato" panose="020F0502020204030203" pitchFamily="34" charset="0"/>
                <a:cs typeface="Lato" panose="020F0502020204030203" pitchFamily="34" charset="0"/>
              </a:rPr>
              <a:t>shell</a:t>
            </a:r>
            <a:r>
              <a:rPr lang="en-US" sz="2000" dirty="0">
                <a:latin typeface="Lato" panose="020F0502020204030203" pitchFamily="34" charset="0"/>
                <a:cs typeface="Lato" panose="020F0502020204030203" pitchFamily="34" charset="0"/>
              </a:rPr>
              <a:t> is the </a:t>
            </a:r>
            <a:r>
              <a:rPr lang="en-US" sz="2000" b="1" dirty="0">
                <a:latin typeface="Lato" panose="020F0502020204030203" pitchFamily="34" charset="0"/>
                <a:cs typeface="Lato" panose="020F0502020204030203" pitchFamily="34" charset="0"/>
              </a:rPr>
              <a:t>command interpreter</a:t>
            </a:r>
            <a:r>
              <a:rPr lang="en-US" sz="2000" dirty="0">
                <a:latin typeface="Lato" panose="020F0502020204030203" pitchFamily="34" charset="0"/>
                <a:cs typeface="Lato" panose="020F0502020204030203" pitchFamily="34" charset="0"/>
              </a:rPr>
              <a:t> that runs </a:t>
            </a:r>
            <a:r>
              <a:rPr lang="en-US" sz="2000" i="1" dirty="0">
                <a:latin typeface="Lato" panose="020F0502020204030203" pitchFamily="34" charset="0"/>
                <a:cs typeface="Lato" panose="020F0502020204030203" pitchFamily="34" charset="0"/>
              </a:rPr>
              <a:t>inside</a:t>
            </a:r>
            <a:r>
              <a:rPr lang="en-US" sz="2000" dirty="0">
                <a:latin typeface="Lato" panose="020F0502020204030203" pitchFamily="34" charset="0"/>
                <a:cs typeface="Lato" panose="020F0502020204030203" pitchFamily="34" charset="0"/>
              </a:rPr>
              <a:t> the terminal.</a:t>
            </a:r>
          </a:p>
          <a:p>
            <a:pPr marL="285750" indent="-285750">
              <a:lnSpc>
                <a:spcPct val="150000"/>
              </a:lnSpc>
              <a:buFont typeface="Arial" panose="020B0604020202020204" pitchFamily="34" charset="0"/>
              <a:buChar char="•"/>
            </a:pPr>
            <a:r>
              <a:rPr lang="en-US" sz="2000" dirty="0">
                <a:latin typeface="Lato" panose="020F0502020204030203" pitchFamily="34" charset="0"/>
                <a:cs typeface="Lato" panose="020F0502020204030203" pitchFamily="34" charset="0"/>
              </a:rPr>
              <a:t>It processes the commands you type and runs them.</a:t>
            </a:r>
          </a:p>
          <a:p>
            <a:pPr marL="285750" indent="-285750">
              <a:lnSpc>
                <a:spcPct val="150000"/>
              </a:lnSpc>
              <a:buFont typeface="Arial" panose="020B0604020202020204" pitchFamily="34" charset="0"/>
              <a:buChar char="•"/>
            </a:pPr>
            <a:r>
              <a:rPr lang="en-US" sz="2000" dirty="0">
                <a:latin typeface="Lato" panose="020F0502020204030203" pitchFamily="34" charset="0"/>
                <a:cs typeface="Lato" panose="020F0502020204030203" pitchFamily="34" charset="0"/>
              </a:rPr>
              <a:t>Examples: </a:t>
            </a:r>
            <a:r>
              <a:rPr lang="en-US" sz="2000" b="1" dirty="0">
                <a:latin typeface="Lato" panose="020F0502020204030203" pitchFamily="34" charset="0"/>
                <a:cs typeface="Lato" panose="020F0502020204030203" pitchFamily="34" charset="0"/>
              </a:rPr>
              <a:t>Bash</a:t>
            </a:r>
            <a:r>
              <a:rPr lang="en-US" sz="2000" dirty="0">
                <a:latin typeface="Lato" panose="020F0502020204030203" pitchFamily="34" charset="0"/>
                <a:cs typeface="Lato" panose="020F0502020204030203" pitchFamily="34" charset="0"/>
              </a:rPr>
              <a:t>, </a:t>
            </a:r>
            <a:r>
              <a:rPr lang="en-US" sz="2000" b="1" dirty="0" err="1">
                <a:latin typeface="Lato" panose="020F0502020204030203" pitchFamily="34" charset="0"/>
                <a:cs typeface="Lato" panose="020F0502020204030203" pitchFamily="34" charset="0"/>
              </a:rPr>
              <a:t>Zsh</a:t>
            </a:r>
            <a:r>
              <a:rPr lang="en-US" sz="2000" dirty="0">
                <a:latin typeface="Lato" panose="020F0502020204030203" pitchFamily="34" charset="0"/>
                <a:cs typeface="Lato" panose="020F0502020204030203" pitchFamily="34" charset="0"/>
              </a:rPr>
              <a:t>, </a:t>
            </a:r>
            <a:r>
              <a:rPr lang="en-US" sz="2000" b="1" dirty="0">
                <a:latin typeface="Lato" panose="020F0502020204030203" pitchFamily="34" charset="0"/>
                <a:cs typeface="Lato" panose="020F0502020204030203" pitchFamily="34" charset="0"/>
              </a:rPr>
              <a:t>Fish</a:t>
            </a:r>
            <a:r>
              <a:rPr lang="en-US" sz="2000" dirty="0">
                <a:latin typeface="Lato" panose="020F0502020204030203" pitchFamily="34" charset="0"/>
                <a:cs typeface="Lato" panose="020F0502020204030203" pitchFamily="34" charset="0"/>
              </a:rPr>
              <a:t>, </a:t>
            </a:r>
            <a:r>
              <a:rPr lang="en-US" sz="2000" b="1" dirty="0">
                <a:latin typeface="Lato" panose="020F0502020204030203" pitchFamily="34" charset="0"/>
                <a:cs typeface="Lato" panose="020F0502020204030203" pitchFamily="34" charset="0"/>
              </a:rPr>
              <a:t>Sh</a:t>
            </a:r>
            <a:r>
              <a:rPr lang="en-US" sz="2000" dirty="0">
                <a:latin typeface="Lato" panose="020F0502020204030203" pitchFamily="34" charset="0"/>
                <a:cs typeface="Lato" panose="020F0502020204030203" pitchFamily="34" charset="0"/>
              </a:rPr>
              <a:t>.</a:t>
            </a:r>
          </a:p>
        </p:txBody>
      </p:sp>
    </p:spTree>
    <p:extLst>
      <p:ext uri="{BB962C8B-B14F-4D97-AF65-F5344CB8AC3E}">
        <p14:creationId xmlns:p14="http://schemas.microsoft.com/office/powerpoint/2010/main" val="27642684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C7286-BA10-C87B-ECFE-A1848BB2D0D6}"/>
              </a:ext>
            </a:extLst>
          </p:cNvPr>
          <p:cNvSpPr>
            <a:spLocks noGrp="1"/>
          </p:cNvSpPr>
          <p:nvPr>
            <p:ph type="title"/>
          </p:nvPr>
        </p:nvSpPr>
        <p:spPr>
          <a:xfrm>
            <a:off x="713225" y="445025"/>
            <a:ext cx="7717500" cy="572700"/>
          </a:xfrm>
        </p:spPr>
        <p:txBody>
          <a:bodyPr wrap="square" anchor="ctr">
            <a:normAutofit/>
          </a:bodyPr>
          <a:lstStyle/>
          <a:p>
            <a:pPr>
              <a:lnSpc>
                <a:spcPct val="90000"/>
              </a:lnSpc>
            </a:pPr>
            <a:r>
              <a:rPr lang="en-US" sz="2800" dirty="0"/>
              <a:t>Major Linux Families</a:t>
            </a:r>
          </a:p>
        </p:txBody>
      </p:sp>
      <p:graphicFrame>
        <p:nvGraphicFramePr>
          <p:cNvPr id="3" name="Table 2">
            <a:extLst>
              <a:ext uri="{FF2B5EF4-FFF2-40B4-BE49-F238E27FC236}">
                <a16:creationId xmlns:a16="http://schemas.microsoft.com/office/drawing/2014/main" id="{097C2F2D-0869-BFA4-7D05-8015CDA96EEB}"/>
              </a:ext>
            </a:extLst>
          </p:cNvPr>
          <p:cNvGraphicFramePr>
            <a:graphicFrameLocks noGrp="1"/>
          </p:cNvGraphicFramePr>
          <p:nvPr>
            <p:extLst>
              <p:ext uri="{D42A27DB-BD31-4B8C-83A1-F6EECF244321}">
                <p14:modId xmlns:p14="http://schemas.microsoft.com/office/powerpoint/2010/main" val="911050187"/>
              </p:ext>
            </p:extLst>
          </p:nvPr>
        </p:nvGraphicFramePr>
        <p:xfrm>
          <a:off x="713225" y="1439349"/>
          <a:ext cx="7717502" cy="3348096"/>
        </p:xfrm>
        <a:graphic>
          <a:graphicData uri="http://schemas.openxmlformats.org/drawingml/2006/table">
            <a:tbl>
              <a:tblPr firstRow="1" bandRow="1">
                <a:solidFill>
                  <a:schemeClr val="tx1">
                    <a:lumMod val="75000"/>
                    <a:lumOff val="25000"/>
                  </a:schemeClr>
                </a:solidFill>
                <a:tableStyleId>{16D9F66E-5EB9-4882-86FB-DCBF35E3C3E4}</a:tableStyleId>
              </a:tblPr>
              <a:tblGrid>
                <a:gridCol w="1374300">
                  <a:extLst>
                    <a:ext uri="{9D8B030D-6E8A-4147-A177-3AD203B41FA5}">
                      <a16:colId xmlns:a16="http://schemas.microsoft.com/office/drawing/2014/main" val="3129722604"/>
                    </a:ext>
                  </a:extLst>
                </a:gridCol>
                <a:gridCol w="1527000">
                  <a:extLst>
                    <a:ext uri="{9D8B030D-6E8A-4147-A177-3AD203B41FA5}">
                      <a16:colId xmlns:a16="http://schemas.microsoft.com/office/drawing/2014/main" val="3150595180"/>
                    </a:ext>
                  </a:extLst>
                </a:gridCol>
                <a:gridCol w="2431452">
                  <a:extLst>
                    <a:ext uri="{9D8B030D-6E8A-4147-A177-3AD203B41FA5}">
                      <a16:colId xmlns:a16="http://schemas.microsoft.com/office/drawing/2014/main" val="4027470071"/>
                    </a:ext>
                  </a:extLst>
                </a:gridCol>
                <a:gridCol w="2384750">
                  <a:extLst>
                    <a:ext uri="{9D8B030D-6E8A-4147-A177-3AD203B41FA5}">
                      <a16:colId xmlns:a16="http://schemas.microsoft.com/office/drawing/2014/main" val="1954734103"/>
                    </a:ext>
                  </a:extLst>
                </a:gridCol>
              </a:tblGrid>
              <a:tr h="350271">
                <a:tc>
                  <a:txBody>
                    <a:bodyPr/>
                    <a:lstStyle/>
                    <a:p>
                      <a:pPr algn="ctr"/>
                      <a:r>
                        <a:rPr lang="en-US" sz="1600" b="1" cap="none" spc="0">
                          <a:solidFill>
                            <a:schemeClr val="bg1"/>
                          </a:solidFill>
                          <a:latin typeface="Lato" panose="020F0502020204030203" pitchFamily="34" charset="0"/>
                          <a:cs typeface="Lato" panose="020F0502020204030203" pitchFamily="34" charset="0"/>
                        </a:rPr>
                        <a:t>Family</a:t>
                      </a:r>
                    </a:p>
                  </a:txBody>
                  <a:tcPr marL="96201" marR="72124" marT="74001" marB="74001"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lgn="ctr"/>
                      <a:r>
                        <a:rPr lang="en-US" sz="1600" b="1" cap="none" spc="0">
                          <a:solidFill>
                            <a:schemeClr val="bg1"/>
                          </a:solidFill>
                          <a:latin typeface="Lato" panose="020F0502020204030203" pitchFamily="34" charset="0"/>
                          <a:cs typeface="Lato" panose="020F0502020204030203" pitchFamily="34" charset="0"/>
                        </a:rPr>
                        <a:t>Package Type</a:t>
                      </a:r>
                    </a:p>
                  </a:txBody>
                  <a:tcPr marL="96201" marR="72124" marT="74001" marB="74001"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lgn="ctr"/>
                      <a:r>
                        <a:rPr lang="en-US" sz="1600" b="1" cap="none" spc="0">
                          <a:solidFill>
                            <a:schemeClr val="bg1"/>
                          </a:solidFill>
                          <a:latin typeface="Lato" panose="020F0502020204030203" pitchFamily="34" charset="0"/>
                          <a:cs typeface="Lato" panose="020F0502020204030203" pitchFamily="34" charset="0"/>
                        </a:rPr>
                        <a:t>Examples</a:t>
                      </a:r>
                    </a:p>
                  </a:txBody>
                  <a:tcPr marL="96201" marR="72124" marT="74001" marB="74001"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lgn="ctr"/>
                      <a:r>
                        <a:rPr lang="en-US" sz="1600" b="1" cap="none" spc="0" dirty="0">
                          <a:solidFill>
                            <a:schemeClr val="bg1"/>
                          </a:solidFill>
                          <a:latin typeface="Lato" panose="020F0502020204030203" pitchFamily="34" charset="0"/>
                          <a:cs typeface="Lato" panose="020F0502020204030203" pitchFamily="34" charset="0"/>
                        </a:rPr>
                        <a:t>Known For</a:t>
                      </a:r>
                    </a:p>
                  </a:txBody>
                  <a:tcPr marL="96201" marR="72124" marT="74001" marB="74001"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2583443479"/>
                  </a:ext>
                </a:extLst>
              </a:tr>
              <a:tr h="350271">
                <a:tc>
                  <a:txBody>
                    <a:bodyPr/>
                    <a:lstStyle/>
                    <a:p>
                      <a:r>
                        <a:rPr lang="en-US" sz="1400" b="1" cap="none" spc="0">
                          <a:solidFill>
                            <a:schemeClr val="bg1"/>
                          </a:solidFill>
                          <a:latin typeface="Lato" panose="020F0502020204030203" pitchFamily="34" charset="0"/>
                          <a:cs typeface="Lato" panose="020F0502020204030203" pitchFamily="34" charset="0"/>
                        </a:rPr>
                        <a:t>Debian</a:t>
                      </a:r>
                      <a:endParaRPr lang="en-US" sz="1400" cap="none" spc="0">
                        <a:solidFill>
                          <a:schemeClr val="bg1"/>
                        </a:solidFill>
                        <a:latin typeface="Lato" panose="020F0502020204030203" pitchFamily="34" charset="0"/>
                        <a:cs typeface="Lato" panose="020F0502020204030203" pitchFamily="34" charset="0"/>
                      </a:endParaRPr>
                    </a:p>
                  </a:txBody>
                  <a:tcPr marL="96201" marR="72124" marT="74001" marB="74001" anchor="ctr">
                    <a:lnL w="38100" cap="flat" cmpd="sng" algn="ctr">
                      <a:no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.deb</a:t>
                      </a: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400" cap="none" spc="0" dirty="0">
                          <a:solidFill>
                            <a:schemeClr val="bg1"/>
                          </a:solidFill>
                          <a:latin typeface="Lato" panose="020F0502020204030203" pitchFamily="34" charset="0"/>
                          <a:cs typeface="Lato" panose="020F0502020204030203" pitchFamily="34" charset="0"/>
                        </a:rPr>
                        <a:t>Ubuntu, Kali, Mint</a:t>
                      </a: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Stability, huge repos</a:t>
                      </a:r>
                    </a:p>
                  </a:txBody>
                  <a:tcPr marL="96201" marR="72124" marT="74001" marB="74001" anchor="ctr">
                    <a:lnL w="6350" cap="flat" cmpd="sng" algn="ctr">
                      <a:solidFill>
                        <a:schemeClr val="tx1">
                          <a:lumMod val="50000"/>
                          <a:lumOff val="50000"/>
                        </a:schemeClr>
                      </a:solidFill>
                      <a:prstDash val="solid"/>
                    </a:lnL>
                    <a:lnR w="38100" cap="flat" cmpd="sng" algn="ctr">
                      <a:noFill/>
                      <a:prstDash val="solid"/>
                    </a:lnR>
                    <a:lnT w="38100" cmpd="sng">
                      <a:noFill/>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2142464983"/>
                  </a:ext>
                </a:extLst>
              </a:tr>
              <a:tr h="350271">
                <a:tc>
                  <a:txBody>
                    <a:bodyPr/>
                    <a:lstStyle/>
                    <a:p>
                      <a:r>
                        <a:rPr lang="en-US" sz="1400" b="1" cap="none" spc="0">
                          <a:solidFill>
                            <a:schemeClr val="bg1"/>
                          </a:solidFill>
                          <a:latin typeface="Lato" panose="020F0502020204030203" pitchFamily="34" charset="0"/>
                          <a:cs typeface="Lato" panose="020F0502020204030203" pitchFamily="34" charset="0"/>
                        </a:rPr>
                        <a:t>Red Hat (RHEL)</a:t>
                      </a:r>
                      <a:endParaRPr lang="en-US" sz="1400" cap="none" spc="0">
                        <a:solidFill>
                          <a:schemeClr val="bg1"/>
                        </a:solidFill>
                        <a:latin typeface="Lato" panose="020F0502020204030203" pitchFamily="34" charset="0"/>
                        <a:cs typeface="Lato" panose="020F0502020204030203" pitchFamily="34" charset="0"/>
                      </a:endParaRP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.rpm</a:t>
                      </a: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RHEL, Fedora, CentOS Stream</a:t>
                      </a: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Enterprise use</a:t>
                      </a:r>
                    </a:p>
                  </a:txBody>
                  <a:tcPr marL="96201" marR="72124" marT="74001" marB="74001"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extLst>
                  <a:ext uri="{0D108BD9-81ED-4DB2-BD59-A6C34878D82A}">
                    <a16:rowId xmlns:a16="http://schemas.microsoft.com/office/drawing/2014/main" val="2060341133"/>
                  </a:ext>
                </a:extLst>
              </a:tr>
              <a:tr h="350271">
                <a:tc>
                  <a:txBody>
                    <a:bodyPr/>
                    <a:lstStyle/>
                    <a:p>
                      <a:r>
                        <a:rPr lang="en-US" sz="1400" b="1" cap="none" spc="0">
                          <a:solidFill>
                            <a:schemeClr val="bg1"/>
                          </a:solidFill>
                          <a:latin typeface="Lato" panose="020F0502020204030203" pitchFamily="34" charset="0"/>
                          <a:cs typeface="Lato" panose="020F0502020204030203" pitchFamily="34" charset="0"/>
                        </a:rPr>
                        <a:t>SUSE</a:t>
                      </a:r>
                      <a:endParaRPr lang="en-US" sz="1400" cap="none" spc="0">
                        <a:solidFill>
                          <a:schemeClr val="bg1"/>
                        </a:solidFill>
                        <a:latin typeface="Lato" panose="020F0502020204030203" pitchFamily="34" charset="0"/>
                        <a:cs typeface="Lato" panose="020F0502020204030203" pitchFamily="34" charset="0"/>
                      </a:endParaRPr>
                    </a:p>
                  </a:txBody>
                  <a:tcPr marL="96201" marR="72124" marT="74001" marB="74001" anchor="ctr">
                    <a:lnL w="38100" cap="flat" cmpd="sng" algn="ctr">
                      <a:no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.rpm</a:t>
                      </a: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openSUSE, SLES</a:t>
                      </a: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Enterprise + YaST tools</a:t>
                      </a:r>
                    </a:p>
                  </a:txBody>
                  <a:tcPr marL="96201" marR="72124" marT="74001" marB="74001" anchor="ctr">
                    <a:lnL w="6350" cap="flat" cmpd="sng" algn="ctr">
                      <a:solidFill>
                        <a:schemeClr val="tx1">
                          <a:lumMod val="50000"/>
                          <a:lumOff val="50000"/>
                        </a:schemeClr>
                      </a:solidFill>
                      <a:prstDash val="solid"/>
                    </a:lnL>
                    <a:lnR w="38100" cap="flat" cmpd="sng" algn="ctr">
                      <a:no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2688551508"/>
                  </a:ext>
                </a:extLst>
              </a:tr>
              <a:tr h="350271">
                <a:tc>
                  <a:txBody>
                    <a:bodyPr/>
                    <a:lstStyle/>
                    <a:p>
                      <a:r>
                        <a:rPr lang="en-US" sz="1400" b="1" cap="none" spc="0">
                          <a:solidFill>
                            <a:schemeClr val="bg1"/>
                          </a:solidFill>
                          <a:latin typeface="Lato" panose="020F0502020204030203" pitchFamily="34" charset="0"/>
                          <a:cs typeface="Lato" panose="020F0502020204030203" pitchFamily="34" charset="0"/>
                        </a:rPr>
                        <a:t>Arch</a:t>
                      </a:r>
                      <a:endParaRPr lang="en-US" sz="1400" cap="none" spc="0">
                        <a:solidFill>
                          <a:schemeClr val="bg1"/>
                        </a:solidFill>
                        <a:latin typeface="Lato" panose="020F0502020204030203" pitchFamily="34" charset="0"/>
                        <a:cs typeface="Lato" panose="020F0502020204030203" pitchFamily="34" charset="0"/>
                      </a:endParaRP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Pacman</a:t>
                      </a: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Arch, Manjaro</a:t>
                      </a: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Rolling release, lightweight</a:t>
                      </a:r>
                    </a:p>
                  </a:txBody>
                  <a:tcPr marL="96201" marR="72124" marT="74001" marB="74001"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extLst>
                  <a:ext uri="{0D108BD9-81ED-4DB2-BD59-A6C34878D82A}">
                    <a16:rowId xmlns:a16="http://schemas.microsoft.com/office/drawing/2014/main" val="1171625095"/>
                  </a:ext>
                </a:extLst>
              </a:tr>
              <a:tr h="350271">
                <a:tc>
                  <a:txBody>
                    <a:bodyPr/>
                    <a:lstStyle/>
                    <a:p>
                      <a:r>
                        <a:rPr lang="en-US" sz="1400" b="1" cap="none" spc="0">
                          <a:solidFill>
                            <a:schemeClr val="bg1"/>
                          </a:solidFill>
                          <a:latin typeface="Lato" panose="020F0502020204030203" pitchFamily="34" charset="0"/>
                          <a:cs typeface="Lato" panose="020F0502020204030203" pitchFamily="34" charset="0"/>
                        </a:rPr>
                        <a:t>Slackware</a:t>
                      </a:r>
                      <a:endParaRPr lang="en-US" sz="1400" cap="none" spc="0">
                        <a:solidFill>
                          <a:schemeClr val="bg1"/>
                        </a:solidFill>
                        <a:latin typeface="Lato" panose="020F0502020204030203" pitchFamily="34" charset="0"/>
                        <a:cs typeface="Lato" panose="020F0502020204030203" pitchFamily="34" charset="0"/>
                      </a:endParaRPr>
                    </a:p>
                  </a:txBody>
                  <a:tcPr marL="96201" marR="72124" marT="74001" marB="74001" anchor="ctr">
                    <a:lnL w="38100" cap="flat" cmpd="sng" algn="ctr">
                      <a:no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pkgtool</a:t>
                      </a: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Slackware, Salix</a:t>
                      </a: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Simplicity &amp; Unix-like</a:t>
                      </a:r>
                    </a:p>
                  </a:txBody>
                  <a:tcPr marL="96201" marR="72124" marT="74001" marB="74001" anchor="ctr">
                    <a:lnL w="6350" cap="flat" cmpd="sng" algn="ctr">
                      <a:solidFill>
                        <a:schemeClr val="tx1">
                          <a:lumMod val="50000"/>
                          <a:lumOff val="50000"/>
                        </a:schemeClr>
                      </a:solidFill>
                      <a:prstDash val="solid"/>
                    </a:lnL>
                    <a:lnR w="38100" cap="flat" cmpd="sng" algn="ctr">
                      <a:noFill/>
                      <a:prstDash val="solid"/>
                    </a:lnR>
                    <a:lnT w="12700" cmpd="sng">
                      <a:noFill/>
                      <a:prstDash val="solid"/>
                    </a:lnT>
                    <a:lnB w="6350" cap="flat" cmpd="sng" algn="ctr">
                      <a:solidFill>
                        <a:schemeClr val="tx1">
                          <a:lumMod val="50000"/>
                          <a:lumOff val="50000"/>
                        </a:schemeClr>
                      </a:solidFill>
                      <a:prstDash val="solid"/>
                    </a:lnB>
                    <a:solidFill>
                      <a:schemeClr val="tx1">
                        <a:lumMod val="75000"/>
                        <a:lumOff val="25000"/>
                      </a:schemeClr>
                    </a:solidFill>
                  </a:tcPr>
                </a:tc>
                <a:extLst>
                  <a:ext uri="{0D108BD9-81ED-4DB2-BD59-A6C34878D82A}">
                    <a16:rowId xmlns:a16="http://schemas.microsoft.com/office/drawing/2014/main" val="2858369716"/>
                  </a:ext>
                </a:extLst>
              </a:tr>
              <a:tr h="350271">
                <a:tc>
                  <a:txBody>
                    <a:bodyPr/>
                    <a:lstStyle/>
                    <a:p>
                      <a:r>
                        <a:rPr lang="en-US" sz="1400" b="1" cap="none" spc="0">
                          <a:solidFill>
                            <a:schemeClr val="bg1"/>
                          </a:solidFill>
                          <a:latin typeface="Lato" panose="020F0502020204030203" pitchFamily="34" charset="0"/>
                          <a:cs typeface="Lato" panose="020F0502020204030203" pitchFamily="34" charset="0"/>
                        </a:rPr>
                        <a:t>Gentoo</a:t>
                      </a:r>
                      <a:endParaRPr lang="en-US" sz="1400" cap="none" spc="0">
                        <a:solidFill>
                          <a:schemeClr val="bg1"/>
                        </a:solidFill>
                        <a:latin typeface="Lato" panose="020F0502020204030203" pitchFamily="34" charset="0"/>
                        <a:cs typeface="Lato" panose="020F0502020204030203" pitchFamily="34" charset="0"/>
                      </a:endParaRP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Portage</a:t>
                      </a: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Gentoo</a:t>
                      </a: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Source-based, very customizable</a:t>
                      </a:r>
                    </a:p>
                  </a:txBody>
                  <a:tcPr marL="96201" marR="72124" marT="74001" marB="74001"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tx1">
                        <a:lumMod val="85000"/>
                        <a:lumOff val="15000"/>
                      </a:schemeClr>
                    </a:solidFill>
                  </a:tcPr>
                </a:tc>
                <a:extLst>
                  <a:ext uri="{0D108BD9-81ED-4DB2-BD59-A6C34878D82A}">
                    <a16:rowId xmlns:a16="http://schemas.microsoft.com/office/drawing/2014/main" val="3685608786"/>
                  </a:ext>
                </a:extLst>
              </a:tr>
              <a:tr h="350271">
                <a:tc>
                  <a:txBody>
                    <a:bodyPr/>
                    <a:lstStyle/>
                    <a:p>
                      <a:r>
                        <a:rPr lang="en-US" sz="1400" b="1" cap="none" spc="0">
                          <a:solidFill>
                            <a:schemeClr val="bg1"/>
                          </a:solidFill>
                          <a:latin typeface="Lato" panose="020F0502020204030203" pitchFamily="34" charset="0"/>
                          <a:cs typeface="Lato" panose="020F0502020204030203" pitchFamily="34" charset="0"/>
                        </a:rPr>
                        <a:t>Independent</a:t>
                      </a:r>
                      <a:endParaRPr lang="en-US" sz="1400" cap="none" spc="0">
                        <a:solidFill>
                          <a:schemeClr val="bg1"/>
                        </a:solidFill>
                        <a:latin typeface="Lato" panose="020F0502020204030203" pitchFamily="34" charset="0"/>
                        <a:cs typeface="Lato" panose="020F0502020204030203" pitchFamily="34" charset="0"/>
                      </a:endParaRPr>
                    </a:p>
                  </a:txBody>
                  <a:tcPr marL="96201" marR="72124" marT="74001" marB="74001" anchor="ctr">
                    <a:lnL w="38100" cap="flat" cmpd="sng" algn="ctr">
                      <a:noFill/>
                      <a:prstDash val="solid"/>
                    </a:lnL>
                    <a:lnR w="6350" cap="flat" cmpd="sng" algn="ctr">
                      <a:solidFill>
                        <a:schemeClr val="tx1">
                          <a:lumMod val="50000"/>
                          <a:lumOff val="50000"/>
                        </a:schemeClr>
                      </a:solidFill>
                      <a:prstDash val="solid"/>
                    </a:lnR>
                    <a:lnT w="12700" cmpd="sng">
                      <a:noFill/>
                      <a:prstDash val="solid"/>
                    </a:lnT>
                    <a:lnB w="38100" cap="flat" cmpd="sng" algn="ctr">
                      <a:noFill/>
                      <a:prstDash val="solid"/>
                    </a:lnB>
                    <a:solidFill>
                      <a:schemeClr val="tx1">
                        <a:lumMod val="75000"/>
                        <a:lumOff val="2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Mixed</a:t>
                      </a: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38100" cap="flat" cmpd="sng" algn="ctr">
                      <a:noFill/>
                      <a:prstDash val="solid"/>
                    </a:lnB>
                    <a:solidFill>
                      <a:schemeClr val="tx1">
                        <a:lumMod val="75000"/>
                        <a:lumOff val="25000"/>
                      </a:schemeClr>
                    </a:solidFill>
                  </a:tcPr>
                </a:tc>
                <a:tc>
                  <a:txBody>
                    <a:bodyPr/>
                    <a:lstStyle/>
                    <a:p>
                      <a:r>
                        <a:rPr lang="en-US" sz="1400" cap="none" spc="0">
                          <a:solidFill>
                            <a:schemeClr val="bg1"/>
                          </a:solidFill>
                          <a:latin typeface="Lato" panose="020F0502020204030203" pitchFamily="34" charset="0"/>
                          <a:cs typeface="Lato" panose="020F0502020204030203" pitchFamily="34" charset="0"/>
                        </a:rPr>
                        <a:t>Android, Alpine, </a:t>
                      </a:r>
                      <a:r>
                        <a:rPr lang="en-US" sz="1400" cap="none" spc="0" err="1">
                          <a:solidFill>
                            <a:schemeClr val="bg1"/>
                          </a:solidFill>
                          <a:latin typeface="Lato" panose="020F0502020204030203" pitchFamily="34" charset="0"/>
                          <a:cs typeface="Lato" panose="020F0502020204030203" pitchFamily="34" charset="0"/>
                        </a:rPr>
                        <a:t>NixOS</a:t>
                      </a:r>
                      <a:endParaRPr lang="en-US" sz="1400" cap="none" spc="0">
                        <a:solidFill>
                          <a:schemeClr val="bg1"/>
                        </a:solidFill>
                        <a:latin typeface="Lato" panose="020F0502020204030203" pitchFamily="34" charset="0"/>
                        <a:cs typeface="Lato" panose="020F0502020204030203" pitchFamily="34" charset="0"/>
                      </a:endParaRPr>
                    </a:p>
                  </a:txBody>
                  <a:tcPr marL="96201" marR="72124" marT="74001" marB="74001"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38100" cap="flat" cmpd="sng" algn="ctr">
                      <a:noFill/>
                      <a:prstDash val="solid"/>
                    </a:lnB>
                    <a:solidFill>
                      <a:schemeClr val="tx1">
                        <a:lumMod val="75000"/>
                        <a:lumOff val="25000"/>
                      </a:schemeClr>
                    </a:solidFill>
                  </a:tcPr>
                </a:tc>
                <a:tc>
                  <a:txBody>
                    <a:bodyPr/>
                    <a:lstStyle/>
                    <a:p>
                      <a:r>
                        <a:rPr lang="en-US" sz="1400" cap="none" spc="0" dirty="0">
                          <a:solidFill>
                            <a:schemeClr val="bg1"/>
                          </a:solidFill>
                          <a:latin typeface="Lato" panose="020F0502020204030203" pitchFamily="34" charset="0"/>
                          <a:cs typeface="Lato" panose="020F0502020204030203" pitchFamily="34" charset="0"/>
                        </a:rPr>
                        <a:t>Designed from scratch</a:t>
                      </a:r>
                    </a:p>
                  </a:txBody>
                  <a:tcPr marL="96201" marR="72124" marT="74001" marB="74001" anchor="ctr">
                    <a:lnL w="6350" cap="flat" cmpd="sng" algn="ctr">
                      <a:solidFill>
                        <a:schemeClr val="tx1">
                          <a:lumMod val="50000"/>
                          <a:lumOff val="50000"/>
                        </a:schemeClr>
                      </a:solidFill>
                      <a:prstDash val="solid"/>
                    </a:lnL>
                    <a:lnR w="38100" cap="flat" cmpd="sng" algn="ctr">
                      <a:noFill/>
                      <a:prstDash val="solid"/>
                    </a:lnR>
                    <a:lnT w="12700" cmpd="sng">
                      <a:noFill/>
                      <a:prstDash val="solid"/>
                    </a:lnT>
                    <a:lnB w="38100" cap="flat" cmpd="sng" algn="ctr">
                      <a:noFill/>
                      <a:prstDash val="solid"/>
                    </a:lnB>
                    <a:solidFill>
                      <a:schemeClr val="tx1">
                        <a:lumMod val="75000"/>
                        <a:lumOff val="25000"/>
                      </a:schemeClr>
                    </a:solidFill>
                  </a:tcPr>
                </a:tc>
                <a:extLst>
                  <a:ext uri="{0D108BD9-81ED-4DB2-BD59-A6C34878D82A}">
                    <a16:rowId xmlns:a16="http://schemas.microsoft.com/office/drawing/2014/main" val="3672028089"/>
                  </a:ext>
                </a:extLst>
              </a:tr>
            </a:tbl>
          </a:graphicData>
        </a:graphic>
      </p:graphicFrame>
    </p:spTree>
    <p:extLst>
      <p:ext uri="{BB962C8B-B14F-4D97-AF65-F5344CB8AC3E}">
        <p14:creationId xmlns:p14="http://schemas.microsoft.com/office/powerpoint/2010/main" val="706428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ebian, más de una década contigo | Blog La Guía Linux">
            <a:extLst>
              <a:ext uri="{FF2B5EF4-FFF2-40B4-BE49-F238E27FC236}">
                <a16:creationId xmlns:a16="http://schemas.microsoft.com/office/drawing/2014/main" id="{67CD2E49-9FDD-1432-A03A-520F92DF1D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63802" cy="51435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6A2AE86-C4F2-2359-5625-9FC7619A8BCB}"/>
              </a:ext>
            </a:extLst>
          </p:cNvPr>
          <p:cNvSpPr txBox="1"/>
          <p:nvPr/>
        </p:nvSpPr>
        <p:spPr>
          <a:xfrm>
            <a:off x="0" y="0"/>
            <a:ext cx="2636072" cy="338554"/>
          </a:xfrm>
          <a:prstGeom prst="rect">
            <a:avLst/>
          </a:prstGeom>
          <a:noFill/>
        </p:spPr>
        <p:txBody>
          <a:bodyPr wrap="square">
            <a:spAutoFit/>
          </a:bodyPr>
          <a:lstStyle/>
          <a:p>
            <a:r>
              <a:rPr kumimoji="0" lang="en-US" altLang="en-US" sz="1600" b="1" i="0" u="none" strike="noStrike" cap="none" normalizeH="0" baseline="0" dirty="0">
                <a:ln>
                  <a:noFill/>
                </a:ln>
                <a:solidFill>
                  <a:srgbClr val="FFC000"/>
                </a:solidFill>
                <a:effectLst/>
                <a:latin typeface="Times New Roman" panose="02020603050405020304" pitchFamily="18" charset="0"/>
                <a:cs typeface="Times New Roman" panose="02020603050405020304" pitchFamily="18" charset="0"/>
              </a:rPr>
              <a:t>Debian Family - Debian</a:t>
            </a:r>
            <a:endParaRPr lang="en-US" sz="1600" dirty="0">
              <a:solidFill>
                <a:srgbClr val="FFC000"/>
              </a:solidFill>
            </a:endParaRPr>
          </a:p>
        </p:txBody>
      </p:sp>
    </p:spTree>
    <p:extLst>
      <p:ext uri="{BB962C8B-B14F-4D97-AF65-F5344CB8AC3E}">
        <p14:creationId xmlns:p14="http://schemas.microsoft.com/office/powerpoint/2010/main" val="9980934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CF86B-7047-4BCC-0228-5DCC8A8B4C29}"/>
            </a:ext>
          </a:extLst>
        </p:cNvPr>
        <p:cNvGrpSpPr/>
        <p:nvPr/>
      </p:nvGrpSpPr>
      <p:grpSpPr>
        <a:xfrm>
          <a:off x="0" y="0"/>
          <a:ext cx="0" cy="0"/>
          <a:chOff x="0" y="0"/>
          <a:chExt cx="0" cy="0"/>
        </a:xfrm>
      </p:grpSpPr>
      <p:sp>
        <p:nvSpPr>
          <p:cNvPr id="3" name="Google Shape;965;p30">
            <a:extLst>
              <a:ext uri="{FF2B5EF4-FFF2-40B4-BE49-F238E27FC236}">
                <a16:creationId xmlns:a16="http://schemas.microsoft.com/office/drawing/2014/main" id="{0C44F399-A69E-A04B-675C-029FB39382E7}"/>
              </a:ext>
            </a:extLst>
          </p:cNvPr>
          <p:cNvSpPr/>
          <p:nvPr/>
        </p:nvSpPr>
        <p:spPr>
          <a:xfrm rot="-7219687" flipH="1">
            <a:off x="-895541" y="1468437"/>
            <a:ext cx="5219277" cy="470790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AutoShape 4" descr="Top 60 Linux commands every user should know + cheat sheet">
            <a:extLst>
              <a:ext uri="{FF2B5EF4-FFF2-40B4-BE49-F238E27FC236}">
                <a16:creationId xmlns:a16="http://schemas.microsoft.com/office/drawing/2014/main" id="{9B5684EE-BF40-D260-B14B-1C135DF1D20E}"/>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2" name="Picture 4" descr="Ubuntu 24.10 Includes 20th Anniversary Easter Eggs - OMG! Ubuntu">
            <a:extLst>
              <a:ext uri="{FF2B5EF4-FFF2-40B4-BE49-F238E27FC236}">
                <a16:creationId xmlns:a16="http://schemas.microsoft.com/office/drawing/2014/main" id="{138B9835-E7FC-EA9A-F817-3861921D7B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64F40B-97AE-17EA-B643-9EEA6EEFF87A}"/>
              </a:ext>
            </a:extLst>
          </p:cNvPr>
          <p:cNvSpPr txBox="1"/>
          <p:nvPr/>
        </p:nvSpPr>
        <p:spPr>
          <a:xfrm>
            <a:off x="241300" y="127000"/>
            <a:ext cx="2636072" cy="338554"/>
          </a:xfrm>
          <a:prstGeom prst="rect">
            <a:avLst/>
          </a:prstGeom>
          <a:noFill/>
        </p:spPr>
        <p:txBody>
          <a:bodyPr wrap="square">
            <a:spAutoFit/>
          </a:bodyPr>
          <a:lstStyle/>
          <a:p>
            <a:r>
              <a:rPr kumimoji="0" lang="en-US" altLang="en-US" sz="1600" b="1" i="0" u="none" strike="noStrike" cap="none" normalizeH="0" baseline="0" dirty="0">
                <a:ln>
                  <a:noFill/>
                </a:ln>
                <a:solidFill>
                  <a:srgbClr val="FFC000"/>
                </a:solidFill>
                <a:effectLst/>
                <a:latin typeface="Times New Roman" panose="02020603050405020304" pitchFamily="18" charset="0"/>
                <a:cs typeface="Times New Roman" panose="02020603050405020304" pitchFamily="18" charset="0"/>
              </a:rPr>
              <a:t>Debian Family - Ubuntu</a:t>
            </a:r>
            <a:endParaRPr lang="en-US" sz="1600" dirty="0">
              <a:solidFill>
                <a:srgbClr val="FFC000"/>
              </a:solidFill>
            </a:endParaRPr>
          </a:p>
        </p:txBody>
      </p:sp>
    </p:spTree>
    <p:extLst>
      <p:ext uri="{BB962C8B-B14F-4D97-AF65-F5344CB8AC3E}">
        <p14:creationId xmlns:p14="http://schemas.microsoft.com/office/powerpoint/2010/main" val="37168508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Zorin OS - Wikipedia">
            <a:extLst>
              <a:ext uri="{FF2B5EF4-FFF2-40B4-BE49-F238E27FC236}">
                <a16:creationId xmlns:a16="http://schemas.microsoft.com/office/drawing/2014/main" id="{AF969876-EED7-6C87-CA3C-77C31CC4CC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9137650" cy="5143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E2F4590-8FFA-4649-CE14-8EE4FCE2B936}"/>
              </a:ext>
            </a:extLst>
          </p:cNvPr>
          <p:cNvSpPr txBox="1"/>
          <p:nvPr/>
        </p:nvSpPr>
        <p:spPr>
          <a:xfrm>
            <a:off x="0" y="0"/>
            <a:ext cx="2636072" cy="338554"/>
          </a:xfrm>
          <a:prstGeom prst="rect">
            <a:avLst/>
          </a:prstGeom>
          <a:noFill/>
        </p:spPr>
        <p:txBody>
          <a:bodyPr wrap="square">
            <a:spAutoFit/>
          </a:bodyPr>
          <a:lstStyle/>
          <a:p>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Debian Family – Zorin OS</a:t>
            </a:r>
            <a:endParaRPr lang="en-US" sz="1600" dirty="0">
              <a:solidFill>
                <a:schemeClr val="tx1"/>
              </a:solidFill>
            </a:endParaRPr>
          </a:p>
        </p:txBody>
      </p:sp>
    </p:spTree>
    <p:extLst>
      <p:ext uri="{BB962C8B-B14F-4D97-AF65-F5344CB8AC3E}">
        <p14:creationId xmlns:p14="http://schemas.microsoft.com/office/powerpoint/2010/main" val="9973195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Red Hat Enterprise Linux - Wikipedia">
            <a:extLst>
              <a:ext uri="{FF2B5EF4-FFF2-40B4-BE49-F238E27FC236}">
                <a16:creationId xmlns:a16="http://schemas.microsoft.com/office/drawing/2014/main" id="{DF7A5179-E561-180D-95C5-D14B1E3164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88141FE-6F4A-58AB-0906-0A00A8DCE249}"/>
              </a:ext>
            </a:extLst>
          </p:cNvPr>
          <p:cNvSpPr txBox="1"/>
          <p:nvPr/>
        </p:nvSpPr>
        <p:spPr>
          <a:xfrm>
            <a:off x="0" y="114300"/>
            <a:ext cx="1981200" cy="30777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rgbClr val="FFC000"/>
                </a:solidFill>
                <a:effectLst/>
                <a:latin typeface="Times New Roman" panose="02020603050405020304" pitchFamily="18" charset="0"/>
                <a:cs typeface="Times New Roman" panose="02020603050405020304" pitchFamily="18" charset="0"/>
              </a:rPr>
              <a:t>Red Hat Family - RHEL</a:t>
            </a:r>
          </a:p>
        </p:txBody>
      </p:sp>
    </p:spTree>
    <p:extLst>
      <p:ext uri="{BB962C8B-B14F-4D97-AF65-F5344CB8AC3E}">
        <p14:creationId xmlns:p14="http://schemas.microsoft.com/office/powerpoint/2010/main" val="3277175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40E0E-04E8-33BE-8906-11AB6C0A3F23}"/>
            </a:ext>
          </a:extLst>
        </p:cNvPr>
        <p:cNvGrpSpPr/>
        <p:nvPr/>
      </p:nvGrpSpPr>
      <p:grpSpPr>
        <a:xfrm>
          <a:off x="0" y="0"/>
          <a:ext cx="0" cy="0"/>
          <a:chOff x="0" y="0"/>
          <a:chExt cx="0" cy="0"/>
        </a:xfrm>
      </p:grpSpPr>
      <p:pic>
        <p:nvPicPr>
          <p:cNvPr id="2" name="Picture 2" descr="Fedora Xfce | The Fedora Project">
            <a:extLst>
              <a:ext uri="{FF2B5EF4-FFF2-40B4-BE49-F238E27FC236}">
                <a16:creationId xmlns:a16="http://schemas.microsoft.com/office/drawing/2014/main" id="{A7ED12F0-F3B3-B450-6954-EAC4BE5F49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30561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0A73785-2812-39EB-B529-1FFE98842D68}"/>
              </a:ext>
            </a:extLst>
          </p:cNvPr>
          <p:cNvSpPr txBox="1"/>
          <p:nvPr/>
        </p:nvSpPr>
        <p:spPr>
          <a:xfrm>
            <a:off x="800100" y="99694"/>
            <a:ext cx="2146300" cy="30777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rgbClr val="FFC000"/>
                </a:solidFill>
                <a:effectLst/>
                <a:latin typeface="Times New Roman" panose="02020603050405020304" pitchFamily="18" charset="0"/>
                <a:cs typeface="Times New Roman" panose="02020603050405020304" pitchFamily="18" charset="0"/>
              </a:rPr>
              <a:t>Red Hat Family - Fedora</a:t>
            </a:r>
          </a:p>
        </p:txBody>
      </p:sp>
    </p:spTree>
    <p:extLst>
      <p:ext uri="{BB962C8B-B14F-4D97-AF65-F5344CB8AC3E}">
        <p14:creationId xmlns:p14="http://schemas.microsoft.com/office/powerpoint/2010/main" val="3928920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Rocky Linux">
            <a:extLst>
              <a:ext uri="{FF2B5EF4-FFF2-40B4-BE49-F238E27FC236}">
                <a16:creationId xmlns:a16="http://schemas.microsoft.com/office/drawing/2014/main" id="{82B34E3A-033D-0C2F-24A4-AA5BA39139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D7F8A9C-706B-8455-9342-5351BC4B10F0}"/>
              </a:ext>
            </a:extLst>
          </p:cNvPr>
          <p:cNvSpPr txBox="1"/>
          <p:nvPr/>
        </p:nvSpPr>
        <p:spPr>
          <a:xfrm>
            <a:off x="0" y="125094"/>
            <a:ext cx="2222500" cy="30777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rgbClr val="FFC000"/>
                </a:solidFill>
                <a:effectLst/>
                <a:latin typeface="Times New Roman" panose="02020603050405020304" pitchFamily="18" charset="0"/>
                <a:cs typeface="Times New Roman" panose="02020603050405020304" pitchFamily="18" charset="0"/>
              </a:rPr>
              <a:t>Red Hat Family – Rocky 10</a:t>
            </a:r>
          </a:p>
        </p:txBody>
      </p:sp>
    </p:spTree>
    <p:extLst>
      <p:ext uri="{BB962C8B-B14F-4D97-AF65-F5344CB8AC3E}">
        <p14:creationId xmlns:p14="http://schemas.microsoft.com/office/powerpoint/2010/main" val="17628061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B196C-AF42-4C90-12D4-CAD88B76DFCA}"/>
            </a:ext>
          </a:extLst>
        </p:cNvPr>
        <p:cNvGrpSpPr/>
        <p:nvPr/>
      </p:nvGrpSpPr>
      <p:grpSpPr>
        <a:xfrm>
          <a:off x="0" y="0"/>
          <a:ext cx="0" cy="0"/>
          <a:chOff x="0" y="0"/>
          <a:chExt cx="0" cy="0"/>
        </a:xfrm>
      </p:grpSpPr>
      <p:pic>
        <p:nvPicPr>
          <p:cNvPr id="17410" name="Picture 2" descr="Gnome 40 gnome-shell Theme Issue - Gnome - EndeavourOS">
            <a:extLst>
              <a:ext uri="{FF2B5EF4-FFF2-40B4-BE49-F238E27FC236}">
                <a16:creationId xmlns:a16="http://schemas.microsoft.com/office/drawing/2014/main" id="{250E43F3-4C5A-6FC0-1C64-A8556020EF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0C97B0-1ADF-730B-C4E1-E62C07C723C9}"/>
              </a:ext>
            </a:extLst>
          </p:cNvPr>
          <p:cNvSpPr txBox="1"/>
          <p:nvPr/>
        </p:nvSpPr>
        <p:spPr>
          <a:xfrm>
            <a:off x="2263775" y="268615"/>
            <a:ext cx="4616450" cy="523220"/>
          </a:xfrm>
          <a:prstGeom prst="rect">
            <a:avLst/>
          </a:prstGeom>
          <a:noFill/>
        </p:spPr>
        <p:txBody>
          <a:bodyPr wrap="square">
            <a:spAutoFit/>
          </a:bodyPr>
          <a:lstStyle/>
          <a:p>
            <a:pPr algn="ctr"/>
            <a:r>
              <a:rPr lang="en-US" b="1" i="0" dirty="0">
                <a:solidFill>
                  <a:srgbClr val="F2F2F2"/>
                </a:solidFill>
                <a:effectLst/>
                <a:latin typeface="Titillium Web" panose="00000500000000000000" pitchFamily="2" charset="0"/>
              </a:rPr>
              <a:t>GNOME</a:t>
            </a:r>
          </a:p>
          <a:p>
            <a:pPr algn="ctr"/>
            <a:r>
              <a:rPr lang="en-US" b="1" i="0" dirty="0">
                <a:solidFill>
                  <a:srgbClr val="F2F2F2"/>
                </a:solidFill>
                <a:effectLst/>
                <a:latin typeface="Titillium Web" panose="00000500000000000000" pitchFamily="2" charset="0"/>
              </a:rPr>
              <a:t>And a shout-out to Cinnamon</a:t>
            </a:r>
          </a:p>
        </p:txBody>
      </p:sp>
    </p:spTree>
    <p:extLst>
      <p:ext uri="{BB962C8B-B14F-4D97-AF65-F5344CB8AC3E}">
        <p14:creationId xmlns:p14="http://schemas.microsoft.com/office/powerpoint/2010/main" val="9999975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179C1-57EF-0B10-15B3-6EB756ED4F1F}"/>
            </a:ext>
          </a:extLst>
        </p:cNvPr>
        <p:cNvGrpSpPr/>
        <p:nvPr/>
      </p:nvGrpSpPr>
      <p:grpSpPr>
        <a:xfrm>
          <a:off x="0" y="0"/>
          <a:ext cx="0" cy="0"/>
          <a:chOff x="0" y="0"/>
          <a:chExt cx="0" cy="0"/>
        </a:xfrm>
      </p:grpSpPr>
      <p:pic>
        <p:nvPicPr>
          <p:cNvPr id="18434" name="Picture 2">
            <a:extLst>
              <a:ext uri="{FF2B5EF4-FFF2-40B4-BE49-F238E27FC236}">
                <a16:creationId xmlns:a16="http://schemas.microsoft.com/office/drawing/2014/main" id="{C84CD622-B0E5-6406-77C0-6581B774C5E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64"/>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4B8CAA1-8046-B94B-A50C-708476F470CF}"/>
              </a:ext>
            </a:extLst>
          </p:cNvPr>
          <p:cNvSpPr txBox="1"/>
          <p:nvPr/>
        </p:nvSpPr>
        <p:spPr>
          <a:xfrm>
            <a:off x="2320925" y="-63500"/>
            <a:ext cx="4616450" cy="523220"/>
          </a:xfrm>
          <a:prstGeom prst="rect">
            <a:avLst/>
          </a:prstGeom>
          <a:noFill/>
        </p:spPr>
        <p:txBody>
          <a:bodyPr wrap="square">
            <a:spAutoFit/>
          </a:bodyPr>
          <a:lstStyle/>
          <a:p>
            <a:pPr algn="ctr"/>
            <a:r>
              <a:rPr lang="en-US" b="1" i="0" dirty="0">
                <a:solidFill>
                  <a:schemeClr val="tx1">
                    <a:lumMod val="50000"/>
                  </a:schemeClr>
                </a:solidFill>
                <a:effectLst/>
                <a:latin typeface="Titillium Web" panose="00000500000000000000" pitchFamily="2" charset="0"/>
              </a:rPr>
              <a:t>KDE Plasma</a:t>
            </a:r>
          </a:p>
          <a:p>
            <a:pPr algn="ctr"/>
            <a:r>
              <a:rPr lang="en-US" b="1" i="0" dirty="0">
                <a:solidFill>
                  <a:schemeClr val="tx1">
                    <a:lumMod val="50000"/>
                  </a:schemeClr>
                </a:solidFill>
                <a:effectLst/>
                <a:latin typeface="Titillium Web" panose="00000500000000000000" pitchFamily="2" charset="0"/>
              </a:rPr>
              <a:t>Endless Customization</a:t>
            </a:r>
          </a:p>
        </p:txBody>
      </p:sp>
    </p:spTree>
    <p:extLst>
      <p:ext uri="{BB962C8B-B14F-4D97-AF65-F5344CB8AC3E}">
        <p14:creationId xmlns:p14="http://schemas.microsoft.com/office/powerpoint/2010/main" val="18898308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DDC91-3E19-AB33-DEAF-3AE966319E5A}"/>
            </a:ext>
          </a:extLst>
        </p:cNvPr>
        <p:cNvGrpSpPr/>
        <p:nvPr/>
      </p:nvGrpSpPr>
      <p:grpSpPr>
        <a:xfrm>
          <a:off x="0" y="0"/>
          <a:ext cx="0" cy="0"/>
          <a:chOff x="0" y="0"/>
          <a:chExt cx="0" cy="0"/>
        </a:xfrm>
      </p:grpSpPr>
      <p:pic>
        <p:nvPicPr>
          <p:cNvPr id="14338" name="Picture 2">
            <a:extLst>
              <a:ext uri="{FF2B5EF4-FFF2-40B4-BE49-F238E27FC236}">
                <a16:creationId xmlns:a16="http://schemas.microsoft.com/office/drawing/2014/main" id="{DE80295E-5896-9C92-FD5E-EE068462F3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FCD8B83-43D9-96CE-02DD-F5D78DBFC824}"/>
              </a:ext>
            </a:extLst>
          </p:cNvPr>
          <p:cNvSpPr txBox="1"/>
          <p:nvPr/>
        </p:nvSpPr>
        <p:spPr>
          <a:xfrm>
            <a:off x="2263775" y="0"/>
            <a:ext cx="4616450" cy="523220"/>
          </a:xfrm>
          <a:prstGeom prst="rect">
            <a:avLst/>
          </a:prstGeom>
          <a:noFill/>
        </p:spPr>
        <p:txBody>
          <a:bodyPr wrap="square">
            <a:spAutoFit/>
          </a:bodyPr>
          <a:lstStyle/>
          <a:p>
            <a:pPr algn="ctr"/>
            <a:r>
              <a:rPr lang="en-US" b="1" i="0" dirty="0" err="1">
                <a:solidFill>
                  <a:srgbClr val="F2F2F2"/>
                </a:solidFill>
                <a:effectLst/>
                <a:latin typeface="Titillium Web" panose="00000500000000000000" pitchFamily="2" charset="0"/>
              </a:rPr>
              <a:t>Xfce</a:t>
            </a:r>
            <a:r>
              <a:rPr lang="en-US" b="1" i="0" dirty="0">
                <a:solidFill>
                  <a:srgbClr val="F2F2F2"/>
                </a:solidFill>
                <a:effectLst/>
                <a:latin typeface="Titillium Web" panose="00000500000000000000" pitchFamily="2" charset="0"/>
              </a:rPr>
              <a:t>/Trinity Desktop</a:t>
            </a:r>
          </a:p>
          <a:p>
            <a:pPr algn="ctr"/>
            <a:r>
              <a:rPr lang="en-US" b="1" i="0" dirty="0">
                <a:solidFill>
                  <a:srgbClr val="F2F2F2"/>
                </a:solidFill>
                <a:effectLst/>
                <a:latin typeface="Titillium Web" panose="00000500000000000000" pitchFamily="2" charset="0"/>
              </a:rPr>
              <a:t>Ideal for reviving outdated machines</a:t>
            </a:r>
          </a:p>
        </p:txBody>
      </p:sp>
    </p:spTree>
    <p:extLst>
      <p:ext uri="{BB962C8B-B14F-4D97-AF65-F5344CB8AC3E}">
        <p14:creationId xmlns:p14="http://schemas.microsoft.com/office/powerpoint/2010/main" val="3751967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4">
            <a:extLst>
              <a:ext uri="{FF2B5EF4-FFF2-40B4-BE49-F238E27FC236}">
                <a16:creationId xmlns:a16="http://schemas.microsoft.com/office/drawing/2014/main" id="{CBC5E1B9-0B29-84AF-01BC-E62D258920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75" y="0"/>
            <a:ext cx="7715250" cy="51435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43C0532-A1DB-89E0-3C1E-76A519181C72}"/>
              </a:ext>
            </a:extLst>
          </p:cNvPr>
          <p:cNvSpPr txBox="1"/>
          <p:nvPr/>
        </p:nvSpPr>
        <p:spPr>
          <a:xfrm>
            <a:off x="1993900" y="163840"/>
            <a:ext cx="5156200" cy="523220"/>
          </a:xfrm>
          <a:prstGeom prst="rect">
            <a:avLst/>
          </a:prstGeom>
          <a:noFill/>
        </p:spPr>
        <p:txBody>
          <a:bodyPr wrap="square">
            <a:spAutoFit/>
          </a:bodyPr>
          <a:lstStyle/>
          <a:p>
            <a:pPr algn="ctr"/>
            <a:r>
              <a:rPr lang="en-US" b="1" i="0" dirty="0">
                <a:solidFill>
                  <a:srgbClr val="F2F2F2"/>
                </a:solidFill>
                <a:effectLst/>
                <a:latin typeface="Titillium Web" panose="020F0502020204030204" pitchFamily="2" charset="0"/>
              </a:rPr>
              <a:t>Pantheon</a:t>
            </a:r>
          </a:p>
          <a:p>
            <a:pPr algn="ctr"/>
            <a:r>
              <a:rPr lang="en-US" b="1" i="0" dirty="0">
                <a:solidFill>
                  <a:srgbClr val="F2F2F2"/>
                </a:solidFill>
                <a:effectLst/>
                <a:latin typeface="Titillium Web" panose="020F0502020204030204" pitchFamily="2" charset="0"/>
              </a:rPr>
              <a:t>A gorgeous DE for macOS lovers</a:t>
            </a:r>
          </a:p>
        </p:txBody>
      </p:sp>
    </p:spTree>
    <p:extLst>
      <p:ext uri="{BB962C8B-B14F-4D97-AF65-F5344CB8AC3E}">
        <p14:creationId xmlns:p14="http://schemas.microsoft.com/office/powerpoint/2010/main" val="40509319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3C3DB-965F-9FAA-C299-67FCB13C2F20}"/>
            </a:ext>
          </a:extLst>
        </p:cNvPr>
        <p:cNvGrpSpPr/>
        <p:nvPr/>
      </p:nvGrpSpPr>
      <p:grpSpPr>
        <a:xfrm>
          <a:off x="0" y="0"/>
          <a:ext cx="0" cy="0"/>
          <a:chOff x="0" y="0"/>
          <a:chExt cx="0" cy="0"/>
        </a:xfrm>
      </p:grpSpPr>
      <p:pic>
        <p:nvPicPr>
          <p:cNvPr id="16386" name="Picture 2">
            <a:extLst>
              <a:ext uri="{FF2B5EF4-FFF2-40B4-BE49-F238E27FC236}">
                <a16:creationId xmlns:a16="http://schemas.microsoft.com/office/drawing/2014/main" id="{C4B2AC46-C734-21DD-9B7C-570132C699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E21ECB4-890F-DE2A-679C-E5563888215F}"/>
              </a:ext>
            </a:extLst>
          </p:cNvPr>
          <p:cNvSpPr txBox="1"/>
          <p:nvPr/>
        </p:nvSpPr>
        <p:spPr>
          <a:xfrm>
            <a:off x="2263775" y="71765"/>
            <a:ext cx="4616450" cy="523220"/>
          </a:xfrm>
          <a:prstGeom prst="rect">
            <a:avLst/>
          </a:prstGeom>
          <a:noFill/>
        </p:spPr>
        <p:txBody>
          <a:bodyPr wrap="square">
            <a:spAutoFit/>
          </a:bodyPr>
          <a:lstStyle/>
          <a:p>
            <a:pPr algn="ctr"/>
            <a:r>
              <a:rPr lang="en-US" b="1" i="0" dirty="0" err="1">
                <a:solidFill>
                  <a:srgbClr val="F2F2F2"/>
                </a:solidFill>
                <a:effectLst/>
                <a:latin typeface="Titillium Web" panose="00000500000000000000" pitchFamily="2" charset="0"/>
              </a:rPr>
              <a:t>LXQt</a:t>
            </a:r>
            <a:endParaRPr lang="en-US" b="1" i="0" dirty="0">
              <a:solidFill>
                <a:srgbClr val="F2F2F2"/>
              </a:solidFill>
              <a:effectLst/>
              <a:latin typeface="Titillium Web" panose="00000500000000000000" pitchFamily="2" charset="0"/>
            </a:endParaRPr>
          </a:p>
          <a:p>
            <a:pPr algn="ctr"/>
            <a:r>
              <a:rPr lang="en-US" b="1" i="0" dirty="0">
                <a:solidFill>
                  <a:srgbClr val="F2F2F2"/>
                </a:solidFill>
                <a:effectLst/>
                <a:latin typeface="Titillium Web" panose="00000500000000000000" pitchFamily="2" charset="0"/>
              </a:rPr>
              <a:t>Ultra-lightweight with a decent UI</a:t>
            </a:r>
          </a:p>
        </p:txBody>
      </p:sp>
    </p:spTree>
    <p:extLst>
      <p:ext uri="{BB962C8B-B14F-4D97-AF65-F5344CB8AC3E}">
        <p14:creationId xmlns:p14="http://schemas.microsoft.com/office/powerpoint/2010/main" val="1389206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523FF-C582-AE9C-BABF-65EFAA8B673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35296F0-8195-D8F8-4D04-3829A73F87A6}"/>
              </a:ext>
            </a:extLst>
          </p:cNvPr>
          <p:cNvPicPr>
            <a:picLocks noChangeAspect="1"/>
          </p:cNvPicPr>
          <p:nvPr/>
        </p:nvPicPr>
        <p:blipFill>
          <a:blip r:embed="rId2"/>
          <a:stretch>
            <a:fillRect/>
          </a:stretch>
        </p:blipFill>
        <p:spPr>
          <a:xfrm>
            <a:off x="2010010" y="0"/>
            <a:ext cx="5123980" cy="5143500"/>
          </a:xfrm>
          <a:prstGeom prst="rect">
            <a:avLst/>
          </a:prstGeom>
        </p:spPr>
      </p:pic>
    </p:spTree>
    <p:extLst>
      <p:ext uri="{BB962C8B-B14F-4D97-AF65-F5344CB8AC3E}">
        <p14:creationId xmlns:p14="http://schemas.microsoft.com/office/powerpoint/2010/main" val="967627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1CB53-19F2-5053-BFD2-7E9BC4A369E5}"/>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36C1E18-B62A-BFE7-6785-604E119AF986}"/>
              </a:ext>
            </a:extLst>
          </p:cNvPr>
          <p:cNvGraphicFramePr>
            <a:graphicFrameLocks noGrp="1"/>
          </p:cNvGraphicFramePr>
          <p:nvPr>
            <p:extLst>
              <p:ext uri="{D42A27DB-BD31-4B8C-83A1-F6EECF244321}">
                <p14:modId xmlns:p14="http://schemas.microsoft.com/office/powerpoint/2010/main" val="1067074742"/>
              </p:ext>
            </p:extLst>
          </p:nvPr>
        </p:nvGraphicFramePr>
        <p:xfrm>
          <a:off x="712788" y="912932"/>
          <a:ext cx="7718424" cy="3931920"/>
        </p:xfrm>
        <a:graphic>
          <a:graphicData uri="http://schemas.openxmlformats.org/drawingml/2006/table">
            <a:tbl>
              <a:tblPr>
                <a:tableStyleId>{E8B1032C-EA38-4F05-BA0D-38AFFFC7BED3}</a:tableStyleId>
              </a:tblPr>
              <a:tblGrid>
                <a:gridCol w="1102632">
                  <a:extLst>
                    <a:ext uri="{9D8B030D-6E8A-4147-A177-3AD203B41FA5}">
                      <a16:colId xmlns:a16="http://schemas.microsoft.com/office/drawing/2014/main" val="4104453262"/>
                    </a:ext>
                  </a:extLst>
                </a:gridCol>
                <a:gridCol w="1102632">
                  <a:extLst>
                    <a:ext uri="{9D8B030D-6E8A-4147-A177-3AD203B41FA5}">
                      <a16:colId xmlns:a16="http://schemas.microsoft.com/office/drawing/2014/main" val="623810818"/>
                    </a:ext>
                  </a:extLst>
                </a:gridCol>
                <a:gridCol w="1102632">
                  <a:extLst>
                    <a:ext uri="{9D8B030D-6E8A-4147-A177-3AD203B41FA5}">
                      <a16:colId xmlns:a16="http://schemas.microsoft.com/office/drawing/2014/main" val="3223401356"/>
                    </a:ext>
                  </a:extLst>
                </a:gridCol>
                <a:gridCol w="1102632">
                  <a:extLst>
                    <a:ext uri="{9D8B030D-6E8A-4147-A177-3AD203B41FA5}">
                      <a16:colId xmlns:a16="http://schemas.microsoft.com/office/drawing/2014/main" val="864374257"/>
                    </a:ext>
                  </a:extLst>
                </a:gridCol>
                <a:gridCol w="1102632">
                  <a:extLst>
                    <a:ext uri="{9D8B030D-6E8A-4147-A177-3AD203B41FA5}">
                      <a16:colId xmlns:a16="http://schemas.microsoft.com/office/drawing/2014/main" val="1354135535"/>
                    </a:ext>
                  </a:extLst>
                </a:gridCol>
                <a:gridCol w="1102632">
                  <a:extLst>
                    <a:ext uri="{9D8B030D-6E8A-4147-A177-3AD203B41FA5}">
                      <a16:colId xmlns:a16="http://schemas.microsoft.com/office/drawing/2014/main" val="3460656094"/>
                    </a:ext>
                  </a:extLst>
                </a:gridCol>
                <a:gridCol w="1102632">
                  <a:extLst>
                    <a:ext uri="{9D8B030D-6E8A-4147-A177-3AD203B41FA5}">
                      <a16:colId xmlns:a16="http://schemas.microsoft.com/office/drawing/2014/main" val="2201176565"/>
                    </a:ext>
                  </a:extLst>
                </a:gridCol>
              </a:tblGrid>
              <a:tr h="0">
                <a:tc>
                  <a:txBody>
                    <a:bodyPr/>
                    <a:lstStyle/>
                    <a:p>
                      <a:r>
                        <a:rPr lang="en-US" sz="1600" b="1" dirty="0"/>
                        <a:t>Distro</a:t>
                      </a:r>
                    </a:p>
                  </a:txBody>
                  <a:tcPr anchor="ctr"/>
                </a:tc>
                <a:tc>
                  <a:txBody>
                    <a:bodyPr/>
                    <a:lstStyle/>
                    <a:p>
                      <a:r>
                        <a:rPr lang="en-US" sz="1600" b="1"/>
                        <a:t>ext4</a:t>
                      </a:r>
                    </a:p>
                  </a:txBody>
                  <a:tcPr anchor="ctr"/>
                </a:tc>
                <a:tc>
                  <a:txBody>
                    <a:bodyPr/>
                    <a:lstStyle/>
                    <a:p>
                      <a:r>
                        <a:rPr lang="en-US" sz="1600" b="1" dirty="0"/>
                        <a:t>XFS</a:t>
                      </a:r>
                    </a:p>
                  </a:txBody>
                  <a:tcPr anchor="ctr"/>
                </a:tc>
                <a:tc>
                  <a:txBody>
                    <a:bodyPr/>
                    <a:lstStyle/>
                    <a:p>
                      <a:r>
                        <a:rPr lang="en-US" sz="1600" b="1"/>
                        <a:t>Btrfs</a:t>
                      </a:r>
                    </a:p>
                  </a:txBody>
                  <a:tcPr anchor="ctr"/>
                </a:tc>
                <a:tc>
                  <a:txBody>
                    <a:bodyPr/>
                    <a:lstStyle/>
                    <a:p>
                      <a:r>
                        <a:rPr lang="en-US" sz="1600" b="1"/>
                        <a:t>LVM</a:t>
                      </a:r>
                    </a:p>
                  </a:txBody>
                  <a:tcPr anchor="ctr"/>
                </a:tc>
                <a:tc>
                  <a:txBody>
                    <a:bodyPr/>
                    <a:lstStyle/>
                    <a:p>
                      <a:r>
                        <a:rPr lang="en-US" sz="1600" b="1" dirty="0"/>
                        <a:t>ZFS</a:t>
                      </a:r>
                    </a:p>
                  </a:txBody>
                  <a:tcPr anchor="ctr"/>
                </a:tc>
                <a:tc>
                  <a:txBody>
                    <a:bodyPr/>
                    <a:lstStyle/>
                    <a:p>
                      <a:r>
                        <a:rPr lang="en-US" sz="1600" b="1" dirty="0"/>
                        <a:t>F2FS</a:t>
                      </a:r>
                    </a:p>
                  </a:txBody>
                  <a:tcPr anchor="ctr"/>
                </a:tc>
                <a:extLst>
                  <a:ext uri="{0D108BD9-81ED-4DB2-BD59-A6C34878D82A}">
                    <a16:rowId xmlns:a16="http://schemas.microsoft.com/office/drawing/2014/main" val="839945432"/>
                  </a:ext>
                </a:extLst>
              </a:tr>
              <a:tr h="0">
                <a:tc>
                  <a:txBody>
                    <a:bodyPr/>
                    <a:lstStyle/>
                    <a:p>
                      <a:r>
                        <a:rPr lang="en-US" sz="1600" b="1"/>
                        <a:t>Ubuntu</a:t>
                      </a:r>
                      <a:endParaRPr lang="en-US" sz="1600"/>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extLst>
                  <a:ext uri="{0D108BD9-81ED-4DB2-BD59-A6C34878D82A}">
                    <a16:rowId xmlns:a16="http://schemas.microsoft.com/office/drawing/2014/main" val="343349540"/>
                  </a:ext>
                </a:extLst>
              </a:tr>
              <a:tr h="0">
                <a:tc>
                  <a:txBody>
                    <a:bodyPr/>
                    <a:lstStyle/>
                    <a:p>
                      <a:r>
                        <a:rPr lang="en-US" sz="1600" b="1"/>
                        <a:t>Debian</a:t>
                      </a:r>
                      <a:endParaRPr lang="en-US" sz="1600"/>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extLst>
                  <a:ext uri="{0D108BD9-81ED-4DB2-BD59-A6C34878D82A}">
                    <a16:rowId xmlns:a16="http://schemas.microsoft.com/office/drawing/2014/main" val="1427596223"/>
                  </a:ext>
                </a:extLst>
              </a:tr>
              <a:tr h="0">
                <a:tc>
                  <a:txBody>
                    <a:bodyPr/>
                    <a:lstStyle/>
                    <a:p>
                      <a:r>
                        <a:rPr lang="en-US" sz="1600" b="1"/>
                        <a:t>RHEL</a:t>
                      </a:r>
                      <a:endParaRPr lang="en-US" sz="1600"/>
                    </a:p>
                  </a:txBody>
                  <a:tcPr anchor="ctr"/>
                </a:tc>
                <a:tc>
                  <a:txBody>
                    <a:bodyPr/>
                    <a:lstStyle/>
                    <a:p>
                      <a:r>
                        <a:rPr lang="en-US"/>
                        <a:t>🟡</a:t>
                      </a:r>
                    </a:p>
                  </a:txBody>
                  <a:tcPr anchor="ctr"/>
                </a:tc>
                <a:tc>
                  <a:txBody>
                    <a:bodyPr/>
                    <a:lstStyle/>
                    <a:p>
                      <a:r>
                        <a:rPr lang="en-US"/>
                        <a:t>✔ (default)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extLst>
                  <a:ext uri="{0D108BD9-81ED-4DB2-BD59-A6C34878D82A}">
                    <a16:rowId xmlns:a16="http://schemas.microsoft.com/office/drawing/2014/main" val="3913196200"/>
                  </a:ext>
                </a:extLst>
              </a:tr>
              <a:tr h="0">
                <a:tc>
                  <a:txBody>
                    <a:bodyPr/>
                    <a:lstStyle/>
                    <a:p>
                      <a:r>
                        <a:rPr lang="en-US" sz="1600" b="1"/>
                        <a:t>Fedora</a:t>
                      </a:r>
                      <a:endParaRPr lang="en-US" sz="1600"/>
                    </a:p>
                  </a:txBody>
                  <a:tcPr anchor="ctr"/>
                </a:tc>
                <a:tc>
                  <a:txBody>
                    <a:bodyPr/>
                    <a:lstStyle/>
                    <a:p>
                      <a:r>
                        <a:rPr lang="en-US"/>
                        <a:t>✔</a:t>
                      </a:r>
                    </a:p>
                  </a:txBody>
                  <a:tcPr anchor="ctr"/>
                </a:tc>
                <a:tc>
                  <a:txBody>
                    <a:bodyPr/>
                    <a:lstStyle/>
                    <a:p>
                      <a:r>
                        <a:rPr lang="en-US"/>
                        <a:t>✔</a:t>
                      </a:r>
                    </a:p>
                  </a:txBody>
                  <a:tcPr anchor="ctr"/>
                </a:tc>
                <a:tc>
                  <a:txBody>
                    <a:bodyPr/>
                    <a:lstStyle/>
                    <a:p>
                      <a:r>
                        <a:rPr lang="en-US"/>
                        <a:t>✔ (default)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extLst>
                  <a:ext uri="{0D108BD9-81ED-4DB2-BD59-A6C34878D82A}">
                    <a16:rowId xmlns:a16="http://schemas.microsoft.com/office/drawing/2014/main" val="1940832782"/>
                  </a:ext>
                </a:extLst>
              </a:tr>
              <a:tr h="0">
                <a:tc>
                  <a:txBody>
                    <a:bodyPr/>
                    <a:lstStyle/>
                    <a:p>
                      <a:r>
                        <a:rPr lang="en-US" sz="1600" b="1"/>
                        <a:t>openSUSE</a:t>
                      </a:r>
                      <a:endParaRPr lang="en-US" sz="1600"/>
                    </a:p>
                  </a:txBody>
                  <a:tcPr anchor="ctr"/>
                </a:tc>
                <a:tc>
                  <a:txBody>
                    <a:bodyPr/>
                    <a:lstStyle/>
                    <a:p>
                      <a:r>
                        <a:rPr lang="en-US"/>
                        <a:t>✔</a:t>
                      </a:r>
                    </a:p>
                  </a:txBody>
                  <a:tcPr anchor="ctr"/>
                </a:tc>
                <a:tc>
                  <a:txBody>
                    <a:bodyPr/>
                    <a:lstStyle/>
                    <a:p>
                      <a:r>
                        <a:rPr lang="en-US"/>
                        <a:t>✔ (home)</a:t>
                      </a:r>
                    </a:p>
                  </a:txBody>
                  <a:tcPr anchor="ctr"/>
                </a:tc>
                <a:tc>
                  <a:txBody>
                    <a:bodyPr/>
                    <a:lstStyle/>
                    <a:p>
                      <a:r>
                        <a:rPr lang="en-US"/>
                        <a:t>✔ (default)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extLst>
                  <a:ext uri="{0D108BD9-81ED-4DB2-BD59-A6C34878D82A}">
                    <a16:rowId xmlns:a16="http://schemas.microsoft.com/office/drawing/2014/main" val="3950302543"/>
                  </a:ext>
                </a:extLst>
              </a:tr>
              <a:tr h="0">
                <a:tc>
                  <a:txBody>
                    <a:bodyPr/>
                    <a:lstStyle/>
                    <a:p>
                      <a:r>
                        <a:rPr lang="en-US" sz="1600" b="1"/>
                        <a:t>Arch</a:t>
                      </a:r>
                      <a:endParaRPr lang="en-US" sz="1600"/>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extLst>
                  <a:ext uri="{0D108BD9-81ED-4DB2-BD59-A6C34878D82A}">
                    <a16:rowId xmlns:a16="http://schemas.microsoft.com/office/drawing/2014/main" val="3938849670"/>
                  </a:ext>
                </a:extLst>
              </a:tr>
              <a:tr h="0">
                <a:tc>
                  <a:txBody>
                    <a:bodyPr/>
                    <a:lstStyle/>
                    <a:p>
                      <a:r>
                        <a:rPr lang="en-US" sz="1600" b="1"/>
                        <a:t>Manjaro</a:t>
                      </a:r>
                      <a:endParaRPr lang="en-US" sz="1600"/>
                    </a:p>
                  </a:txBody>
                  <a:tcPr anchor="ctr"/>
                </a:tc>
                <a:tc>
                  <a:txBody>
                    <a:bodyPr/>
                    <a:lstStyle/>
                    <a:p>
                      <a:r>
                        <a:rPr lang="en-US"/>
                        <a:t>✔ (default)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extLst>
                  <a:ext uri="{0D108BD9-81ED-4DB2-BD59-A6C34878D82A}">
                    <a16:rowId xmlns:a16="http://schemas.microsoft.com/office/drawing/2014/main" val="3487581202"/>
                  </a:ext>
                </a:extLst>
              </a:tr>
              <a:tr h="0">
                <a:tc>
                  <a:txBody>
                    <a:bodyPr/>
                    <a:lstStyle/>
                    <a:p>
                      <a:r>
                        <a:rPr lang="en-US" sz="1600" b="1"/>
                        <a:t>Gentoo</a:t>
                      </a:r>
                      <a:endParaRPr lang="en-US" sz="1600"/>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extLst>
                  <a:ext uri="{0D108BD9-81ED-4DB2-BD59-A6C34878D82A}">
                    <a16:rowId xmlns:a16="http://schemas.microsoft.com/office/drawing/2014/main" val="746788103"/>
                  </a:ext>
                </a:extLst>
              </a:tr>
              <a:tr h="0">
                <a:tc>
                  <a:txBody>
                    <a:bodyPr/>
                    <a:lstStyle/>
                    <a:p>
                      <a:r>
                        <a:rPr lang="en-US" sz="1600" b="1"/>
                        <a:t>Mint</a:t>
                      </a:r>
                      <a:endParaRPr lang="en-US" sz="1600"/>
                    </a:p>
                  </a:txBody>
                  <a:tcPr anchor="ctr"/>
                </a:tc>
                <a:tc>
                  <a:txBody>
                    <a:bodyPr/>
                    <a:lstStyle/>
                    <a:p>
                      <a:r>
                        <a:rPr lang="en-US"/>
                        <a:t>✔ (default)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extLst>
                  <a:ext uri="{0D108BD9-81ED-4DB2-BD59-A6C34878D82A}">
                    <a16:rowId xmlns:a16="http://schemas.microsoft.com/office/drawing/2014/main" val="1815549115"/>
                  </a:ext>
                </a:extLst>
              </a:tr>
              <a:tr h="0">
                <a:tc>
                  <a:txBody>
                    <a:bodyPr/>
                    <a:lstStyle/>
                    <a:p>
                      <a:r>
                        <a:rPr lang="en-US" sz="1600" b="1" dirty="0"/>
                        <a:t>Kali</a:t>
                      </a:r>
                      <a:endParaRPr lang="en-US" sz="1600" dirty="0"/>
                    </a:p>
                  </a:txBody>
                  <a:tcPr anchor="ctr"/>
                </a:tc>
                <a:tc>
                  <a:txBody>
                    <a:bodyPr/>
                    <a:lstStyle/>
                    <a:p>
                      <a:r>
                        <a:rPr lang="en-US"/>
                        <a:t>✔</a:t>
                      </a:r>
                    </a:p>
                  </a:txBody>
                  <a:tcPr anchor="ctr"/>
                </a:tc>
                <a:tc>
                  <a:txBody>
                    <a:bodyPr/>
                    <a:lstStyle/>
                    <a:p>
                      <a:r>
                        <a:rPr lang="en-US"/>
                        <a:t>✔</a:t>
                      </a:r>
                    </a:p>
                  </a:txBody>
                  <a:tcPr anchor="ctr"/>
                </a:tc>
                <a:tc>
                  <a:txBody>
                    <a:bodyPr/>
                    <a:lstStyle/>
                    <a:p>
                      <a:r>
                        <a:rPr lang="en-US"/>
                        <a:t>🟡</a:t>
                      </a:r>
                    </a:p>
                  </a:txBody>
                  <a:tcPr anchor="ctr"/>
                </a:tc>
                <a:tc>
                  <a:txBody>
                    <a:bodyPr/>
                    <a:lstStyle/>
                    <a:p>
                      <a:r>
                        <a:rPr lang="en-US" dirty="0"/>
                        <a:t>✔</a:t>
                      </a:r>
                    </a:p>
                  </a:txBody>
                  <a:tcPr anchor="ctr"/>
                </a:tc>
                <a:tc>
                  <a:txBody>
                    <a:bodyPr/>
                    <a:lstStyle/>
                    <a:p>
                      <a:r>
                        <a:rPr lang="en-US"/>
                        <a:t>🟡</a:t>
                      </a:r>
                    </a:p>
                  </a:txBody>
                  <a:tcPr anchor="ctr"/>
                </a:tc>
                <a:tc>
                  <a:txBody>
                    <a:bodyPr/>
                    <a:lstStyle/>
                    <a:p>
                      <a:r>
                        <a:rPr lang="en-US" dirty="0"/>
                        <a:t>🟡</a:t>
                      </a:r>
                    </a:p>
                  </a:txBody>
                  <a:tcPr anchor="ctr"/>
                </a:tc>
                <a:extLst>
                  <a:ext uri="{0D108BD9-81ED-4DB2-BD59-A6C34878D82A}">
                    <a16:rowId xmlns:a16="http://schemas.microsoft.com/office/drawing/2014/main" val="2924136223"/>
                  </a:ext>
                </a:extLst>
              </a:tr>
            </a:tbl>
          </a:graphicData>
        </a:graphic>
      </p:graphicFrame>
      <p:sp>
        <p:nvSpPr>
          <p:cNvPr id="3" name="TextBox 2">
            <a:extLst>
              <a:ext uri="{FF2B5EF4-FFF2-40B4-BE49-F238E27FC236}">
                <a16:creationId xmlns:a16="http://schemas.microsoft.com/office/drawing/2014/main" id="{A845E50F-F74A-E247-506F-650582D55247}"/>
              </a:ext>
            </a:extLst>
          </p:cNvPr>
          <p:cNvSpPr txBox="1"/>
          <p:nvPr/>
        </p:nvSpPr>
        <p:spPr>
          <a:xfrm>
            <a:off x="3101975" y="298648"/>
            <a:ext cx="2940050" cy="307777"/>
          </a:xfrm>
          <a:prstGeom prst="rect">
            <a:avLst/>
          </a:prstGeom>
          <a:noFill/>
        </p:spPr>
        <p:txBody>
          <a:bodyPr wrap="square">
            <a:spAutoFit/>
          </a:bodyPr>
          <a:lstStyle/>
          <a:p>
            <a:pPr algn="l"/>
            <a:r>
              <a:rPr lang="en-US" b="1" i="0" dirty="0">
                <a:solidFill>
                  <a:srgbClr val="181617"/>
                </a:solidFill>
                <a:effectLst/>
                <a:latin typeface="Montserrat" panose="00000500000000000000" pitchFamily="2" charset="0"/>
              </a:rPr>
              <a:t>Supported File System Types</a:t>
            </a:r>
          </a:p>
        </p:txBody>
      </p:sp>
      <p:sp>
        <p:nvSpPr>
          <p:cNvPr id="5" name="TextBox 4">
            <a:extLst>
              <a:ext uri="{FF2B5EF4-FFF2-40B4-BE49-F238E27FC236}">
                <a16:creationId xmlns:a16="http://schemas.microsoft.com/office/drawing/2014/main" id="{36565C19-CDD5-0F6A-92D7-C8C6FD726418}"/>
              </a:ext>
            </a:extLst>
          </p:cNvPr>
          <p:cNvSpPr txBox="1"/>
          <p:nvPr/>
        </p:nvSpPr>
        <p:spPr>
          <a:xfrm>
            <a:off x="6505575" y="67815"/>
            <a:ext cx="2638425" cy="769441"/>
          </a:xfrm>
          <a:prstGeom prst="rect">
            <a:avLst/>
          </a:prstGeom>
          <a:noFill/>
        </p:spPr>
        <p:txBody>
          <a:bodyPr wrap="square">
            <a:spAutoFit/>
          </a:bodyPr>
          <a:lstStyle/>
          <a:p>
            <a:r>
              <a:rPr lang="en-US" sz="1100" dirty="0"/>
              <a:t>✔ Fully supported</a:t>
            </a:r>
            <a:br>
              <a:rPr lang="en-US" sz="1100" dirty="0"/>
            </a:br>
            <a:r>
              <a:rPr lang="en-US" sz="1100" dirty="0"/>
              <a:t>🟡 Partially/optionally supported</a:t>
            </a:r>
            <a:br>
              <a:rPr lang="en-US" sz="1100" dirty="0"/>
            </a:br>
            <a:r>
              <a:rPr lang="en-US" sz="1100" dirty="0"/>
              <a:t>⚠️ Experimental/community-supported</a:t>
            </a:r>
            <a:br>
              <a:rPr lang="en-US" sz="1100" dirty="0"/>
            </a:br>
            <a:r>
              <a:rPr lang="en-US" sz="1100" dirty="0"/>
              <a:t>❌ Not supported</a:t>
            </a:r>
          </a:p>
        </p:txBody>
      </p:sp>
    </p:spTree>
    <p:extLst>
      <p:ext uri="{BB962C8B-B14F-4D97-AF65-F5344CB8AC3E}">
        <p14:creationId xmlns:p14="http://schemas.microsoft.com/office/powerpoint/2010/main" val="9046811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D266967-31F9-23F7-9FFF-9322411B9DC3}"/>
              </a:ext>
            </a:extLst>
          </p:cNvPr>
          <p:cNvSpPr txBox="1"/>
          <p:nvPr/>
        </p:nvSpPr>
        <p:spPr>
          <a:xfrm>
            <a:off x="241609" y="1140589"/>
            <a:ext cx="8660780" cy="34778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Windows</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Usually requires at least two partitions: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 (for OS and applications)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Reserved or EFI System Partition (for boot files)</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Linux</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Typically, has at least three partitions: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(root, where the OS is installed)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/home (stores user files, optional but useful)</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Partitioning Options During Installation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Partitioning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OS installer sets up the partitions for you.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Manual</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Partitioning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You create and manage partitions yourself.</a:t>
            </a:r>
          </a:p>
        </p:txBody>
      </p:sp>
      <p:sp>
        <p:nvSpPr>
          <p:cNvPr id="6" name="TextBox 5">
            <a:extLst>
              <a:ext uri="{FF2B5EF4-FFF2-40B4-BE49-F238E27FC236}">
                <a16:creationId xmlns:a16="http://schemas.microsoft.com/office/drawing/2014/main" id="{652BC8ED-CADA-0517-8F97-FE493B764B4A}"/>
              </a:ext>
            </a:extLst>
          </p:cNvPr>
          <p:cNvSpPr txBox="1"/>
          <p:nvPr/>
        </p:nvSpPr>
        <p:spPr>
          <a:xfrm>
            <a:off x="717394" y="217259"/>
            <a:ext cx="7709210"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 Partitioning Setup for Windows/Linux</a:t>
            </a:r>
          </a:p>
        </p:txBody>
      </p:sp>
    </p:spTree>
    <p:extLst>
      <p:ext uri="{BB962C8B-B14F-4D97-AF65-F5344CB8AC3E}">
        <p14:creationId xmlns:p14="http://schemas.microsoft.com/office/powerpoint/2010/main" val="1879267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fade">
                                      <p:cBhvr>
                                        <p:cTn id="18" dur="500"/>
                                        <p:tgtEl>
                                          <p:spTgt spid="4">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500"/>
                                        <p:tgtEl>
                                          <p:spTgt spid="4">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animEffect transition="in" filter="fade">
                                      <p:cBhvr>
                                        <p:cTn id="24" dur="500"/>
                                        <p:tgtEl>
                                          <p:spTgt spid="4">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animEffect transition="in" filter="fade">
                                      <p:cBhvr>
                                        <p:cTn id="29" dur="500"/>
                                        <p:tgtEl>
                                          <p:spTgt spid="4">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
                                            <p:txEl>
                                              <p:pRg st="9" end="9"/>
                                            </p:txEl>
                                          </p:spTgt>
                                        </p:tgtEl>
                                        <p:attrNameLst>
                                          <p:attrName>style.visibility</p:attrName>
                                        </p:attrNameLst>
                                      </p:cBhvr>
                                      <p:to>
                                        <p:strVal val="visible"/>
                                      </p:to>
                                    </p:set>
                                    <p:animEffect transition="in" filter="fade">
                                      <p:cBhvr>
                                        <p:cTn id="32" dur="500"/>
                                        <p:tgtEl>
                                          <p:spTgt spid="4">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animEffect transition="in" filter="fade">
                                      <p:cBhvr>
                                        <p:cTn id="35"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13;p29">
            <a:extLst>
              <a:ext uri="{FF2B5EF4-FFF2-40B4-BE49-F238E27FC236}">
                <a16:creationId xmlns:a16="http://schemas.microsoft.com/office/drawing/2014/main" id="{ABD9F1D9-D831-7E96-CA46-E76D1279ADDA}"/>
              </a:ext>
            </a:extLst>
          </p:cNvPr>
          <p:cNvSpPr/>
          <p:nvPr/>
        </p:nvSpPr>
        <p:spPr>
          <a:xfrm rot="4500170">
            <a:off x="-517687" y="2032470"/>
            <a:ext cx="5732085" cy="5096651"/>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chemeClr val="accent6">
              <a:lumMod val="50000"/>
              <a:alpha val="100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TextBox 5">
            <a:extLst>
              <a:ext uri="{FF2B5EF4-FFF2-40B4-BE49-F238E27FC236}">
                <a16:creationId xmlns:a16="http://schemas.microsoft.com/office/drawing/2014/main" id="{8C1CD299-9263-505F-A9FE-B04BCF0BE157}"/>
              </a:ext>
            </a:extLst>
          </p:cNvPr>
          <p:cNvSpPr txBox="1"/>
          <p:nvPr/>
        </p:nvSpPr>
        <p:spPr>
          <a:xfrm>
            <a:off x="1767840" y="196632"/>
            <a:ext cx="5288751" cy="553998"/>
          </a:xfrm>
          <a:prstGeom prst="rect">
            <a:avLst/>
          </a:prstGeom>
          <a:noFill/>
        </p:spPr>
        <p:txBody>
          <a:bodyPr wrap="square">
            <a:spAutoFit/>
          </a:bodyPr>
          <a:lstStyle/>
          <a:p>
            <a:pPr algn="ct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HARD DISK DRIVE[HDD]</a:t>
            </a:r>
            <a:endParaRPr lang="en-IN" sz="3000" dirty="0"/>
          </a:p>
        </p:txBody>
      </p:sp>
      <p:sp>
        <p:nvSpPr>
          <p:cNvPr id="2" name="Flowchart: Process 1">
            <a:extLst>
              <a:ext uri="{FF2B5EF4-FFF2-40B4-BE49-F238E27FC236}">
                <a16:creationId xmlns:a16="http://schemas.microsoft.com/office/drawing/2014/main" id="{48E57404-C340-096B-87BD-F5AF69717C88}"/>
              </a:ext>
            </a:extLst>
          </p:cNvPr>
          <p:cNvSpPr/>
          <p:nvPr/>
        </p:nvSpPr>
        <p:spPr>
          <a:xfrm>
            <a:off x="1420095" y="1432560"/>
            <a:ext cx="5984240" cy="2987040"/>
          </a:xfrm>
          <a:prstGeom prst="flowChartProcess">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2CDE97F9-CCA0-0F47-7712-2471C65E9E85}"/>
              </a:ext>
            </a:extLst>
          </p:cNvPr>
          <p:cNvSpPr/>
          <p:nvPr/>
        </p:nvSpPr>
        <p:spPr>
          <a:xfrm>
            <a:off x="2042160" y="1910080"/>
            <a:ext cx="2346960" cy="130683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5" name="Flowchart: Process 4">
            <a:extLst>
              <a:ext uri="{FF2B5EF4-FFF2-40B4-BE49-F238E27FC236}">
                <a16:creationId xmlns:a16="http://schemas.microsoft.com/office/drawing/2014/main" id="{436E476D-8B86-D975-8BE6-46FFE8F70F48}"/>
              </a:ext>
            </a:extLst>
          </p:cNvPr>
          <p:cNvSpPr/>
          <p:nvPr/>
        </p:nvSpPr>
        <p:spPr>
          <a:xfrm>
            <a:off x="4412215" y="1910080"/>
            <a:ext cx="2346960" cy="1315085"/>
          </a:xfrm>
          <a:prstGeom prst="flowChart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8" name="TextBox 7">
            <a:extLst>
              <a:ext uri="{FF2B5EF4-FFF2-40B4-BE49-F238E27FC236}">
                <a16:creationId xmlns:a16="http://schemas.microsoft.com/office/drawing/2014/main" id="{B76D19DE-50EE-20E5-AC46-9E8BAA6D3742}"/>
              </a:ext>
            </a:extLst>
          </p:cNvPr>
          <p:cNvSpPr txBox="1"/>
          <p:nvPr/>
        </p:nvSpPr>
        <p:spPr>
          <a:xfrm>
            <a:off x="4102335" y="1441107"/>
            <a:ext cx="619760" cy="311368"/>
          </a:xfrm>
          <a:prstGeom prst="rect">
            <a:avLst/>
          </a:prstGeom>
          <a:noFill/>
        </p:spPr>
        <p:txBody>
          <a:bodyPr wrap="square">
            <a:spAutoFit/>
          </a:bodyPr>
          <a:lstStyle/>
          <a:p>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HDD</a:t>
            </a:r>
            <a:endParaRPr lang="en-IN" dirty="0"/>
          </a:p>
        </p:txBody>
      </p:sp>
      <p:sp>
        <p:nvSpPr>
          <p:cNvPr id="10" name="TextBox 9">
            <a:extLst>
              <a:ext uri="{FF2B5EF4-FFF2-40B4-BE49-F238E27FC236}">
                <a16:creationId xmlns:a16="http://schemas.microsoft.com/office/drawing/2014/main" id="{C4CF65F9-F714-C559-BE13-51BC4DC41319}"/>
              </a:ext>
            </a:extLst>
          </p:cNvPr>
          <p:cNvSpPr txBox="1"/>
          <p:nvPr/>
        </p:nvSpPr>
        <p:spPr>
          <a:xfrm>
            <a:off x="2489200" y="2409606"/>
            <a:ext cx="1452880" cy="307777"/>
          </a:xfrm>
          <a:prstGeom prst="rect">
            <a:avLst/>
          </a:prstGeom>
          <a:noFill/>
        </p:spPr>
        <p:txBody>
          <a:bodyPr wrap="square">
            <a:spAutoFit/>
          </a:bodyPr>
          <a:lstStyle/>
          <a:p>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Windows 10 OS</a:t>
            </a:r>
            <a:endParaRPr lang="en-IN" dirty="0"/>
          </a:p>
        </p:txBody>
      </p:sp>
      <p:sp>
        <p:nvSpPr>
          <p:cNvPr id="13" name="TextBox 12">
            <a:extLst>
              <a:ext uri="{FF2B5EF4-FFF2-40B4-BE49-F238E27FC236}">
                <a16:creationId xmlns:a16="http://schemas.microsoft.com/office/drawing/2014/main" id="{E48B3181-8C88-E4E3-0E75-200C64C66AFA}"/>
              </a:ext>
            </a:extLst>
          </p:cNvPr>
          <p:cNvSpPr txBox="1"/>
          <p:nvPr/>
        </p:nvSpPr>
        <p:spPr>
          <a:xfrm>
            <a:off x="5037055" y="2409606"/>
            <a:ext cx="1097280" cy="307777"/>
          </a:xfrm>
          <a:prstGeom prst="rect">
            <a:avLst/>
          </a:prstGeom>
          <a:noFill/>
        </p:spPr>
        <p:txBody>
          <a:bodyPr wrap="square">
            <a:spAutoFit/>
          </a:bodyPr>
          <a:lstStyle/>
          <a:p>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INFO</a:t>
            </a:r>
            <a:endParaRPr lang="en-IN" dirty="0"/>
          </a:p>
        </p:txBody>
      </p:sp>
      <p:sp>
        <p:nvSpPr>
          <p:cNvPr id="14" name="Arrow: Pentagon 13">
            <a:extLst>
              <a:ext uri="{FF2B5EF4-FFF2-40B4-BE49-F238E27FC236}">
                <a16:creationId xmlns:a16="http://schemas.microsoft.com/office/drawing/2014/main" id="{9410BB2B-0202-7574-2F0D-6456208914F9}"/>
              </a:ext>
            </a:extLst>
          </p:cNvPr>
          <p:cNvSpPr/>
          <p:nvPr/>
        </p:nvSpPr>
        <p:spPr>
          <a:xfrm rot="16200000">
            <a:off x="2744027" y="3197603"/>
            <a:ext cx="943225" cy="98183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Pentagon 15">
            <a:extLst>
              <a:ext uri="{FF2B5EF4-FFF2-40B4-BE49-F238E27FC236}">
                <a16:creationId xmlns:a16="http://schemas.microsoft.com/office/drawing/2014/main" id="{50792319-6DB8-6699-F855-C207B0D99084}"/>
              </a:ext>
            </a:extLst>
          </p:cNvPr>
          <p:cNvSpPr/>
          <p:nvPr/>
        </p:nvSpPr>
        <p:spPr>
          <a:xfrm rot="16200000">
            <a:off x="5152249" y="3235769"/>
            <a:ext cx="866892" cy="98183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13B5E05D-41D7-25AC-058B-A7323BB6A9E9}"/>
              </a:ext>
            </a:extLst>
          </p:cNvPr>
          <p:cNvSpPr txBox="1"/>
          <p:nvPr/>
        </p:nvSpPr>
        <p:spPr>
          <a:xfrm>
            <a:off x="2841117" y="3682781"/>
            <a:ext cx="855281" cy="307777"/>
          </a:xfrm>
          <a:prstGeom prst="rect">
            <a:avLst/>
          </a:prstGeom>
          <a:noFill/>
        </p:spPr>
        <p:txBody>
          <a:bodyPr wrap="square">
            <a:spAutoFit/>
          </a:bodyPr>
          <a:lstStyle/>
          <a:p>
            <a:r>
              <a:rPr lang="en-US" b="1" dirty="0">
                <a:solidFill>
                  <a:schemeClr val="tx1"/>
                </a:solidFill>
                <a:latin typeface="Times New Roman" panose="02020603050405020304" pitchFamily="18" charset="0"/>
                <a:cs typeface="Times New Roman" panose="02020603050405020304" pitchFamily="18" charset="0"/>
              </a:rPr>
              <a:t>C Drive</a:t>
            </a:r>
            <a:endParaRPr lang="en-IN" dirty="0"/>
          </a:p>
        </p:txBody>
      </p:sp>
      <p:sp>
        <p:nvSpPr>
          <p:cNvPr id="21" name="TextBox 20">
            <a:extLst>
              <a:ext uri="{FF2B5EF4-FFF2-40B4-BE49-F238E27FC236}">
                <a16:creationId xmlns:a16="http://schemas.microsoft.com/office/drawing/2014/main" id="{C0EC60A9-45E0-1AF3-BF36-BC1CA0315993}"/>
              </a:ext>
            </a:extLst>
          </p:cNvPr>
          <p:cNvSpPr txBox="1"/>
          <p:nvPr/>
        </p:nvSpPr>
        <p:spPr>
          <a:xfrm>
            <a:off x="5158054" y="3682780"/>
            <a:ext cx="855281" cy="307777"/>
          </a:xfrm>
          <a:prstGeom prst="rect">
            <a:avLst/>
          </a:prstGeom>
          <a:noFill/>
        </p:spPr>
        <p:txBody>
          <a:bodyPr wrap="square">
            <a:spAutoFit/>
          </a:bodyPr>
          <a:lstStyle/>
          <a:p>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 Drive</a:t>
            </a:r>
            <a:endParaRPr lang="en-IN" dirty="0"/>
          </a:p>
        </p:txBody>
      </p:sp>
      <p:sp>
        <p:nvSpPr>
          <p:cNvPr id="23" name="Flowchart: Alternate Process 22">
            <a:extLst>
              <a:ext uri="{FF2B5EF4-FFF2-40B4-BE49-F238E27FC236}">
                <a16:creationId xmlns:a16="http://schemas.microsoft.com/office/drawing/2014/main" id="{938A4B00-1A16-3515-486A-9CC898F0F9A7}"/>
              </a:ext>
            </a:extLst>
          </p:cNvPr>
          <p:cNvSpPr/>
          <p:nvPr/>
        </p:nvSpPr>
        <p:spPr>
          <a:xfrm>
            <a:off x="1085967" y="983366"/>
            <a:ext cx="6606305" cy="3971758"/>
          </a:xfrm>
          <a:prstGeom prst="flowChartAlternateProcess">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25" name="TextBox 24">
            <a:extLst>
              <a:ext uri="{FF2B5EF4-FFF2-40B4-BE49-F238E27FC236}">
                <a16:creationId xmlns:a16="http://schemas.microsoft.com/office/drawing/2014/main" id="{6345474B-2821-CDAB-6F29-8E2C36FDDF31}"/>
              </a:ext>
            </a:extLst>
          </p:cNvPr>
          <p:cNvSpPr txBox="1"/>
          <p:nvPr/>
        </p:nvSpPr>
        <p:spPr>
          <a:xfrm>
            <a:off x="1831575" y="1051876"/>
            <a:ext cx="5161280" cy="400110"/>
          </a:xfrm>
          <a:prstGeom prst="rect">
            <a:avLst/>
          </a:prstGeom>
          <a:noFill/>
        </p:spPr>
        <p:txBody>
          <a:bodyPr wrap="square">
            <a:spAutoFit/>
          </a:bodyPr>
          <a:lstStyle/>
          <a:p>
            <a:pPr algn="ctr"/>
            <a:r>
              <a:rPr kumimoji="0" lang="en-US" altLang="en-US" sz="20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Windows 10 OS [Client OS]</a:t>
            </a:r>
            <a:endParaRPr lang="en-IN" sz="2000" i="1" dirty="0"/>
          </a:p>
        </p:txBody>
      </p:sp>
    </p:spTree>
    <p:extLst>
      <p:ext uri="{BB962C8B-B14F-4D97-AF65-F5344CB8AC3E}">
        <p14:creationId xmlns:p14="http://schemas.microsoft.com/office/powerpoint/2010/main" val="1214441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down)">
                                      <p:cBhvr>
                                        <p:cTn id="43" dur="500"/>
                                        <p:tgtEl>
                                          <p:spTgt spid="14"/>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down)">
                                      <p:cBhvr>
                                        <p:cTn id="46" dur="500"/>
                                        <p:tgtEl>
                                          <p:spTgt spid="19"/>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down)">
                                      <p:cBhvr>
                                        <p:cTn id="49" dur="500"/>
                                        <p:tgtEl>
                                          <p:spTgt spid="16"/>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down)">
                                      <p:cBhvr>
                                        <p:cTn id="5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8" grpId="0"/>
      <p:bldP spid="10" grpId="0"/>
      <p:bldP spid="13" grpId="0"/>
      <p:bldP spid="14" grpId="0" animBg="1"/>
      <p:bldP spid="16" grpId="0" animBg="1"/>
      <p:bldP spid="19" grpId="0"/>
      <p:bldP spid="21" grpId="0"/>
      <p:bldP spid="23" grpId="0" animBg="1"/>
      <p:bldP spid="2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40290260-BE7E-6342-A550-1E3B6A928E3C}"/>
              </a:ext>
            </a:extLst>
          </p:cNvPr>
          <p:cNvSpPr>
            <a:spLocks noChangeArrowheads="1"/>
          </p:cNvSpPr>
          <p:nvPr/>
        </p:nvSpPr>
        <p:spPr bwMode="auto">
          <a:xfrm>
            <a:off x="615950" y="1910030"/>
            <a:ext cx="79121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method or structure used by an operating system (OS) to store, organize, retrieve, and manage data on storage devices like hard drives (HDDs), solid-state drives (SSDs), and USB drives. It determines how data is stored, named, and accessed on these storage devices.</a:t>
            </a:r>
          </a:p>
        </p:txBody>
      </p:sp>
      <p:sp>
        <p:nvSpPr>
          <p:cNvPr id="14" name="TextBox 13">
            <a:extLst>
              <a:ext uri="{FF2B5EF4-FFF2-40B4-BE49-F238E27FC236}">
                <a16:creationId xmlns:a16="http://schemas.microsoft.com/office/drawing/2014/main" id="{B308893C-61B3-6C80-2170-AF10352AA884}"/>
              </a:ext>
            </a:extLst>
          </p:cNvPr>
          <p:cNvSpPr txBox="1"/>
          <p:nvPr/>
        </p:nvSpPr>
        <p:spPr>
          <a:xfrm>
            <a:off x="1975625" y="328024"/>
            <a:ext cx="5192750" cy="553998"/>
          </a:xfrm>
          <a:prstGeom prst="rect">
            <a:avLst/>
          </a:prstGeom>
          <a:noFill/>
        </p:spPr>
        <p:txBody>
          <a:bodyPr wrap="square">
            <a:spAutoFit/>
          </a:bodyPr>
          <a:lstStyle/>
          <a:p>
            <a:pPr algn="ctr"/>
            <a:r>
              <a:rPr lang="en-US" altLang="en-US" sz="3000" b="1" dirty="0">
                <a:solidFill>
                  <a:schemeClr val="tx1"/>
                </a:solidFill>
                <a:latin typeface="Times New Roman" panose="02020603050405020304" pitchFamily="18" charset="0"/>
                <a:cs typeface="Times New Roman" panose="02020603050405020304" pitchFamily="18" charset="0"/>
              </a:rPr>
              <a:t>F</a:t>
            </a: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ile system</a:t>
            </a: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lang="en-IN" sz="3000" dirty="0"/>
          </a:p>
        </p:txBody>
      </p:sp>
    </p:spTree>
    <p:extLst>
      <p:ext uri="{BB962C8B-B14F-4D97-AF65-F5344CB8AC3E}">
        <p14:creationId xmlns:p14="http://schemas.microsoft.com/office/powerpoint/2010/main" val="2039527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0">
            <a:extLst>
              <a:ext uri="{FF2B5EF4-FFF2-40B4-BE49-F238E27FC236}">
                <a16:creationId xmlns:a16="http://schemas.microsoft.com/office/drawing/2014/main" id="{F6FCB459-F744-4D24-F66A-B043BED177B0}"/>
              </a:ext>
            </a:extLst>
          </p:cNvPr>
          <p:cNvSpPr>
            <a:spLocks noChangeArrowheads="1"/>
          </p:cNvSpPr>
          <p:nvPr/>
        </p:nvSpPr>
        <p:spPr bwMode="auto">
          <a:xfrm>
            <a:off x="0" y="473354"/>
            <a:ext cx="9143999" cy="5001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Common Types of File Systems: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ctr"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(File Allocation Table)</a:t>
            </a:r>
          </a:p>
          <a:p>
            <a:pPr marL="457200" marR="0" lvl="0" indent="-457200" algn="ctr" defTabSz="914400" rtl="0" eaLnBrk="0" fontAlgn="base" latinLnBrk="0" hangingPunct="0">
              <a:lnSpc>
                <a:spcPct val="100000"/>
              </a:lnSpc>
              <a:spcBef>
                <a:spcPct val="0"/>
              </a:spcBef>
              <a:spcAft>
                <a:spcPct val="0"/>
              </a:spcAft>
              <a:buClrTx/>
              <a:buSzTx/>
              <a:buFontTx/>
              <a:buAutoNum type="arabicPeriod"/>
              <a:tabLst/>
            </a:pPr>
            <a:endParaRPr lang="en-US" altLang="en-US" sz="2000" b="1" dirty="0">
              <a:solidFill>
                <a:schemeClr val="tx1"/>
              </a:solidFill>
              <a:latin typeface="Times New Roman" panose="02020603050405020304" pitchFamily="18" charset="0"/>
              <a:cs typeface="Times New Roman" panose="02020603050405020304" pitchFamily="18" charset="0"/>
            </a:endParaRPr>
          </a:p>
          <a:p>
            <a:pPr marR="0" lvl="0" algn="ctr"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Variants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FAT16, FAT32,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exFAT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 Use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Widely used on USB drives, SD cards, and older operating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FAT32</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supports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maximum file size of 4GB</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partition size up 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8TB</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exFAT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an improved version of FAT32, designed for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larger file sizes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(over 4GB)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flash drives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Simple, widely supported by many OS and devices.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 support for file permissions, less efficient for large files or modern computing needs.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1650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5" end="5"/>
                                            </p:txEl>
                                          </p:spTgt>
                                        </p:tgtEl>
                                        <p:attrNameLst>
                                          <p:attrName>style.visibility</p:attrName>
                                        </p:attrNameLst>
                                      </p:cBhvr>
                                      <p:to>
                                        <p:strVal val="visible"/>
                                      </p:to>
                                    </p:set>
                                    <p:animEffect transition="in" filter="fade">
                                      <p:cBhvr>
                                        <p:cTn id="7" dur="500"/>
                                        <p:tgtEl>
                                          <p:spTgt spid="12">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6" end="6"/>
                                            </p:txEl>
                                          </p:spTgt>
                                        </p:tgtEl>
                                        <p:attrNameLst>
                                          <p:attrName>style.visibility</p:attrName>
                                        </p:attrNameLst>
                                      </p:cBhvr>
                                      <p:to>
                                        <p:strVal val="visible"/>
                                      </p:to>
                                    </p:set>
                                    <p:animEffect transition="in" filter="fade">
                                      <p:cBhvr>
                                        <p:cTn id="12" dur="500"/>
                                        <p:tgtEl>
                                          <p:spTgt spid="12">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7" end="7"/>
                                            </p:txEl>
                                          </p:spTgt>
                                        </p:tgtEl>
                                        <p:attrNameLst>
                                          <p:attrName>style.visibility</p:attrName>
                                        </p:attrNameLst>
                                      </p:cBhvr>
                                      <p:to>
                                        <p:strVal val="visible"/>
                                      </p:to>
                                    </p:set>
                                    <p:animEffect transition="in" filter="fade">
                                      <p:cBhvr>
                                        <p:cTn id="17" dur="500"/>
                                        <p:tgtEl>
                                          <p:spTgt spid="12">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xEl>
                                              <p:pRg st="8" end="8"/>
                                            </p:txEl>
                                          </p:spTgt>
                                        </p:tgtEl>
                                        <p:attrNameLst>
                                          <p:attrName>style.visibility</p:attrName>
                                        </p:attrNameLst>
                                      </p:cBhvr>
                                      <p:to>
                                        <p:strVal val="visible"/>
                                      </p:to>
                                    </p:set>
                                    <p:animEffect transition="in" filter="fade">
                                      <p:cBhvr>
                                        <p:cTn id="22" dur="500"/>
                                        <p:tgtEl>
                                          <p:spTgt spid="12">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xEl>
                                              <p:pRg st="9" end="9"/>
                                            </p:txEl>
                                          </p:spTgt>
                                        </p:tgtEl>
                                        <p:attrNameLst>
                                          <p:attrName>style.visibility</p:attrName>
                                        </p:attrNameLst>
                                      </p:cBhvr>
                                      <p:to>
                                        <p:strVal val="visible"/>
                                      </p:to>
                                    </p:set>
                                    <p:animEffect transition="in" filter="fade">
                                      <p:cBhvr>
                                        <p:cTn id="27" dur="500"/>
                                        <p:tgtEl>
                                          <p:spTgt spid="12">
                                            <p:txEl>
                                              <p:pRg st="9" end="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
                                            <p:txEl>
                                              <p:pRg st="10" end="10"/>
                                            </p:txEl>
                                          </p:spTgt>
                                        </p:tgtEl>
                                        <p:attrNameLst>
                                          <p:attrName>style.visibility</p:attrName>
                                        </p:attrNameLst>
                                      </p:cBhvr>
                                      <p:to>
                                        <p:strVal val="visible"/>
                                      </p:to>
                                    </p:set>
                                    <p:animEffect transition="in" filter="fade">
                                      <p:cBhvr>
                                        <p:cTn id="32" dur="500"/>
                                        <p:tgtEl>
                                          <p:spTgt spid="12">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xEl>
                                              <p:pRg st="11" end="11"/>
                                            </p:txEl>
                                          </p:spTgt>
                                        </p:tgtEl>
                                        <p:attrNameLst>
                                          <p:attrName>style.visibility</p:attrName>
                                        </p:attrNameLst>
                                      </p:cBhvr>
                                      <p:to>
                                        <p:strVal val="visible"/>
                                      </p:to>
                                    </p:set>
                                    <p:animEffect transition="in" filter="fade">
                                      <p:cBhvr>
                                        <p:cTn id="37" dur="500"/>
                                        <p:tgtEl>
                                          <p:spTgt spid="1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502EF1-6C31-3A50-1E68-4F903ADBA5ED}"/>
              </a:ext>
            </a:extLst>
          </p:cNvPr>
          <p:cNvSpPr txBox="1"/>
          <p:nvPr/>
        </p:nvSpPr>
        <p:spPr>
          <a:xfrm>
            <a:off x="0" y="694851"/>
            <a:ext cx="9144000" cy="2970044"/>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NTFS (New Technology File System)</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 Use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Default file system for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Windows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operating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 file sizes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(up to 16TB) and large partitions.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 permissions, encryption, compression, and disk quotas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Reliable, secure, supports large files and volumes.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 natively supported by macOS or Linux without additional software.</a:t>
            </a:r>
          </a:p>
        </p:txBody>
      </p:sp>
    </p:spTree>
    <p:extLst>
      <p:ext uri="{BB962C8B-B14F-4D97-AF65-F5344CB8AC3E}">
        <p14:creationId xmlns:p14="http://schemas.microsoft.com/office/powerpoint/2010/main" val="3926037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500"/>
                                        <p:tgtEl>
                                          <p:spTgt spid="4">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7" end="7"/>
                                            </p:txEl>
                                          </p:spTgt>
                                        </p:tgtEl>
                                        <p:attrNameLst>
                                          <p:attrName>style.visibility</p:attrName>
                                        </p:attrNameLst>
                                      </p:cBhvr>
                                      <p:to>
                                        <p:strVal val="visible"/>
                                      </p:to>
                                    </p:set>
                                    <p:animEffect transition="in" filter="fade">
                                      <p:cBhvr>
                                        <p:cTn id="22" dur="500"/>
                                        <p:tgtEl>
                                          <p:spTgt spid="4">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500"/>
                                        <p:tgtEl>
                                          <p:spTgt spid="4">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9" end="9"/>
                                            </p:txEl>
                                          </p:spTgt>
                                        </p:tgtEl>
                                        <p:attrNameLst>
                                          <p:attrName>style.visibility</p:attrName>
                                        </p:attrNameLst>
                                      </p:cBhvr>
                                      <p:to>
                                        <p:strVal val="visible"/>
                                      </p:to>
                                    </p:set>
                                    <p:animEffect transition="in" filter="fade">
                                      <p:cBhvr>
                                        <p:cTn id="32"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C16468-7589-A827-D588-254B1211DBD7}"/>
              </a:ext>
            </a:extLst>
          </p:cNvPr>
          <p:cNvSpPr txBox="1"/>
          <p:nvPr/>
        </p:nvSpPr>
        <p:spPr>
          <a:xfrm>
            <a:off x="0" y="743415"/>
            <a:ext cx="9144000" cy="470898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Organization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organizes data into files and directories (folders) to make it easy to manage and access.</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 Naming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File systems determine the naming conventions, such as allowed characters and file extensions (e.g., .txt, .jpg).</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 Management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Manages how data is written to and read from the storage device.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mechanisms like access control and permissions to protect data.</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Data Integrity</a:t>
            </a:r>
            <a:r>
              <a:rPr kumimoji="0" lang="en-US" altLang="en-US"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that data is written to the disk in an organized and </a:t>
            </a:r>
            <a:r>
              <a:rPr kumimoji="0" lang="en-US" altLang="en-US"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recoverable way.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AB4E3B3-F05B-C28E-DB5B-5DE67D91C1E1}"/>
              </a:ext>
            </a:extLst>
          </p:cNvPr>
          <p:cNvSpPr txBox="1"/>
          <p:nvPr/>
        </p:nvSpPr>
        <p:spPr>
          <a:xfrm>
            <a:off x="1992352" y="206668"/>
            <a:ext cx="5159296" cy="461665"/>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Key Functions of a File System:</a:t>
            </a:r>
          </a:p>
        </p:txBody>
      </p:sp>
    </p:spTree>
    <p:extLst>
      <p:ext uri="{BB962C8B-B14F-4D97-AF65-F5344CB8AC3E}">
        <p14:creationId xmlns:p14="http://schemas.microsoft.com/office/powerpoint/2010/main" val="2257032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animEffect transition="in" filter="fade">
                                      <p:cBhvr>
                                        <p:cTn id="11" dur="500"/>
                                        <p:tgtEl>
                                          <p:spTgt spid="4">
                                            <p:txEl>
                                              <p:pRg st="3" end="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
                                            <p:txEl>
                                              <p:pRg st="5" end="5"/>
                                            </p:txEl>
                                          </p:spTgt>
                                        </p:tgtEl>
                                        <p:attrNameLst>
                                          <p:attrName>style.visibility</p:attrName>
                                        </p:attrNameLst>
                                      </p:cBhvr>
                                      <p:to>
                                        <p:strVal val="visible"/>
                                      </p:to>
                                    </p:set>
                                    <p:animEffect transition="in" filter="fade">
                                      <p:cBhvr>
                                        <p:cTn id="16" dur="500"/>
                                        <p:tgtEl>
                                          <p:spTgt spid="4">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animEffect transition="in" filter="fade">
                                      <p:cBhvr>
                                        <p:cTn id="21" dur="500"/>
                                        <p:tgtEl>
                                          <p:spTgt spid="4">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xEl>
                                              <p:pRg st="9" end="9"/>
                                            </p:txEl>
                                          </p:spTgt>
                                        </p:tgtEl>
                                        <p:attrNameLst>
                                          <p:attrName>style.visibility</p:attrName>
                                        </p:attrNameLst>
                                      </p:cBhvr>
                                      <p:to>
                                        <p:strVal val="visible"/>
                                      </p:to>
                                    </p:set>
                                    <p:animEffect transition="in" filter="fade">
                                      <p:cBhvr>
                                        <p:cTn id="26"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83877-A812-267E-ACDF-FB27090F5FDD}"/>
              </a:ext>
            </a:extLst>
          </p:cNvPr>
          <p:cNvSpPr>
            <a:spLocks noGrp="1"/>
          </p:cNvSpPr>
          <p:nvPr>
            <p:ph type="title"/>
          </p:nvPr>
        </p:nvSpPr>
        <p:spPr>
          <a:xfrm>
            <a:off x="720000" y="1543301"/>
            <a:ext cx="7704000" cy="572700"/>
          </a:xfrm>
        </p:spPr>
        <p:txBody>
          <a:bodyPr/>
          <a:lstStyle/>
          <a:p>
            <a:pPr algn="ctr"/>
            <a:r>
              <a:rPr lang="en-IN" dirty="0">
                <a:solidFill>
                  <a:srgbClr val="FF0000"/>
                </a:solidFill>
                <a:latin typeface="Times New Roman" panose="02020603050405020304" pitchFamily="18" charset="0"/>
                <a:cs typeface="Times New Roman" panose="02020603050405020304" pitchFamily="18" charset="0"/>
              </a:rPr>
              <a:t>File system in Linux</a:t>
            </a:r>
            <a:endParaRPr lang="en-IN" dirty="0">
              <a:solidFill>
                <a:srgbClr val="FF0000"/>
              </a:solidFill>
            </a:endParaRPr>
          </a:p>
        </p:txBody>
      </p:sp>
    </p:spTree>
    <p:extLst>
      <p:ext uri="{BB962C8B-B14F-4D97-AF65-F5344CB8AC3E}">
        <p14:creationId xmlns:p14="http://schemas.microsoft.com/office/powerpoint/2010/main" val="2130928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1F014A32-A061-C0E0-4DB2-09498048845C}"/>
              </a:ext>
            </a:extLst>
          </p:cNvPr>
          <p:cNvSpPr>
            <a:spLocks noGrp="1" noChangeArrowheads="1"/>
          </p:cNvSpPr>
          <p:nvPr>
            <p:ph type="title"/>
          </p:nvPr>
        </p:nvSpPr>
        <p:spPr bwMode="auto">
          <a:xfrm>
            <a:off x="719998" y="3176765"/>
            <a:ext cx="7343678" cy="1031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accent5">
                    <a:lumMod val="10000"/>
                  </a:schemeClr>
                </a:solidFill>
                <a:effectLst/>
                <a:latin typeface="Times New Roman" panose="02020603050405020304" pitchFamily="18" charset="0"/>
                <a:cs typeface="Times New Roman" panose="02020603050405020304" pitchFamily="18" charset="0"/>
              </a:rPr>
              <a:t>Linux typically uses a </a:t>
            </a:r>
            <a:r>
              <a:rPr kumimoji="0" lang="en-US" altLang="en-US" sz="1800" b="1" i="0" u="none" strike="noStrike" cap="none" normalizeH="0" baseline="0" dirty="0">
                <a:ln>
                  <a:noFill/>
                </a:ln>
                <a:solidFill>
                  <a:schemeClr val="accent5">
                    <a:lumMod val="10000"/>
                  </a:schemeClr>
                </a:solidFill>
                <a:effectLst/>
                <a:latin typeface="Times New Roman" panose="02020603050405020304" pitchFamily="18" charset="0"/>
                <a:cs typeface="Times New Roman" panose="02020603050405020304" pitchFamily="18" charset="0"/>
              </a:rPr>
              <a:t>hierarchical file system structure</a:t>
            </a:r>
            <a:r>
              <a:rPr kumimoji="0" lang="en-US" altLang="en-US" sz="1800" b="0" i="0" u="none" strike="noStrike" cap="none" normalizeH="0" baseline="0" dirty="0">
                <a:ln>
                  <a:noFill/>
                </a:ln>
                <a:solidFill>
                  <a:schemeClr val="accent5">
                    <a:lumMod val="10000"/>
                  </a:schemeClr>
                </a:solidFill>
                <a:effectLst/>
                <a:latin typeface="Times New Roman" panose="02020603050405020304" pitchFamily="18" charset="0"/>
                <a:cs typeface="Times New Roman" panose="02020603050405020304" pitchFamily="18" charset="0"/>
              </a:rPr>
              <a:t> that starts from a single root directory denoted by </a:t>
            </a:r>
            <a:r>
              <a:rPr kumimoji="0" lang="en-US" altLang="en-US" sz="2500" i="0" u="none" strike="noStrike" cap="none" normalizeH="0" baseline="0" dirty="0">
                <a:ln>
                  <a:noFill/>
                </a:ln>
                <a:solidFill>
                  <a:schemeClr val="accent5">
                    <a:lumMod val="10000"/>
                  </a:schemeClr>
                </a:solidFill>
                <a:effectLst/>
                <a:latin typeface="Times New Roman" panose="02020603050405020304" pitchFamily="18" charset="0"/>
                <a:cs typeface="Times New Roman" panose="02020603050405020304" pitchFamily="18" charset="0"/>
              </a:rPr>
              <a:t>/.</a:t>
            </a:r>
            <a:r>
              <a:rPr kumimoji="0" lang="en-US" altLang="en-US" sz="1800" b="0" i="0" u="none" strike="noStrike" cap="none" normalizeH="0" baseline="0" dirty="0">
                <a:ln>
                  <a:noFill/>
                </a:ln>
                <a:solidFill>
                  <a:schemeClr val="accent5">
                    <a:lumMod val="10000"/>
                  </a:schemeClr>
                </a:solidFill>
                <a:effectLst/>
                <a:latin typeface="Times New Roman" panose="02020603050405020304" pitchFamily="18" charset="0"/>
                <a:cs typeface="Times New Roman" panose="02020603050405020304" pitchFamily="18" charset="0"/>
              </a:rPr>
              <a:t> </a:t>
            </a:r>
            <a:br>
              <a:rPr kumimoji="0" lang="en-US" altLang="en-US" sz="1800" b="0" i="0" u="none" strike="noStrike" cap="none" normalizeH="0" baseline="0" dirty="0">
                <a:ln>
                  <a:noFill/>
                </a:ln>
                <a:solidFill>
                  <a:schemeClr val="accent5">
                    <a:lumMod val="10000"/>
                  </a:schemeClr>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accent5">
                    <a:lumMod val="10000"/>
                  </a:schemeClr>
                </a:solidFill>
                <a:effectLst/>
                <a:latin typeface="Times New Roman" panose="02020603050405020304" pitchFamily="18" charset="0"/>
                <a:cs typeface="Times New Roman" panose="02020603050405020304" pitchFamily="18" charset="0"/>
              </a:rPr>
              <a:t>This structure is based on the </a:t>
            </a:r>
            <a:r>
              <a:rPr kumimoji="0" lang="en-US" altLang="en-US" sz="1800" b="1" i="0" u="none" strike="noStrike" cap="none" normalizeH="0" baseline="0" dirty="0">
                <a:ln>
                  <a:noFill/>
                </a:ln>
                <a:solidFill>
                  <a:schemeClr val="accent5">
                    <a:lumMod val="10000"/>
                  </a:schemeClr>
                </a:solidFill>
                <a:effectLst/>
                <a:latin typeface="Times New Roman" panose="02020603050405020304" pitchFamily="18" charset="0"/>
                <a:cs typeface="Times New Roman" panose="02020603050405020304" pitchFamily="18" charset="0"/>
              </a:rPr>
              <a:t>Filesystem Hierarchy Standard (FHS)</a:t>
            </a:r>
            <a:r>
              <a:rPr kumimoji="0" lang="en-US" altLang="en-US" sz="1800" b="0" i="0" u="none" strike="noStrike" cap="none" normalizeH="0" baseline="0" dirty="0">
                <a:ln>
                  <a:noFill/>
                </a:ln>
                <a:solidFill>
                  <a:schemeClr val="accent5">
                    <a:lumMod val="10000"/>
                  </a:schemeClr>
                </a:solidFill>
                <a:effectLst/>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27475536-F639-48C1-B620-2A97699634E2}"/>
              </a:ext>
            </a:extLst>
          </p:cNvPr>
          <p:cNvSpPr txBox="1"/>
          <p:nvPr/>
        </p:nvSpPr>
        <p:spPr>
          <a:xfrm>
            <a:off x="719998" y="1588056"/>
            <a:ext cx="7199407" cy="1477328"/>
          </a:xfrm>
          <a:prstGeom prst="rect">
            <a:avLst/>
          </a:prstGeom>
          <a:noFill/>
        </p:spPr>
        <p:txBody>
          <a:bodyPr wrap="square">
            <a:spAutoFit/>
          </a:bodyPr>
          <a:lstStyle/>
          <a:p>
            <a:pPr marL="285750" indent="-285750" algn="just">
              <a:buFont typeface="Wingdings" panose="05000000000000000000" pitchFamily="2" charset="2"/>
              <a:buChar char="v"/>
            </a:pPr>
            <a:r>
              <a:rPr lang="en-US" sz="1800" b="0" i="0" dirty="0">
                <a:solidFill>
                  <a:schemeClr val="accent5">
                    <a:lumMod val="10000"/>
                  </a:schemeClr>
                </a:solidFill>
                <a:effectLst/>
                <a:latin typeface="Times New Roman" panose="02020603050405020304" pitchFamily="18" charset="0"/>
                <a:cs typeface="Times New Roman" panose="02020603050405020304" pitchFamily="18" charset="0"/>
              </a:rPr>
              <a:t>The </a:t>
            </a:r>
            <a:r>
              <a:rPr lang="en-US" sz="1800" b="0" i="0" dirty="0">
                <a:solidFill>
                  <a:schemeClr val="accent5">
                    <a:lumMod val="10000"/>
                  </a:schemeClr>
                </a:solidFill>
                <a:effectLst/>
                <a:highlight>
                  <a:srgbClr val="FFFF00"/>
                </a:highlight>
                <a:latin typeface="Times New Roman" panose="02020603050405020304" pitchFamily="18" charset="0"/>
                <a:cs typeface="Times New Roman" panose="02020603050405020304" pitchFamily="18" charset="0"/>
              </a:rPr>
              <a:t>Filesystem Hierarchy Standard (FHS) </a:t>
            </a:r>
            <a:r>
              <a:rPr lang="en-US" sz="1800" b="0" i="0" dirty="0">
                <a:solidFill>
                  <a:schemeClr val="accent5">
                    <a:lumMod val="10000"/>
                  </a:schemeClr>
                </a:solidFill>
                <a:effectLst/>
                <a:latin typeface="Times New Roman" panose="02020603050405020304" pitchFamily="18" charset="0"/>
                <a:cs typeface="Times New Roman" panose="02020603050405020304" pitchFamily="18" charset="0"/>
              </a:rPr>
              <a:t>defines the directory structure and contents in Linux and Unix-like operating systems. It is maintained by the Linux Foundation. The FHS dictates how files and directories are organized within the filesystem, ensuring interoperability and uniformity across different distributions and applications. </a:t>
            </a:r>
            <a:endParaRPr lang="en-IN" sz="1800" dirty="0">
              <a:solidFill>
                <a:schemeClr val="accent5">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12303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4B5939-4A1D-3B00-07AE-F6CA309FF9D4}"/>
              </a:ext>
            </a:extLst>
          </p:cNvPr>
          <p:cNvPicPr>
            <a:picLocks noChangeAspect="1"/>
          </p:cNvPicPr>
          <p:nvPr/>
        </p:nvPicPr>
        <p:blipFill>
          <a:blip r:embed="rId2"/>
          <a:stretch>
            <a:fillRect/>
          </a:stretch>
        </p:blipFill>
        <p:spPr>
          <a:xfrm>
            <a:off x="47625" y="-1"/>
            <a:ext cx="9048750" cy="5143501"/>
          </a:xfrm>
          <a:prstGeom prst="rect">
            <a:avLst/>
          </a:prstGeom>
        </p:spPr>
      </p:pic>
    </p:spTree>
    <p:extLst>
      <p:ext uri="{BB962C8B-B14F-4D97-AF65-F5344CB8AC3E}">
        <p14:creationId xmlns:p14="http://schemas.microsoft.com/office/powerpoint/2010/main" val="18961135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9B4E1C-D9E9-9469-3D36-4A0863F6913F}"/>
              </a:ext>
            </a:extLst>
          </p:cNvPr>
          <p:cNvPicPr>
            <a:picLocks noChangeAspect="1"/>
          </p:cNvPicPr>
          <p:nvPr/>
        </p:nvPicPr>
        <p:blipFill>
          <a:blip r:embed="rId2"/>
          <a:stretch>
            <a:fillRect/>
          </a:stretch>
        </p:blipFill>
        <p:spPr>
          <a:xfrm>
            <a:off x="754743" y="0"/>
            <a:ext cx="7823200" cy="5143500"/>
          </a:xfrm>
          <a:prstGeom prst="rect">
            <a:avLst/>
          </a:prstGeom>
        </p:spPr>
      </p:pic>
    </p:spTree>
    <p:extLst>
      <p:ext uri="{BB962C8B-B14F-4D97-AF65-F5344CB8AC3E}">
        <p14:creationId xmlns:p14="http://schemas.microsoft.com/office/powerpoint/2010/main" val="34316910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64296B9-BE55-2AC8-707D-F641DF1C8484}"/>
              </a:ext>
            </a:extLst>
          </p:cNvPr>
          <p:cNvSpPr txBox="1"/>
          <p:nvPr/>
        </p:nvSpPr>
        <p:spPr>
          <a:xfrm>
            <a:off x="1126110" y="103018"/>
            <a:ext cx="6442800" cy="5478423"/>
          </a:xfrm>
          <a:prstGeom prst="rect">
            <a:avLst/>
          </a:prstGeom>
          <a:noFill/>
        </p:spPr>
        <p:txBody>
          <a:bodyPr wrap="square">
            <a:spAutoFit/>
          </a:bodyPr>
          <a:lstStyle/>
          <a:p>
            <a:pPr marL="342900"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The top-level directory is the root filesystem and contains all of the files required to boot the operating system before other filesystems are mounted as well as the files required to boot the other filesystems. After boot, all of the other filesystems are mounted at standard mount points as subdirectories of the root.</a:t>
            </a:r>
          </a:p>
          <a:p>
            <a:endParaRPr lang="en-IN"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bin</a:t>
            </a:r>
          </a:p>
          <a:p>
            <a:r>
              <a:rPr lang="en-IN" sz="1800" dirty="0">
                <a:latin typeface="Times New Roman" panose="02020603050405020304" pitchFamily="18" charset="0"/>
                <a:cs typeface="Times New Roman" panose="02020603050405020304" pitchFamily="18" charset="0"/>
              </a:rPr>
              <a:t>Contains essential command binaries.</a:t>
            </a:r>
          </a:p>
          <a:p>
            <a:endParaRPr lang="en-IN"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boot</a:t>
            </a:r>
          </a:p>
          <a:p>
            <a:r>
              <a:rPr lang="en-IN" sz="1800" dirty="0">
                <a:latin typeface="Times New Roman" panose="02020603050405020304" pitchFamily="18" charset="0"/>
                <a:cs typeface="Times New Roman" panose="02020603050405020304" pitchFamily="18" charset="0"/>
              </a:rPr>
              <a:t>Consists of the static bootloader, kernel executable, and files required to boot the Linux OS.</a:t>
            </a:r>
          </a:p>
          <a:p>
            <a:endParaRPr lang="en-IN"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dev</a:t>
            </a:r>
          </a:p>
          <a:p>
            <a:r>
              <a:rPr lang="en-IN" sz="1800" dirty="0">
                <a:latin typeface="Times New Roman" panose="02020603050405020304" pitchFamily="18" charset="0"/>
                <a:cs typeface="Times New Roman" panose="02020603050405020304" pitchFamily="18" charset="0"/>
              </a:rPr>
              <a:t>Contains device files to facilitate access to every hardware device attached to the system.</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42309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624E8C8-57CA-508C-59F8-576A4B207F2C}"/>
              </a:ext>
            </a:extLst>
          </p:cNvPr>
          <p:cNvSpPr txBox="1"/>
          <p:nvPr/>
        </p:nvSpPr>
        <p:spPr>
          <a:xfrm>
            <a:off x="1107440" y="450217"/>
            <a:ext cx="6929120" cy="4955203"/>
          </a:xfrm>
          <a:prstGeom prst="rect">
            <a:avLst/>
          </a:prstGeom>
          <a:noFill/>
        </p:spPr>
        <p:txBody>
          <a:bodyPr wrap="square">
            <a:spAutoFit/>
          </a:bodyPr>
          <a:lstStyle/>
          <a:p>
            <a:pPr marL="342900"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/etc</a:t>
            </a:r>
          </a:p>
          <a:p>
            <a:r>
              <a:rPr lang="en-IN" sz="1800" dirty="0">
                <a:latin typeface="Times New Roman" panose="02020603050405020304" pitchFamily="18" charset="0"/>
                <a:cs typeface="Times New Roman" panose="02020603050405020304" pitchFamily="18" charset="0"/>
              </a:rPr>
              <a:t>Local system configuration files. Configuration files for installed applications may be saved here as well.</a:t>
            </a:r>
          </a:p>
          <a:p>
            <a:endParaRPr lang="en-IN" sz="18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/home</a:t>
            </a:r>
          </a:p>
          <a:p>
            <a:r>
              <a:rPr lang="en-IN" sz="1800" dirty="0">
                <a:latin typeface="Times New Roman" panose="02020603050405020304" pitchFamily="18" charset="0"/>
                <a:cs typeface="Times New Roman" panose="02020603050405020304" pitchFamily="18" charset="0"/>
              </a:rPr>
              <a:t>Each user on the system has a subdirectory here for storage.</a:t>
            </a:r>
          </a:p>
          <a:p>
            <a:endParaRPr lang="en-IN" sz="18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/lib</a:t>
            </a:r>
          </a:p>
          <a:p>
            <a:r>
              <a:rPr lang="en-IN" sz="1800" dirty="0">
                <a:latin typeface="Times New Roman" panose="02020603050405020304" pitchFamily="18" charset="0"/>
                <a:cs typeface="Times New Roman" panose="02020603050405020304" pitchFamily="18" charset="0"/>
              </a:rPr>
              <a:t>Shared library files that are required for system boot.</a:t>
            </a:r>
          </a:p>
          <a:p>
            <a:endParaRPr lang="en-IN" sz="18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/media</a:t>
            </a:r>
          </a:p>
          <a:p>
            <a:r>
              <a:rPr lang="en-IN" sz="1800" dirty="0">
                <a:latin typeface="Times New Roman" panose="02020603050405020304" pitchFamily="18" charset="0"/>
                <a:cs typeface="Times New Roman" panose="02020603050405020304" pitchFamily="18" charset="0"/>
              </a:rPr>
              <a:t>External removable media devices such as USB drives are mounted here.</a:t>
            </a:r>
          </a:p>
          <a:p>
            <a:endParaRPr lang="en-IN" sz="18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mnt</a:t>
            </a:r>
            <a:endParaRPr lang="en-IN" sz="20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Temporary mount point for regular filesystems.</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63905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077840-7BBF-4F33-BFC0-EEDF31A7CC06}"/>
              </a:ext>
            </a:extLst>
          </p:cNvPr>
          <p:cNvSpPr txBox="1"/>
          <p:nvPr/>
        </p:nvSpPr>
        <p:spPr>
          <a:xfrm>
            <a:off x="733842" y="1232922"/>
            <a:ext cx="8948927" cy="2677656"/>
          </a:xfrm>
          <a:prstGeom prst="rect">
            <a:avLst/>
          </a:prstGeom>
          <a:noFill/>
        </p:spPr>
        <p:txBody>
          <a:bodyPr wrap="square">
            <a:spAutoFit/>
          </a:bodyPr>
          <a:lstStyle/>
          <a:p>
            <a:pPr marL="342900"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/opt</a:t>
            </a:r>
          </a:p>
          <a:p>
            <a:r>
              <a:rPr lang="en-IN" sz="1800" dirty="0">
                <a:latin typeface="Times New Roman" panose="02020603050405020304" pitchFamily="18" charset="0"/>
                <a:cs typeface="Times New Roman" panose="02020603050405020304" pitchFamily="18" charset="0"/>
              </a:rPr>
              <a:t>Optional files such as third-party tools can be saved here.</a:t>
            </a:r>
          </a:p>
          <a:p>
            <a:endParaRPr lang="en-IN" sz="18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/root</a:t>
            </a:r>
          </a:p>
          <a:p>
            <a:r>
              <a:rPr lang="en-IN" sz="1800" dirty="0">
                <a:latin typeface="Times New Roman" panose="02020603050405020304" pitchFamily="18" charset="0"/>
                <a:cs typeface="Times New Roman" panose="02020603050405020304" pitchFamily="18" charset="0"/>
              </a:rPr>
              <a:t>The home directory for the root user.</a:t>
            </a:r>
          </a:p>
          <a:p>
            <a:endParaRPr lang="en-IN" sz="18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sbin</a:t>
            </a:r>
            <a:endParaRPr lang="en-IN" sz="20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This directory contains executables used for system administration (binary system files).</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63084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4ED2AAB-FFB7-FFEC-7A56-B735CE2C6A81}"/>
              </a:ext>
            </a:extLst>
          </p:cNvPr>
          <p:cNvSpPr txBox="1"/>
          <p:nvPr/>
        </p:nvSpPr>
        <p:spPr>
          <a:xfrm>
            <a:off x="821732" y="1002089"/>
            <a:ext cx="7500536" cy="3139321"/>
          </a:xfrm>
          <a:prstGeom prst="rect">
            <a:avLst/>
          </a:prstGeom>
          <a:noFill/>
        </p:spPr>
        <p:txBody>
          <a:bodyPr wrap="square">
            <a:spAutoFit/>
          </a:bodyPr>
          <a:lstStyle/>
          <a:p>
            <a:pPr marL="285750" indent="-285750">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tmp</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The operating system and many programs use this directory to store temporary files. This directory is generally cleared upon system boot and may be deleted at other times without any warning.</a:t>
            </a:r>
          </a:p>
          <a:p>
            <a:endParaRPr lang="en-IN"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usr</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 Contains executables, libraries, man files, etc.</a:t>
            </a:r>
          </a:p>
          <a:p>
            <a:endParaRPr lang="en-IN"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/var</a:t>
            </a:r>
          </a:p>
          <a:p>
            <a:r>
              <a:rPr lang="en-IN" sz="1800" dirty="0">
                <a:latin typeface="Times New Roman" panose="02020603050405020304" pitchFamily="18" charset="0"/>
                <a:cs typeface="Times New Roman" panose="02020603050405020304" pitchFamily="18" charset="0"/>
              </a:rPr>
              <a:t>This directory contains variable data files such as log files, email in-boxes, web application related files, </a:t>
            </a:r>
            <a:r>
              <a:rPr lang="en-IN" sz="1800" dirty="0" err="1">
                <a:latin typeface="Times New Roman" panose="02020603050405020304" pitchFamily="18" charset="0"/>
                <a:cs typeface="Times New Roman" panose="02020603050405020304" pitchFamily="18" charset="0"/>
              </a:rPr>
              <a:t>cron</a:t>
            </a:r>
            <a:r>
              <a:rPr lang="en-IN" sz="1800" dirty="0">
                <a:latin typeface="Times New Roman" panose="02020603050405020304" pitchFamily="18" charset="0"/>
                <a:cs typeface="Times New Roman" panose="02020603050405020304" pitchFamily="18" charset="0"/>
              </a:rPr>
              <a:t> files, and more.</a:t>
            </a:r>
          </a:p>
        </p:txBody>
      </p:sp>
    </p:spTree>
    <p:extLst>
      <p:ext uri="{BB962C8B-B14F-4D97-AF65-F5344CB8AC3E}">
        <p14:creationId xmlns:p14="http://schemas.microsoft.com/office/powerpoint/2010/main" val="24925276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op 60 Linux commands every user should know + cheat sheet">
            <a:extLst>
              <a:ext uri="{FF2B5EF4-FFF2-40B4-BE49-F238E27FC236}">
                <a16:creationId xmlns:a16="http://schemas.microsoft.com/office/drawing/2014/main" id="{BD471A80-69CD-C49E-07CD-FCE264D652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5729"/>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EF974A88-8F8B-03A7-E869-6D73847CFAC5}"/>
              </a:ext>
            </a:extLst>
          </p:cNvPr>
          <p:cNvSpPr txBox="1">
            <a:spLocks/>
          </p:cNvSpPr>
          <p:nvPr/>
        </p:nvSpPr>
        <p:spPr>
          <a:xfrm>
            <a:off x="3214914" y="1966839"/>
            <a:ext cx="2714172" cy="120982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pPr algn="ctr"/>
            <a:r>
              <a:rPr lang="en-IN" dirty="0">
                <a:highlight>
                  <a:srgbClr val="FFFF00"/>
                </a:highlight>
              </a:rPr>
              <a:t>Basic </a:t>
            </a:r>
            <a:r>
              <a:rPr lang="en-IN" dirty="0">
                <a:highlight>
                  <a:srgbClr val="FFFF00"/>
                </a:highlight>
                <a:latin typeface="Times New Roman" panose="02020603050405020304" pitchFamily="18" charset="0"/>
                <a:cs typeface="Times New Roman" panose="02020603050405020304" pitchFamily="18" charset="0"/>
              </a:rPr>
              <a:t>Commands</a:t>
            </a:r>
          </a:p>
        </p:txBody>
      </p:sp>
    </p:spTree>
    <p:extLst>
      <p:ext uri="{BB962C8B-B14F-4D97-AF65-F5344CB8AC3E}">
        <p14:creationId xmlns:p14="http://schemas.microsoft.com/office/powerpoint/2010/main" val="39911600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64946-3736-91EC-8B04-13B4D8666DC3}"/>
              </a:ext>
            </a:extLst>
          </p:cNvPr>
          <p:cNvSpPr>
            <a:spLocks noGrp="1"/>
          </p:cNvSpPr>
          <p:nvPr>
            <p:ph type="title"/>
          </p:nvPr>
        </p:nvSpPr>
        <p:spPr>
          <a:xfrm>
            <a:off x="720000" y="786401"/>
            <a:ext cx="7704000" cy="572700"/>
          </a:xfrm>
        </p:spPr>
        <p:txBody>
          <a:bodyPr/>
          <a:lstStyle/>
          <a:p>
            <a:pPr algn="ctr"/>
            <a:r>
              <a:rPr lang="en-US" dirty="0">
                <a:latin typeface="Times New Roman" panose="02020603050405020304" pitchFamily="18" charset="0"/>
                <a:cs typeface="Times New Roman" panose="02020603050405020304" pitchFamily="18" charset="0"/>
              </a:rPr>
              <a:t>some of the basic commands</a:t>
            </a:r>
            <a:endParaRPr lang="en-IN"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F802FA6A-E26E-F47B-88D5-741DFB8EA458}"/>
              </a:ext>
            </a:extLst>
          </p:cNvPr>
          <p:cNvGraphicFramePr>
            <a:graphicFrameLocks noGrp="1"/>
          </p:cNvGraphicFramePr>
          <p:nvPr>
            <p:extLst>
              <p:ext uri="{D42A27DB-BD31-4B8C-83A1-F6EECF244321}">
                <p14:modId xmlns:p14="http://schemas.microsoft.com/office/powerpoint/2010/main" val="1983157890"/>
              </p:ext>
            </p:extLst>
          </p:nvPr>
        </p:nvGraphicFramePr>
        <p:xfrm>
          <a:off x="1411705" y="1817567"/>
          <a:ext cx="6096000" cy="2489472"/>
        </p:xfrm>
        <a:graphic>
          <a:graphicData uri="http://schemas.openxmlformats.org/drawingml/2006/table">
            <a:tbl>
              <a:tblPr firstRow="1" bandRow="1">
                <a:tableStyleId>{616DA210-FB5B-4158-B5E0-FEB733F419BA}</a:tableStyleId>
              </a:tblPr>
              <a:tblGrid>
                <a:gridCol w="3048000">
                  <a:extLst>
                    <a:ext uri="{9D8B030D-6E8A-4147-A177-3AD203B41FA5}">
                      <a16:colId xmlns:a16="http://schemas.microsoft.com/office/drawing/2014/main" val="1382700266"/>
                    </a:ext>
                  </a:extLst>
                </a:gridCol>
                <a:gridCol w="3048000">
                  <a:extLst>
                    <a:ext uri="{9D8B030D-6E8A-4147-A177-3AD203B41FA5}">
                      <a16:colId xmlns:a16="http://schemas.microsoft.com/office/drawing/2014/main" val="980655514"/>
                    </a:ext>
                  </a:extLst>
                </a:gridCol>
              </a:tblGrid>
              <a:tr h="668959">
                <a:tc>
                  <a:txBody>
                    <a:bodyPr/>
                    <a:lstStyle/>
                    <a:p>
                      <a:pPr algn="ctr"/>
                      <a:r>
                        <a:rPr lang="en-US" dirty="0"/>
                        <a:t>Task</a:t>
                      </a:r>
                      <a:endParaRPr lang="en-IN" dirty="0"/>
                    </a:p>
                  </a:txBody>
                  <a:tcPr/>
                </a:tc>
                <a:tc>
                  <a:txBody>
                    <a:bodyPr/>
                    <a:lstStyle/>
                    <a:p>
                      <a:pPr algn="ctr"/>
                      <a:r>
                        <a:rPr lang="en-US" dirty="0"/>
                        <a:t>Commands</a:t>
                      </a:r>
                      <a:endParaRPr lang="en-IN" dirty="0"/>
                    </a:p>
                  </a:txBody>
                  <a:tcPr/>
                </a:tc>
                <a:extLst>
                  <a:ext uri="{0D108BD9-81ED-4DB2-BD59-A6C34878D82A}">
                    <a16:rowId xmlns:a16="http://schemas.microsoft.com/office/drawing/2014/main" val="1900710937"/>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dirty="0">
                          <a:solidFill>
                            <a:schemeClr val="bg1">
                              <a:lumMod val="10000"/>
                            </a:schemeClr>
                          </a:solidFill>
                          <a:effectLst/>
                          <a:latin typeface="Times New Roman" panose="02020603050405020304" pitchFamily="18" charset="0"/>
                          <a:cs typeface="Times New Roman" panose="02020603050405020304" pitchFamily="18" charset="0"/>
                        </a:rPr>
                        <a:t>Lock</a:t>
                      </a:r>
                    </a:p>
                  </a:txBody>
                  <a:tcPr/>
                </a:tc>
                <a:tc>
                  <a:txBody>
                    <a:bodyPr/>
                    <a:lstStyle/>
                    <a:p>
                      <a:r>
                        <a:rPr lang="en-US" sz="1400" b="0" i="0" dirty="0">
                          <a:solidFill>
                            <a:schemeClr val="bg1">
                              <a:lumMod val="10000"/>
                            </a:schemeClr>
                          </a:solidFill>
                          <a:effectLst/>
                          <a:latin typeface="Times New Roman" panose="02020603050405020304" pitchFamily="18" charset="0"/>
                          <a:cs typeface="Times New Roman" panose="02020603050405020304" pitchFamily="18" charset="0"/>
                        </a:rPr>
                        <a:t> Super Key + L(Windows Key) </a:t>
                      </a:r>
                      <a:endParaRPr lang="en-IN" dirty="0"/>
                    </a:p>
                  </a:txBody>
                  <a:tcPr/>
                </a:tc>
                <a:extLst>
                  <a:ext uri="{0D108BD9-81ED-4DB2-BD59-A6C34878D82A}">
                    <a16:rowId xmlns:a16="http://schemas.microsoft.com/office/drawing/2014/main" val="2235059714"/>
                  </a:ext>
                </a:extLst>
              </a:tr>
              <a:tr h="41335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solidFill>
                            <a:schemeClr val="bg1">
                              <a:lumMod val="10000"/>
                            </a:schemeClr>
                          </a:solidFill>
                          <a:latin typeface="Times New Roman" panose="02020603050405020304" pitchFamily="18" charset="0"/>
                          <a:cs typeface="Times New Roman" panose="02020603050405020304" pitchFamily="18" charset="0"/>
                        </a:rPr>
                        <a:t>Log out</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solidFill>
                            <a:schemeClr val="bg1">
                              <a:lumMod val="10000"/>
                            </a:schemeClr>
                          </a:solidFill>
                          <a:latin typeface="Times New Roman" panose="02020603050405020304" pitchFamily="18" charset="0"/>
                          <a:cs typeface="Times New Roman" panose="02020603050405020304" pitchFamily="18" charset="0"/>
                        </a:rPr>
                        <a:t>gnome-session-quit</a:t>
                      </a:r>
                    </a:p>
                  </a:txBody>
                  <a:tcPr/>
                </a:tc>
                <a:extLst>
                  <a:ext uri="{0D108BD9-81ED-4DB2-BD59-A6C34878D82A}">
                    <a16:rowId xmlns:a16="http://schemas.microsoft.com/office/drawing/2014/main" val="901598141"/>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bg1">
                              <a:lumMod val="10000"/>
                            </a:schemeClr>
                          </a:solidFill>
                          <a:latin typeface="Times New Roman" panose="02020603050405020304" pitchFamily="18" charset="0"/>
                          <a:cs typeface="Times New Roman" panose="02020603050405020304" pitchFamily="18" charset="0"/>
                        </a:rPr>
                        <a:t>Reboot</a:t>
                      </a:r>
                    </a:p>
                    <a:p>
                      <a:endParaRPr lang="en-IN" dirty="0"/>
                    </a:p>
                  </a:txBody>
                  <a:tcPr/>
                </a:tc>
                <a:tc>
                  <a:txBody>
                    <a:bodyPr/>
                    <a:lstStyle/>
                    <a:p>
                      <a:r>
                        <a:rPr lang="en-US" sz="1400" dirty="0">
                          <a:solidFill>
                            <a:schemeClr val="bg1">
                              <a:lumMod val="10000"/>
                            </a:schemeClr>
                          </a:solidFill>
                          <a:latin typeface="Times New Roman" panose="02020603050405020304" pitchFamily="18" charset="0"/>
                          <a:cs typeface="Times New Roman" panose="02020603050405020304" pitchFamily="18" charset="0"/>
                        </a:rPr>
                        <a:t>reboot</a:t>
                      </a:r>
                      <a:endParaRPr lang="en-IN" dirty="0"/>
                    </a:p>
                  </a:txBody>
                  <a:tcPr/>
                </a:tc>
                <a:extLst>
                  <a:ext uri="{0D108BD9-81ED-4DB2-BD59-A6C34878D82A}">
                    <a16:rowId xmlns:a16="http://schemas.microsoft.com/office/drawing/2014/main" val="1563545581"/>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solidFill>
                            <a:schemeClr val="bg1">
                              <a:lumMod val="10000"/>
                            </a:schemeClr>
                          </a:solidFill>
                          <a:latin typeface="Times New Roman" panose="02020603050405020304" pitchFamily="18" charset="0"/>
                          <a:cs typeface="Times New Roman" panose="02020603050405020304" pitchFamily="18" charset="0"/>
                        </a:rPr>
                        <a:t>Shutdown</a:t>
                      </a:r>
                    </a:p>
                    <a:p>
                      <a:endParaRPr lang="en-IN" dirty="0"/>
                    </a:p>
                  </a:txBody>
                  <a:tcPr/>
                </a:tc>
                <a:tc>
                  <a:txBody>
                    <a:bodyPr/>
                    <a:lstStyle/>
                    <a:p>
                      <a:r>
                        <a:rPr lang="en-US" dirty="0" err="1">
                          <a:solidFill>
                            <a:schemeClr val="bg1">
                              <a:lumMod val="10000"/>
                            </a:schemeClr>
                          </a:solidFill>
                          <a:latin typeface="Times New Roman" panose="02020603050405020304" pitchFamily="18" charset="0"/>
                          <a:cs typeface="Times New Roman" panose="02020603050405020304" pitchFamily="18" charset="0"/>
                        </a:rPr>
                        <a:t>poweroff</a:t>
                      </a:r>
                      <a:endParaRPr lang="en-IN" dirty="0"/>
                    </a:p>
                  </a:txBody>
                  <a:tcPr/>
                </a:tc>
                <a:extLst>
                  <a:ext uri="{0D108BD9-81ED-4DB2-BD59-A6C34878D82A}">
                    <a16:rowId xmlns:a16="http://schemas.microsoft.com/office/drawing/2014/main" val="3318049296"/>
                  </a:ext>
                </a:extLst>
              </a:tr>
            </a:tbl>
          </a:graphicData>
        </a:graphic>
      </p:graphicFrame>
    </p:spTree>
    <p:extLst>
      <p:ext uri="{BB962C8B-B14F-4D97-AF65-F5344CB8AC3E}">
        <p14:creationId xmlns:p14="http://schemas.microsoft.com/office/powerpoint/2010/main" val="34658846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571A9-1C19-8CC0-91E3-4BCA18CBC6C3}"/>
              </a:ext>
            </a:extLst>
          </p:cNvPr>
          <p:cNvSpPr>
            <a:spLocks noGrp="1"/>
          </p:cNvSpPr>
          <p:nvPr>
            <p:ph type="title"/>
          </p:nvPr>
        </p:nvSpPr>
        <p:spPr>
          <a:xfrm>
            <a:off x="720000" y="159673"/>
            <a:ext cx="7704000" cy="572700"/>
          </a:xfrm>
        </p:spPr>
        <p:txBody>
          <a:bodyPr/>
          <a:lstStyle/>
          <a:p>
            <a:pPr algn="ctr"/>
            <a:r>
              <a:rPr lang="en-US" dirty="0">
                <a:latin typeface="Times New Roman" panose="02020603050405020304" pitchFamily="18" charset="0"/>
                <a:cs typeface="Times New Roman" panose="02020603050405020304" pitchFamily="18" charset="0"/>
              </a:rPr>
              <a:t>Hostname</a:t>
            </a:r>
            <a:endParaRPr lang="en-IN"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FF90E67C-1A1B-E79F-CDCC-1D967BBB1B3A}"/>
              </a:ext>
            </a:extLst>
          </p:cNvPr>
          <p:cNvSpPr>
            <a:spLocks noChangeArrowheads="1"/>
          </p:cNvSpPr>
          <p:nvPr/>
        </p:nvSpPr>
        <p:spPr bwMode="auto">
          <a:xfrm>
            <a:off x="720000" y="2445299"/>
            <a:ext cx="7704000" cy="954107"/>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chemeClr val="tx2"/>
                </a:solidFill>
                <a:latin typeface="Times New Roman" panose="02020603050405020304" pitchFamily="18" charset="0"/>
                <a:cs typeface="Times New Roman" panose="02020603050405020304" pitchFamily="18" charset="0"/>
              </a:rPr>
              <a:t>h</a:t>
            </a:r>
            <a:r>
              <a:rPr kumimoji="0" lang="en-US" altLang="en-US" sz="20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ostname </a:t>
            </a:r>
            <a:r>
              <a:rPr kumimoji="0" lang="en-US" altLang="en-US" sz="2000" b="0" i="0" u="none" strike="noStrike" cap="none" normalizeH="0" baseline="0" dirty="0">
                <a:ln>
                  <a:noFill/>
                </a:ln>
                <a:solidFill>
                  <a:srgbClr val="92D050"/>
                </a:solidFill>
                <a:effectLst/>
                <a:latin typeface="Times New Roman" panose="02020603050405020304" pitchFamily="18" charset="0"/>
                <a:cs typeface="Times New Roman" panose="02020603050405020304" pitchFamily="18" charset="0"/>
              </a:rPr>
              <a:t>&lt;test&gt;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accent5">
                  <a:lumMod val="1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C3C6D6"/>
                </a:solidFill>
                <a:effectLst/>
                <a:latin typeface="Times New Roman" panose="02020603050405020304" pitchFamily="18" charset="0"/>
                <a:cs typeface="Times New Roman" panose="02020603050405020304" pitchFamily="18" charset="0"/>
              </a:rPr>
              <a:t>To change the hostname temporarily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63FB18B1-2DFF-B324-89A9-035B3912D233}"/>
              </a:ext>
            </a:extLst>
          </p:cNvPr>
          <p:cNvSpPr>
            <a:spLocks noChangeArrowheads="1"/>
          </p:cNvSpPr>
          <p:nvPr/>
        </p:nvSpPr>
        <p:spPr bwMode="auto">
          <a:xfrm>
            <a:off x="720000" y="1114289"/>
            <a:ext cx="7704000" cy="954107"/>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chemeClr val="tx2"/>
                </a:solidFill>
                <a:latin typeface="Times New Roman" panose="02020603050405020304" pitchFamily="18" charset="0"/>
                <a:cs typeface="Times New Roman" panose="02020603050405020304" pitchFamily="18" charset="0"/>
              </a:rPr>
              <a:t>h</a:t>
            </a:r>
            <a:r>
              <a:rPr kumimoji="0" lang="en-US" altLang="en-US" sz="20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ostname</a:t>
            </a:r>
            <a:r>
              <a:rPr kumimoji="0" lang="en-US" altLang="en-US" sz="2000" b="0" i="0" u="none" strike="noStrike" cap="none" normalizeH="0" baseline="0" dirty="0">
                <a:ln>
                  <a:noFill/>
                </a:ln>
                <a:solidFill>
                  <a:schemeClr val="tx2"/>
                </a:solidFill>
                <a:effectLst/>
                <a:highlight>
                  <a:srgbClr val="FFFF00"/>
                </a:highligh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accent5">
                  <a:lumMod val="1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C3C6D6"/>
                </a:solidFill>
                <a:effectLst/>
                <a:latin typeface="Times New Roman" panose="02020603050405020304" pitchFamily="18" charset="0"/>
                <a:cs typeface="Times New Roman" panose="02020603050405020304" pitchFamily="18" charset="0"/>
              </a:rPr>
              <a:t>To view the hostname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DE95940B-A141-DA5F-CDB0-7437216B7F07}"/>
              </a:ext>
            </a:extLst>
          </p:cNvPr>
          <p:cNvSpPr>
            <a:spLocks noChangeArrowheads="1"/>
          </p:cNvSpPr>
          <p:nvPr/>
        </p:nvSpPr>
        <p:spPr bwMode="auto">
          <a:xfrm>
            <a:off x="720000" y="3781322"/>
            <a:ext cx="7704000" cy="954107"/>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err="1">
                <a:solidFill>
                  <a:schemeClr val="tx2"/>
                </a:solidFill>
                <a:latin typeface="Times New Roman" panose="02020603050405020304" pitchFamily="18" charset="0"/>
                <a:cs typeface="Times New Roman" panose="02020603050405020304" pitchFamily="18" charset="0"/>
              </a:rPr>
              <a:t>hostnamectl</a:t>
            </a:r>
            <a:r>
              <a:rPr lang="en-US" altLang="en-US" sz="2000" dirty="0">
                <a:solidFill>
                  <a:schemeClr val="tx2"/>
                </a:solidFill>
                <a:latin typeface="Times New Roman" panose="02020603050405020304" pitchFamily="18" charset="0"/>
                <a:cs typeface="Times New Roman" panose="02020603050405020304" pitchFamily="18" charset="0"/>
              </a:rPr>
              <a:t> set-hostname </a:t>
            </a:r>
            <a:r>
              <a:rPr lang="en-US" altLang="en-US" sz="2000" dirty="0">
                <a:solidFill>
                  <a:srgbClr val="92D050"/>
                </a:solidFill>
                <a:latin typeface="Times New Roman" panose="02020603050405020304" pitchFamily="18" charset="0"/>
                <a:cs typeface="Times New Roman" panose="02020603050405020304" pitchFamily="18" charset="0"/>
              </a:rPr>
              <a:t>&lt;NEW-HOSTNAME&gt;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accent5">
                  <a:lumMod val="1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C3C6D6"/>
                </a:solidFill>
                <a:effectLst/>
                <a:latin typeface="Times New Roman" panose="02020603050405020304" pitchFamily="18" charset="0"/>
                <a:cs typeface="Times New Roman" panose="02020603050405020304" pitchFamily="18" charset="0"/>
              </a:rPr>
              <a:t>To change hostname permanently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4063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17B2E-1C2B-082A-85E6-6ADAF17BF5E3}"/>
              </a:ext>
            </a:extLst>
          </p:cNvPr>
          <p:cNvSpPr>
            <a:spLocks noGrp="1"/>
          </p:cNvSpPr>
          <p:nvPr>
            <p:ph type="title"/>
          </p:nvPr>
        </p:nvSpPr>
        <p:spPr>
          <a:xfrm>
            <a:off x="584200" y="495546"/>
            <a:ext cx="7340600" cy="572700"/>
          </a:xfrm>
        </p:spPr>
        <p:txBody>
          <a:bodyPr/>
          <a:lstStyle/>
          <a:p>
            <a:pPr algn="ctr"/>
            <a:r>
              <a:rPr lang="en-US" dirty="0">
                <a:latin typeface="Times New Roman" panose="02020603050405020304" pitchFamily="18" charset="0"/>
                <a:cs typeface="Times New Roman" panose="02020603050405020304" pitchFamily="18" charset="0"/>
              </a:rPr>
              <a:t>Date and Time view as well as management</a:t>
            </a:r>
            <a:endParaRPr lang="en-IN" dirty="0">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145F687C-5BC1-7701-E564-CF0C9692B935}"/>
              </a:ext>
            </a:extLst>
          </p:cNvPr>
          <p:cNvGrpSpPr/>
          <p:nvPr/>
        </p:nvGrpSpPr>
        <p:grpSpPr>
          <a:xfrm>
            <a:off x="720000" y="1417606"/>
            <a:ext cx="7704000" cy="2957285"/>
            <a:chOff x="981258" y="2128806"/>
            <a:chExt cx="7704000" cy="2957285"/>
          </a:xfrm>
        </p:grpSpPr>
        <p:sp>
          <p:nvSpPr>
            <p:cNvPr id="3" name="Rectangle 1">
              <a:extLst>
                <a:ext uri="{FF2B5EF4-FFF2-40B4-BE49-F238E27FC236}">
                  <a16:creationId xmlns:a16="http://schemas.microsoft.com/office/drawing/2014/main" id="{42CFB43F-2AC2-3D9D-4D69-6D7FC4C7A0E6}"/>
                </a:ext>
              </a:extLst>
            </p:cNvPr>
            <p:cNvSpPr>
              <a:spLocks noChangeArrowheads="1"/>
            </p:cNvSpPr>
            <p:nvPr/>
          </p:nvSpPr>
          <p:spPr bwMode="auto">
            <a:xfrm>
              <a:off x="981258" y="2128806"/>
              <a:ext cx="7704000" cy="1114216"/>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a:buClrTx/>
              </a:pPr>
              <a:r>
                <a:rPr lang="en-US" altLang="en-US" sz="2000" dirty="0" err="1">
                  <a:solidFill>
                    <a:schemeClr val="tx2"/>
                  </a:solidFill>
                  <a:latin typeface="Times New Roman" panose="02020603050405020304" pitchFamily="18" charset="0"/>
                  <a:cs typeface="Times New Roman" panose="02020603050405020304" pitchFamily="18" charset="0"/>
                </a:rPr>
                <a:t>timedatectl</a:t>
              </a:r>
              <a:endParaRPr lang="en-US" altLang="en-US" sz="2000" dirty="0">
                <a:solidFill>
                  <a:schemeClr val="tx2"/>
                </a:solidFill>
                <a:latin typeface="Times New Roman" panose="02020603050405020304" pitchFamily="18" charset="0"/>
                <a:cs typeface="Times New Roman" panose="02020603050405020304" pitchFamily="18" charset="0"/>
              </a:endParaRPr>
            </a:p>
            <a:p>
              <a:pPr>
                <a:buClrTx/>
              </a:pPr>
              <a:r>
                <a:rPr kumimoji="0" lang="en-US" altLang="en-US" sz="20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date</a:t>
              </a:r>
              <a:endParaRPr lang="en-US" altLang="en-US" sz="2000" dirty="0">
                <a:solidFill>
                  <a:schemeClr val="bg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000" dirty="0">
                  <a:solidFill>
                    <a:schemeClr val="bg1"/>
                  </a:solidFill>
                  <a:latin typeface="Times New Roman" panose="02020603050405020304" pitchFamily="18" charset="0"/>
                  <a:cs typeface="Times New Roman" panose="02020603050405020304" pitchFamily="18" charset="0"/>
                </a:rPr>
                <a:t>Commands to view date and time</a:t>
              </a:r>
            </a:p>
          </p:txBody>
        </p:sp>
        <p:sp>
          <p:nvSpPr>
            <p:cNvPr id="5" name="Rectangle 1">
              <a:extLst>
                <a:ext uri="{FF2B5EF4-FFF2-40B4-BE49-F238E27FC236}">
                  <a16:creationId xmlns:a16="http://schemas.microsoft.com/office/drawing/2014/main" id="{9F487B93-BF2D-1884-591A-B326B73C62D7}"/>
                </a:ext>
              </a:extLst>
            </p:cNvPr>
            <p:cNvSpPr>
              <a:spLocks noChangeArrowheads="1"/>
            </p:cNvSpPr>
            <p:nvPr/>
          </p:nvSpPr>
          <p:spPr bwMode="auto">
            <a:xfrm>
              <a:off x="981258" y="3243022"/>
              <a:ext cx="7704000" cy="1843069"/>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lang="en-US" altLang="en-US" sz="2000" dirty="0" err="1">
                  <a:solidFill>
                    <a:schemeClr val="tx2"/>
                  </a:solidFill>
                  <a:latin typeface="Times New Roman" panose="02020603050405020304" pitchFamily="18" charset="0"/>
                  <a:cs typeface="Times New Roman" panose="02020603050405020304" pitchFamily="18" charset="0"/>
                </a:rPr>
                <a:t>timedatectl</a:t>
              </a:r>
              <a:r>
                <a:rPr lang="en-US" altLang="en-US" sz="2000" dirty="0">
                  <a:solidFill>
                    <a:schemeClr val="tx2"/>
                  </a:solidFill>
                  <a:latin typeface="Times New Roman" panose="02020603050405020304" pitchFamily="18" charset="0"/>
                  <a:cs typeface="Times New Roman" panose="02020603050405020304" pitchFamily="18" charset="0"/>
                </a:rPr>
                <a:t> set-time </a:t>
              </a:r>
              <a:r>
                <a:rPr lang="en-US" altLang="en-US" sz="2000" dirty="0">
                  <a:solidFill>
                    <a:srgbClr val="92D050"/>
                  </a:solidFill>
                  <a:latin typeface="Times New Roman" panose="02020603050405020304" pitchFamily="18" charset="0"/>
                  <a:cs typeface="Times New Roman" panose="02020603050405020304" pitchFamily="18" charset="0"/>
                </a:rPr>
                <a:t>&lt;10:15:25&gt;</a:t>
              </a:r>
            </a:p>
            <a:p>
              <a:pPr>
                <a:lnSpc>
                  <a:spcPct val="150000"/>
                </a:lnSpc>
                <a:buClrTx/>
              </a:pPr>
              <a:r>
                <a:rPr lang="en-US" altLang="en-US" sz="2000" dirty="0">
                  <a:solidFill>
                    <a:schemeClr val="bg1"/>
                  </a:solidFill>
                  <a:latin typeface="Times New Roman" panose="02020603050405020304" pitchFamily="18" charset="0"/>
                  <a:cs typeface="Times New Roman" panose="02020603050405020304" pitchFamily="18" charset="0"/>
                </a:rPr>
                <a:t> To change time</a:t>
              </a:r>
              <a:endParaRPr lang="en-US" altLang="en-US" sz="2000" dirty="0">
                <a:solidFill>
                  <a:schemeClr val="tx2"/>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000" dirty="0" err="1">
                  <a:solidFill>
                    <a:schemeClr val="tx2"/>
                  </a:solidFill>
                  <a:latin typeface="Times New Roman" panose="02020603050405020304" pitchFamily="18" charset="0"/>
                  <a:cs typeface="Times New Roman" panose="02020603050405020304" pitchFamily="18" charset="0"/>
                </a:rPr>
                <a:t>timedatectl</a:t>
              </a:r>
              <a:r>
                <a:rPr lang="en-US" altLang="en-US" sz="2000" dirty="0">
                  <a:solidFill>
                    <a:schemeClr val="tx2"/>
                  </a:solidFill>
                  <a:latin typeface="Times New Roman" panose="02020603050405020304" pitchFamily="18" charset="0"/>
                  <a:cs typeface="Times New Roman" panose="02020603050405020304" pitchFamily="18" charset="0"/>
                </a:rPr>
                <a:t> set-time </a:t>
              </a:r>
              <a:r>
                <a:rPr lang="en-US" altLang="en-US" sz="2000" dirty="0">
                  <a:solidFill>
                    <a:srgbClr val="92D050"/>
                  </a:solidFill>
                  <a:latin typeface="Times New Roman" panose="02020603050405020304" pitchFamily="18" charset="0"/>
                  <a:cs typeface="Times New Roman" panose="02020603050405020304" pitchFamily="18" charset="0"/>
                </a:rPr>
                <a:t>&lt;‘2025-05-25 10:15:25’&gt;</a:t>
              </a:r>
              <a:endParaRPr kumimoji="0" lang="en-US" altLang="en-US" sz="2000" b="0" i="0" u="none" strike="noStrike" cap="none" normalizeH="0" baseline="0" dirty="0">
                <a:ln>
                  <a:noFill/>
                </a:ln>
                <a:solidFill>
                  <a:srgbClr val="92D050"/>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To set date and time</a:t>
              </a:r>
            </a:p>
          </p:txBody>
        </p:sp>
      </p:grpSp>
    </p:spTree>
    <p:extLst>
      <p:ext uri="{BB962C8B-B14F-4D97-AF65-F5344CB8AC3E}">
        <p14:creationId xmlns:p14="http://schemas.microsoft.com/office/powerpoint/2010/main" val="38074887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8AB63-B452-0903-9057-475F1405190B}"/>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To set Time zones</a:t>
            </a:r>
            <a:endParaRPr lang="en-IN"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9A9D24EE-258A-1372-1D3B-59FC7F8ABCF2}"/>
              </a:ext>
            </a:extLst>
          </p:cNvPr>
          <p:cNvSpPr>
            <a:spLocks noChangeArrowheads="1"/>
          </p:cNvSpPr>
          <p:nvPr/>
        </p:nvSpPr>
        <p:spPr bwMode="auto">
          <a:xfrm>
            <a:off x="720000" y="1324675"/>
            <a:ext cx="7704000" cy="954107"/>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err="1">
                <a:solidFill>
                  <a:schemeClr val="tx2"/>
                </a:solidFill>
                <a:highlight>
                  <a:srgbClr val="FFFF00"/>
                </a:highlight>
                <a:latin typeface="Times New Roman" panose="02020603050405020304" pitchFamily="18" charset="0"/>
                <a:cs typeface="Times New Roman" panose="02020603050405020304" pitchFamily="18" charset="0"/>
              </a:rPr>
              <a:t>timedatectl</a:t>
            </a:r>
            <a:r>
              <a:rPr lang="en-US" altLang="en-US" sz="2000" dirty="0">
                <a:solidFill>
                  <a:schemeClr val="tx2"/>
                </a:solidFill>
                <a:highlight>
                  <a:srgbClr val="FFFF00"/>
                </a:highlight>
                <a:latin typeface="Times New Roman" panose="02020603050405020304" pitchFamily="18" charset="0"/>
                <a:cs typeface="Times New Roman" panose="02020603050405020304" pitchFamily="18" charset="0"/>
              </a:rPr>
              <a:t> list-</a:t>
            </a:r>
            <a:r>
              <a:rPr lang="en-US" altLang="en-US" sz="2000" dirty="0" err="1">
                <a:solidFill>
                  <a:schemeClr val="tx2"/>
                </a:solidFill>
                <a:highlight>
                  <a:srgbClr val="FFFF00"/>
                </a:highlight>
                <a:latin typeface="Times New Roman" panose="02020603050405020304" pitchFamily="18" charset="0"/>
                <a:cs typeface="Times New Roman" panose="02020603050405020304" pitchFamily="18" charset="0"/>
              </a:rPr>
              <a:t>timezones</a:t>
            </a:r>
            <a:endParaRPr lang="en-US" altLang="en-US" sz="2000" dirty="0">
              <a:solidFill>
                <a:schemeClr val="tx2"/>
              </a:solidFill>
              <a:highlight>
                <a:srgbClr val="FFFF00"/>
              </a:highligh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accent5">
                  <a:lumMod val="1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C3C6D6"/>
                </a:solidFill>
                <a:effectLst/>
                <a:latin typeface="Times New Roman" panose="02020603050405020304" pitchFamily="18" charset="0"/>
                <a:cs typeface="Times New Roman" panose="02020603050405020304" pitchFamily="18" charset="0"/>
              </a:rPr>
              <a:t>To list all </a:t>
            </a:r>
            <a:r>
              <a:rPr kumimoji="0" lang="en-US" altLang="en-US" sz="1800" b="0" i="0" u="none" strike="noStrike" cap="none" normalizeH="0" baseline="0" dirty="0" err="1">
                <a:ln>
                  <a:noFill/>
                </a:ln>
                <a:solidFill>
                  <a:srgbClr val="C3C6D6"/>
                </a:solidFill>
                <a:effectLst/>
                <a:latin typeface="Times New Roman" panose="02020603050405020304" pitchFamily="18" charset="0"/>
                <a:cs typeface="Times New Roman" panose="02020603050405020304" pitchFamily="18" charset="0"/>
              </a:rPr>
              <a:t>timezones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761FAAA6-4F5F-0E69-C8BD-582B2D4A326A}"/>
              </a:ext>
            </a:extLst>
          </p:cNvPr>
          <p:cNvSpPr>
            <a:spLocks noChangeArrowheads="1"/>
          </p:cNvSpPr>
          <p:nvPr/>
        </p:nvSpPr>
        <p:spPr bwMode="auto">
          <a:xfrm>
            <a:off x="720000" y="2761647"/>
            <a:ext cx="7704000" cy="954107"/>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err="1">
                <a:solidFill>
                  <a:schemeClr val="tx2"/>
                </a:solidFill>
                <a:highlight>
                  <a:srgbClr val="FFFF00"/>
                </a:highlight>
                <a:latin typeface="Times New Roman" panose="02020603050405020304" pitchFamily="18" charset="0"/>
                <a:cs typeface="Times New Roman" panose="02020603050405020304" pitchFamily="18" charset="0"/>
              </a:rPr>
              <a:t>timedatectl</a:t>
            </a:r>
            <a:r>
              <a:rPr lang="en-US" altLang="en-US" sz="2000" dirty="0">
                <a:solidFill>
                  <a:schemeClr val="tx2"/>
                </a:solidFill>
                <a:highlight>
                  <a:srgbClr val="FFFF00"/>
                </a:highlight>
                <a:latin typeface="Times New Roman" panose="02020603050405020304" pitchFamily="18" charset="0"/>
                <a:cs typeface="Times New Roman" panose="02020603050405020304" pitchFamily="18" charset="0"/>
              </a:rPr>
              <a:t> set-</a:t>
            </a:r>
            <a:r>
              <a:rPr lang="en-US" altLang="en-US" sz="2000" dirty="0" err="1">
                <a:solidFill>
                  <a:schemeClr val="tx2"/>
                </a:solidFill>
                <a:highlight>
                  <a:srgbClr val="FFFF00"/>
                </a:highlight>
                <a:latin typeface="Times New Roman" panose="02020603050405020304" pitchFamily="18" charset="0"/>
                <a:cs typeface="Times New Roman" panose="02020603050405020304" pitchFamily="18" charset="0"/>
              </a:rPr>
              <a:t>timezone</a:t>
            </a:r>
            <a:r>
              <a:rPr lang="en-US" altLang="en-US" sz="2000" dirty="0">
                <a:solidFill>
                  <a:schemeClr val="tx2"/>
                </a:solidFill>
                <a:highlight>
                  <a:srgbClr val="FFFF00"/>
                </a:highlight>
                <a:latin typeface="Times New Roman" panose="02020603050405020304" pitchFamily="18" charset="0"/>
                <a:cs typeface="Times New Roman" panose="02020603050405020304" pitchFamily="18" charset="0"/>
              </a:rPr>
              <a:t> Asia/Kolkata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accent5">
                  <a:lumMod val="1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C3C6D6"/>
                </a:solidFill>
                <a:effectLst/>
                <a:latin typeface="Times New Roman" panose="02020603050405020304" pitchFamily="18" charset="0"/>
                <a:cs typeface="Times New Roman" panose="02020603050405020304" pitchFamily="18" charset="0"/>
              </a:rPr>
              <a:t>To change </a:t>
            </a:r>
            <a:r>
              <a:rPr kumimoji="0" lang="en-US" altLang="en-US" sz="1800" b="0" i="0" u="none" strike="noStrike" cap="none" normalizeH="0" baseline="0" dirty="0" err="1">
                <a:ln>
                  <a:noFill/>
                </a:ln>
                <a:solidFill>
                  <a:srgbClr val="C3C6D6"/>
                </a:solidFill>
                <a:effectLst/>
                <a:latin typeface="Times New Roman" panose="02020603050405020304" pitchFamily="18" charset="0"/>
                <a:cs typeface="Times New Roman" panose="02020603050405020304" pitchFamily="18" charset="0"/>
              </a:rPr>
              <a:t>timezone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86464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03B43-1D78-34D5-8274-0489F8BD6201}"/>
              </a:ext>
            </a:extLst>
          </p:cNvPr>
          <p:cNvSpPr>
            <a:spLocks noGrp="1"/>
          </p:cNvSpPr>
          <p:nvPr>
            <p:ph type="title"/>
          </p:nvPr>
        </p:nvSpPr>
        <p:spPr/>
        <p:txBody>
          <a:bodyPr/>
          <a:lstStyle/>
          <a:p>
            <a:pPr algn="ctr"/>
            <a:r>
              <a:rPr lang="en-IN" dirty="0"/>
              <a:t>Calendar </a:t>
            </a:r>
          </a:p>
        </p:txBody>
      </p:sp>
      <p:sp>
        <p:nvSpPr>
          <p:cNvPr id="3" name="Rectangle 1">
            <a:extLst>
              <a:ext uri="{FF2B5EF4-FFF2-40B4-BE49-F238E27FC236}">
                <a16:creationId xmlns:a16="http://schemas.microsoft.com/office/drawing/2014/main" id="{A70B593D-95BC-EBF4-0194-80EDE8449A43}"/>
              </a:ext>
            </a:extLst>
          </p:cNvPr>
          <p:cNvSpPr>
            <a:spLocks noChangeArrowheads="1"/>
          </p:cNvSpPr>
          <p:nvPr/>
        </p:nvSpPr>
        <p:spPr bwMode="auto">
          <a:xfrm>
            <a:off x="720000" y="1349941"/>
            <a:ext cx="7704000" cy="954107"/>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err="1">
                <a:solidFill>
                  <a:schemeClr val="tx2"/>
                </a:solidFill>
                <a:highlight>
                  <a:srgbClr val="FFFF00"/>
                </a:highlight>
                <a:latin typeface="Times New Roman" panose="02020603050405020304" pitchFamily="18" charset="0"/>
                <a:cs typeface="Times New Roman" panose="02020603050405020304" pitchFamily="18" charset="0"/>
              </a:rPr>
              <a:t>cal</a:t>
            </a:r>
            <a:endParaRPr lang="en-US" altLang="en-US" sz="2000" dirty="0">
              <a:solidFill>
                <a:schemeClr val="tx2"/>
              </a:solidFill>
              <a:highlight>
                <a:srgbClr val="FFFF00"/>
              </a:highligh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accent5">
                  <a:lumMod val="1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C3C6D6"/>
                </a:solidFill>
                <a:effectLst/>
                <a:latin typeface="Times New Roman" panose="02020603050405020304" pitchFamily="18" charset="0"/>
                <a:cs typeface="Times New Roman" panose="02020603050405020304" pitchFamily="18" charset="0"/>
              </a:rPr>
              <a:t>To view </a:t>
            </a:r>
            <a:r>
              <a:rPr kumimoji="0" lang="en-US" altLang="en-US" sz="1800" b="0" i="0" u="none" strike="noStrike" cap="none" normalizeH="0" baseline="0" dirty="0" err="1">
                <a:ln>
                  <a:noFill/>
                </a:ln>
                <a:solidFill>
                  <a:srgbClr val="C3C6D6"/>
                </a:solidFill>
                <a:effectLst/>
                <a:latin typeface="Times New Roman" panose="02020603050405020304" pitchFamily="18" charset="0"/>
                <a:cs typeface="Times New Roman" panose="02020603050405020304" pitchFamily="18" charset="0"/>
              </a:rPr>
              <a:t>Calender</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75446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AA56E-89E1-DD1E-32F0-D71A43287413}"/>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Basic </a:t>
            </a:r>
            <a:r>
              <a:rPr lang="en-IN" dirty="0">
                <a:solidFill>
                  <a:schemeClr val="bg1">
                    <a:lumMod val="10000"/>
                  </a:schemeClr>
                </a:solidFill>
                <a:latin typeface="Times New Roman" panose="02020603050405020304" pitchFamily="18" charset="0"/>
                <a:cs typeface="Times New Roman" panose="02020603050405020304" pitchFamily="18" charset="0"/>
              </a:rPr>
              <a:t>Commands</a:t>
            </a:r>
            <a:endParaRPr lang="en-IN"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73E9B6A2-EF82-8085-C48A-FA3E6D1DC7BA}"/>
              </a:ext>
            </a:extLst>
          </p:cNvPr>
          <p:cNvSpPr>
            <a:spLocks noChangeArrowheads="1"/>
          </p:cNvSpPr>
          <p:nvPr/>
        </p:nvSpPr>
        <p:spPr bwMode="auto">
          <a:xfrm>
            <a:off x="1033768" y="1436043"/>
            <a:ext cx="7076463" cy="3262432"/>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chemeClr val="tx2"/>
                </a:solidFill>
                <a:highlight>
                  <a:srgbClr val="FFFF00"/>
                </a:highlight>
                <a:latin typeface="Times New Roman" panose="02020603050405020304" pitchFamily="18" charset="0"/>
                <a:cs typeface="Times New Roman" panose="02020603050405020304" pitchFamily="18" charset="0"/>
              </a:rPr>
              <a:t>1. </a:t>
            </a:r>
            <a:r>
              <a:rPr lang="en-US" altLang="en-US" sz="2000" dirty="0" err="1">
                <a:solidFill>
                  <a:schemeClr val="tx2"/>
                </a:solidFill>
                <a:highlight>
                  <a:srgbClr val="FFFF00"/>
                </a:highlight>
                <a:latin typeface="Times New Roman" panose="02020603050405020304" pitchFamily="18" charset="0"/>
                <a:cs typeface="Times New Roman" panose="02020603050405020304" pitchFamily="18" charset="0"/>
              </a:rPr>
              <a:t>whoami</a:t>
            </a:r>
            <a:endParaRPr lang="en-US" altLang="en-US" sz="2000" dirty="0">
              <a:solidFill>
                <a:schemeClr val="tx2"/>
              </a:solidFill>
              <a:highlight>
                <a:srgbClr val="FFFF00"/>
              </a:highlight>
              <a:latin typeface="Times New Roman" panose="02020603050405020304" pitchFamily="18" charset="0"/>
              <a:cs typeface="Times New Roman" panose="02020603050405020304" pitchFamily="18" charset="0"/>
            </a:endParaRPr>
          </a:p>
          <a:p>
            <a:pPr>
              <a:buClrTx/>
            </a:pPr>
            <a:r>
              <a:rPr lang="en-US" altLang="en-US" sz="1800" dirty="0">
                <a:solidFill>
                  <a:schemeClr val="bg1"/>
                </a:solidFill>
                <a:latin typeface="Times New Roman" panose="02020603050405020304" pitchFamily="18" charset="0"/>
                <a:cs typeface="Times New Roman" panose="02020603050405020304" pitchFamily="18" charset="0"/>
              </a:rPr>
              <a:t>Displays who you are</a:t>
            </a:r>
          </a:p>
          <a:p>
            <a:pPr>
              <a:buClrTx/>
            </a:pPr>
            <a:endParaRPr lang="en-US" altLang="en-US" sz="1800" dirty="0">
              <a:solidFill>
                <a:schemeClr val="bg1"/>
              </a:solidFill>
              <a:latin typeface="Times New Roman" panose="02020603050405020304" pitchFamily="18" charset="0"/>
              <a:cs typeface="Times New Roman" panose="02020603050405020304" pitchFamily="18" charset="0"/>
            </a:endParaRPr>
          </a:p>
          <a:p>
            <a:pPr>
              <a:buClrTx/>
            </a:pPr>
            <a:r>
              <a:rPr lang="en-US" altLang="en-US" sz="2000" dirty="0">
                <a:solidFill>
                  <a:srgbClr val="C00000"/>
                </a:solidFill>
                <a:highlight>
                  <a:srgbClr val="FFFF00"/>
                </a:highlight>
                <a:latin typeface="Times New Roman" panose="02020603050405020304" pitchFamily="18" charset="0"/>
                <a:cs typeface="Times New Roman" panose="02020603050405020304" pitchFamily="18" charset="0"/>
              </a:rPr>
              <a:t>2. </a:t>
            </a:r>
            <a:r>
              <a:rPr lang="en-US" altLang="en-US" sz="2000" dirty="0" err="1">
                <a:solidFill>
                  <a:srgbClr val="C00000"/>
                </a:solidFill>
                <a:highlight>
                  <a:srgbClr val="FFFF00"/>
                </a:highlight>
                <a:latin typeface="Times New Roman" panose="02020603050405020304" pitchFamily="18" charset="0"/>
                <a:cs typeface="Times New Roman" panose="02020603050405020304" pitchFamily="18" charset="0"/>
              </a:rPr>
              <a:t>pwd</a:t>
            </a:r>
            <a:endParaRPr lang="en-US" altLang="en-US" sz="1800" dirty="0">
              <a:solidFill>
                <a:schemeClr val="bg1"/>
              </a:solidFill>
              <a:latin typeface="Times New Roman" panose="02020603050405020304" pitchFamily="18" charset="0"/>
              <a:cs typeface="Times New Roman" panose="02020603050405020304" pitchFamily="18" charset="0"/>
            </a:endParaRPr>
          </a:p>
          <a:p>
            <a:pPr>
              <a:buClrTx/>
            </a:pPr>
            <a:r>
              <a:rPr lang="en-US" altLang="en-US" sz="1800" dirty="0">
                <a:solidFill>
                  <a:schemeClr val="bg1"/>
                </a:solidFill>
                <a:latin typeface="Times New Roman" panose="02020603050405020304" pitchFamily="18" charset="0"/>
                <a:cs typeface="Times New Roman" panose="02020603050405020304" pitchFamily="18" charset="0"/>
              </a:rPr>
              <a:t>Displays the present working directory</a:t>
            </a:r>
          </a:p>
          <a:p>
            <a:pPr>
              <a:buClrTx/>
            </a:pPr>
            <a:endParaRPr lang="en-US" altLang="en-US" sz="1800" dirty="0">
              <a:solidFill>
                <a:schemeClr val="bg1"/>
              </a:solidFill>
              <a:latin typeface="Times New Roman" panose="02020603050405020304" pitchFamily="18" charset="0"/>
              <a:cs typeface="Times New Roman" panose="02020603050405020304" pitchFamily="18" charset="0"/>
            </a:endParaRPr>
          </a:p>
          <a:p>
            <a:pPr>
              <a:buClrTx/>
            </a:pPr>
            <a:r>
              <a:rPr lang="en-US" altLang="en-US" sz="2000" dirty="0">
                <a:solidFill>
                  <a:srgbClr val="C00000"/>
                </a:solidFill>
                <a:highlight>
                  <a:srgbClr val="FFFF00"/>
                </a:highlight>
                <a:latin typeface="Times New Roman" panose="02020603050405020304" pitchFamily="18" charset="0"/>
                <a:cs typeface="Times New Roman" panose="02020603050405020304" pitchFamily="18" charset="0"/>
              </a:rPr>
              <a:t>3. cd</a:t>
            </a:r>
            <a:endParaRPr lang="en-US" altLang="en-US" sz="1800" dirty="0">
              <a:solidFill>
                <a:srgbClr val="C00000"/>
              </a:solidFill>
              <a:latin typeface="Times New Roman" panose="02020603050405020304" pitchFamily="18" charset="0"/>
              <a:cs typeface="Times New Roman" panose="02020603050405020304" pitchFamily="18" charset="0"/>
            </a:endParaRPr>
          </a:p>
          <a:p>
            <a:pPr>
              <a:buClrTx/>
            </a:pPr>
            <a:r>
              <a:rPr lang="en-US" altLang="en-US" sz="1800" dirty="0">
                <a:solidFill>
                  <a:schemeClr val="bg1"/>
                </a:solidFill>
                <a:latin typeface="Times New Roman" panose="02020603050405020304" pitchFamily="18" charset="0"/>
                <a:cs typeface="Times New Roman" panose="02020603050405020304" pitchFamily="18" charset="0"/>
              </a:rPr>
              <a:t>Change directory</a:t>
            </a:r>
          </a:p>
          <a:p>
            <a:pPr>
              <a:buClrTx/>
            </a:pPr>
            <a:endParaRPr lang="en-US" altLang="en-US" sz="1800" dirty="0">
              <a:solidFill>
                <a:schemeClr val="bg1"/>
              </a:solidFill>
              <a:latin typeface="Times New Roman" panose="02020603050405020304" pitchFamily="18" charset="0"/>
              <a:cs typeface="Times New Roman" panose="02020603050405020304" pitchFamily="18" charset="0"/>
            </a:endParaRPr>
          </a:p>
          <a:p>
            <a:pPr>
              <a:buClrTx/>
            </a:pPr>
            <a:r>
              <a:rPr lang="en-US" altLang="en-US" sz="2000" dirty="0">
                <a:solidFill>
                  <a:srgbClr val="C00000"/>
                </a:solidFill>
                <a:highlight>
                  <a:srgbClr val="FFFF00"/>
                </a:highlight>
                <a:latin typeface="Times New Roman" panose="02020603050405020304" pitchFamily="18" charset="0"/>
                <a:cs typeface="Times New Roman" panose="02020603050405020304" pitchFamily="18" charset="0"/>
              </a:rPr>
              <a:t>4. ls</a:t>
            </a:r>
            <a:endParaRPr lang="en-US" altLang="en-US" sz="1800" dirty="0">
              <a:solidFill>
                <a:schemeClr val="bg1"/>
              </a:solidFill>
              <a:latin typeface="Times New Roman" panose="02020603050405020304" pitchFamily="18" charset="0"/>
              <a:cs typeface="Times New Roman" panose="02020603050405020304" pitchFamily="18" charset="0"/>
            </a:endParaRPr>
          </a:p>
          <a:p>
            <a:pPr>
              <a:buClrTx/>
            </a:pPr>
            <a:r>
              <a:rPr lang="en-US" altLang="en-US" sz="1800" dirty="0">
                <a:solidFill>
                  <a:schemeClr val="bg1"/>
                </a:solidFill>
                <a:latin typeface="Times New Roman" panose="02020603050405020304" pitchFamily="18" charset="0"/>
                <a:cs typeface="Times New Roman" panose="02020603050405020304" pitchFamily="18" charset="0"/>
              </a:rPr>
              <a:t>List the content [blue-Dir, white-file]</a:t>
            </a:r>
          </a:p>
        </p:txBody>
      </p:sp>
    </p:spTree>
    <p:extLst>
      <p:ext uri="{BB962C8B-B14F-4D97-AF65-F5344CB8AC3E}">
        <p14:creationId xmlns:p14="http://schemas.microsoft.com/office/powerpoint/2010/main" val="31520018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1ED72035-ABA4-7670-B225-8F9EE3298E8C}"/>
              </a:ext>
            </a:extLst>
          </p:cNvPr>
          <p:cNvGraphicFramePr>
            <a:graphicFrameLocks noGrp="1"/>
          </p:cNvGraphicFramePr>
          <p:nvPr>
            <p:extLst>
              <p:ext uri="{D42A27DB-BD31-4B8C-83A1-F6EECF244321}">
                <p14:modId xmlns:p14="http://schemas.microsoft.com/office/powerpoint/2010/main" val="1198450111"/>
              </p:ext>
            </p:extLst>
          </p:nvPr>
        </p:nvGraphicFramePr>
        <p:xfrm>
          <a:off x="584450" y="1015663"/>
          <a:ext cx="7718424" cy="3566160"/>
        </p:xfrm>
        <a:graphic>
          <a:graphicData uri="http://schemas.openxmlformats.org/drawingml/2006/table">
            <a:tbl>
              <a:tblPr>
                <a:tableStyleId>{E929F9F4-4A8F-4326-A1B4-22849713DDAB}</a:tableStyleId>
              </a:tblPr>
              <a:tblGrid>
                <a:gridCol w="1682889">
                  <a:extLst>
                    <a:ext uri="{9D8B030D-6E8A-4147-A177-3AD203B41FA5}">
                      <a16:colId xmlns:a16="http://schemas.microsoft.com/office/drawing/2014/main" val="4234796819"/>
                    </a:ext>
                  </a:extLst>
                </a:gridCol>
                <a:gridCol w="3462727">
                  <a:extLst>
                    <a:ext uri="{9D8B030D-6E8A-4147-A177-3AD203B41FA5}">
                      <a16:colId xmlns:a16="http://schemas.microsoft.com/office/drawing/2014/main" val="3751016824"/>
                    </a:ext>
                  </a:extLst>
                </a:gridCol>
                <a:gridCol w="2572808">
                  <a:extLst>
                    <a:ext uri="{9D8B030D-6E8A-4147-A177-3AD203B41FA5}">
                      <a16:colId xmlns:a16="http://schemas.microsoft.com/office/drawing/2014/main" val="4067112126"/>
                    </a:ext>
                  </a:extLst>
                </a:gridCol>
              </a:tblGrid>
              <a:tr h="0">
                <a:tc>
                  <a:txBody>
                    <a:bodyPr/>
                    <a:lstStyle/>
                    <a:p>
                      <a:r>
                        <a:rPr lang="en-IN" sz="1800"/>
                        <a:t>Feature</a:t>
                      </a:r>
                      <a:endParaRPr lang="en-IN" sz="18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1"/>
                        <a:t>Absolute Path</a:t>
                      </a:r>
                      <a:endParaRPr lang="en-IN" sz="18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1"/>
                        <a:t>Relative Path</a:t>
                      </a:r>
                      <a:endParaRPr lang="en-IN" sz="18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6832018"/>
                  </a:ext>
                </a:extLst>
              </a:tr>
              <a:tr h="0">
                <a:tc>
                  <a:txBody>
                    <a:bodyPr/>
                    <a:lstStyle/>
                    <a:p>
                      <a:r>
                        <a:rPr lang="en-IN" sz="1800" b="1" dirty="0"/>
                        <a:t>Definition</a:t>
                      </a:r>
                      <a:endParaRPr lang="en-IN" sz="1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Full path from the root / directory</a:t>
                      </a:r>
                      <a:endParaRPr lang="en-US" sz="1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Path relative to the current working directory</a:t>
                      </a:r>
                      <a:endParaRPr lang="en-US" sz="1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4285104"/>
                  </a:ext>
                </a:extLst>
              </a:tr>
              <a:tr h="0">
                <a:tc>
                  <a:txBody>
                    <a:bodyPr/>
                    <a:lstStyle/>
                    <a:p>
                      <a:r>
                        <a:rPr lang="en-IN" sz="1800" b="1"/>
                        <a:t>Starting Point</a:t>
                      </a:r>
                      <a:endParaRPr lang="en-IN" sz="18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Always starts with /</a:t>
                      </a:r>
                      <a:endParaRPr lang="en-IN" sz="1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Does </a:t>
                      </a:r>
                      <a:r>
                        <a:rPr lang="en-IN" sz="1800" b="1" dirty="0"/>
                        <a:t>not</a:t>
                      </a:r>
                      <a:r>
                        <a:rPr lang="en-IN" sz="1800" dirty="0"/>
                        <a:t> start with /</a:t>
                      </a:r>
                      <a:endParaRPr lang="en-IN" sz="1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1970653"/>
                  </a:ext>
                </a:extLst>
              </a:tr>
              <a:tr h="0">
                <a:tc>
                  <a:txBody>
                    <a:bodyPr/>
                    <a:lstStyle/>
                    <a:p>
                      <a:r>
                        <a:rPr lang="en-IN" sz="1800" b="1"/>
                        <a:t>Example</a:t>
                      </a:r>
                      <a:endParaRPr lang="en-IN" sz="18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a:t>/home/user/documents/file.txt</a:t>
                      </a:r>
                      <a:endParaRPr lang="en-IN" sz="18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a:t>documents/file.txt or ../file.txt</a:t>
                      </a:r>
                      <a:endParaRPr lang="en-IN" sz="18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3625087"/>
                  </a:ext>
                </a:extLst>
              </a:tr>
              <a:tr h="0">
                <a:tc>
                  <a:txBody>
                    <a:bodyPr/>
                    <a:lstStyle/>
                    <a:p>
                      <a:r>
                        <a:rPr lang="en-IN" sz="1800" b="1"/>
                        <a:t>Consistency</a:t>
                      </a:r>
                      <a:endParaRPr lang="en-IN" sz="18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Always points to the same location</a:t>
                      </a:r>
                      <a:endParaRPr lang="en-US" sz="18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Depends on where the command is run</a:t>
                      </a:r>
                      <a:endParaRPr lang="en-US" sz="18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912954"/>
                  </a:ext>
                </a:extLst>
              </a:tr>
              <a:tr h="0">
                <a:tc>
                  <a:txBody>
                    <a:bodyPr/>
                    <a:lstStyle/>
                    <a:p>
                      <a:r>
                        <a:rPr lang="en-IN" sz="1800" b="1" dirty="0"/>
                        <a:t>Portability</a:t>
                      </a:r>
                      <a:endParaRPr lang="en-IN" sz="1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a:t>Less portable (hard-coded paths)</a:t>
                      </a:r>
                      <a:endParaRPr lang="en-IN" sz="18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More portable within projects</a:t>
                      </a:r>
                      <a:endParaRPr lang="en-IN" sz="18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7207244"/>
                  </a:ext>
                </a:extLst>
              </a:tr>
            </a:tbl>
          </a:graphicData>
        </a:graphic>
      </p:graphicFrame>
      <p:sp>
        <p:nvSpPr>
          <p:cNvPr id="4" name="Rectangle 1">
            <a:extLst>
              <a:ext uri="{FF2B5EF4-FFF2-40B4-BE49-F238E27FC236}">
                <a16:creationId xmlns:a16="http://schemas.microsoft.com/office/drawing/2014/main" id="{0B210D80-F651-F3AA-3700-6E0188B9301C}"/>
              </a:ext>
            </a:extLst>
          </p:cNvPr>
          <p:cNvSpPr>
            <a:spLocks noGrp="1" noChangeArrowheads="1"/>
          </p:cNvSpPr>
          <p:nvPr>
            <p:ph type="title"/>
          </p:nvPr>
        </p:nvSpPr>
        <p:spPr bwMode="auto">
          <a:xfrm>
            <a:off x="1986899" y="228600"/>
            <a:ext cx="491352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0" dirty="0">
                <a:solidFill>
                  <a:srgbClr val="C00000"/>
                </a:solidFill>
                <a:highlight>
                  <a:srgbClr val="C0C0C0"/>
                </a:highlight>
                <a:latin typeface="Times New Roman" panose="02020603050405020304" pitchFamily="18" charset="0"/>
                <a:cs typeface="Times New Roman" panose="02020603050405020304" pitchFamily="18" charset="0"/>
              </a:rPr>
              <a:t>A</a:t>
            </a:r>
            <a:r>
              <a:rPr kumimoji="0" lang="en-US" altLang="en-US" b="0" i="0" u="none" strike="noStrike" cap="none" normalizeH="0" baseline="0" dirty="0">
                <a:ln>
                  <a:noFill/>
                </a:ln>
                <a:solidFill>
                  <a:srgbClr val="C00000"/>
                </a:solidFill>
                <a:effectLst/>
                <a:highlight>
                  <a:srgbClr val="C0C0C0"/>
                </a:highlight>
                <a:latin typeface="Times New Roman" panose="02020603050405020304" pitchFamily="18" charset="0"/>
                <a:cs typeface="Times New Roman" panose="02020603050405020304" pitchFamily="18" charset="0"/>
              </a:rPr>
              <a:t>bsolute path vs Relative path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C00000"/>
              </a:solidFill>
              <a:effectLst/>
              <a:latin typeface="Arial" panose="020B0604020202020204" pitchFamily="34" charset="0"/>
            </a:endParaRPr>
          </a:p>
        </p:txBody>
      </p:sp>
    </p:spTree>
    <p:extLst>
      <p:ext uri="{BB962C8B-B14F-4D97-AF65-F5344CB8AC3E}">
        <p14:creationId xmlns:p14="http://schemas.microsoft.com/office/powerpoint/2010/main" val="14686930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95540" y="2046952"/>
            <a:ext cx="5351931" cy="2246769"/>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#cd  /var/</a:t>
            </a:r>
            <a:r>
              <a:rPr lang="en-US" sz="2000" dirty="0" err="1">
                <a:latin typeface="Times New Roman" panose="02020603050405020304" pitchFamily="18" charset="0"/>
                <a:cs typeface="Times New Roman" panose="02020603050405020304" pitchFamily="18" charset="0"/>
              </a:rPr>
              <a:t>tmp</a:t>
            </a:r>
            <a:r>
              <a:rPr lang="en-US" sz="2000" dirty="0">
                <a:latin typeface="Times New Roman" panose="02020603050405020304" pitchFamily="18" charset="0"/>
                <a:cs typeface="Times New Roman" panose="02020603050405020304" pitchFamily="18" charset="0"/>
              </a:rPr>
              <a:t> User will be in </a:t>
            </a:r>
            <a:r>
              <a:rPr lang="en-US" sz="2000" dirty="0" err="1">
                <a:latin typeface="Times New Roman" panose="02020603050405020304" pitchFamily="18" charset="0"/>
                <a:cs typeface="Times New Roman" panose="02020603050405020304" pitchFamily="18" charset="0"/>
              </a:rPr>
              <a:t>tmp</a:t>
            </a:r>
            <a:r>
              <a:rPr lang="en-US" sz="2000" dirty="0">
                <a:latin typeface="Times New Roman" panose="02020603050405020304" pitchFamily="18" charset="0"/>
                <a:cs typeface="Times New Roman" panose="02020603050405020304" pitchFamily="18" charset="0"/>
              </a:rPr>
              <a:t> directory</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#cd .. User will move back one level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#cd ../.. User will move back two level</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cd  User will move to home directory</a:t>
            </a:r>
          </a:p>
        </p:txBody>
      </p:sp>
      <p:sp>
        <p:nvSpPr>
          <p:cNvPr id="5" name="Rectangle 4"/>
          <p:cNvSpPr/>
          <p:nvPr/>
        </p:nvSpPr>
        <p:spPr>
          <a:xfrm>
            <a:off x="99506" y="135559"/>
            <a:ext cx="7824578" cy="553998"/>
          </a:xfrm>
          <a:prstGeom prst="rect">
            <a:avLst/>
          </a:prstGeom>
        </p:spPr>
        <p:txBody>
          <a:bodyPr wrap="none">
            <a:spAutoFit/>
          </a:bodyPr>
          <a:lstStyle/>
          <a:p>
            <a:r>
              <a:rPr lang="en-US" sz="3000" dirty="0">
                <a:solidFill>
                  <a:srgbClr val="C00000"/>
                </a:solidFill>
                <a:latin typeface="Times New Roman" panose="02020603050405020304" pitchFamily="18" charset="0"/>
                <a:cs typeface="Times New Roman" panose="02020603050405020304" pitchFamily="18" charset="0"/>
              </a:rPr>
              <a:t>Navigating path and managing files and directory</a:t>
            </a:r>
            <a:endParaRPr lang="en-US" sz="3000" dirty="0"/>
          </a:p>
        </p:txBody>
      </p:sp>
      <p:sp>
        <p:nvSpPr>
          <p:cNvPr id="6" name="TextBox 5">
            <a:extLst>
              <a:ext uri="{FF2B5EF4-FFF2-40B4-BE49-F238E27FC236}">
                <a16:creationId xmlns:a16="http://schemas.microsoft.com/office/drawing/2014/main" id="{6A7F91C3-C3DF-48DD-0EC8-4B4947A607B7}"/>
              </a:ext>
            </a:extLst>
          </p:cNvPr>
          <p:cNvSpPr txBox="1"/>
          <p:nvPr/>
        </p:nvSpPr>
        <p:spPr>
          <a:xfrm>
            <a:off x="99506" y="849779"/>
            <a:ext cx="9144000" cy="707886"/>
          </a:xfrm>
          <a:prstGeom prst="rect">
            <a:avLst/>
          </a:prstGeom>
          <a:noFill/>
        </p:spPr>
        <p:txBody>
          <a:bodyPr wrap="square">
            <a:spAutoFit/>
          </a:bodyPr>
          <a:lstStyle/>
          <a:p>
            <a:pPr marL="342900" indent="-342900">
              <a:buFont typeface="Wingdings" panose="05000000000000000000" pitchFamily="2" charset="2"/>
              <a:buChar char="Ø"/>
            </a:pPr>
            <a:r>
              <a:rPr lang="en-US" sz="2000" b="1" dirty="0">
                <a:solidFill>
                  <a:schemeClr val="accent5">
                    <a:lumMod val="10000"/>
                  </a:schemeClr>
                </a:solidFill>
                <a:latin typeface="Times New Roman" panose="02020603050405020304" pitchFamily="18" charset="0"/>
                <a:cs typeface="Times New Roman" panose="02020603050405020304" pitchFamily="18" charset="0"/>
              </a:rPr>
              <a:t>cd</a:t>
            </a:r>
            <a:r>
              <a:rPr lang="en-US" sz="2000" dirty="0">
                <a:solidFill>
                  <a:schemeClr val="accent5">
                    <a:lumMod val="10000"/>
                  </a:schemeClr>
                </a:solidFill>
                <a:latin typeface="Times New Roman" panose="02020603050405020304" pitchFamily="18" charset="0"/>
                <a:cs typeface="Times New Roman" panose="02020603050405020304" pitchFamily="18" charset="0"/>
              </a:rPr>
              <a:t> (change directory) command is used to navigate from one location to </a:t>
            </a:r>
            <a:r>
              <a:rPr lang="en-US" sz="2000" dirty="0" err="1">
                <a:solidFill>
                  <a:schemeClr val="accent5">
                    <a:lumMod val="10000"/>
                  </a:schemeClr>
                </a:solidFill>
                <a:latin typeface="Times New Roman" panose="02020603050405020304" pitchFamily="18" charset="0"/>
                <a:cs typeface="Times New Roman" panose="02020603050405020304" pitchFamily="18" charset="0"/>
              </a:rPr>
              <a:t>anotherin</a:t>
            </a:r>
            <a:r>
              <a:rPr lang="en-US" sz="2000" dirty="0">
                <a:solidFill>
                  <a:schemeClr val="accent5">
                    <a:lumMod val="10000"/>
                  </a:schemeClr>
                </a:solidFill>
                <a:latin typeface="Times New Roman" panose="02020603050405020304" pitchFamily="18" charset="0"/>
                <a:cs typeface="Times New Roman" panose="02020603050405020304" pitchFamily="18" charset="0"/>
              </a:rPr>
              <a:t> terminal</a:t>
            </a:r>
            <a:endParaRPr lang="en-IN" sz="2000" dirty="0">
              <a:solidFill>
                <a:schemeClr val="accent5">
                  <a:lumMod val="10000"/>
                </a:schemeClr>
              </a:solidFill>
            </a:endParaRPr>
          </a:p>
        </p:txBody>
      </p:sp>
    </p:spTree>
    <p:extLst>
      <p:ext uri="{BB962C8B-B14F-4D97-AF65-F5344CB8AC3E}">
        <p14:creationId xmlns:p14="http://schemas.microsoft.com/office/powerpoint/2010/main" val="31145662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71369" y="1237147"/>
            <a:ext cx="7820810" cy="2554545"/>
          </a:xfrm>
          <a:prstGeom prst="rect">
            <a:avLst/>
          </a:prstGeom>
          <a:noFill/>
        </p:spPr>
        <p:txBody>
          <a:bodyPr wrap="square">
            <a:spAutoFit/>
          </a:bodyPr>
          <a:lstStyle/>
          <a:p>
            <a:pPr lvl="0" eaLnBrk="0" fontAlgn="base" hangingPunct="0">
              <a:spcBef>
                <a:spcPct val="0"/>
              </a:spcBef>
              <a:spcAft>
                <a:spcPct val="0"/>
              </a:spcAft>
              <a:buClrTx/>
            </a:pPr>
            <a:r>
              <a:rPr lang="en-US" altLang="en-US" sz="2000" dirty="0">
                <a:latin typeface="Times New Roman" panose="02020603050405020304" pitchFamily="18" charset="0"/>
                <a:cs typeface="Times New Roman" panose="02020603050405020304" pitchFamily="18" charset="0"/>
              </a:rPr>
              <a:t># -l Longlist including attribute</a:t>
            </a:r>
          </a:p>
          <a:p>
            <a:pPr>
              <a:buClrTx/>
            </a:pPr>
            <a:endParaRPr lang="en-US" altLang="en-US" sz="2000" dirty="0">
              <a:latin typeface="Times New Roman" panose="02020603050405020304" pitchFamily="18" charset="0"/>
              <a:cs typeface="Times New Roman" panose="02020603050405020304" pitchFamily="18" charset="0"/>
            </a:endParaRPr>
          </a:p>
          <a:p>
            <a:pPr>
              <a:buClrTx/>
            </a:pPr>
            <a:r>
              <a:rPr lang="en-US" altLang="en-US" sz="2000" dirty="0">
                <a:latin typeface="Times New Roman" panose="02020603050405020304" pitchFamily="18" charset="0"/>
                <a:cs typeface="Times New Roman" panose="02020603050405020304" pitchFamily="18" charset="0"/>
              </a:rPr>
              <a:t># -a All files including hidden files</a:t>
            </a:r>
          </a:p>
          <a:p>
            <a:pPr>
              <a:buClrTx/>
            </a:pPr>
            <a:endParaRPr lang="en-US" altLang="en-US" sz="2000" dirty="0">
              <a:latin typeface="Times New Roman" panose="02020603050405020304" pitchFamily="18" charset="0"/>
              <a:cs typeface="Times New Roman" panose="02020603050405020304" pitchFamily="18" charset="0"/>
            </a:endParaRPr>
          </a:p>
          <a:p>
            <a:pPr>
              <a:buClrTx/>
            </a:pPr>
            <a:r>
              <a:rPr lang="en-US" altLang="en-US" sz="2000" dirty="0">
                <a:latin typeface="Times New Roman" panose="02020603050405020304" pitchFamily="18" charset="0"/>
                <a:cs typeface="Times New Roman" panose="02020603050405020304" pitchFamily="18" charset="0"/>
              </a:rPr>
              <a:t># ~ List all the user home directory</a:t>
            </a:r>
          </a:p>
          <a:p>
            <a:pPr>
              <a:buClrTx/>
            </a:pPr>
            <a:endParaRPr lang="en-US" altLang="en-US" sz="2000" dirty="0">
              <a:latin typeface="Times New Roman" panose="02020603050405020304" pitchFamily="18" charset="0"/>
              <a:cs typeface="Times New Roman" panose="02020603050405020304" pitchFamily="18" charset="0"/>
            </a:endParaRPr>
          </a:p>
          <a:p>
            <a:pPr>
              <a:buClrTx/>
            </a:pPr>
            <a:r>
              <a:rPr lang="en-US" altLang="en-US" sz="2000" dirty="0">
                <a:latin typeface="Times New Roman" panose="02020603050405020304" pitchFamily="18" charset="0"/>
                <a:cs typeface="Times New Roman" panose="02020603050405020304" pitchFamily="18" charset="0"/>
              </a:rPr>
              <a:t># –al All files including hidden files with long list. (dot[.] files are hidden files)  </a:t>
            </a:r>
          </a:p>
        </p:txBody>
      </p:sp>
      <p:sp>
        <p:nvSpPr>
          <p:cNvPr id="4" name="TextBox 3">
            <a:extLst>
              <a:ext uri="{FF2B5EF4-FFF2-40B4-BE49-F238E27FC236}">
                <a16:creationId xmlns:a16="http://schemas.microsoft.com/office/drawing/2014/main" id="{88881DB5-C685-D584-436D-627F31870E41}"/>
              </a:ext>
            </a:extLst>
          </p:cNvPr>
          <p:cNvSpPr txBox="1"/>
          <p:nvPr/>
        </p:nvSpPr>
        <p:spPr>
          <a:xfrm>
            <a:off x="584498" y="681029"/>
            <a:ext cx="5815585" cy="400110"/>
          </a:xfrm>
          <a:prstGeom prst="rect">
            <a:avLst/>
          </a:prstGeom>
          <a:noFill/>
        </p:spPr>
        <p:txBody>
          <a:bodyPr wrap="square">
            <a:spAutoFit/>
          </a:bodyPr>
          <a:lstStyle/>
          <a:p>
            <a:pPr marL="285750" indent="-285750">
              <a:buFont typeface="Wingdings" panose="05000000000000000000" pitchFamily="2" charset="2"/>
              <a:buChar char="Ø"/>
            </a:pPr>
            <a:r>
              <a:rPr lang="en-US" sz="2000" b="1" dirty="0">
                <a:solidFill>
                  <a:schemeClr val="accent5">
                    <a:lumMod val="10000"/>
                  </a:schemeClr>
                </a:solidFill>
                <a:latin typeface="Times New Roman" panose="02020603050405020304" pitchFamily="18" charset="0"/>
                <a:cs typeface="Times New Roman" panose="02020603050405020304" pitchFamily="18" charset="0"/>
              </a:rPr>
              <a:t>ls</a:t>
            </a:r>
            <a:r>
              <a:rPr lang="en-US" sz="2000" dirty="0">
                <a:solidFill>
                  <a:schemeClr val="accent5">
                    <a:lumMod val="10000"/>
                  </a:schemeClr>
                </a:solidFill>
                <a:latin typeface="Times New Roman" panose="02020603050405020304" pitchFamily="18" charset="0"/>
                <a:cs typeface="Times New Roman" panose="02020603050405020304" pitchFamily="18" charset="0"/>
              </a:rPr>
              <a:t> (list) command is used to list directory in terminal</a:t>
            </a:r>
            <a:endParaRPr lang="en-IN" sz="2000" dirty="0">
              <a:solidFill>
                <a:schemeClr val="accent5">
                  <a:lumMod val="10000"/>
                </a:schemeClr>
              </a:solidFill>
            </a:endParaRPr>
          </a:p>
        </p:txBody>
      </p:sp>
      <p:sp>
        <p:nvSpPr>
          <p:cNvPr id="5" name="Rectangle 4"/>
          <p:cNvSpPr/>
          <p:nvPr/>
        </p:nvSpPr>
        <p:spPr>
          <a:xfrm>
            <a:off x="2479701" y="0"/>
            <a:ext cx="4604146" cy="553998"/>
          </a:xfrm>
          <a:prstGeom prst="rect">
            <a:avLst/>
          </a:prstGeom>
        </p:spPr>
        <p:txBody>
          <a:bodyPr wrap="none">
            <a:spAutoFit/>
          </a:bodyPr>
          <a:lstStyle/>
          <a:p>
            <a:r>
              <a:rPr lang="en-US" sz="3000" dirty="0">
                <a:solidFill>
                  <a:srgbClr val="C00000"/>
                </a:solidFill>
                <a:latin typeface="Times New Roman" panose="02020603050405020304" pitchFamily="18" charset="0"/>
                <a:cs typeface="Times New Roman" panose="02020603050405020304" pitchFamily="18" charset="0"/>
              </a:rPr>
              <a:t>managing files and directory</a:t>
            </a:r>
            <a:endParaRPr lang="en-US" sz="3000" dirty="0"/>
          </a:p>
        </p:txBody>
      </p:sp>
    </p:spTree>
    <p:extLst>
      <p:ext uri="{BB962C8B-B14F-4D97-AF65-F5344CB8AC3E}">
        <p14:creationId xmlns:p14="http://schemas.microsoft.com/office/powerpoint/2010/main" val="37684438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15697" y="1349862"/>
            <a:ext cx="7694413" cy="3477875"/>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 touch filename ,Create empty file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touch file1 file2 file3 ,Create multiple empty file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touch filename{1..10} ,Create empty 10 file with name file1, file2 and so on</a:t>
            </a:r>
          </a:p>
          <a:p>
            <a:r>
              <a:rPr lang="en-US" sz="2000" dirty="0">
                <a:latin typeface="Times New Roman" panose="02020603050405020304" pitchFamily="18" charset="0"/>
                <a:cs typeface="Times New Roman" panose="02020603050405020304" pitchFamily="18" charset="0"/>
              </a:rPr>
              <a:t>#cat &gt;file1 </a:t>
            </a:r>
          </a:p>
          <a:p>
            <a:r>
              <a:rPr lang="en-US" sz="2000" dirty="0">
                <a:latin typeface="Times New Roman" panose="02020603050405020304" pitchFamily="18" charset="0"/>
                <a:cs typeface="Times New Roman" panose="02020603050405020304" pitchFamily="18" charset="0"/>
              </a:rPr>
              <a:t>#cat &gt;&gt;file1</a:t>
            </a:r>
          </a:p>
          <a:p>
            <a:r>
              <a:rPr lang="en-US" sz="2000" dirty="0">
                <a:latin typeface="Times New Roman" panose="02020603050405020304" pitchFamily="18" charset="0"/>
                <a:cs typeface="Times New Roman" panose="02020603050405020304" pitchFamily="18" charset="0"/>
              </a:rPr>
              <a:t>#vim filename</a:t>
            </a:r>
          </a:p>
          <a:p>
            <a:r>
              <a:rPr lang="en-US" sz="2000" dirty="0">
                <a:latin typeface="Times New Roman" panose="02020603050405020304" pitchFamily="18" charset="0"/>
                <a:cs typeface="Times New Roman" panose="02020603050405020304" pitchFamily="18" charset="0"/>
              </a:rPr>
              <a:t>Cat (Concatenate), cat command is used for multiple purpose, for creating, appending, reading, merging file.</a:t>
            </a:r>
          </a:p>
        </p:txBody>
      </p:sp>
      <p:sp>
        <p:nvSpPr>
          <p:cNvPr id="5" name="TextBox 4">
            <a:extLst>
              <a:ext uri="{FF2B5EF4-FFF2-40B4-BE49-F238E27FC236}">
                <a16:creationId xmlns:a16="http://schemas.microsoft.com/office/drawing/2014/main" id="{88881DB5-C685-D584-436D-627F31870E41}"/>
              </a:ext>
            </a:extLst>
          </p:cNvPr>
          <p:cNvSpPr txBox="1"/>
          <p:nvPr/>
        </p:nvSpPr>
        <p:spPr>
          <a:xfrm>
            <a:off x="433889" y="641976"/>
            <a:ext cx="7623587" cy="707886"/>
          </a:xfrm>
          <a:prstGeom prst="rect">
            <a:avLst/>
          </a:prstGeom>
          <a:noFill/>
        </p:spPr>
        <p:txBody>
          <a:bodyPr wrap="square">
            <a:spAutoFit/>
          </a:bodyPr>
          <a:lstStyle/>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touch</a:t>
            </a:r>
            <a:r>
              <a:rPr lang="en-US" sz="2000" dirty="0">
                <a:latin typeface="Times New Roman" panose="02020603050405020304" pitchFamily="18" charset="0"/>
                <a:cs typeface="Times New Roman" panose="02020603050405020304" pitchFamily="18" charset="0"/>
              </a:rPr>
              <a:t> command normally update the timestamp without modifying the file and also used for creating empty file.</a:t>
            </a:r>
          </a:p>
        </p:txBody>
      </p:sp>
      <p:sp>
        <p:nvSpPr>
          <p:cNvPr id="6" name="Rectangle 5"/>
          <p:cNvSpPr/>
          <p:nvPr/>
        </p:nvSpPr>
        <p:spPr>
          <a:xfrm>
            <a:off x="2479701" y="0"/>
            <a:ext cx="4604146" cy="553998"/>
          </a:xfrm>
          <a:prstGeom prst="rect">
            <a:avLst/>
          </a:prstGeom>
        </p:spPr>
        <p:txBody>
          <a:bodyPr wrap="none">
            <a:spAutoFit/>
          </a:bodyPr>
          <a:lstStyle/>
          <a:p>
            <a:r>
              <a:rPr lang="en-US" sz="3000" dirty="0">
                <a:solidFill>
                  <a:srgbClr val="C00000"/>
                </a:solidFill>
                <a:latin typeface="Times New Roman" panose="02020603050405020304" pitchFamily="18" charset="0"/>
                <a:cs typeface="Times New Roman" panose="02020603050405020304" pitchFamily="18" charset="0"/>
              </a:rPr>
              <a:t>managing files and directory</a:t>
            </a:r>
            <a:endParaRPr lang="en-US" sz="3000" dirty="0"/>
          </a:p>
        </p:txBody>
      </p:sp>
    </p:spTree>
    <p:extLst>
      <p:ext uri="{BB962C8B-B14F-4D97-AF65-F5344CB8AC3E}">
        <p14:creationId xmlns:p14="http://schemas.microsoft.com/office/powerpoint/2010/main" val="35313098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38200" y="1694844"/>
            <a:ext cx="7303008" cy="2246769"/>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It also copy multiples files to a directory.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cp source_file_name destination_path Copy a file.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cp file1 file2 destination directory_path Copy multiple file, destination must be directory.</a:t>
            </a:r>
          </a:p>
          <a:p>
            <a:endParaRPr lang="en-US"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591312" y="665322"/>
            <a:ext cx="7613904" cy="707886"/>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cp</a:t>
            </a:r>
            <a:r>
              <a:rPr lang="en-US" sz="2000" dirty="0">
                <a:latin typeface="Times New Roman" panose="02020603050405020304" pitchFamily="18" charset="0"/>
                <a:cs typeface="Times New Roman" panose="02020603050405020304" pitchFamily="18" charset="0"/>
              </a:rPr>
              <a:t> (copy) command copies a file, creating a new file either in the current directory or in specified directory. </a:t>
            </a:r>
          </a:p>
        </p:txBody>
      </p:sp>
      <p:sp>
        <p:nvSpPr>
          <p:cNvPr id="5" name="Rectangle 4"/>
          <p:cNvSpPr/>
          <p:nvPr/>
        </p:nvSpPr>
        <p:spPr>
          <a:xfrm>
            <a:off x="2479701" y="0"/>
            <a:ext cx="4604146" cy="553998"/>
          </a:xfrm>
          <a:prstGeom prst="rect">
            <a:avLst/>
          </a:prstGeom>
        </p:spPr>
        <p:txBody>
          <a:bodyPr wrap="none">
            <a:spAutoFit/>
          </a:bodyPr>
          <a:lstStyle/>
          <a:p>
            <a:r>
              <a:rPr lang="en-US" sz="3000" dirty="0">
                <a:solidFill>
                  <a:srgbClr val="C00000"/>
                </a:solidFill>
                <a:latin typeface="Times New Roman" panose="02020603050405020304" pitchFamily="18" charset="0"/>
                <a:cs typeface="Times New Roman" panose="02020603050405020304" pitchFamily="18" charset="0"/>
              </a:rPr>
              <a:t>managing files and directory</a:t>
            </a:r>
            <a:endParaRPr lang="en-US" sz="3000" dirty="0"/>
          </a:p>
        </p:txBody>
      </p:sp>
    </p:spTree>
    <p:extLst>
      <p:ext uri="{BB962C8B-B14F-4D97-AF65-F5344CB8AC3E}">
        <p14:creationId xmlns:p14="http://schemas.microsoft.com/office/powerpoint/2010/main" val="23352871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86522" y="1242487"/>
            <a:ext cx="7078532" cy="3785652"/>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#mv file 1 file2 </a:t>
            </a:r>
          </a:p>
          <a:p>
            <a:r>
              <a:rPr lang="en-US" sz="2000" dirty="0">
                <a:latin typeface="Times New Roman" panose="02020603050405020304" pitchFamily="18" charset="0"/>
                <a:cs typeface="Times New Roman" panose="02020603050405020304" pitchFamily="18" charset="0"/>
              </a:rPr>
              <a:t>File1 will be renamed by file2 if same location.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#mv file1 file2 </a:t>
            </a:r>
            <a:r>
              <a:rPr lang="en-US" sz="2000" dirty="0" err="1">
                <a:latin typeface="Times New Roman" panose="02020603050405020304" pitchFamily="18" charset="0"/>
                <a:cs typeface="Times New Roman" panose="02020603050405020304" pitchFamily="18" charset="0"/>
              </a:rPr>
              <a:t>destination_path</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File will move from one location to another.</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mv dir1 dir2 </a:t>
            </a:r>
          </a:p>
          <a:p>
            <a:r>
              <a:rPr lang="en-US" sz="2000" dirty="0">
                <a:latin typeface="Times New Roman" panose="02020603050405020304" pitchFamily="18" charset="0"/>
                <a:cs typeface="Times New Roman" panose="02020603050405020304" pitchFamily="18" charset="0"/>
              </a:rPr>
              <a:t>If dir2 is present then it will move, and if dir2 is not available then it will rename.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mv dir1 dir2 dir3 </a:t>
            </a:r>
          </a:p>
          <a:p>
            <a:r>
              <a:rPr lang="en-US" sz="2000" dirty="0">
                <a:latin typeface="Times New Roman" panose="02020603050405020304" pitchFamily="18" charset="0"/>
                <a:cs typeface="Times New Roman" panose="02020603050405020304" pitchFamily="18" charset="0"/>
              </a:rPr>
              <a:t>Dir1 and dir2 will be moved to dir3</a:t>
            </a:r>
          </a:p>
        </p:txBody>
      </p:sp>
      <p:sp>
        <p:nvSpPr>
          <p:cNvPr id="4" name="Rectangle 3"/>
          <p:cNvSpPr/>
          <p:nvPr/>
        </p:nvSpPr>
        <p:spPr>
          <a:xfrm>
            <a:off x="2479701" y="0"/>
            <a:ext cx="4604146" cy="553998"/>
          </a:xfrm>
          <a:prstGeom prst="rect">
            <a:avLst/>
          </a:prstGeom>
        </p:spPr>
        <p:txBody>
          <a:bodyPr wrap="none">
            <a:spAutoFit/>
          </a:bodyPr>
          <a:lstStyle/>
          <a:p>
            <a:r>
              <a:rPr lang="en-US" sz="3000" dirty="0">
                <a:solidFill>
                  <a:srgbClr val="C00000"/>
                </a:solidFill>
                <a:latin typeface="Times New Roman" panose="02020603050405020304" pitchFamily="18" charset="0"/>
                <a:cs typeface="Times New Roman" panose="02020603050405020304" pitchFamily="18" charset="0"/>
              </a:rPr>
              <a:t>managing files and directory</a:t>
            </a:r>
            <a:endParaRPr lang="en-US" sz="3000" dirty="0"/>
          </a:p>
        </p:txBody>
      </p:sp>
      <p:sp>
        <p:nvSpPr>
          <p:cNvPr id="5" name="Rectangle 4"/>
          <p:cNvSpPr/>
          <p:nvPr/>
        </p:nvSpPr>
        <p:spPr>
          <a:xfrm>
            <a:off x="467957" y="553998"/>
            <a:ext cx="7514217" cy="707886"/>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mv</a:t>
            </a:r>
            <a:r>
              <a:rPr lang="en-US" sz="2000" dirty="0">
                <a:latin typeface="Times New Roman" panose="02020603050405020304" pitchFamily="18" charset="0"/>
                <a:cs typeface="Times New Roman" panose="02020603050405020304" pitchFamily="18" charset="0"/>
              </a:rPr>
              <a:t> (move) command is used for couple of purpose, for moving and renaming a file or directory.</a:t>
            </a:r>
          </a:p>
        </p:txBody>
      </p:sp>
    </p:spTree>
    <p:extLst>
      <p:ext uri="{BB962C8B-B14F-4D97-AF65-F5344CB8AC3E}">
        <p14:creationId xmlns:p14="http://schemas.microsoft.com/office/powerpoint/2010/main" val="11652513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712890"/>
            <a:ext cx="7704000" cy="572700"/>
          </a:xfrm>
        </p:spPr>
        <p:txBody>
          <a:bodyPr/>
          <a:lstStyle/>
          <a:p>
            <a:r>
              <a:rPr lang="en-US" sz="2000" dirty="0">
                <a:latin typeface="Times New Roman" panose="02020603050405020304" pitchFamily="18" charset="0"/>
                <a:cs typeface="Times New Roman" panose="02020603050405020304" pitchFamily="18" charset="0"/>
              </a:rPr>
              <a:t>rm</a:t>
            </a:r>
            <a:r>
              <a:rPr lang="en-US" sz="2000" b="0" dirty="0">
                <a:latin typeface="Times New Roman" panose="02020603050405020304" pitchFamily="18" charset="0"/>
                <a:cs typeface="Times New Roman" panose="02020603050405020304" pitchFamily="18" charset="0"/>
              </a:rPr>
              <a:t> (remove) command is used for removing file and directories with option. rmdir command is also used for removing empty directory.</a:t>
            </a:r>
            <a:endParaRPr lang="en-US" sz="2000" b="0" dirty="0"/>
          </a:p>
        </p:txBody>
      </p:sp>
      <p:sp>
        <p:nvSpPr>
          <p:cNvPr id="3" name="Rectangle 2"/>
          <p:cNvSpPr/>
          <p:nvPr/>
        </p:nvSpPr>
        <p:spPr>
          <a:xfrm>
            <a:off x="1298448" y="1568806"/>
            <a:ext cx="6547104" cy="3477875"/>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 rm -r directory_name</a:t>
            </a:r>
          </a:p>
          <a:p>
            <a:r>
              <a:rPr lang="en-US" sz="2000" dirty="0">
                <a:latin typeface="Times New Roman" panose="02020603050405020304" pitchFamily="18" charset="0"/>
                <a:cs typeface="Times New Roman" panose="02020603050405020304" pitchFamily="18" charset="0"/>
              </a:rPr>
              <a:t>Remove the directory or file by specifying file name.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rm -rvf directory_name</a:t>
            </a:r>
          </a:p>
          <a:p>
            <a:r>
              <a:rPr lang="en-US" sz="2000" dirty="0">
                <a:latin typeface="Times New Roman" panose="02020603050405020304" pitchFamily="18" charset="0"/>
                <a:cs typeface="Times New Roman" panose="02020603050405020304" pitchFamily="18" charset="0"/>
              </a:rPr>
              <a:t>Remove the directory or file forcefully.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rm -rvf </a:t>
            </a:r>
            <a:r>
              <a:rPr lang="en-US" sz="2000" dirty="0" err="1">
                <a:latin typeface="Times New Roman" panose="02020603050405020304" pitchFamily="18" charset="0"/>
                <a:cs typeface="Times New Roman" panose="02020603050405020304" pitchFamily="18" charset="0"/>
              </a:rPr>
              <a:t>dir</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Remove the all directory which is starting with dir.</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rmdir directory name</a:t>
            </a:r>
          </a:p>
          <a:p>
            <a:r>
              <a:rPr lang="en-US" sz="2000" dirty="0">
                <a:latin typeface="Times New Roman" panose="02020603050405020304" pitchFamily="18" charset="0"/>
                <a:cs typeface="Times New Roman" panose="02020603050405020304" pitchFamily="18" charset="0"/>
              </a:rPr>
              <a:t>Remove the empty directory</a:t>
            </a:r>
          </a:p>
        </p:txBody>
      </p:sp>
      <p:sp>
        <p:nvSpPr>
          <p:cNvPr id="4" name="Rectangle 3"/>
          <p:cNvSpPr/>
          <p:nvPr/>
        </p:nvSpPr>
        <p:spPr>
          <a:xfrm>
            <a:off x="2479701" y="0"/>
            <a:ext cx="4604146" cy="553998"/>
          </a:xfrm>
          <a:prstGeom prst="rect">
            <a:avLst/>
          </a:prstGeom>
        </p:spPr>
        <p:txBody>
          <a:bodyPr wrap="none">
            <a:spAutoFit/>
          </a:bodyPr>
          <a:lstStyle/>
          <a:p>
            <a:r>
              <a:rPr lang="en-US" sz="3000" dirty="0">
                <a:solidFill>
                  <a:srgbClr val="C00000"/>
                </a:solidFill>
                <a:latin typeface="Times New Roman" panose="02020603050405020304" pitchFamily="18" charset="0"/>
                <a:cs typeface="Times New Roman" panose="02020603050405020304" pitchFamily="18" charset="0"/>
              </a:rPr>
              <a:t>managing files and directory</a:t>
            </a:r>
            <a:endParaRPr lang="en-US" sz="3000" dirty="0"/>
          </a:p>
        </p:txBody>
      </p:sp>
    </p:spTree>
    <p:extLst>
      <p:ext uri="{BB962C8B-B14F-4D97-AF65-F5344CB8AC3E}">
        <p14:creationId xmlns:p14="http://schemas.microsoft.com/office/powerpoint/2010/main" val="28510289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VIM Editor</a:t>
            </a:r>
          </a:p>
        </p:txBody>
      </p:sp>
      <p:sp>
        <p:nvSpPr>
          <p:cNvPr id="3" name="Rectangle 2"/>
          <p:cNvSpPr/>
          <p:nvPr/>
        </p:nvSpPr>
        <p:spPr>
          <a:xfrm>
            <a:off x="720000" y="1350907"/>
            <a:ext cx="8058240" cy="2554545"/>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Vim (Visual Interface Improved) is a powerful command line-based text editor that has enhanced the functionalities of the old Vi text editor.</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It is one the most popular and widely used by programmer.</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You can use </a:t>
            </a:r>
            <a:r>
              <a:rPr lang="en-US" sz="2000" dirty="0" err="1">
                <a:latin typeface="Times New Roman" panose="02020603050405020304" pitchFamily="18" charset="0"/>
                <a:cs typeface="Times New Roman" panose="02020603050405020304" pitchFamily="18" charset="0"/>
              </a:rPr>
              <a:t>vimtutor</a:t>
            </a:r>
            <a:r>
              <a:rPr lang="en-US" sz="2000" dirty="0">
                <a:latin typeface="Times New Roman" panose="02020603050405020304" pitchFamily="18" charset="0"/>
                <a:cs typeface="Times New Roman" panose="02020603050405020304" pitchFamily="18" charset="0"/>
              </a:rPr>
              <a:t> command in terminal to learn more about VIM</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It have special color feature when you will edit any configurations file.</a:t>
            </a:r>
          </a:p>
        </p:txBody>
      </p:sp>
      <p:sp>
        <p:nvSpPr>
          <p:cNvPr id="4" name="Rectangle 3"/>
          <p:cNvSpPr/>
          <p:nvPr/>
        </p:nvSpPr>
        <p:spPr>
          <a:xfrm>
            <a:off x="720000" y="3961635"/>
            <a:ext cx="2615185" cy="553998"/>
          </a:xfrm>
          <a:prstGeom prst="rect">
            <a:avLst/>
          </a:prstGeom>
        </p:spPr>
        <p:txBody>
          <a:bodyPr wrap="square">
            <a:spAutoFit/>
          </a:bodyPr>
          <a:lstStyle/>
          <a:p>
            <a:r>
              <a:rPr lang="en-US" sz="3000" dirty="0">
                <a:latin typeface="Times New Roman" panose="02020603050405020304" pitchFamily="18" charset="0"/>
                <a:cs typeface="Times New Roman" panose="02020603050405020304" pitchFamily="18" charset="0"/>
              </a:rPr>
              <a:t>#</a:t>
            </a:r>
            <a:r>
              <a:rPr lang="en-US" sz="3000" dirty="0" err="1">
                <a:latin typeface="Times New Roman" panose="02020603050405020304" pitchFamily="18" charset="0"/>
                <a:cs typeface="Times New Roman" panose="02020603050405020304" pitchFamily="18" charset="0"/>
              </a:rPr>
              <a:t>vimtutor</a:t>
            </a: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65874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85904791"/>
              </p:ext>
            </p:extLst>
          </p:nvPr>
        </p:nvGraphicFramePr>
        <p:xfrm>
          <a:off x="1054100" y="1200968"/>
          <a:ext cx="7035800" cy="3167829"/>
        </p:xfrm>
        <a:graphic>
          <a:graphicData uri="http://schemas.openxmlformats.org/drawingml/2006/table">
            <a:tbl>
              <a:tblPr firstRow="1" bandRow="1">
                <a:tableStyleId>{72833802-FEF1-4C79-8D5D-14CF1EAF98D9}</a:tableStyleId>
              </a:tblPr>
              <a:tblGrid>
                <a:gridCol w="1651000">
                  <a:extLst>
                    <a:ext uri="{9D8B030D-6E8A-4147-A177-3AD203B41FA5}">
                      <a16:colId xmlns:a16="http://schemas.microsoft.com/office/drawing/2014/main" val="1619340219"/>
                    </a:ext>
                  </a:extLst>
                </a:gridCol>
                <a:gridCol w="5384800">
                  <a:extLst>
                    <a:ext uri="{9D8B030D-6E8A-4147-A177-3AD203B41FA5}">
                      <a16:colId xmlns:a16="http://schemas.microsoft.com/office/drawing/2014/main" val="936889482"/>
                    </a:ext>
                  </a:extLst>
                </a:gridCol>
              </a:tblGrid>
              <a:tr h="452547">
                <a:tc>
                  <a:txBody>
                    <a:bodyPr/>
                    <a:lstStyle/>
                    <a:p>
                      <a:pPr algn="ctr"/>
                      <a:r>
                        <a:rPr lang="en-US" sz="2000" dirty="0"/>
                        <a:t>Key</a:t>
                      </a:r>
                      <a:endParaRPr lang="en-US" sz="2000" b="1" dirty="0">
                        <a:latin typeface="Times New Roman" panose="02020603050405020304" pitchFamily="18" charset="0"/>
                        <a:cs typeface="Times New Roman" panose="02020603050405020304" pitchFamily="18" charset="0"/>
                      </a:endParaRPr>
                    </a:p>
                  </a:txBody>
                  <a:tcPr/>
                </a:tc>
                <a:tc>
                  <a:txBody>
                    <a:bodyPr/>
                    <a:lstStyle/>
                    <a:p>
                      <a:pPr algn="ctr"/>
                      <a:r>
                        <a:rPr lang="en-US" sz="2000" dirty="0"/>
                        <a:t>Description</a:t>
                      </a:r>
                      <a:endParaRPr lang="en-US"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10638690"/>
                  </a:ext>
                </a:extLst>
              </a:tr>
              <a:tr h="452547">
                <a:tc>
                  <a:txBody>
                    <a:bodyPr/>
                    <a:lstStyle/>
                    <a:p>
                      <a:pPr algn="ctr"/>
                      <a:r>
                        <a:rPr lang="en-US" sz="2000" dirty="0"/>
                        <a:t>i</a:t>
                      </a:r>
                      <a:endParaRPr lang="en-US" sz="2000" dirty="0">
                        <a:latin typeface="Times New Roman" panose="02020603050405020304" pitchFamily="18" charset="0"/>
                        <a:cs typeface="Times New Roman" panose="02020603050405020304" pitchFamily="18" charset="0"/>
                      </a:endParaRPr>
                    </a:p>
                  </a:txBody>
                  <a:tcPr/>
                </a:tc>
                <a:tc>
                  <a:txBody>
                    <a:bodyPr/>
                    <a:lstStyle/>
                    <a:p>
                      <a:pPr algn="l"/>
                      <a:r>
                        <a:rPr lang="en-US" sz="2000" dirty="0"/>
                        <a:t>insert the text at current cursor position</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11870826"/>
                  </a:ext>
                </a:extLst>
              </a:tr>
              <a:tr h="452547">
                <a:tc>
                  <a:txBody>
                    <a:bodyPr/>
                    <a:lstStyle/>
                    <a:p>
                      <a:pPr algn="ctr"/>
                      <a:r>
                        <a:rPr lang="en-US" sz="2000" dirty="0"/>
                        <a:t>I</a:t>
                      </a:r>
                      <a:endParaRPr lang="en-US" sz="2000" dirty="0">
                        <a:latin typeface="Times New Roman" panose="02020603050405020304" pitchFamily="18" charset="0"/>
                        <a:cs typeface="Times New Roman" panose="02020603050405020304" pitchFamily="18" charset="0"/>
                      </a:endParaRPr>
                    </a:p>
                  </a:txBody>
                  <a:tcPr/>
                </a:tc>
                <a:tc>
                  <a:txBody>
                    <a:bodyPr/>
                    <a:lstStyle/>
                    <a:p>
                      <a:pPr algn="l"/>
                      <a:r>
                        <a:rPr lang="en-US" sz="2000" dirty="0"/>
                        <a:t>inserts the text at the beginning of the line</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49388345"/>
                  </a:ext>
                </a:extLst>
              </a:tr>
              <a:tr h="452547">
                <a:tc>
                  <a:txBody>
                    <a:bodyPr/>
                    <a:lstStyle/>
                    <a:p>
                      <a:pPr algn="ctr"/>
                      <a:r>
                        <a:rPr lang="en-US" sz="2000" dirty="0"/>
                        <a:t>a</a:t>
                      </a:r>
                      <a:endParaRPr lang="en-US" sz="2000" dirty="0">
                        <a:latin typeface="Times New Roman" panose="02020603050405020304" pitchFamily="18" charset="0"/>
                        <a:cs typeface="Times New Roman" panose="02020603050405020304" pitchFamily="18" charset="0"/>
                      </a:endParaRPr>
                    </a:p>
                  </a:txBody>
                  <a:tcPr/>
                </a:tc>
                <a:tc>
                  <a:txBody>
                    <a:bodyPr/>
                    <a:lstStyle/>
                    <a:p>
                      <a:pPr algn="l"/>
                      <a:r>
                        <a:rPr lang="en-US" sz="2000" dirty="0"/>
                        <a:t>appends the text after cursor position</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7441012"/>
                  </a:ext>
                </a:extLst>
              </a:tr>
              <a:tr h="452547">
                <a:tc>
                  <a:txBody>
                    <a:bodyPr/>
                    <a:lstStyle/>
                    <a:p>
                      <a:pPr algn="ctr"/>
                      <a:r>
                        <a:rPr lang="en-US" sz="2000" dirty="0"/>
                        <a:t>A</a:t>
                      </a:r>
                      <a:endParaRPr lang="en-US" sz="2000" dirty="0">
                        <a:latin typeface="Times New Roman" panose="02020603050405020304" pitchFamily="18" charset="0"/>
                        <a:cs typeface="Times New Roman" panose="02020603050405020304" pitchFamily="18" charset="0"/>
                      </a:endParaRPr>
                    </a:p>
                  </a:txBody>
                  <a:tcPr/>
                </a:tc>
                <a:tc>
                  <a:txBody>
                    <a:bodyPr/>
                    <a:lstStyle/>
                    <a:p>
                      <a:pPr algn="l"/>
                      <a:r>
                        <a:rPr lang="en-US" sz="2000" dirty="0"/>
                        <a:t>appends the text at the end of line</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96264974"/>
                  </a:ext>
                </a:extLst>
              </a:tr>
              <a:tr h="452547">
                <a:tc>
                  <a:txBody>
                    <a:bodyPr/>
                    <a:lstStyle/>
                    <a:p>
                      <a:pPr algn="ctr"/>
                      <a:r>
                        <a:rPr lang="en-US" sz="2000" dirty="0"/>
                        <a:t>o</a:t>
                      </a:r>
                      <a:endParaRPr lang="en-US" sz="2000" dirty="0">
                        <a:latin typeface="Times New Roman" panose="02020603050405020304" pitchFamily="18" charset="0"/>
                        <a:cs typeface="Times New Roman" panose="02020603050405020304" pitchFamily="18" charset="0"/>
                      </a:endParaRPr>
                    </a:p>
                  </a:txBody>
                  <a:tcPr/>
                </a:tc>
                <a:tc>
                  <a:txBody>
                    <a:bodyPr/>
                    <a:lstStyle/>
                    <a:p>
                      <a:pPr algn="l"/>
                      <a:r>
                        <a:rPr lang="en-US" sz="2000" dirty="0"/>
                        <a:t>inserts a line below current cursor position</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76772612"/>
                  </a:ext>
                </a:extLst>
              </a:tr>
              <a:tr h="452547">
                <a:tc>
                  <a:txBody>
                    <a:bodyPr/>
                    <a:lstStyle/>
                    <a:p>
                      <a:pPr algn="ctr"/>
                      <a:r>
                        <a:rPr lang="en-US" sz="2000" dirty="0"/>
                        <a:t>O</a:t>
                      </a:r>
                      <a:endParaRPr lang="en-US" sz="2000" dirty="0">
                        <a:latin typeface="Times New Roman" panose="02020603050405020304" pitchFamily="18" charset="0"/>
                        <a:cs typeface="Times New Roman" panose="02020603050405020304" pitchFamily="18" charset="0"/>
                      </a:endParaRPr>
                    </a:p>
                  </a:txBody>
                  <a:tcPr/>
                </a:tc>
                <a:tc>
                  <a:txBody>
                    <a:bodyPr/>
                    <a:lstStyle/>
                    <a:p>
                      <a:pPr algn="l"/>
                      <a:r>
                        <a:rPr lang="en-US" sz="2000" dirty="0"/>
                        <a:t>insert the line above current cursor position</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53986373"/>
                  </a:ext>
                </a:extLst>
              </a:tr>
            </a:tbl>
          </a:graphicData>
        </a:graphic>
      </p:graphicFrame>
      <p:sp>
        <p:nvSpPr>
          <p:cNvPr id="3" name="Title 1">
            <a:extLst>
              <a:ext uri="{FF2B5EF4-FFF2-40B4-BE49-F238E27FC236}">
                <a16:creationId xmlns:a16="http://schemas.microsoft.com/office/drawing/2014/main" id="{540FE753-6A7F-CB7F-A289-20B5C41CD444}"/>
              </a:ext>
            </a:extLst>
          </p:cNvPr>
          <p:cNvSpPr txBox="1">
            <a:spLocks/>
          </p:cNvSpPr>
          <p:nvPr/>
        </p:nvSpPr>
        <p:spPr>
          <a:xfrm>
            <a:off x="707300" y="21771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pPr algn="ctr"/>
            <a:r>
              <a:rPr lang="en-US" dirty="0">
                <a:latin typeface="Times New Roman" panose="02020603050405020304" pitchFamily="18" charset="0"/>
                <a:cs typeface="Times New Roman" panose="02020603050405020304" pitchFamily="18" charset="0"/>
              </a:rPr>
              <a:t>VIM- Command Mode</a:t>
            </a:r>
          </a:p>
        </p:txBody>
      </p:sp>
    </p:spTree>
    <p:extLst>
      <p:ext uri="{BB962C8B-B14F-4D97-AF65-F5344CB8AC3E}">
        <p14:creationId xmlns:p14="http://schemas.microsoft.com/office/powerpoint/2010/main" val="2844507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EEC21AA-B8F7-3EFE-E26B-2F36BCC870B7}"/>
              </a:ext>
            </a:extLst>
          </p:cNvPr>
          <p:cNvGraphicFramePr>
            <a:graphicFrameLocks noGrp="1"/>
          </p:cNvGraphicFramePr>
          <p:nvPr>
            <p:extLst>
              <p:ext uri="{D42A27DB-BD31-4B8C-83A1-F6EECF244321}">
                <p14:modId xmlns:p14="http://schemas.microsoft.com/office/powerpoint/2010/main" val="3140120677"/>
              </p:ext>
            </p:extLst>
          </p:nvPr>
        </p:nvGraphicFramePr>
        <p:xfrm>
          <a:off x="3359623" y="896131"/>
          <a:ext cx="5196985" cy="2847856"/>
        </p:xfrm>
        <a:graphic>
          <a:graphicData uri="http://schemas.openxmlformats.org/drawingml/2006/table">
            <a:tbl>
              <a:tblPr firstRow="1" bandRow="1">
                <a:tableStyleId>{72833802-FEF1-4C79-8D5D-14CF1EAF98D9}</a:tableStyleId>
              </a:tblPr>
              <a:tblGrid>
                <a:gridCol w="747392">
                  <a:extLst>
                    <a:ext uri="{9D8B030D-6E8A-4147-A177-3AD203B41FA5}">
                      <a16:colId xmlns:a16="http://schemas.microsoft.com/office/drawing/2014/main" val="3743941668"/>
                    </a:ext>
                  </a:extLst>
                </a:gridCol>
                <a:gridCol w="4449593">
                  <a:extLst>
                    <a:ext uri="{9D8B030D-6E8A-4147-A177-3AD203B41FA5}">
                      <a16:colId xmlns:a16="http://schemas.microsoft.com/office/drawing/2014/main" val="3698752986"/>
                    </a:ext>
                  </a:extLst>
                </a:gridCol>
              </a:tblGrid>
              <a:tr h="371693">
                <a:tc>
                  <a:txBody>
                    <a:bodyPr/>
                    <a:lstStyle/>
                    <a:p>
                      <a:pPr algn="ctr"/>
                      <a:r>
                        <a:rPr lang="en-US" sz="2000" dirty="0">
                          <a:latin typeface="Times New Roman" panose="02020603050405020304" pitchFamily="18" charset="0"/>
                          <a:cs typeface="Times New Roman" panose="02020603050405020304" pitchFamily="18" charset="0"/>
                        </a:rPr>
                        <a:t>Key</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Description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09121369"/>
                  </a:ext>
                </a:extLst>
              </a:tr>
              <a:tr h="330634">
                <a:tc>
                  <a:txBody>
                    <a:bodyPr/>
                    <a:lstStyle/>
                    <a:p>
                      <a:pPr algn="ctr"/>
                      <a:r>
                        <a:rPr lang="en-US" sz="2000" dirty="0">
                          <a:latin typeface="Times New Roman" panose="02020603050405020304" pitchFamily="18" charset="0"/>
                          <a:cs typeface="Times New Roman" panose="02020603050405020304" pitchFamily="18" charset="0"/>
                        </a:rPr>
                        <a:t>h</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Cursor move left one position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2951095"/>
                  </a:ext>
                </a:extLst>
              </a:tr>
              <a:tr h="330634">
                <a:tc>
                  <a:txBody>
                    <a:bodyPr/>
                    <a:lstStyle/>
                    <a:p>
                      <a:pPr algn="ctr"/>
                      <a:r>
                        <a:rPr lang="en-US" sz="2000" dirty="0">
                          <a:latin typeface="Times New Roman" panose="02020603050405020304" pitchFamily="18" charset="0"/>
                          <a:cs typeface="Times New Roman" panose="02020603050405020304" pitchFamily="18" charset="0"/>
                        </a:rPr>
                        <a:t>l</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Cursor move right one position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89375558"/>
                  </a:ext>
                </a:extLst>
              </a:tr>
              <a:tr h="421987">
                <a:tc>
                  <a:txBody>
                    <a:bodyPr/>
                    <a:lstStyle/>
                    <a:p>
                      <a:pPr algn="ctr"/>
                      <a:r>
                        <a:rPr lang="en-US" sz="2000" dirty="0">
                          <a:latin typeface="Times New Roman" panose="02020603050405020304" pitchFamily="18" charset="0"/>
                          <a:cs typeface="Times New Roman" panose="02020603050405020304" pitchFamily="18" charset="0"/>
                        </a:rPr>
                        <a:t>j</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Cursor move down one position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0430150"/>
                  </a:ext>
                </a:extLst>
              </a:tr>
              <a:tr h="334404">
                <a:tc>
                  <a:txBody>
                    <a:bodyPr/>
                    <a:lstStyle/>
                    <a:p>
                      <a:pPr algn="ctr"/>
                      <a:r>
                        <a:rPr lang="en-US" sz="2000" dirty="0">
                          <a:latin typeface="Times New Roman" panose="02020603050405020304" pitchFamily="18" charset="0"/>
                          <a:cs typeface="Times New Roman" panose="02020603050405020304" pitchFamily="18" charset="0"/>
                        </a:rPr>
                        <a:t>k</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Cursor move up one position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91655105"/>
                  </a:ext>
                </a:extLst>
              </a:tr>
              <a:tr h="330634">
                <a:tc>
                  <a:txBody>
                    <a:bodyPr/>
                    <a:lstStyle/>
                    <a:p>
                      <a:pPr algn="ct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Cursor move to the end of the line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18540791"/>
                  </a:ext>
                </a:extLst>
              </a:tr>
              <a:tr h="444669">
                <a:tc>
                  <a:txBody>
                    <a:bodyPr/>
                    <a:lstStyle/>
                    <a:p>
                      <a:pPr algn="ctr"/>
                      <a:r>
                        <a:rPr lang="en-US" sz="2000" dirty="0">
                          <a:latin typeface="Times New Roman" panose="02020603050405020304" pitchFamily="18" charset="0"/>
                          <a:cs typeface="Times New Roman" panose="02020603050405020304" pitchFamily="18" charset="0"/>
                        </a:rPr>
                        <a:t>gg</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Cursor move to first line of documents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37683059"/>
                  </a:ext>
                </a:extLst>
              </a:tr>
            </a:tbl>
          </a:graphicData>
        </a:graphic>
      </p:graphicFrame>
      <p:sp>
        <p:nvSpPr>
          <p:cNvPr id="10" name="Title 1">
            <a:extLst>
              <a:ext uri="{FF2B5EF4-FFF2-40B4-BE49-F238E27FC236}">
                <a16:creationId xmlns:a16="http://schemas.microsoft.com/office/drawing/2014/main" id="{7B322A8D-8E5B-04BC-8FFD-0AF507A18C67}"/>
              </a:ext>
            </a:extLst>
          </p:cNvPr>
          <p:cNvSpPr>
            <a:spLocks noGrp="1"/>
          </p:cNvSpPr>
          <p:nvPr>
            <p:ph type="title"/>
          </p:nvPr>
        </p:nvSpPr>
        <p:spPr>
          <a:xfrm>
            <a:off x="0" y="1439636"/>
            <a:ext cx="3185886" cy="1132114"/>
          </a:xfrm>
        </p:spPr>
        <p:txBody>
          <a:bodyPr/>
          <a:lstStyle/>
          <a:p>
            <a:pPr algn="ctr"/>
            <a:r>
              <a:rPr lang="en-US" dirty="0">
                <a:latin typeface="Times New Roman" panose="02020603050405020304" pitchFamily="18" charset="0"/>
                <a:cs typeface="Times New Roman" panose="02020603050405020304" pitchFamily="18" charset="0"/>
              </a:rPr>
              <a:t>VIM- Command Mode</a:t>
            </a:r>
          </a:p>
        </p:txBody>
      </p:sp>
    </p:spTree>
    <p:extLst>
      <p:ext uri="{BB962C8B-B14F-4D97-AF65-F5344CB8AC3E}">
        <p14:creationId xmlns:p14="http://schemas.microsoft.com/office/powerpoint/2010/main" val="21961452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39636"/>
            <a:ext cx="3185886" cy="1132114"/>
          </a:xfrm>
        </p:spPr>
        <p:txBody>
          <a:bodyPr/>
          <a:lstStyle/>
          <a:p>
            <a:pPr algn="ctr"/>
            <a:r>
              <a:rPr lang="en-US" dirty="0">
                <a:latin typeface="Times New Roman" panose="02020603050405020304" pitchFamily="18" charset="0"/>
                <a:cs typeface="Times New Roman" panose="02020603050405020304" pitchFamily="18" charset="0"/>
              </a:rPr>
              <a:t>VIM- Command Mode</a:t>
            </a:r>
          </a:p>
        </p:txBody>
      </p:sp>
      <p:graphicFrame>
        <p:nvGraphicFramePr>
          <p:cNvPr id="3" name="Table 2"/>
          <p:cNvGraphicFramePr>
            <a:graphicFrameLocks noGrp="1"/>
          </p:cNvGraphicFramePr>
          <p:nvPr>
            <p:extLst>
              <p:ext uri="{D42A27DB-BD31-4B8C-83A1-F6EECF244321}">
                <p14:modId xmlns:p14="http://schemas.microsoft.com/office/powerpoint/2010/main" val="2347711938"/>
              </p:ext>
            </p:extLst>
          </p:nvPr>
        </p:nvGraphicFramePr>
        <p:xfrm>
          <a:off x="3410859" y="246743"/>
          <a:ext cx="5094514" cy="4572000"/>
        </p:xfrm>
        <a:graphic>
          <a:graphicData uri="http://schemas.openxmlformats.org/drawingml/2006/table">
            <a:tbl>
              <a:tblPr firstRow="1" bandRow="1">
                <a:tableStyleId>{72833802-FEF1-4C79-8D5D-14CF1EAF98D9}</a:tableStyleId>
              </a:tblPr>
              <a:tblGrid>
                <a:gridCol w="1197597">
                  <a:extLst>
                    <a:ext uri="{9D8B030D-6E8A-4147-A177-3AD203B41FA5}">
                      <a16:colId xmlns:a16="http://schemas.microsoft.com/office/drawing/2014/main" val="1744470079"/>
                    </a:ext>
                  </a:extLst>
                </a:gridCol>
                <a:gridCol w="3896917">
                  <a:extLst>
                    <a:ext uri="{9D8B030D-6E8A-4147-A177-3AD203B41FA5}">
                      <a16:colId xmlns:a16="http://schemas.microsoft.com/office/drawing/2014/main" val="1471870999"/>
                    </a:ext>
                  </a:extLst>
                </a:gridCol>
              </a:tblGrid>
              <a:tr h="37917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Key</a:t>
                      </a:r>
                      <a:endParaRPr lang="en-US" sz="20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Description</a:t>
                      </a:r>
                      <a:endParaRPr lang="en-US"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02085789"/>
                  </a:ext>
                </a:extLst>
              </a:tr>
              <a:tr h="379171">
                <a:tc>
                  <a:txBody>
                    <a:bodyPr/>
                    <a:lstStyle/>
                    <a:p>
                      <a:pPr algn="ctr"/>
                      <a:r>
                        <a:rPr lang="en-US" sz="2000" dirty="0" err="1">
                          <a:latin typeface="Times New Roman" panose="02020603050405020304" pitchFamily="18" charset="0"/>
                          <a:cs typeface="Times New Roman" panose="02020603050405020304" pitchFamily="18" charset="0"/>
                        </a:rPr>
                        <a:t>yy</a:t>
                      </a:r>
                      <a:endParaRPr lang="en-US"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Copy current line</a:t>
                      </a:r>
                    </a:p>
                  </a:txBody>
                  <a:tcPr/>
                </a:tc>
                <a:extLst>
                  <a:ext uri="{0D108BD9-81ED-4DB2-BD59-A6C34878D82A}">
                    <a16:rowId xmlns:a16="http://schemas.microsoft.com/office/drawing/2014/main" val="1697225930"/>
                  </a:ext>
                </a:extLst>
              </a:tr>
              <a:tr h="379171">
                <a:tc>
                  <a:txBody>
                    <a:bodyPr/>
                    <a:lstStyle/>
                    <a:p>
                      <a:pPr algn="ctr"/>
                      <a:r>
                        <a:rPr lang="en-US" sz="2000" dirty="0">
                          <a:latin typeface="Times New Roman" panose="02020603050405020304" pitchFamily="18" charset="0"/>
                          <a:cs typeface="Times New Roman" panose="02020603050405020304" pitchFamily="18" charset="0"/>
                        </a:rPr>
                        <a:t>p</a:t>
                      </a:r>
                    </a:p>
                  </a:txBody>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Paste below line from cursor position</a:t>
                      </a:r>
                    </a:p>
                  </a:txBody>
                  <a:tcPr/>
                </a:tc>
                <a:extLst>
                  <a:ext uri="{0D108BD9-81ED-4DB2-BD59-A6C34878D82A}">
                    <a16:rowId xmlns:a16="http://schemas.microsoft.com/office/drawing/2014/main" val="2248552495"/>
                  </a:ext>
                </a:extLst>
              </a:tr>
              <a:tr h="379171">
                <a:tc>
                  <a:txBody>
                    <a:bodyPr/>
                    <a:lstStyle/>
                    <a:p>
                      <a:pPr algn="ctr"/>
                      <a:r>
                        <a:rPr lang="en-US" sz="2000" dirty="0">
                          <a:latin typeface="Times New Roman" panose="02020603050405020304" pitchFamily="18" charset="0"/>
                          <a:cs typeface="Times New Roman" panose="02020603050405020304" pitchFamily="18" charset="0"/>
                        </a:rPr>
                        <a:t>dd</a:t>
                      </a:r>
                    </a:p>
                  </a:txBody>
                  <a:tcPr/>
                </a:tc>
                <a:tc>
                  <a:txBody>
                    <a:bodyPr/>
                    <a:lstStyle/>
                    <a:p>
                      <a:pPr algn="just"/>
                      <a:r>
                        <a:rPr lang="en-US" sz="2000" dirty="0">
                          <a:latin typeface="Times New Roman" panose="02020603050405020304" pitchFamily="18" charset="0"/>
                          <a:cs typeface="Times New Roman" panose="02020603050405020304" pitchFamily="18" charset="0"/>
                        </a:rPr>
                        <a:t>Delete current line</a:t>
                      </a:r>
                    </a:p>
                  </a:txBody>
                  <a:tcPr/>
                </a:tc>
                <a:extLst>
                  <a:ext uri="{0D108BD9-81ED-4DB2-BD59-A6C34878D82A}">
                    <a16:rowId xmlns:a16="http://schemas.microsoft.com/office/drawing/2014/main" val="298054555"/>
                  </a:ext>
                </a:extLst>
              </a:tr>
              <a:tr h="379171">
                <a:tc>
                  <a:txBody>
                    <a:bodyPr/>
                    <a:lstStyle/>
                    <a:p>
                      <a:pPr algn="ctr"/>
                      <a:r>
                        <a:rPr lang="en-US" sz="2000" dirty="0">
                          <a:latin typeface="Times New Roman" panose="02020603050405020304" pitchFamily="18" charset="0"/>
                          <a:cs typeface="Times New Roman" panose="02020603050405020304" pitchFamily="18" charset="0"/>
                        </a:rPr>
                        <a:t>2yy</a:t>
                      </a:r>
                    </a:p>
                  </a:txBody>
                  <a:tcPr/>
                </a:tc>
                <a:tc>
                  <a:txBody>
                    <a:bodyPr/>
                    <a:lstStyle/>
                    <a:p>
                      <a:pPr algn="just"/>
                      <a:r>
                        <a:rPr lang="en-US" sz="2000" dirty="0">
                          <a:latin typeface="Times New Roman" panose="02020603050405020304" pitchFamily="18" charset="0"/>
                          <a:cs typeface="Times New Roman" panose="02020603050405020304" pitchFamily="18" charset="0"/>
                        </a:rPr>
                        <a:t>Copy 2 lines below from cursor position</a:t>
                      </a:r>
                    </a:p>
                  </a:txBody>
                  <a:tcPr/>
                </a:tc>
                <a:extLst>
                  <a:ext uri="{0D108BD9-81ED-4DB2-BD59-A6C34878D82A}">
                    <a16:rowId xmlns:a16="http://schemas.microsoft.com/office/drawing/2014/main" val="1141661055"/>
                  </a:ext>
                </a:extLst>
              </a:tr>
              <a:tr h="379171">
                <a:tc>
                  <a:txBody>
                    <a:bodyPr/>
                    <a:lstStyle/>
                    <a:p>
                      <a:pPr algn="ctr"/>
                      <a:r>
                        <a:rPr lang="en-US" sz="2000" dirty="0" err="1">
                          <a:latin typeface="Times New Roman" panose="02020603050405020304" pitchFamily="18" charset="0"/>
                          <a:cs typeface="Times New Roman" panose="02020603050405020304" pitchFamily="18" charset="0"/>
                        </a:rPr>
                        <a:t>yw</a:t>
                      </a:r>
                      <a:endParaRPr lang="en-US"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Copy one word</a:t>
                      </a:r>
                    </a:p>
                  </a:txBody>
                  <a:tcPr/>
                </a:tc>
                <a:extLst>
                  <a:ext uri="{0D108BD9-81ED-4DB2-BD59-A6C34878D82A}">
                    <a16:rowId xmlns:a16="http://schemas.microsoft.com/office/drawing/2014/main" val="888055423"/>
                  </a:ext>
                </a:extLst>
              </a:tr>
              <a:tr h="379171">
                <a:tc>
                  <a:txBody>
                    <a:bodyPr/>
                    <a:lstStyle/>
                    <a:p>
                      <a:pPr algn="ctr"/>
                      <a:r>
                        <a:rPr lang="en-US" sz="2000" dirty="0" err="1">
                          <a:latin typeface="Times New Roman" panose="02020603050405020304" pitchFamily="18" charset="0"/>
                          <a:cs typeface="Times New Roman" panose="02020603050405020304" pitchFamily="18" charset="0"/>
                        </a:rPr>
                        <a:t>yl</a:t>
                      </a:r>
                      <a:endParaRPr lang="en-US" sz="20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Copy one letter</a:t>
                      </a:r>
                    </a:p>
                  </a:txBody>
                  <a:tcPr/>
                </a:tc>
                <a:extLst>
                  <a:ext uri="{0D108BD9-81ED-4DB2-BD59-A6C34878D82A}">
                    <a16:rowId xmlns:a16="http://schemas.microsoft.com/office/drawing/2014/main" val="2147297812"/>
                  </a:ext>
                </a:extLst>
              </a:tr>
              <a:tr h="379171">
                <a:tc>
                  <a:txBody>
                    <a:bodyPr/>
                    <a:lstStyle/>
                    <a:p>
                      <a:pPr algn="ctr"/>
                      <a:r>
                        <a:rPr lang="en-US" sz="2000" dirty="0">
                          <a:latin typeface="Times New Roman" panose="02020603050405020304" pitchFamily="18" charset="0"/>
                          <a:cs typeface="Times New Roman" panose="02020603050405020304" pitchFamily="18" charset="0"/>
                        </a:rPr>
                        <a:t>u</a:t>
                      </a:r>
                    </a:p>
                  </a:txBody>
                  <a:tcPr/>
                </a:tc>
                <a:tc>
                  <a:txBody>
                    <a:bodyPr/>
                    <a:lstStyle/>
                    <a:p>
                      <a:pPr algn="just"/>
                      <a:r>
                        <a:rPr lang="en-US" sz="2000" dirty="0">
                          <a:latin typeface="Times New Roman" panose="02020603050405020304" pitchFamily="18" charset="0"/>
                          <a:cs typeface="Times New Roman" panose="02020603050405020304" pitchFamily="18" charset="0"/>
                        </a:rPr>
                        <a:t>undo</a:t>
                      </a:r>
                    </a:p>
                  </a:txBody>
                  <a:tcPr/>
                </a:tc>
                <a:extLst>
                  <a:ext uri="{0D108BD9-81ED-4DB2-BD59-A6C34878D82A}">
                    <a16:rowId xmlns:a16="http://schemas.microsoft.com/office/drawing/2014/main" val="4168054496"/>
                  </a:ext>
                </a:extLst>
              </a:tr>
              <a:tr h="379171">
                <a:tc>
                  <a:txBody>
                    <a:bodyPr/>
                    <a:lstStyle/>
                    <a:p>
                      <a:pPr algn="ctr"/>
                      <a:r>
                        <a:rPr lang="en-US" sz="2000" dirty="0">
                          <a:latin typeface="Times New Roman" panose="02020603050405020304" pitchFamily="18" charset="0"/>
                          <a:cs typeface="Times New Roman" panose="02020603050405020304" pitchFamily="18" charset="0"/>
                        </a:rPr>
                        <a:t>x</a:t>
                      </a:r>
                    </a:p>
                  </a:txBody>
                  <a:tcPr/>
                </a:tc>
                <a:tc>
                  <a:txBody>
                    <a:bodyPr/>
                    <a:lstStyle/>
                    <a:p>
                      <a:pPr algn="just"/>
                      <a:r>
                        <a:rPr lang="en-US" sz="2000" dirty="0">
                          <a:latin typeface="Times New Roman" panose="02020603050405020304" pitchFamily="18" charset="0"/>
                          <a:cs typeface="Times New Roman" panose="02020603050405020304" pitchFamily="18" charset="0"/>
                        </a:rPr>
                        <a:t>Its work like delete button</a:t>
                      </a:r>
                    </a:p>
                  </a:txBody>
                  <a:tcPr/>
                </a:tc>
                <a:extLst>
                  <a:ext uri="{0D108BD9-81ED-4DB2-BD59-A6C34878D82A}">
                    <a16:rowId xmlns:a16="http://schemas.microsoft.com/office/drawing/2014/main" val="4021630402"/>
                  </a:ext>
                </a:extLst>
              </a:tr>
              <a:tr h="379171">
                <a:tc>
                  <a:txBody>
                    <a:bodyPr/>
                    <a:lstStyle/>
                    <a:p>
                      <a:pPr algn="ctr"/>
                      <a:r>
                        <a:rPr lang="en-US" sz="2000" dirty="0">
                          <a:latin typeface="Times New Roman" panose="02020603050405020304" pitchFamily="18" charset="0"/>
                          <a:cs typeface="Times New Roman" panose="02020603050405020304" pitchFamily="18" charset="0"/>
                        </a:rPr>
                        <a:t>X</a:t>
                      </a:r>
                    </a:p>
                  </a:txBody>
                  <a:tcPr/>
                </a:tc>
                <a:tc>
                  <a:txBody>
                    <a:bodyPr/>
                    <a:lstStyle/>
                    <a:p>
                      <a:pPr algn="just"/>
                      <a:r>
                        <a:rPr lang="en-US" sz="2000" dirty="0">
                          <a:latin typeface="Times New Roman" panose="02020603050405020304" pitchFamily="18" charset="0"/>
                          <a:cs typeface="Times New Roman" panose="02020603050405020304" pitchFamily="18" charset="0"/>
                        </a:rPr>
                        <a:t>Its work like backspace button</a:t>
                      </a:r>
                    </a:p>
                  </a:txBody>
                  <a:tcPr/>
                </a:tc>
                <a:extLst>
                  <a:ext uri="{0D108BD9-81ED-4DB2-BD59-A6C34878D82A}">
                    <a16:rowId xmlns:a16="http://schemas.microsoft.com/office/drawing/2014/main" val="1697995352"/>
                  </a:ext>
                </a:extLst>
              </a:tr>
            </a:tbl>
          </a:graphicData>
        </a:graphic>
      </p:graphicFrame>
    </p:spTree>
    <p:extLst>
      <p:ext uri="{BB962C8B-B14F-4D97-AF65-F5344CB8AC3E}">
        <p14:creationId xmlns:p14="http://schemas.microsoft.com/office/powerpoint/2010/main" val="23107121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B504E37F-C021-CA2E-6851-E18FAA86A028}"/>
              </a:ext>
            </a:extLst>
          </p:cNvPr>
          <p:cNvGraphicFramePr>
            <a:graphicFrameLocks noGrp="1"/>
          </p:cNvGraphicFramePr>
          <p:nvPr>
            <p:extLst>
              <p:ext uri="{D42A27DB-BD31-4B8C-83A1-F6EECF244321}">
                <p14:modId xmlns:p14="http://schemas.microsoft.com/office/powerpoint/2010/main" val="1400390490"/>
              </p:ext>
            </p:extLst>
          </p:nvPr>
        </p:nvGraphicFramePr>
        <p:xfrm>
          <a:off x="3316515" y="946150"/>
          <a:ext cx="5377542" cy="3429258"/>
        </p:xfrm>
        <a:graphic>
          <a:graphicData uri="http://schemas.openxmlformats.org/drawingml/2006/table">
            <a:tbl>
              <a:tblPr firstRow="1" bandRow="1">
                <a:tableStyleId>{72833802-FEF1-4C79-8D5D-14CF1EAF98D9}</a:tableStyleId>
              </a:tblPr>
              <a:tblGrid>
                <a:gridCol w="1603828">
                  <a:extLst>
                    <a:ext uri="{9D8B030D-6E8A-4147-A177-3AD203B41FA5}">
                      <a16:colId xmlns:a16="http://schemas.microsoft.com/office/drawing/2014/main" val="2327890764"/>
                    </a:ext>
                  </a:extLst>
                </a:gridCol>
                <a:gridCol w="3773714">
                  <a:extLst>
                    <a:ext uri="{9D8B030D-6E8A-4147-A177-3AD203B41FA5}">
                      <a16:colId xmlns:a16="http://schemas.microsoft.com/office/drawing/2014/main" val="4062914484"/>
                    </a:ext>
                  </a:extLst>
                </a:gridCol>
              </a:tblGrid>
              <a:tr h="407184">
                <a:tc>
                  <a:txBody>
                    <a:bodyPr/>
                    <a:lstStyle/>
                    <a:p>
                      <a:pPr algn="ctr"/>
                      <a:r>
                        <a:rPr lang="en-US" sz="2000" dirty="0">
                          <a:latin typeface="Times New Roman" panose="02020603050405020304" pitchFamily="18" charset="0"/>
                          <a:cs typeface="Times New Roman" panose="02020603050405020304" pitchFamily="18" charset="0"/>
                        </a:rPr>
                        <a:t>Key</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US" sz="2000" dirty="0">
                          <a:latin typeface="Times New Roman" panose="02020603050405020304" pitchFamily="18" charset="0"/>
                          <a:cs typeface="Times New Roman" panose="02020603050405020304" pitchFamily="18" charset="0"/>
                        </a:rPr>
                        <a:t>Description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71980411"/>
                  </a:ext>
                </a:extLst>
              </a:tr>
              <a:tr h="568942">
                <a:tc>
                  <a:txBody>
                    <a:bodyPr/>
                    <a:lstStyle/>
                    <a:p>
                      <a:pPr algn="ctr"/>
                      <a:r>
                        <a:rPr lang="en-US" sz="2000" dirty="0">
                          <a:latin typeface="Times New Roman" panose="02020603050405020304" pitchFamily="18" charset="0"/>
                          <a:cs typeface="Times New Roman" panose="02020603050405020304" pitchFamily="18" charset="0"/>
                        </a:rPr>
                        <a:t>:w</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Write/save working file similar as </a:t>
                      </a:r>
                      <a:r>
                        <a:rPr lang="en-US" sz="2000" dirty="0" err="1">
                          <a:latin typeface="Times New Roman" panose="02020603050405020304" pitchFamily="18" charset="0"/>
                          <a:cs typeface="Times New Roman" panose="02020603050405020304" pitchFamily="18" charset="0"/>
                        </a:rPr>
                        <a:t>ctrl+s</a:t>
                      </a:r>
                      <a:r>
                        <a:rPr lang="en-US" sz="2000" dirty="0">
                          <a:latin typeface="Times New Roman" panose="02020603050405020304" pitchFamily="18" charset="0"/>
                          <a:cs typeface="Times New Roman" panose="02020603050405020304" pitchFamily="18" charset="0"/>
                        </a:rPr>
                        <a:t> in windows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5419804"/>
                  </a:ext>
                </a:extLst>
              </a:tr>
              <a:tr h="407184">
                <a:tc>
                  <a:txBody>
                    <a:bodyPr/>
                    <a:lstStyle/>
                    <a:p>
                      <a:pPr algn="ctr"/>
                      <a:r>
                        <a:rPr lang="en-US" sz="2000" dirty="0">
                          <a:latin typeface="Times New Roman" panose="02020603050405020304" pitchFamily="18" charset="0"/>
                          <a:cs typeface="Times New Roman" panose="02020603050405020304" pitchFamily="18" charset="0"/>
                        </a:rPr>
                        <a:t>:q</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Quit from current file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42502494"/>
                  </a:ext>
                </a:extLst>
              </a:tr>
              <a:tr h="407184">
                <a:tc>
                  <a:txBody>
                    <a:bodyPr/>
                    <a:lstStyle/>
                    <a:p>
                      <a:pPr algn="ct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wq</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Save and quit from file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9441863"/>
                  </a:ext>
                </a:extLst>
              </a:tr>
              <a:tr h="398442">
                <a:tc>
                  <a:txBody>
                    <a:bodyPr/>
                    <a:lstStyle/>
                    <a:p>
                      <a:pPr algn="ctr"/>
                      <a:r>
                        <a:rPr lang="en-US" sz="2000" dirty="0">
                          <a:latin typeface="Times New Roman" panose="02020603050405020304" pitchFamily="18" charset="0"/>
                          <a:cs typeface="Times New Roman" panose="02020603050405020304" pitchFamily="18" charset="0"/>
                        </a:rPr>
                        <a:t>:x</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Save and quit from file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42737198"/>
                  </a:ext>
                </a:extLst>
              </a:tr>
              <a:tr h="478971">
                <a:tc>
                  <a:txBody>
                    <a:bodyPr/>
                    <a:lstStyle/>
                    <a:p>
                      <a:pPr algn="ct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wq</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Save and quit forcefully</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7907346"/>
                  </a:ext>
                </a:extLst>
              </a:tr>
              <a:tr h="407184">
                <a:tc>
                  <a:txBody>
                    <a:bodyPr/>
                    <a:lstStyle/>
                    <a:p>
                      <a:pPr algn="ctr"/>
                      <a:r>
                        <a:rPr lang="en-US" sz="2000" dirty="0">
                          <a:latin typeface="Times New Roman" panose="02020603050405020304" pitchFamily="18" charset="0"/>
                          <a:cs typeface="Times New Roman" panose="02020603050405020304" pitchFamily="18" charset="0"/>
                        </a:rPr>
                        <a:t>:q!</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Quite forcefully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92524884"/>
                  </a:ext>
                </a:extLst>
              </a:tr>
            </a:tbl>
          </a:graphicData>
        </a:graphic>
      </p:graphicFrame>
      <p:sp>
        <p:nvSpPr>
          <p:cNvPr id="7" name="Title 1">
            <a:extLst>
              <a:ext uri="{FF2B5EF4-FFF2-40B4-BE49-F238E27FC236}">
                <a16:creationId xmlns:a16="http://schemas.microsoft.com/office/drawing/2014/main" id="{FB77E9FD-5350-692D-2525-33689A6465DB}"/>
              </a:ext>
            </a:extLst>
          </p:cNvPr>
          <p:cNvSpPr>
            <a:spLocks noGrp="1"/>
          </p:cNvSpPr>
          <p:nvPr>
            <p:ph type="title"/>
          </p:nvPr>
        </p:nvSpPr>
        <p:spPr>
          <a:xfrm>
            <a:off x="0" y="1439636"/>
            <a:ext cx="3185886" cy="1132114"/>
          </a:xfrm>
        </p:spPr>
        <p:txBody>
          <a:bodyPr/>
          <a:lstStyle/>
          <a:p>
            <a:pPr algn="ctr"/>
            <a:r>
              <a:rPr lang="en-US" dirty="0">
                <a:latin typeface="Times New Roman" panose="02020603050405020304" pitchFamily="18" charset="0"/>
                <a:cs typeface="Times New Roman" panose="02020603050405020304" pitchFamily="18" charset="0"/>
              </a:rPr>
              <a:t>VIM- Command Mode</a:t>
            </a:r>
          </a:p>
        </p:txBody>
      </p:sp>
    </p:spTree>
    <p:extLst>
      <p:ext uri="{BB962C8B-B14F-4D97-AF65-F5344CB8AC3E}">
        <p14:creationId xmlns:p14="http://schemas.microsoft.com/office/powerpoint/2010/main" val="10362102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VIM- Extended Mode</a:t>
            </a:r>
          </a:p>
        </p:txBody>
      </p:sp>
      <p:graphicFrame>
        <p:nvGraphicFramePr>
          <p:cNvPr id="4" name="Table 3">
            <a:extLst>
              <a:ext uri="{FF2B5EF4-FFF2-40B4-BE49-F238E27FC236}">
                <a16:creationId xmlns:a16="http://schemas.microsoft.com/office/drawing/2014/main" id="{84070191-F15E-7D61-196B-3775614787C4}"/>
              </a:ext>
            </a:extLst>
          </p:cNvPr>
          <p:cNvGraphicFramePr>
            <a:graphicFrameLocks noGrp="1"/>
          </p:cNvGraphicFramePr>
          <p:nvPr>
            <p:extLst>
              <p:ext uri="{D42A27DB-BD31-4B8C-83A1-F6EECF244321}">
                <p14:modId xmlns:p14="http://schemas.microsoft.com/office/powerpoint/2010/main" val="2073656035"/>
              </p:ext>
            </p:extLst>
          </p:nvPr>
        </p:nvGraphicFramePr>
        <p:xfrm>
          <a:off x="1288143" y="1017725"/>
          <a:ext cx="6567714" cy="3901440"/>
        </p:xfrm>
        <a:graphic>
          <a:graphicData uri="http://schemas.openxmlformats.org/drawingml/2006/table">
            <a:tbl>
              <a:tblPr firstRow="1" bandRow="1">
                <a:tableStyleId>{72833802-FEF1-4C79-8D5D-14CF1EAF98D9}</a:tableStyleId>
              </a:tblPr>
              <a:tblGrid>
                <a:gridCol w="2265385">
                  <a:extLst>
                    <a:ext uri="{9D8B030D-6E8A-4147-A177-3AD203B41FA5}">
                      <a16:colId xmlns:a16="http://schemas.microsoft.com/office/drawing/2014/main" val="540383557"/>
                    </a:ext>
                  </a:extLst>
                </a:gridCol>
                <a:gridCol w="4302329">
                  <a:extLst>
                    <a:ext uri="{9D8B030D-6E8A-4147-A177-3AD203B41FA5}">
                      <a16:colId xmlns:a16="http://schemas.microsoft.com/office/drawing/2014/main" val="381745240"/>
                    </a:ext>
                  </a:extLst>
                </a:gridCol>
              </a:tblGrid>
              <a:tr h="370840">
                <a:tc>
                  <a:txBody>
                    <a:bodyPr/>
                    <a:lstStyle/>
                    <a:p>
                      <a:pPr algn="ctr"/>
                      <a:r>
                        <a:rPr lang="en-US" sz="2000" dirty="0">
                          <a:latin typeface="Times New Roman" panose="02020603050405020304" pitchFamily="18" charset="0"/>
                          <a:cs typeface="Times New Roman" panose="02020603050405020304" pitchFamily="18" charset="0"/>
                        </a:rPr>
                        <a:t>Key</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Description</a:t>
                      </a:r>
                      <a:endParaRPr lang="en-IN"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54536609"/>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:se nu</a:t>
                      </a:r>
                      <a:endParaRPr lang="en-IN" sz="2000" dirty="0">
                        <a:latin typeface="Times New Roman" panose="02020603050405020304" pitchFamily="18" charset="0"/>
                        <a:cs typeface="Times New Roman" panose="02020603050405020304" pitchFamily="18" charset="0"/>
                      </a:endParaRPr>
                    </a:p>
                    <a:p>
                      <a:pPr algn="l"/>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Set line number</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99970965"/>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:se </a:t>
                      </a:r>
                      <a:r>
                        <a:rPr lang="en-US" sz="2000" dirty="0" err="1">
                          <a:latin typeface="Times New Roman" panose="02020603050405020304" pitchFamily="18" charset="0"/>
                          <a:cs typeface="Times New Roman" panose="02020603050405020304" pitchFamily="18" charset="0"/>
                        </a:rPr>
                        <a:t>nonu</a:t>
                      </a:r>
                      <a:endParaRPr lang="en-IN" sz="2000" dirty="0">
                        <a:latin typeface="Times New Roman" panose="02020603050405020304" pitchFamily="18" charset="0"/>
                        <a:cs typeface="Times New Roman" panose="02020603050405020304" pitchFamily="18" charset="0"/>
                      </a:endParaRPr>
                    </a:p>
                    <a:p>
                      <a:pPr algn="l"/>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Remove line number</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17713201"/>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:/string</a:t>
                      </a:r>
                      <a:endParaRPr lang="en-IN" sz="2000" dirty="0">
                        <a:latin typeface="Times New Roman" panose="02020603050405020304" pitchFamily="18" charset="0"/>
                        <a:cs typeface="Times New Roman" panose="02020603050405020304" pitchFamily="18" charset="0"/>
                      </a:endParaRPr>
                    </a:p>
                    <a:p>
                      <a:pPr algn="l"/>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err="1">
                          <a:latin typeface="Times New Roman" panose="02020603050405020304" pitchFamily="18" charset="0"/>
                          <a:cs typeface="Times New Roman" panose="02020603050405020304" pitchFamily="18" charset="0"/>
                        </a:rPr>
                        <a:t>Scarch</a:t>
                      </a:r>
                      <a:r>
                        <a:rPr lang="en-US" sz="2000" dirty="0">
                          <a:latin typeface="Times New Roman" panose="02020603050405020304" pitchFamily="18" charset="0"/>
                          <a:cs typeface="Times New Roman" panose="02020603050405020304" pitchFamily="18" charset="0"/>
                        </a:rPr>
                        <a:t> a word in a file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30229189"/>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:%s/string1/string2</a:t>
                      </a:r>
                      <a:endParaRPr lang="en-IN" sz="2000" dirty="0">
                        <a:latin typeface="Times New Roman" panose="02020603050405020304" pitchFamily="18" charset="0"/>
                        <a:cs typeface="Times New Roman" panose="02020603050405020304" pitchFamily="18" charset="0"/>
                      </a:endParaRPr>
                    </a:p>
                    <a:p>
                      <a:pPr algn="l"/>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Find and replace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19154607"/>
                  </a:ext>
                </a:extLst>
              </a:tr>
              <a:tr h="370840">
                <a:tc>
                  <a:txBody>
                    <a:bodyPr/>
                    <a:lstStyle/>
                    <a:p>
                      <a:pPr algn="l"/>
                      <a:r>
                        <a:rPr lang="en-US" sz="2000" dirty="0">
                          <a:latin typeface="Times New Roman" panose="02020603050405020304" pitchFamily="18" charset="0"/>
                          <a:cs typeface="Times New Roman" panose="02020603050405020304" pitchFamily="18" charset="0"/>
                        </a:rPr>
                        <a:t>:number</a:t>
                      </a:r>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Cursor will jump to given line number</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98332798"/>
                  </a:ext>
                </a:extLst>
              </a:tr>
            </a:tbl>
          </a:graphicData>
        </a:graphic>
      </p:graphicFrame>
    </p:spTree>
    <p:extLst>
      <p:ext uri="{BB962C8B-B14F-4D97-AF65-F5344CB8AC3E}">
        <p14:creationId xmlns:p14="http://schemas.microsoft.com/office/powerpoint/2010/main" val="397498662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D8093F-59A6-9017-925A-17BD718F0A22}"/>
              </a:ext>
            </a:extLst>
          </p:cNvPr>
          <p:cNvSpPr txBox="1"/>
          <p:nvPr/>
        </p:nvSpPr>
        <p:spPr>
          <a:xfrm>
            <a:off x="879676" y="1688976"/>
            <a:ext cx="7511970" cy="2218364"/>
          </a:xfrm>
          <a:prstGeom prst="rect">
            <a:avLst/>
          </a:prstGeom>
          <a:noFill/>
        </p:spPr>
        <p:txBody>
          <a:bodyPr wrap="square">
            <a:spAutoFit/>
          </a:bodyPr>
          <a:lstStyle/>
          <a:p>
            <a:pPr>
              <a:lnSpc>
                <a:spcPct val="115000"/>
              </a:lnSpc>
              <a:spcBef>
                <a:spcPts val="1000"/>
              </a:spcBef>
              <a:buNone/>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GREP Command</a:t>
            </a:r>
            <a:endParaRPr lang="en-IN"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endParaRP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Used to search text inside a file.</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Example:</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grep root /</a:t>
            </a:r>
            <a:r>
              <a:rPr lang="en-US" sz="2000" dirty="0" err="1">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etc</a:t>
            </a:r>
            <a:r>
              <a:rPr lang="en-US"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/passwd</a:t>
            </a:r>
            <a:endParaRPr lang="en-IN"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Explanation: Searches the word 'root' inside the file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etc</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/passwd.</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6" name="TextBox 5">
            <a:extLst>
              <a:ext uri="{FF2B5EF4-FFF2-40B4-BE49-F238E27FC236}">
                <a16:creationId xmlns:a16="http://schemas.microsoft.com/office/drawing/2014/main" id="{81115843-F624-E09E-543F-777B8C9B104E}"/>
              </a:ext>
            </a:extLst>
          </p:cNvPr>
          <p:cNvSpPr txBox="1"/>
          <p:nvPr/>
        </p:nvSpPr>
        <p:spPr>
          <a:xfrm>
            <a:off x="1863524" y="375454"/>
            <a:ext cx="5416952" cy="417871"/>
          </a:xfrm>
          <a:prstGeom prst="rect">
            <a:avLst/>
          </a:prstGeom>
          <a:noFill/>
        </p:spPr>
        <p:txBody>
          <a:bodyPr wrap="square">
            <a:spAutoFit/>
          </a:bodyPr>
          <a:lstStyle/>
          <a:p>
            <a:pPr>
              <a:lnSpc>
                <a:spcPct val="115000"/>
              </a:lnSpc>
              <a:spcBef>
                <a:spcPts val="2400"/>
              </a:spcBef>
              <a:buNone/>
            </a:pPr>
            <a:r>
              <a:rPr lang="en-US" sz="2000" b="1" kern="0" dirty="0">
                <a:solidFill>
                  <a:srgbClr val="365F91"/>
                </a:solidFill>
                <a:effectLst/>
                <a:latin typeface="Times New Roman" panose="02020603050405020304" pitchFamily="18" charset="0"/>
                <a:ea typeface="MS Gothic" panose="020B0609070205080204" pitchFamily="49" charset="-128"/>
                <a:cs typeface="Times New Roman" panose="02020603050405020304" pitchFamily="18" charset="0"/>
              </a:rPr>
              <a:t>GREP vs FIND Command Notes (Rocky Linux)</a:t>
            </a:r>
            <a:endParaRPr lang="en-IN" sz="2000" b="1" kern="0" dirty="0">
              <a:solidFill>
                <a:srgbClr val="365F91"/>
              </a:solidFill>
              <a:effectLst/>
              <a:latin typeface="Times New Roman" panose="02020603050405020304" pitchFamily="18" charset="0"/>
              <a:ea typeface="MS Gothic" panose="020B0609070205080204" pitchFamily="49" charset="-128"/>
              <a:cs typeface="Times New Roman" panose="02020603050405020304" pitchFamily="18" charset="0"/>
            </a:endParaRPr>
          </a:p>
        </p:txBody>
      </p:sp>
    </p:spTree>
    <p:extLst>
      <p:ext uri="{BB962C8B-B14F-4D97-AF65-F5344CB8AC3E}">
        <p14:creationId xmlns:p14="http://schemas.microsoft.com/office/powerpoint/2010/main" val="10934676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6CAC5C6-3F21-F1F8-E109-66884758E6ED}"/>
              </a:ext>
            </a:extLst>
          </p:cNvPr>
          <p:cNvSpPr txBox="1"/>
          <p:nvPr/>
        </p:nvSpPr>
        <p:spPr>
          <a:xfrm>
            <a:off x="445625" y="347730"/>
            <a:ext cx="8698375" cy="4147097"/>
          </a:xfrm>
          <a:prstGeom prst="rect">
            <a:avLst/>
          </a:prstGeom>
          <a:noFill/>
        </p:spPr>
        <p:txBody>
          <a:bodyPr wrap="square">
            <a:spAutoFit/>
          </a:bodyPr>
          <a:lstStyle/>
          <a:p>
            <a:pPr>
              <a:lnSpc>
                <a:spcPct val="115000"/>
              </a:lnSpc>
              <a:spcBef>
                <a:spcPts val="1000"/>
              </a:spcBef>
              <a:buNone/>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FIND Command</a:t>
            </a:r>
            <a:endParaRPr lang="en-IN"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endParaRP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Used to search files or directories by name, type, or location.</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Example:</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find / -name student1</a:t>
            </a:r>
            <a:endParaRPr lang="en-IN"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Explanation: Searches for a file or directory named 'student1' starting from root (/).</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Search only directories:</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find / -type d -name </a:t>
            </a:r>
            <a:r>
              <a:rPr lang="en-US" sz="2000" dirty="0" err="1">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testdir</a:t>
            </a:r>
            <a:endParaRPr lang="en-IN"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Search only files:</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find / -type f -name </a:t>
            </a:r>
            <a:r>
              <a:rPr lang="en-US" sz="2000" dirty="0" err="1">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testfile</a:t>
            </a:r>
            <a:endParaRPr lang="en-IN"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2411816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96FAE1B-3F7A-83CC-F55F-331F0354A41A}"/>
              </a:ext>
            </a:extLst>
          </p:cNvPr>
          <p:cNvSpPr txBox="1"/>
          <p:nvPr/>
        </p:nvSpPr>
        <p:spPr>
          <a:xfrm>
            <a:off x="821803" y="498201"/>
            <a:ext cx="7755038" cy="4147097"/>
          </a:xfrm>
          <a:prstGeom prst="rect">
            <a:avLst/>
          </a:prstGeom>
          <a:noFill/>
        </p:spPr>
        <p:txBody>
          <a:bodyPr wrap="square">
            <a:spAutoFit/>
          </a:bodyPr>
          <a:lstStyle/>
          <a:p>
            <a:pPr>
              <a:lnSpc>
                <a:spcPct val="115000"/>
              </a:lnSpc>
              <a:spcBef>
                <a:spcPts val="1000"/>
              </a:spcBef>
              <a:buNone/>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3. GREP -r Command</a:t>
            </a:r>
            <a:endParaRPr lang="en-IN"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endParaRP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Used to search text inside all files within a directory.</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Example:</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grep -r root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etc</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Explanation: Searches the word 'root' inside all files under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etc</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directory.</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Bef>
                <a:spcPts val="1000"/>
              </a:spcBef>
              <a:buNone/>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Quick Exam Summary</a:t>
            </a:r>
            <a:endParaRPr lang="en-IN"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endParaRP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grep      -&gt; Search text inside a file</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find      -&gt; Search file or directory by name</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grep -r   -&gt; Search text inside a directory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70328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86738-7017-8732-D785-BCF56421FE71}"/>
              </a:ext>
            </a:extLst>
          </p:cNvPr>
          <p:cNvSpPr>
            <a:spLocks noGrp="1"/>
          </p:cNvSpPr>
          <p:nvPr>
            <p:ph type="title"/>
          </p:nvPr>
        </p:nvSpPr>
        <p:spPr>
          <a:xfrm>
            <a:off x="720000" y="231175"/>
            <a:ext cx="7704000" cy="572700"/>
          </a:xfrm>
        </p:spPr>
        <p:txBody>
          <a:bodyPr/>
          <a:lstStyle/>
          <a:p>
            <a:pPr algn="ctr"/>
            <a:r>
              <a:rPr lang="en-IN" sz="3200" dirty="0">
                <a:latin typeface="Times New Roman" panose="02020603050405020304" pitchFamily="18" charset="0"/>
                <a:cs typeface="Times New Roman" panose="02020603050405020304" pitchFamily="18" charset="0"/>
              </a:rPr>
              <a:t>What is GREP?</a:t>
            </a:r>
          </a:p>
        </p:txBody>
      </p:sp>
      <p:sp>
        <p:nvSpPr>
          <p:cNvPr id="4" name="TextBox 3">
            <a:extLst>
              <a:ext uri="{FF2B5EF4-FFF2-40B4-BE49-F238E27FC236}">
                <a16:creationId xmlns:a16="http://schemas.microsoft.com/office/drawing/2014/main" id="{43385E10-6EF0-0200-4E26-CF40B157F7E2}"/>
              </a:ext>
            </a:extLst>
          </p:cNvPr>
          <p:cNvSpPr txBox="1"/>
          <p:nvPr/>
        </p:nvSpPr>
        <p:spPr>
          <a:xfrm>
            <a:off x="486137" y="940534"/>
            <a:ext cx="8102278" cy="163121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GREP is used to search text inside a file.</a:t>
            </a:r>
          </a:p>
          <a:p>
            <a:r>
              <a:rPr lang="en-US" sz="2000" dirty="0">
                <a:latin typeface="Times New Roman" panose="02020603050405020304" pitchFamily="18" charset="0"/>
                <a:cs typeface="Times New Roman" panose="02020603050405020304" pitchFamily="18" charset="0"/>
              </a:rPr>
              <a:t>It displays matching lines.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Syntax:</a:t>
            </a:r>
          </a:p>
          <a:p>
            <a:r>
              <a:rPr lang="en-US" sz="2000" dirty="0">
                <a:latin typeface="Times New Roman" panose="02020603050405020304" pitchFamily="18" charset="0"/>
                <a:cs typeface="Times New Roman" panose="02020603050405020304" pitchFamily="18" charset="0"/>
              </a:rPr>
              <a:t>grep [options] pattern filename</a:t>
            </a:r>
          </a:p>
        </p:txBody>
      </p:sp>
      <p:sp>
        <p:nvSpPr>
          <p:cNvPr id="6" name="TextBox 5">
            <a:extLst>
              <a:ext uri="{FF2B5EF4-FFF2-40B4-BE49-F238E27FC236}">
                <a16:creationId xmlns:a16="http://schemas.microsoft.com/office/drawing/2014/main" id="{D5583120-AC6D-F31E-1801-6A45ABA4D548}"/>
              </a:ext>
            </a:extLst>
          </p:cNvPr>
          <p:cNvSpPr txBox="1"/>
          <p:nvPr/>
        </p:nvSpPr>
        <p:spPr>
          <a:xfrm>
            <a:off x="1481560" y="2976989"/>
            <a:ext cx="5306872" cy="1015663"/>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grep prasad testfile.txt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Searches the word 'prasad' inside file.</a:t>
            </a:r>
          </a:p>
        </p:txBody>
      </p:sp>
    </p:spTree>
    <p:extLst>
      <p:ext uri="{BB962C8B-B14F-4D97-AF65-F5344CB8AC3E}">
        <p14:creationId xmlns:p14="http://schemas.microsoft.com/office/powerpoint/2010/main" val="3952646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BE1E641-4955-3F69-F248-B1D319C01852}"/>
              </a:ext>
            </a:extLst>
          </p:cNvPr>
          <p:cNvSpPr txBox="1"/>
          <p:nvPr/>
        </p:nvSpPr>
        <p:spPr>
          <a:xfrm>
            <a:off x="1031365" y="314298"/>
            <a:ext cx="7452770" cy="1938992"/>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grep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TEST testfile.txt</a:t>
            </a:r>
          </a:p>
          <a:p>
            <a:r>
              <a:rPr lang="en-US" sz="2000" dirty="0">
                <a:latin typeface="Times New Roman" panose="02020603050405020304" pitchFamily="18" charset="0"/>
                <a:cs typeface="Times New Roman" panose="02020603050405020304" pitchFamily="18" charset="0"/>
              </a:rPr>
              <a:t>Ignores uppercase and lowercase differences.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grep -n test testfile.txt</a:t>
            </a:r>
          </a:p>
          <a:p>
            <a:r>
              <a:rPr lang="en-US" sz="2000" dirty="0">
                <a:latin typeface="Times New Roman" panose="02020603050405020304" pitchFamily="18" charset="0"/>
                <a:cs typeface="Times New Roman" panose="02020603050405020304" pitchFamily="18" charset="0"/>
              </a:rPr>
              <a:t>Displays matching lines with line numbers.</a:t>
            </a:r>
          </a:p>
          <a:p>
            <a:endParaRPr lang="en-US"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9F970CC-48F3-A424-2907-399269CF47E1}"/>
              </a:ext>
            </a:extLst>
          </p:cNvPr>
          <p:cNvSpPr txBox="1"/>
          <p:nvPr/>
        </p:nvSpPr>
        <p:spPr>
          <a:xfrm>
            <a:off x="1031714" y="1966880"/>
            <a:ext cx="7452421" cy="2246769"/>
          </a:xfrm>
          <a:prstGeom prst="rect">
            <a:avLst/>
          </a:prstGeom>
          <a:noFill/>
        </p:spPr>
        <p:txBody>
          <a:bodyPr wrap="square">
            <a:spAutoFit/>
          </a:bodyPr>
          <a:lstStyle/>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grep -r prasad </a:t>
            </a:r>
            <a:r>
              <a:rPr lang="en-IN" sz="2000" dirty="0" err="1">
                <a:latin typeface="Times New Roman" panose="02020603050405020304" pitchFamily="18" charset="0"/>
                <a:cs typeface="Times New Roman" panose="02020603050405020304" pitchFamily="18" charset="0"/>
              </a:rPr>
              <a:t>testdir</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Searches inside all files in directory.</a:t>
            </a:r>
          </a:p>
          <a:p>
            <a:r>
              <a:rPr lang="en-US" sz="2000" dirty="0">
                <a:latin typeface="Times New Roman" panose="02020603050405020304" pitchFamily="18" charset="0"/>
                <a:cs typeface="Times New Roman" panose="02020603050405020304" pitchFamily="18" charset="0"/>
              </a:rPr>
              <a:t>grep -n prasad testfile.txt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Displays matching lines with line numbers.</a:t>
            </a:r>
          </a:p>
        </p:txBody>
      </p:sp>
    </p:spTree>
    <p:extLst>
      <p:ext uri="{BB962C8B-B14F-4D97-AF65-F5344CB8AC3E}">
        <p14:creationId xmlns:p14="http://schemas.microsoft.com/office/powerpoint/2010/main" val="40050384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726563-433C-8C1A-1ABE-07A7CDE1D720}"/>
              </a:ext>
            </a:extLst>
          </p:cNvPr>
          <p:cNvSpPr txBox="1"/>
          <p:nvPr/>
        </p:nvSpPr>
        <p:spPr>
          <a:xfrm>
            <a:off x="925975" y="279061"/>
            <a:ext cx="5989778" cy="1631216"/>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grep prasad testfile.txt </a:t>
            </a:r>
            <a:r>
              <a:rPr lang="en-IN" sz="2000" dirty="0" err="1">
                <a:latin typeface="Times New Roman" panose="02020603050405020304" pitchFamily="18" charset="0"/>
                <a:cs typeface="Times New Roman" panose="02020603050405020304" pitchFamily="18" charset="0"/>
              </a:rPr>
              <a:t>testdir</a:t>
            </a:r>
            <a:r>
              <a:rPr lang="en-IN" sz="2000" dirty="0">
                <a:latin typeface="Times New Roman" panose="02020603050405020304" pitchFamily="18" charset="0"/>
                <a:cs typeface="Times New Roman" panose="02020603050405020304" pitchFamily="18" charset="0"/>
              </a:rPr>
              <a:t>/testfile.txt</a:t>
            </a:r>
          </a:p>
          <a:p>
            <a:r>
              <a:rPr lang="en-IN" sz="2000" dirty="0">
                <a:latin typeface="Times New Roman" panose="02020603050405020304" pitchFamily="18" charset="0"/>
                <a:cs typeface="Times New Roman" panose="02020603050405020304" pitchFamily="18" charset="0"/>
              </a:rPr>
              <a:t>Searches pattern in multiple files.</a:t>
            </a:r>
          </a:p>
          <a:p>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grep -c prasad testfile.txt</a:t>
            </a:r>
          </a:p>
          <a:p>
            <a:r>
              <a:rPr lang="en-US" sz="2000" dirty="0">
                <a:latin typeface="Times New Roman" panose="02020603050405020304" pitchFamily="18" charset="0"/>
                <a:cs typeface="Times New Roman" panose="02020603050405020304" pitchFamily="18" charset="0"/>
              </a:rPr>
              <a:t>Counts number of matching lines.</a:t>
            </a:r>
          </a:p>
        </p:txBody>
      </p:sp>
      <p:sp>
        <p:nvSpPr>
          <p:cNvPr id="10" name="TextBox 9">
            <a:extLst>
              <a:ext uri="{FF2B5EF4-FFF2-40B4-BE49-F238E27FC236}">
                <a16:creationId xmlns:a16="http://schemas.microsoft.com/office/drawing/2014/main" id="{9A97CA90-9B87-F9B9-FD10-A7F56F23EA07}"/>
              </a:ext>
            </a:extLst>
          </p:cNvPr>
          <p:cNvSpPr txBox="1"/>
          <p:nvPr/>
        </p:nvSpPr>
        <p:spPr>
          <a:xfrm>
            <a:off x="1753203" y="2890315"/>
            <a:ext cx="5162550"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800" dirty="0">
                <a:latin typeface="Aptos Black" panose="020F0502020204030204" pitchFamily="34" charset="0"/>
              </a:rPr>
              <a:t>• GREP searches content</a:t>
            </a:r>
          </a:p>
          <a:p>
            <a:r>
              <a:rPr lang="en-US" sz="1800" dirty="0">
                <a:latin typeface="Aptos Black" panose="020F0502020204030204" pitchFamily="34" charset="0"/>
              </a:rPr>
              <a:t>• Shows matching lines</a:t>
            </a:r>
          </a:p>
          <a:p>
            <a:r>
              <a:rPr lang="en-US" sz="1800" dirty="0">
                <a:latin typeface="Aptos Black" panose="020F0502020204030204" pitchFamily="34" charset="0"/>
              </a:rPr>
              <a:t>• Supports options like -</a:t>
            </a:r>
            <a:r>
              <a:rPr lang="en-US" sz="1800" dirty="0" err="1">
                <a:latin typeface="Aptos Black" panose="020F0502020204030204" pitchFamily="34" charset="0"/>
              </a:rPr>
              <a:t>i</a:t>
            </a:r>
            <a:r>
              <a:rPr lang="en-US" sz="1800" dirty="0">
                <a:latin typeface="Aptos Black" panose="020F0502020204030204" pitchFamily="34" charset="0"/>
              </a:rPr>
              <a:t>, -n, -r, -c</a:t>
            </a:r>
          </a:p>
          <a:p>
            <a:r>
              <a:rPr lang="en-US" sz="1800" dirty="0">
                <a:latin typeface="Aptos Black" panose="020F0502020204030204" pitchFamily="34" charset="0"/>
              </a:rPr>
              <a:t>• Very important for interviews and exams</a:t>
            </a:r>
          </a:p>
        </p:txBody>
      </p:sp>
    </p:spTree>
    <p:extLst>
      <p:ext uri="{BB962C8B-B14F-4D97-AF65-F5344CB8AC3E}">
        <p14:creationId xmlns:p14="http://schemas.microsoft.com/office/powerpoint/2010/main" val="4037577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F72120-5AC2-CCBF-C315-43F4E962BF96}"/>
              </a:ext>
            </a:extLst>
          </p:cNvPr>
          <p:cNvSpPr txBox="1"/>
          <p:nvPr/>
        </p:nvSpPr>
        <p:spPr>
          <a:xfrm>
            <a:off x="720090" y="549196"/>
            <a:ext cx="8423910" cy="4501040"/>
          </a:xfrm>
          <a:prstGeom prst="rect">
            <a:avLst/>
          </a:prstGeom>
          <a:noFill/>
        </p:spPr>
        <p:txBody>
          <a:bodyPr wrap="square">
            <a:spAutoFit/>
          </a:bodyPr>
          <a:lstStyle/>
          <a:p>
            <a:pPr marL="0" marR="0">
              <a:lnSpc>
                <a:spcPct val="115000"/>
              </a:lnSpc>
              <a:spcBef>
                <a:spcPts val="1000"/>
              </a:spcBef>
              <a:buNone/>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Hard Link</a:t>
            </a: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Definition:</a:t>
            </a: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A hard link is another name (directory entry) for the same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inode</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of a file. Both files share the same data and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inode</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number.</a:t>
            </a: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Command to Create Hard Link:</a:t>
            </a:r>
          </a:p>
          <a:p>
            <a:pPr marL="0" marR="0">
              <a:lnSpc>
                <a:spcPct val="115000"/>
              </a:lnSpc>
              <a:spcAft>
                <a:spcPts val="1000"/>
              </a:spcAft>
              <a:buNone/>
            </a:pPr>
            <a:r>
              <a:rPr lang="en-US"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ln </a:t>
            </a:r>
            <a:r>
              <a:rPr lang="en-US" sz="2000" dirty="0" err="1">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original_file</a:t>
            </a:r>
            <a:r>
              <a:rPr lang="en-US"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 </a:t>
            </a:r>
            <a:r>
              <a:rPr lang="en-US" sz="2000" dirty="0" err="1">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hardlink_file</a:t>
            </a:r>
            <a:endParaRPr lang="en-US"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Example:</a:t>
            </a: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touch file1</a:t>
            </a:r>
          </a:p>
          <a:p>
            <a:pPr marL="0" marR="0">
              <a:lnSpc>
                <a:spcPct val="115000"/>
              </a:lnSpc>
              <a:spcAft>
                <a:spcPts val="1000"/>
              </a:spcAft>
              <a:buNone/>
            </a:pPr>
            <a:r>
              <a:rPr lang="en-US"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    ln file1 file1_hard</a:t>
            </a: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Check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inode</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number:</a:t>
            </a:r>
            <a:r>
              <a:rPr lang="en-US" sz="2000" dirty="0">
                <a:latin typeface="Times New Roman" panose="02020603050405020304" pitchFamily="18" charset="0"/>
                <a:ea typeface="MS Mincho" panose="02020609040205080304" pitchFamily="49" charset="-128"/>
                <a:cs typeface="Times New Roman" panose="02020603050405020304" pitchFamily="18" charset="0"/>
              </a:rPr>
              <a:t> </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ls -li</a:t>
            </a:r>
          </a:p>
        </p:txBody>
      </p:sp>
      <p:sp>
        <p:nvSpPr>
          <p:cNvPr id="3" name="TextBox 2">
            <a:extLst>
              <a:ext uri="{FF2B5EF4-FFF2-40B4-BE49-F238E27FC236}">
                <a16:creationId xmlns:a16="http://schemas.microsoft.com/office/drawing/2014/main" id="{6FF2316E-16EB-3B20-1501-328C2E19645E}"/>
              </a:ext>
            </a:extLst>
          </p:cNvPr>
          <p:cNvSpPr txBox="1"/>
          <p:nvPr/>
        </p:nvSpPr>
        <p:spPr>
          <a:xfrm>
            <a:off x="1991678" y="131325"/>
            <a:ext cx="5160644" cy="548099"/>
          </a:xfrm>
          <a:prstGeom prst="rect">
            <a:avLst/>
          </a:prstGeom>
          <a:noFill/>
        </p:spPr>
        <p:txBody>
          <a:bodyPr wrap="square">
            <a:spAutoFit/>
          </a:bodyPr>
          <a:lstStyle/>
          <a:p>
            <a:pPr marL="0" marR="0" algn="ctr">
              <a:lnSpc>
                <a:spcPct val="115000"/>
              </a:lnSpc>
              <a:spcBef>
                <a:spcPts val="2400"/>
              </a:spcBef>
              <a:buNone/>
            </a:pPr>
            <a:r>
              <a:rPr lang="en-US" sz="2800" b="1" i="1" kern="0" dirty="0">
                <a:solidFill>
                  <a:srgbClr val="365F91"/>
                </a:solidFill>
                <a:effectLst/>
                <a:latin typeface="Times New Roman" panose="02020603050405020304" pitchFamily="18" charset="0"/>
                <a:ea typeface="MS Gothic" panose="020B0609070205080204" pitchFamily="49" charset="-128"/>
                <a:cs typeface="Times New Roman" panose="02020603050405020304" pitchFamily="18" charset="0"/>
              </a:rPr>
              <a:t>Hard Link and Soft Link</a:t>
            </a:r>
            <a:endParaRPr lang="en-US" sz="2800" b="1" kern="0" dirty="0">
              <a:solidFill>
                <a:srgbClr val="365F91"/>
              </a:solidFill>
              <a:effectLst/>
              <a:latin typeface="Times New Roman" panose="02020603050405020304" pitchFamily="18" charset="0"/>
              <a:ea typeface="MS Gothic" panose="020B0609070205080204" pitchFamily="49" charset="-128"/>
              <a:cs typeface="Times New Roman" panose="02020603050405020304" pitchFamily="18" charset="0"/>
            </a:endParaRPr>
          </a:p>
        </p:txBody>
      </p:sp>
    </p:spTree>
    <p:extLst>
      <p:ext uri="{BB962C8B-B14F-4D97-AF65-F5344CB8AC3E}">
        <p14:creationId xmlns:p14="http://schemas.microsoft.com/office/powerpoint/2010/main" val="36545417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09E4F9E-1014-FD63-294C-A10DD34F6459}"/>
              </a:ext>
            </a:extLst>
          </p:cNvPr>
          <p:cNvSpPr txBox="1"/>
          <p:nvPr/>
        </p:nvSpPr>
        <p:spPr>
          <a:xfrm>
            <a:off x="1871663" y="1960555"/>
            <a:ext cx="5160644" cy="1479700"/>
          </a:xfrm>
          <a:prstGeom prst="rect">
            <a:avLst/>
          </a:prstGeom>
          <a:noFill/>
        </p:spPr>
        <p:txBody>
          <a:bodyPr wrap="square">
            <a:spAutoFit/>
          </a:bodyPr>
          <a:lstStyle/>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Works only for files (not directories)</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Cannot cross filesystems</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Shares same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inode</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number</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If original file is deleted, hard link still works</a:t>
            </a:r>
          </a:p>
        </p:txBody>
      </p:sp>
      <p:sp>
        <p:nvSpPr>
          <p:cNvPr id="6" name="TextBox 5">
            <a:extLst>
              <a:ext uri="{FF2B5EF4-FFF2-40B4-BE49-F238E27FC236}">
                <a16:creationId xmlns:a16="http://schemas.microsoft.com/office/drawing/2014/main" id="{A97EB3C7-2051-6204-8820-592C4C660236}"/>
              </a:ext>
            </a:extLst>
          </p:cNvPr>
          <p:cNvSpPr txBox="1"/>
          <p:nvPr/>
        </p:nvSpPr>
        <p:spPr>
          <a:xfrm>
            <a:off x="1991678" y="371355"/>
            <a:ext cx="5160644" cy="417871"/>
          </a:xfrm>
          <a:prstGeom prst="rect">
            <a:avLst/>
          </a:prstGeom>
          <a:noFill/>
        </p:spPr>
        <p:txBody>
          <a:bodyPr wrap="square">
            <a:spAutoFit/>
          </a:bodyPr>
          <a:lstStyle/>
          <a:p>
            <a:pPr marL="0" marR="0" algn="ct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Important Points:</a:t>
            </a:r>
          </a:p>
        </p:txBody>
      </p:sp>
    </p:spTree>
    <p:extLst>
      <p:ext uri="{BB962C8B-B14F-4D97-AF65-F5344CB8AC3E}">
        <p14:creationId xmlns:p14="http://schemas.microsoft.com/office/powerpoint/2010/main" val="229348813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0AC264-9196-B167-83BA-6B73D231F6C1}"/>
              </a:ext>
            </a:extLst>
          </p:cNvPr>
          <p:cNvSpPr txBox="1"/>
          <p:nvPr/>
        </p:nvSpPr>
        <p:spPr>
          <a:xfrm>
            <a:off x="606828" y="607266"/>
            <a:ext cx="8331431" cy="3664914"/>
          </a:xfrm>
          <a:prstGeom prst="rect">
            <a:avLst/>
          </a:prstGeom>
          <a:noFill/>
        </p:spPr>
        <p:txBody>
          <a:bodyPr wrap="square">
            <a:spAutoFit/>
          </a:bodyPr>
          <a:lstStyle/>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Definition:</a:t>
            </a: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A soft link (symbolic link) is like a shortcut that points to the original file path. It has a different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inode</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number.</a:t>
            </a: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Command to Create Soft Link:</a:t>
            </a:r>
          </a:p>
          <a:p>
            <a:pPr marL="0" marR="0">
              <a:lnSpc>
                <a:spcPct val="115000"/>
              </a:lnSpc>
              <a:spcAft>
                <a:spcPts val="1000"/>
              </a:spcAft>
              <a:buNone/>
            </a:pPr>
            <a:r>
              <a:rPr lang="en-US"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ln -s </a:t>
            </a:r>
            <a:r>
              <a:rPr lang="en-US" sz="2000" dirty="0" err="1">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original_file</a:t>
            </a:r>
            <a:r>
              <a:rPr lang="en-US"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 </a:t>
            </a:r>
            <a:r>
              <a:rPr lang="en-US" sz="2000" dirty="0" err="1">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softlink_file</a:t>
            </a:r>
            <a:endParaRPr lang="en-US"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Example:</a:t>
            </a: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touch file2</a:t>
            </a:r>
          </a:p>
          <a:p>
            <a:pPr marL="0" marR="0">
              <a:lnSpc>
                <a:spcPct val="115000"/>
              </a:lnSpc>
              <a:spcAft>
                <a:spcPts val="1000"/>
              </a:spcAft>
              <a:buNone/>
            </a:pPr>
            <a:r>
              <a:rPr lang="en-US"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ln -s file2 file2_soft</a:t>
            </a:r>
          </a:p>
        </p:txBody>
      </p:sp>
      <p:sp>
        <p:nvSpPr>
          <p:cNvPr id="3" name="TextBox 2">
            <a:extLst>
              <a:ext uri="{FF2B5EF4-FFF2-40B4-BE49-F238E27FC236}">
                <a16:creationId xmlns:a16="http://schemas.microsoft.com/office/drawing/2014/main" id="{14C18647-BE6C-5A57-101C-BB80AF0272D4}"/>
              </a:ext>
            </a:extLst>
          </p:cNvPr>
          <p:cNvSpPr txBox="1"/>
          <p:nvPr/>
        </p:nvSpPr>
        <p:spPr>
          <a:xfrm>
            <a:off x="409219" y="0"/>
            <a:ext cx="8325562" cy="417871"/>
          </a:xfrm>
          <a:prstGeom prst="rect">
            <a:avLst/>
          </a:prstGeom>
          <a:noFill/>
        </p:spPr>
        <p:txBody>
          <a:bodyPr wrap="square">
            <a:spAutoFit/>
          </a:bodyPr>
          <a:lstStyle/>
          <a:p>
            <a:pPr marL="0" marR="0" algn="ctr">
              <a:lnSpc>
                <a:spcPct val="115000"/>
              </a:lnSpc>
              <a:spcBef>
                <a:spcPts val="1000"/>
              </a:spcBef>
              <a:buNone/>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Soft Link (Symbolic Link)</a:t>
            </a:r>
          </a:p>
        </p:txBody>
      </p:sp>
      <p:sp>
        <p:nvSpPr>
          <p:cNvPr id="5" name="TextBox 4">
            <a:extLst>
              <a:ext uri="{FF2B5EF4-FFF2-40B4-BE49-F238E27FC236}">
                <a16:creationId xmlns:a16="http://schemas.microsoft.com/office/drawing/2014/main" id="{A5F4FE79-CDC6-7B1B-567B-A396267B23D2}"/>
              </a:ext>
            </a:extLst>
          </p:cNvPr>
          <p:cNvSpPr txBox="1"/>
          <p:nvPr/>
        </p:nvSpPr>
        <p:spPr>
          <a:xfrm>
            <a:off x="4483418" y="2270013"/>
            <a:ext cx="5160644" cy="2191562"/>
          </a:xfrm>
          <a:prstGeom prst="rect">
            <a:avLst/>
          </a:prstGeom>
          <a:noFill/>
        </p:spPr>
        <p:txBody>
          <a:bodyPr wrap="square">
            <a:spAutoFit/>
          </a:bodyPr>
          <a:lstStyle/>
          <a:p>
            <a:pPr marL="0" marR="0">
              <a:lnSpc>
                <a:spcPct val="115000"/>
              </a:lnSpc>
              <a:spcAft>
                <a:spcPts val="1000"/>
              </a:spcAft>
              <a:buNone/>
            </a:pPr>
            <a:r>
              <a:rPr lang="en-US" sz="1400" dirty="0">
                <a:effectLst/>
                <a:latin typeface="Times New Roman" panose="02020603050405020304" pitchFamily="18" charset="0"/>
                <a:ea typeface="MS Mincho" panose="02020609040205080304" pitchFamily="49" charset="-128"/>
                <a:cs typeface="Times New Roman" panose="02020603050405020304" pitchFamily="18" charset="0"/>
              </a:rPr>
              <a:t>Check link:</a:t>
            </a:r>
          </a:p>
          <a:p>
            <a:pPr marL="0" marR="0">
              <a:lnSpc>
                <a:spcPct val="115000"/>
              </a:lnSpc>
              <a:spcAft>
                <a:spcPts val="1000"/>
              </a:spcAft>
              <a:buNone/>
            </a:pPr>
            <a:r>
              <a:rPr lang="en-US" sz="1400" dirty="0">
                <a:effectLst/>
                <a:latin typeface="Times New Roman" panose="02020603050405020304" pitchFamily="18" charset="0"/>
                <a:ea typeface="MS Mincho" panose="02020609040205080304" pitchFamily="49" charset="-128"/>
                <a:cs typeface="Times New Roman" panose="02020603050405020304" pitchFamily="18" charset="0"/>
              </a:rPr>
              <a:t>ls -l</a:t>
            </a:r>
          </a:p>
          <a:p>
            <a:pPr marL="0" marR="0">
              <a:lnSpc>
                <a:spcPct val="115000"/>
              </a:lnSpc>
              <a:spcAft>
                <a:spcPts val="1000"/>
              </a:spcAft>
              <a:buNone/>
            </a:pPr>
            <a:r>
              <a:rPr lang="en-US" sz="1400" dirty="0">
                <a:effectLst/>
                <a:latin typeface="Times New Roman" panose="02020603050405020304" pitchFamily="18" charset="0"/>
                <a:ea typeface="MS Mincho" panose="02020609040205080304" pitchFamily="49" charset="-128"/>
                <a:cs typeface="Times New Roman" panose="02020603050405020304" pitchFamily="18" charset="0"/>
              </a:rPr>
              <a:t>Important Points:</a:t>
            </a:r>
          </a:p>
          <a:p>
            <a:pPr marL="0" marR="0">
              <a:lnSpc>
                <a:spcPct val="115000"/>
              </a:lnSpc>
              <a:spcAft>
                <a:spcPts val="1000"/>
              </a:spcAft>
              <a:buNone/>
            </a:pPr>
            <a:r>
              <a:rPr lang="en-US" sz="1400" dirty="0">
                <a:effectLst/>
                <a:latin typeface="Times New Roman" panose="02020603050405020304" pitchFamily="18" charset="0"/>
                <a:ea typeface="MS Mincho" panose="02020609040205080304" pitchFamily="49" charset="-128"/>
                <a:cs typeface="Times New Roman" panose="02020603050405020304" pitchFamily="18" charset="0"/>
              </a:rPr>
              <a:t>- Can link files or directories</a:t>
            </a:r>
            <a:br>
              <a:rPr lang="en-US" sz="14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1400" dirty="0">
                <a:effectLst/>
                <a:latin typeface="Times New Roman" panose="02020603050405020304" pitchFamily="18" charset="0"/>
                <a:ea typeface="MS Mincho" panose="02020609040205080304" pitchFamily="49" charset="-128"/>
                <a:cs typeface="Times New Roman" panose="02020603050405020304" pitchFamily="18" charset="0"/>
              </a:rPr>
              <a:t>- Can cross filesystems</a:t>
            </a:r>
            <a:br>
              <a:rPr lang="en-US" sz="14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1400" dirty="0">
                <a:effectLst/>
                <a:latin typeface="Times New Roman" panose="02020603050405020304" pitchFamily="18" charset="0"/>
                <a:ea typeface="MS Mincho" panose="02020609040205080304" pitchFamily="49" charset="-128"/>
                <a:cs typeface="Times New Roman" panose="02020603050405020304" pitchFamily="18" charset="0"/>
              </a:rPr>
              <a:t>- Has different </a:t>
            </a:r>
            <a:r>
              <a:rPr lang="en-US" sz="1400" dirty="0" err="1">
                <a:effectLst/>
                <a:latin typeface="Times New Roman" panose="02020603050405020304" pitchFamily="18" charset="0"/>
                <a:ea typeface="MS Mincho" panose="02020609040205080304" pitchFamily="49" charset="-128"/>
                <a:cs typeface="Times New Roman" panose="02020603050405020304" pitchFamily="18" charset="0"/>
              </a:rPr>
              <a:t>inode</a:t>
            </a:r>
            <a:r>
              <a:rPr lang="en-US" sz="1400" dirty="0">
                <a:effectLst/>
                <a:latin typeface="Times New Roman" panose="02020603050405020304" pitchFamily="18" charset="0"/>
                <a:ea typeface="MS Mincho" panose="02020609040205080304" pitchFamily="49" charset="-128"/>
                <a:cs typeface="Times New Roman" panose="02020603050405020304" pitchFamily="18" charset="0"/>
              </a:rPr>
              <a:t> number</a:t>
            </a:r>
            <a:br>
              <a:rPr lang="en-US" sz="14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1400" dirty="0">
                <a:effectLst/>
                <a:latin typeface="Times New Roman" panose="02020603050405020304" pitchFamily="18" charset="0"/>
                <a:ea typeface="MS Mincho" panose="02020609040205080304" pitchFamily="49" charset="-128"/>
                <a:cs typeface="Times New Roman" panose="02020603050405020304" pitchFamily="18" charset="0"/>
              </a:rPr>
              <a:t>- If original file is deleted, soft link becomes broken</a:t>
            </a:r>
          </a:p>
        </p:txBody>
      </p:sp>
    </p:spTree>
    <p:extLst>
      <p:ext uri="{BB962C8B-B14F-4D97-AF65-F5344CB8AC3E}">
        <p14:creationId xmlns:p14="http://schemas.microsoft.com/office/powerpoint/2010/main" val="22137795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FDEC5E-97E7-439C-DDB2-F8897293DA14}"/>
              </a:ext>
            </a:extLst>
          </p:cNvPr>
          <p:cNvSpPr txBox="1"/>
          <p:nvPr/>
        </p:nvSpPr>
        <p:spPr>
          <a:xfrm>
            <a:off x="0" y="672297"/>
            <a:ext cx="9144000" cy="4213782"/>
          </a:xfrm>
          <a:prstGeom prst="rect">
            <a:avLst/>
          </a:prstGeom>
          <a:noFill/>
        </p:spPr>
        <p:txBody>
          <a:bodyPr wrap="square">
            <a:spAutoFit/>
          </a:bodyPr>
          <a:lstStyle/>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Hard Link vs Soft Link:</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Hard Link:</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Same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inode</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Cannot cross filesystem, Cannot link directories, Works even if original is deleted</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Soft Link:</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Different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inode</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Can cross filesystem, Can link directories, Breaks if original is deleted</a:t>
            </a:r>
          </a:p>
          <a:p>
            <a:pPr marL="0" marR="0">
              <a:lnSpc>
                <a:spcPct val="115000"/>
              </a:lnSpc>
              <a:spcBef>
                <a:spcPts val="1000"/>
              </a:spcBef>
              <a:buNone/>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              Simple Explanation</a:t>
            </a: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Hard link = Two names for the same file data.</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Soft link = Shortcut pointing to another file.</a:t>
            </a:r>
          </a:p>
        </p:txBody>
      </p:sp>
      <p:sp>
        <p:nvSpPr>
          <p:cNvPr id="3" name="TextBox 2">
            <a:extLst>
              <a:ext uri="{FF2B5EF4-FFF2-40B4-BE49-F238E27FC236}">
                <a16:creationId xmlns:a16="http://schemas.microsoft.com/office/drawing/2014/main" id="{2A448EA1-5945-A7E4-4660-FE737E123123}"/>
              </a:ext>
            </a:extLst>
          </p:cNvPr>
          <p:cNvSpPr txBox="1"/>
          <p:nvPr/>
        </p:nvSpPr>
        <p:spPr>
          <a:xfrm>
            <a:off x="1875559" y="254426"/>
            <a:ext cx="5160644" cy="417871"/>
          </a:xfrm>
          <a:prstGeom prst="rect">
            <a:avLst/>
          </a:prstGeom>
          <a:noFill/>
        </p:spPr>
        <p:txBody>
          <a:bodyPr wrap="square">
            <a:spAutoFit/>
          </a:bodyPr>
          <a:lstStyle/>
          <a:p>
            <a:pPr lvl="1" algn="ctr">
              <a:lnSpc>
                <a:spcPct val="115000"/>
              </a:lnSpc>
              <a:spcBef>
                <a:spcPts val="1000"/>
              </a:spcBef>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Comparison Table</a:t>
            </a:r>
          </a:p>
        </p:txBody>
      </p:sp>
    </p:spTree>
    <p:extLst>
      <p:ext uri="{BB962C8B-B14F-4D97-AF65-F5344CB8AC3E}">
        <p14:creationId xmlns:p14="http://schemas.microsoft.com/office/powerpoint/2010/main" val="15130830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1CBCB8-D266-EAB7-8ABC-FB237E99DC2F}"/>
              </a:ext>
            </a:extLst>
          </p:cNvPr>
          <p:cNvSpPr txBox="1"/>
          <p:nvPr/>
        </p:nvSpPr>
        <p:spPr>
          <a:xfrm>
            <a:off x="240030" y="741862"/>
            <a:ext cx="8618220" cy="40934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inode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contains vital information needed by the operating system to manage files, including: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 type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Specifies if it is a regular file, directory, symbolic link,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Permissions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Read, write, and execute permissions for the owner, group, and others.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Ownership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User ID (UID) and Group ID (GID) of the file's owner.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Size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size of the file in bytes.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Timestamps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Time of last access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atime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last modification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mtime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last status change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ctime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Link count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number of hard links (filenames in directories) pointing to this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inode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Block Pointers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Pointers to the physical disk blocks where the actual file data is stored. </a:t>
            </a:r>
          </a:p>
        </p:txBody>
      </p:sp>
      <p:sp>
        <p:nvSpPr>
          <p:cNvPr id="8" name="TextBox 7">
            <a:extLst>
              <a:ext uri="{FF2B5EF4-FFF2-40B4-BE49-F238E27FC236}">
                <a16:creationId xmlns:a16="http://schemas.microsoft.com/office/drawing/2014/main" id="{B035E400-13D0-0B93-DE72-0F24A7556E8B}"/>
              </a:ext>
            </a:extLst>
          </p:cNvPr>
          <p:cNvSpPr txBox="1"/>
          <p:nvPr/>
        </p:nvSpPr>
        <p:spPr>
          <a:xfrm>
            <a:off x="1991678" y="194727"/>
            <a:ext cx="5160644" cy="400110"/>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is Stored in an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Inode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06257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23EFE-2390-3715-6741-5536AF0F27E3}"/>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Pipeline</a:t>
            </a:r>
          </a:p>
        </p:txBody>
      </p:sp>
      <p:sp>
        <p:nvSpPr>
          <p:cNvPr id="4" name="TextBox 3">
            <a:extLst>
              <a:ext uri="{FF2B5EF4-FFF2-40B4-BE49-F238E27FC236}">
                <a16:creationId xmlns:a16="http://schemas.microsoft.com/office/drawing/2014/main" id="{CEBFC669-FF3C-5373-39F5-7E01AA3D1062}"/>
              </a:ext>
            </a:extLst>
          </p:cNvPr>
          <p:cNvSpPr txBox="1"/>
          <p:nvPr/>
        </p:nvSpPr>
        <p:spPr>
          <a:xfrm>
            <a:off x="719999" y="1274645"/>
            <a:ext cx="7703999" cy="3416320"/>
          </a:xfrm>
          <a:prstGeom prst="rect">
            <a:avLst/>
          </a:prstGeom>
          <a:noFill/>
        </p:spPr>
        <p:txBody>
          <a:bodyPr wrap="square">
            <a:spAutoFit/>
          </a:bodyPr>
          <a:lstStyle/>
          <a:p>
            <a:pPr algn="just"/>
            <a:r>
              <a:rPr lang="en-US" sz="1800" dirty="0">
                <a:latin typeface="Times New Roman" panose="02020603050405020304" pitchFamily="18" charset="0"/>
                <a:cs typeface="Times New Roman" panose="02020603050405020304" pitchFamily="18" charset="0"/>
              </a:rPr>
              <a:t>A pipe is a command which use to run one or more than one command.</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Piping is a method though which you send data from one program to another, with the help of operator (|).</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A pipe connect the standard output of the first command to the standard input of next command.</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Pipes send standard output to or get standard input from another process.</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Pipelines allow the output of a process to be manipulated and formatted by other process before it is output to the terminal.</a:t>
            </a:r>
          </a:p>
        </p:txBody>
      </p:sp>
    </p:spTree>
    <p:extLst>
      <p:ext uri="{BB962C8B-B14F-4D97-AF65-F5344CB8AC3E}">
        <p14:creationId xmlns:p14="http://schemas.microsoft.com/office/powerpoint/2010/main" val="34739059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A6466-BFD4-7DA2-329D-F918FAAA39F6}"/>
              </a:ext>
            </a:extLst>
          </p:cNvPr>
          <p:cNvSpPr>
            <a:spLocks noGrp="1"/>
          </p:cNvSpPr>
          <p:nvPr>
            <p:ph type="title"/>
          </p:nvPr>
        </p:nvSpPr>
        <p:spPr>
          <a:xfrm>
            <a:off x="356106" y="238196"/>
            <a:ext cx="7704000" cy="657543"/>
          </a:xfrm>
        </p:spPr>
        <p:txBody>
          <a:bodyPr/>
          <a:lstStyle/>
          <a:p>
            <a:r>
              <a:rPr lang="en-US" dirty="0">
                <a:latin typeface="Times New Roman" panose="02020603050405020304" pitchFamily="18" charset="0"/>
                <a:cs typeface="Times New Roman" panose="02020603050405020304" pitchFamily="18" charset="0"/>
              </a:rPr>
              <a:t>How o use Pipeline and Command integration</a:t>
            </a:r>
          </a:p>
        </p:txBody>
      </p:sp>
      <p:sp>
        <p:nvSpPr>
          <p:cNvPr id="4" name="TextBox 3">
            <a:extLst>
              <a:ext uri="{FF2B5EF4-FFF2-40B4-BE49-F238E27FC236}">
                <a16:creationId xmlns:a16="http://schemas.microsoft.com/office/drawing/2014/main" id="{C5310E05-104B-8F92-E734-A202B69053A7}"/>
              </a:ext>
            </a:extLst>
          </p:cNvPr>
          <p:cNvSpPr txBox="1"/>
          <p:nvPr/>
        </p:nvSpPr>
        <p:spPr>
          <a:xfrm>
            <a:off x="561975" y="1118364"/>
            <a:ext cx="7962900" cy="3785652"/>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#mkdir -p jetking &amp;&amp; touch jetking/file{1..7}</a:t>
            </a:r>
          </a:p>
          <a:p>
            <a:endParaRPr lang="en-US"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#cat /</a:t>
            </a:r>
            <a:r>
              <a:rPr lang="fr-FR" sz="2000" dirty="0" err="1">
                <a:latin typeface="Times New Roman" panose="02020603050405020304" pitchFamily="18" charset="0"/>
                <a:cs typeface="Times New Roman" panose="02020603050405020304" pitchFamily="18" charset="0"/>
              </a:rPr>
              <a:t>etc</a:t>
            </a:r>
            <a:r>
              <a:rPr lang="fr-FR" sz="2000" dirty="0">
                <a:latin typeface="Times New Roman" panose="02020603050405020304" pitchFamily="18" charset="0"/>
                <a:cs typeface="Times New Roman" panose="02020603050405020304" pitchFamily="18" charset="0"/>
              </a:rPr>
              <a:t>/</a:t>
            </a:r>
            <a:r>
              <a:rPr lang="fr-FR" sz="2000" dirty="0" err="1">
                <a:latin typeface="Times New Roman" panose="02020603050405020304" pitchFamily="18" charset="0"/>
                <a:cs typeface="Times New Roman" panose="02020603050405020304" pitchFamily="18" charset="0"/>
              </a:rPr>
              <a:t>passwd</a:t>
            </a:r>
            <a:r>
              <a:rPr lang="fr-FR" sz="2000" dirty="0">
                <a:latin typeface="Times New Roman" panose="02020603050405020304" pitchFamily="18" charset="0"/>
                <a:cs typeface="Times New Roman" panose="02020603050405020304" pitchFamily="18" charset="0"/>
              </a:rPr>
              <a:t> | </a:t>
            </a:r>
            <a:r>
              <a:rPr lang="fr-FR" sz="2000" dirty="0" err="1">
                <a:latin typeface="Times New Roman" panose="02020603050405020304" pitchFamily="18" charset="0"/>
                <a:cs typeface="Times New Roman" panose="02020603050405020304" pitchFamily="18" charset="0"/>
              </a:rPr>
              <a:t>wc</a:t>
            </a:r>
            <a:r>
              <a:rPr lang="fr-FR" sz="2000" dirty="0">
                <a:latin typeface="Times New Roman" panose="02020603050405020304" pitchFamily="18" charset="0"/>
                <a:cs typeface="Times New Roman" panose="02020603050405020304" pitchFamily="18" charset="0"/>
              </a:rPr>
              <a:t> –l(</a:t>
            </a:r>
            <a:r>
              <a:rPr lang="en-US" sz="2000" dirty="0">
                <a:latin typeface="Times New Roman" panose="02020603050405020304" pitchFamily="18" charset="0"/>
                <a:cs typeface="Times New Roman" panose="02020603050405020304" pitchFamily="18" charset="0"/>
              </a:rPr>
              <a:t>to count the number of user accounts on a Linux system</a:t>
            </a:r>
            <a:r>
              <a:rPr lang="fr-FR"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#cat /etc/</a:t>
            </a:r>
            <a:r>
              <a:rPr lang="en-US" sz="2000" dirty="0" err="1">
                <a:latin typeface="Times New Roman" panose="02020603050405020304" pitchFamily="18" charset="0"/>
                <a:cs typeface="Times New Roman" panose="02020603050405020304" pitchFamily="18" charset="0"/>
              </a:rPr>
              <a:t>passwd|tr</a:t>
            </a:r>
            <a:r>
              <a:rPr lang="en-US" sz="2000" dirty="0">
                <a:latin typeface="Times New Roman" panose="02020603050405020304" pitchFamily="18" charset="0"/>
                <a:cs typeface="Times New Roman" panose="02020603050405020304" pitchFamily="18" charset="0"/>
              </a:rPr>
              <a:t> a-z A-Z(converting all lowercase letters to uppercase)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#cat filename |sort(sort those contents alphabetically or numerically)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#cat filename |</a:t>
            </a:r>
            <a:r>
              <a:rPr lang="en-US" sz="2000" dirty="0" err="1">
                <a:latin typeface="Times New Roman" panose="02020603050405020304" pitchFamily="18" charset="0"/>
                <a:cs typeface="Times New Roman" panose="02020603050405020304" pitchFamily="18" charset="0"/>
              </a:rPr>
              <a:t>sort|uniq</a:t>
            </a:r>
            <a:r>
              <a:rPr lang="en-US" sz="2000" dirty="0">
                <a:latin typeface="Times New Roman" panose="02020603050405020304" pitchFamily="18" charset="0"/>
                <a:cs typeface="Times New Roman" panose="02020603050405020304" pitchFamily="18" charset="0"/>
              </a:rPr>
              <a:t> (used to display the unique lines of a file, sorted alphabetically)</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599566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D604CFAF-A193-2D0A-0C85-146495CEA614}"/>
              </a:ext>
            </a:extLst>
          </p:cNvPr>
          <p:cNvSpPr txBox="1"/>
          <p:nvPr/>
        </p:nvSpPr>
        <p:spPr>
          <a:xfrm>
            <a:off x="-1" y="678898"/>
            <a:ext cx="9144000" cy="3724096"/>
          </a:xfrm>
          <a:prstGeom prst="rect">
            <a:avLst/>
          </a:prstGeom>
          <a:noFill/>
        </p:spPr>
        <p:txBody>
          <a:bodyPr wrap="square">
            <a:spAutoFit/>
          </a:bodyPr>
          <a:lstStyle/>
          <a:p>
            <a:pPr>
              <a:buNone/>
            </a:pPr>
            <a:r>
              <a:rPr lang="en-US" sz="2800" dirty="0">
                <a:latin typeface="Times New Roman" panose="02020603050405020304" pitchFamily="18" charset="0"/>
                <a:cs typeface="Times New Roman" panose="02020603050405020304" pitchFamily="18" charset="0"/>
              </a:rPr>
              <a:t>📂 What it is: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system file</a:t>
            </a:r>
            <a:r>
              <a:rPr lang="en-US" sz="2000" dirty="0">
                <a:latin typeface="Times New Roman" panose="02020603050405020304" pitchFamily="18" charset="0"/>
                <a:cs typeface="Times New Roman" panose="02020603050405020304" pitchFamily="18" charset="0"/>
              </a:rPr>
              <a:t> that stores </a:t>
            </a:r>
            <a:r>
              <a:rPr lang="en-US" sz="2000" b="1" dirty="0">
                <a:latin typeface="Times New Roman" panose="02020603050405020304" pitchFamily="18" charset="0"/>
                <a:cs typeface="Times New Roman" panose="02020603050405020304" pitchFamily="18" charset="0"/>
              </a:rPr>
              <a:t>hashed (encrypted) passwords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password aging/security-related information</a:t>
            </a:r>
            <a:r>
              <a:rPr lang="en-US" sz="2000" dirty="0">
                <a:latin typeface="Times New Roman" panose="02020603050405020304" pitchFamily="18" charset="0"/>
                <a:cs typeface="Times New Roman" panose="02020603050405020304" pitchFamily="18" charset="0"/>
              </a:rPr>
              <a:t> for each user account.</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It’s </a:t>
            </a:r>
            <a:r>
              <a:rPr lang="en-US" sz="2000" b="1" dirty="0">
                <a:latin typeface="Times New Roman" panose="02020603050405020304" pitchFamily="18" charset="0"/>
                <a:cs typeface="Times New Roman" panose="02020603050405020304" pitchFamily="18" charset="0"/>
              </a:rPr>
              <a:t>not readable by regular users</a:t>
            </a:r>
            <a:r>
              <a:rPr lang="en-US" sz="2000" dirty="0">
                <a:latin typeface="Times New Roman" panose="02020603050405020304" pitchFamily="18" charset="0"/>
                <a:cs typeface="Times New Roman" panose="02020603050405020304" pitchFamily="18" charset="0"/>
              </a:rPr>
              <a:t> — only root or privileged processes can read it. That improves password security. </a:t>
            </a:r>
          </a:p>
          <a:p>
            <a:pPr>
              <a:buNone/>
            </a:pPr>
            <a:r>
              <a:rPr lang="en-US" sz="2800" dirty="0">
                <a:latin typeface="Times New Roman" panose="02020603050405020304" pitchFamily="18" charset="0"/>
                <a:cs typeface="Times New Roman" panose="02020603050405020304" pitchFamily="18" charset="0"/>
              </a:rPr>
              <a:t>🔐 Why it exists: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Older systems stored passwords directly in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/passwd, which is world-readable. This is insecure because someone could copy the password hashes and try to crack them offline.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Linux solves this by moving password hashes and sensitive password data into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/shadow, which is protected from all but root or privileged access. </a:t>
            </a:r>
          </a:p>
        </p:txBody>
      </p:sp>
      <p:sp>
        <p:nvSpPr>
          <p:cNvPr id="14" name="TextBox 13">
            <a:extLst>
              <a:ext uri="{FF2B5EF4-FFF2-40B4-BE49-F238E27FC236}">
                <a16:creationId xmlns:a16="http://schemas.microsoft.com/office/drawing/2014/main" id="{3DD01111-3707-D320-32B0-DF2F89A7ED92}"/>
              </a:ext>
            </a:extLst>
          </p:cNvPr>
          <p:cNvSpPr txBox="1"/>
          <p:nvPr/>
        </p:nvSpPr>
        <p:spPr>
          <a:xfrm>
            <a:off x="1279002" y="0"/>
            <a:ext cx="6585995" cy="553998"/>
          </a:xfrm>
          <a:prstGeom prst="rect">
            <a:avLst/>
          </a:prstGeom>
          <a:noFill/>
        </p:spPr>
        <p:txBody>
          <a:bodyPr wrap="square">
            <a:spAutoFit/>
          </a:bodyPr>
          <a:lstStyle/>
          <a:p>
            <a:pPr algn="ctr">
              <a:buNone/>
            </a:pP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etc</a:t>
            </a:r>
            <a:r>
              <a:rPr lang="en-US" sz="3000" b="1" dirty="0">
                <a:latin typeface="Times New Roman" panose="02020603050405020304" pitchFamily="18" charset="0"/>
                <a:cs typeface="Times New Roman" panose="02020603050405020304" pitchFamily="18" charset="0"/>
              </a:rPr>
              <a:t>/shadow — Shadow Password File</a:t>
            </a:r>
          </a:p>
        </p:txBody>
      </p:sp>
      <p:sp>
        <p:nvSpPr>
          <p:cNvPr id="16" name="TextBox 15">
            <a:extLst>
              <a:ext uri="{FF2B5EF4-FFF2-40B4-BE49-F238E27FC236}">
                <a16:creationId xmlns:a16="http://schemas.microsoft.com/office/drawing/2014/main" id="{F2B1DAA5-49BD-D433-FEE3-39FDDCD522FD}"/>
              </a:ext>
            </a:extLst>
          </p:cNvPr>
          <p:cNvSpPr txBox="1"/>
          <p:nvPr/>
        </p:nvSpPr>
        <p:spPr>
          <a:xfrm>
            <a:off x="1053295" y="4402994"/>
            <a:ext cx="7037407" cy="738664"/>
          </a:xfrm>
          <a:prstGeom prst="rect">
            <a:avLst/>
          </a:prstGeom>
          <a:noFill/>
        </p:spPr>
        <p:txBody>
          <a:bodyPr wrap="square">
            <a:spAutoFit/>
          </a:bodyPr>
          <a:lstStyle/>
          <a:p>
            <a:pPr>
              <a:buNone/>
            </a:pPr>
            <a:r>
              <a:rPr lang="en-US" sz="1400" dirty="0">
                <a:latin typeface="Times New Roman" panose="02020603050405020304" pitchFamily="18" charset="0"/>
                <a:cs typeface="Times New Roman" panose="02020603050405020304" pitchFamily="18" charset="0"/>
              </a:rPr>
              <a:t>What it contains: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Each line in /</a:t>
            </a:r>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/shadow corresponds to one user and has </a:t>
            </a:r>
            <a:r>
              <a:rPr lang="en-US" sz="1400" b="1" dirty="0">
                <a:latin typeface="Times New Roman" panose="02020603050405020304" pitchFamily="18" charset="0"/>
                <a:cs typeface="Times New Roman" panose="02020603050405020304" pitchFamily="18" charset="0"/>
              </a:rPr>
              <a:t>fields separated by colons</a:t>
            </a:r>
            <a:r>
              <a:rPr lang="en-US" sz="1400" dirty="0">
                <a:latin typeface="Times New Roman" panose="02020603050405020304" pitchFamily="18" charset="0"/>
                <a:cs typeface="Times New Roman" panose="02020603050405020304" pitchFamily="18" charset="0"/>
              </a:rPr>
              <a:t>, like:</a:t>
            </a:r>
          </a:p>
          <a:p>
            <a:pPr rtl="0">
              <a:buNone/>
            </a:pPr>
            <a:r>
              <a:rPr lang="en-US" sz="1400" dirty="0">
                <a:latin typeface="Times New Roman" panose="02020603050405020304" pitchFamily="18" charset="0"/>
                <a:cs typeface="Times New Roman" panose="02020603050405020304" pitchFamily="18" charset="0"/>
              </a:rPr>
              <a:t>username:hashed_password:last_changed:min_age:max_age:warn:inactive:expire:reserved</a:t>
            </a:r>
          </a:p>
        </p:txBody>
      </p:sp>
    </p:spTree>
    <p:extLst>
      <p:ext uri="{BB962C8B-B14F-4D97-AF65-F5344CB8AC3E}">
        <p14:creationId xmlns:p14="http://schemas.microsoft.com/office/powerpoint/2010/main" val="245342529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CD1C63E-2A7C-DF94-4D70-2FC3F0BE0AD2}"/>
              </a:ext>
            </a:extLst>
          </p:cNvPr>
          <p:cNvSpPr txBox="1"/>
          <p:nvPr/>
        </p:nvSpPr>
        <p:spPr>
          <a:xfrm>
            <a:off x="1" y="129846"/>
            <a:ext cx="9143999" cy="4770537"/>
          </a:xfrm>
          <a:prstGeom prst="rect">
            <a:avLst/>
          </a:prstGeom>
          <a:noFill/>
        </p:spPr>
        <p:txBody>
          <a:bodyPr wrap="square">
            <a:spAutoFit/>
          </a:bodyPr>
          <a:lstStyle/>
          <a:p>
            <a:pPr>
              <a:buNone/>
            </a:pPr>
            <a:r>
              <a:rPr lang="en-US" sz="2800" dirty="0">
                <a:latin typeface="Times New Roman" panose="02020603050405020304" pitchFamily="18" charset="0"/>
                <a:cs typeface="Times New Roman" panose="02020603050405020304" pitchFamily="18" charset="0"/>
              </a:rPr>
              <a:t>Where:</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username</a:t>
            </a:r>
            <a:r>
              <a:rPr lang="en-US" sz="2000" dirty="0">
                <a:latin typeface="Times New Roman" panose="02020603050405020304" pitchFamily="18" charset="0"/>
                <a:cs typeface="Times New Roman" panose="02020603050405020304" pitchFamily="18" charset="0"/>
              </a:rPr>
              <a:t> — user login name</a:t>
            </a:r>
          </a:p>
          <a:p>
            <a:pPr>
              <a:buFont typeface="Arial" panose="020B0604020202020204" pitchFamily="34" charset="0"/>
              <a:buChar char="•"/>
            </a:pPr>
            <a:r>
              <a:rPr lang="en-US" sz="2000" b="1" dirty="0" err="1">
                <a:latin typeface="Times New Roman" panose="02020603050405020304" pitchFamily="18" charset="0"/>
                <a:cs typeface="Times New Roman" panose="02020603050405020304" pitchFamily="18" charset="0"/>
              </a:rPr>
              <a:t>hashed_password</a:t>
            </a:r>
            <a:r>
              <a:rPr lang="en-US" sz="2000" dirty="0">
                <a:latin typeface="Times New Roman" panose="02020603050405020304" pitchFamily="18" charset="0"/>
                <a:cs typeface="Times New Roman" panose="02020603050405020304" pitchFamily="18" charset="0"/>
              </a:rPr>
              <a:t> — the encrypted password</a:t>
            </a:r>
          </a:p>
          <a:p>
            <a:pPr>
              <a:buFont typeface="Arial" panose="020B0604020202020204" pitchFamily="34" charset="0"/>
              <a:buChar char="•"/>
            </a:pPr>
            <a:r>
              <a:rPr lang="en-US" sz="2000" b="1" dirty="0" err="1">
                <a:latin typeface="Times New Roman" panose="02020603050405020304" pitchFamily="18" charset="0"/>
                <a:cs typeface="Times New Roman" panose="02020603050405020304" pitchFamily="18" charset="0"/>
              </a:rPr>
              <a:t>last_changed</a:t>
            </a:r>
            <a:r>
              <a:rPr lang="en-US" sz="2000" dirty="0">
                <a:latin typeface="Times New Roman" panose="02020603050405020304" pitchFamily="18" charset="0"/>
                <a:cs typeface="Times New Roman" panose="02020603050405020304" pitchFamily="18" charset="0"/>
              </a:rPr>
              <a:t> — when password was last changed</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min/max age</a:t>
            </a:r>
            <a:r>
              <a:rPr lang="en-US" sz="2000" dirty="0">
                <a:latin typeface="Times New Roman" panose="02020603050405020304" pitchFamily="18" charset="0"/>
                <a:cs typeface="Times New Roman" panose="02020603050405020304" pitchFamily="18" charset="0"/>
              </a:rPr>
              <a:t> — how often passwords can/must be changed</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warn/inactive/expire</a:t>
            </a:r>
            <a:r>
              <a:rPr lang="en-US" sz="2000" dirty="0">
                <a:latin typeface="Times New Roman" panose="02020603050405020304" pitchFamily="18" charset="0"/>
                <a:cs typeface="Times New Roman" panose="02020603050405020304" pitchFamily="18" charset="0"/>
              </a:rPr>
              <a:t> — aging and expiration rules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reserved</a:t>
            </a:r>
            <a:r>
              <a:rPr lang="en-US" sz="2000" dirty="0">
                <a:latin typeface="Times New Roman" panose="02020603050405020304" pitchFamily="18" charset="0"/>
                <a:cs typeface="Times New Roman" panose="02020603050405020304" pitchFamily="18" charset="0"/>
              </a:rPr>
              <a:t> — extra field for future use </a:t>
            </a:r>
          </a:p>
          <a:p>
            <a:pPr>
              <a:buNone/>
            </a:pPr>
            <a:r>
              <a:rPr lang="en-US" sz="2800" dirty="0">
                <a:latin typeface="Times New Roman" panose="02020603050405020304" pitchFamily="18" charset="0"/>
                <a:cs typeface="Times New Roman" panose="02020603050405020304" pitchFamily="18" charset="0"/>
              </a:rPr>
              <a:t> Examples of values: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or ! in the password field usually means </a:t>
            </a:r>
            <a:r>
              <a:rPr lang="en-US" sz="2000" b="1" dirty="0">
                <a:latin typeface="Times New Roman" panose="02020603050405020304" pitchFamily="18" charset="0"/>
                <a:cs typeface="Times New Roman" panose="02020603050405020304" pitchFamily="18" charset="0"/>
              </a:rPr>
              <a:t>account not set up or locked</a:t>
            </a:r>
            <a:r>
              <a:rPr lang="en-US" sz="2000" dirty="0">
                <a:latin typeface="Times New Roman" panose="02020603050405020304" pitchFamily="18" charset="0"/>
                <a:cs typeface="Times New Roman" panose="02020603050405020304" pitchFamily="18" charset="0"/>
              </a:rPr>
              <a:t> (no login by password). </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None/>
            </a:pPr>
            <a:r>
              <a:rPr lang="en-US" sz="2800" b="1" dirty="0">
                <a:latin typeface="Times New Roman" panose="02020603050405020304" pitchFamily="18" charset="0"/>
                <a:cs typeface="Times New Roman" panose="02020603050405020304" pitchFamily="18" charset="0"/>
              </a:rPr>
              <a:t>In short: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/shadow securely stores user passwords and related metadata in a way that ordinary </a:t>
            </a:r>
            <a:r>
              <a:rPr lang="en-US" sz="2000" dirty="0">
                <a:highlight>
                  <a:srgbClr val="FFFF00"/>
                </a:highlight>
                <a:latin typeface="Times New Roman" panose="02020603050405020304" pitchFamily="18" charset="0"/>
                <a:cs typeface="Times New Roman" panose="02020603050405020304" pitchFamily="18" charset="0"/>
              </a:rPr>
              <a:t>users can’t </a:t>
            </a:r>
            <a:r>
              <a:rPr lang="en-US" sz="2000" dirty="0">
                <a:latin typeface="Times New Roman" panose="02020603050405020304" pitchFamily="18" charset="0"/>
                <a:cs typeface="Times New Roman" panose="02020603050405020304" pitchFamily="18" charset="0"/>
              </a:rPr>
              <a:t>read, reducing the risk of password cracking. </a:t>
            </a:r>
          </a:p>
        </p:txBody>
      </p:sp>
    </p:spTree>
    <p:extLst>
      <p:ext uri="{BB962C8B-B14F-4D97-AF65-F5344CB8AC3E}">
        <p14:creationId xmlns:p14="http://schemas.microsoft.com/office/powerpoint/2010/main" val="31762633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6E0D97-1B52-22F6-7F0D-767C771886B4}"/>
              </a:ext>
            </a:extLst>
          </p:cNvPr>
          <p:cNvSpPr txBox="1"/>
          <p:nvPr/>
        </p:nvSpPr>
        <p:spPr>
          <a:xfrm>
            <a:off x="1" y="1064182"/>
            <a:ext cx="9143999" cy="3724096"/>
          </a:xfrm>
          <a:prstGeom prst="rect">
            <a:avLst/>
          </a:prstGeom>
          <a:noFill/>
        </p:spPr>
        <p:txBody>
          <a:bodyPr wrap="square">
            <a:spAutoFit/>
          </a:bodyPr>
          <a:lstStyle/>
          <a:p>
            <a:pPr>
              <a:buNone/>
            </a:pPr>
            <a:r>
              <a:rPr lang="en-US" sz="2800" dirty="0">
                <a:latin typeface="Times New Roman" panose="02020603050405020304" pitchFamily="18" charset="0"/>
                <a:cs typeface="Times New Roman" panose="02020603050405020304" pitchFamily="18" charset="0"/>
              </a:rPr>
              <a:t>🎨 What it is: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default </a:t>
            </a:r>
            <a:r>
              <a:rPr lang="en-US" sz="2000" b="1" dirty="0">
                <a:latin typeface="Times New Roman" panose="02020603050405020304" pitchFamily="18" charset="0"/>
                <a:cs typeface="Times New Roman" panose="02020603050405020304" pitchFamily="18" charset="0"/>
              </a:rPr>
              <a:t>template directory</a:t>
            </a:r>
            <a:r>
              <a:rPr lang="en-US" sz="2000" dirty="0">
                <a:latin typeface="Times New Roman" panose="02020603050405020304" pitchFamily="18" charset="0"/>
                <a:cs typeface="Times New Roman" panose="02020603050405020304" pitchFamily="18" charset="0"/>
              </a:rPr>
              <a:t> for new user home directories.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When you create a new user with </a:t>
            </a:r>
            <a:r>
              <a:rPr lang="en-US" sz="2000" dirty="0" err="1">
                <a:latin typeface="Times New Roman" panose="02020603050405020304" pitchFamily="18" charset="0"/>
                <a:cs typeface="Times New Roman" panose="02020603050405020304" pitchFamily="18" charset="0"/>
              </a:rPr>
              <a:t>useradd</a:t>
            </a:r>
            <a:r>
              <a:rPr lang="en-US" sz="2000" dirty="0">
                <a:latin typeface="Times New Roman" panose="02020603050405020304" pitchFamily="18" charset="0"/>
                <a:cs typeface="Times New Roman" panose="02020603050405020304" pitchFamily="18" charset="0"/>
              </a:rPr>
              <a:t> -m, the system automatically </a:t>
            </a:r>
            <a:r>
              <a:rPr lang="en-US" sz="2000" b="1" dirty="0">
                <a:latin typeface="Times New Roman" panose="02020603050405020304" pitchFamily="18" charset="0"/>
                <a:cs typeface="Times New Roman" panose="02020603050405020304" pitchFamily="18" charset="0"/>
              </a:rPr>
              <a:t>copies everything inside /</a:t>
            </a:r>
            <a:r>
              <a:rPr lang="en-US" sz="2000" b="1" dirty="0" err="1">
                <a:latin typeface="Times New Roman" panose="02020603050405020304" pitchFamily="18" charset="0"/>
                <a:cs typeface="Times New Roman" panose="02020603050405020304" pitchFamily="18" charset="0"/>
              </a:rPr>
              <a:t>etc</a:t>
            </a: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skel</a:t>
            </a:r>
            <a:r>
              <a:rPr lang="en-US" sz="2000" dirty="0">
                <a:latin typeface="Times New Roman" panose="02020603050405020304" pitchFamily="18" charset="0"/>
                <a:cs typeface="Times New Roman" panose="02020603050405020304" pitchFamily="18" charset="0"/>
              </a:rPr>
              <a:t> into the new user’s HOME directory. </a:t>
            </a:r>
          </a:p>
          <a:p>
            <a:pPr>
              <a:buNone/>
            </a:pPr>
            <a:r>
              <a:rPr lang="en-US" sz="2800" dirty="0">
                <a:latin typeface="Times New Roman" panose="02020603050405020304" pitchFamily="18" charset="0"/>
                <a:cs typeface="Times New Roman" panose="02020603050405020304" pitchFamily="18" charset="0"/>
              </a:rPr>
              <a:t>📁 What it contains: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Usually some default configuration files like: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bashrc</a:t>
            </a:r>
            <a:r>
              <a:rPr lang="en-US" sz="2000" dirty="0">
                <a:latin typeface="Times New Roman" panose="02020603050405020304" pitchFamily="18" charset="0"/>
                <a:cs typeface="Times New Roman" panose="02020603050405020304" pitchFamily="18" charset="0"/>
              </a:rPr>
              <a:t> — shell settings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bash_profile</a:t>
            </a:r>
            <a:r>
              <a:rPr lang="en-US" sz="2000" dirty="0">
                <a:latin typeface="Times New Roman" panose="02020603050405020304" pitchFamily="18" charset="0"/>
                <a:cs typeface="Times New Roman" panose="02020603050405020304" pitchFamily="18" charset="0"/>
              </a:rPr>
              <a:t> — login shell setup</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bash_logout</a:t>
            </a:r>
            <a:r>
              <a:rPr lang="en-US" sz="2000" dirty="0">
                <a:latin typeface="Times New Roman" panose="02020603050405020304" pitchFamily="18" charset="0"/>
                <a:cs typeface="Times New Roman" panose="02020603050405020304" pitchFamily="18" charset="0"/>
              </a:rPr>
              <a:t> — logout commands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Anything else you want every new user to start with </a:t>
            </a:r>
          </a:p>
          <a:p>
            <a:pPr>
              <a:buNone/>
            </a:pP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DFCD12F-D5C2-B62E-A7C1-685DD4E350ED}"/>
              </a:ext>
            </a:extLst>
          </p:cNvPr>
          <p:cNvSpPr txBox="1"/>
          <p:nvPr/>
        </p:nvSpPr>
        <p:spPr>
          <a:xfrm>
            <a:off x="1863523" y="326461"/>
            <a:ext cx="5416952" cy="553998"/>
          </a:xfrm>
          <a:prstGeom prst="rect">
            <a:avLst/>
          </a:prstGeom>
          <a:noFill/>
        </p:spPr>
        <p:txBody>
          <a:bodyPr wrap="square">
            <a:spAutoFit/>
          </a:bodyPr>
          <a:lstStyle/>
          <a:p>
            <a:pPr>
              <a:buNone/>
            </a:pP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etc</a:t>
            </a:r>
            <a:r>
              <a:rPr lang="en-US" sz="3000" b="1" dirty="0">
                <a:latin typeface="Times New Roman" panose="02020603050405020304" pitchFamily="18" charset="0"/>
                <a:cs typeface="Times New Roman" panose="02020603050405020304" pitchFamily="18" charset="0"/>
              </a:rPr>
              <a:t>/</a:t>
            </a:r>
            <a:r>
              <a:rPr lang="en-US" sz="3000" b="1" dirty="0" err="1">
                <a:latin typeface="Times New Roman" panose="02020603050405020304" pitchFamily="18" charset="0"/>
                <a:cs typeface="Times New Roman" panose="02020603050405020304" pitchFamily="18" charset="0"/>
              </a:rPr>
              <a:t>skel</a:t>
            </a:r>
            <a:r>
              <a:rPr lang="en-US" sz="3000" b="1" dirty="0">
                <a:latin typeface="Times New Roman" panose="02020603050405020304" pitchFamily="18" charset="0"/>
                <a:cs typeface="Times New Roman" panose="02020603050405020304" pitchFamily="18" charset="0"/>
              </a:rPr>
              <a:t> — Skeleton Directory</a:t>
            </a:r>
          </a:p>
        </p:txBody>
      </p:sp>
    </p:spTree>
    <p:extLst>
      <p:ext uri="{BB962C8B-B14F-4D97-AF65-F5344CB8AC3E}">
        <p14:creationId xmlns:p14="http://schemas.microsoft.com/office/powerpoint/2010/main" val="33501779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D30FEC4-3011-0F83-134A-87718A47C8C4}"/>
              </a:ext>
            </a:extLst>
          </p:cNvPr>
          <p:cNvSpPr txBox="1"/>
          <p:nvPr/>
        </p:nvSpPr>
        <p:spPr>
          <a:xfrm>
            <a:off x="162045" y="1474206"/>
            <a:ext cx="8819909" cy="2062103"/>
          </a:xfrm>
          <a:prstGeom prst="rect">
            <a:avLst/>
          </a:prstGeom>
          <a:noFill/>
        </p:spPr>
        <p:txBody>
          <a:bodyPr wrap="square">
            <a:spAutoFit/>
          </a:bodyPr>
          <a:lstStyle/>
          <a:p>
            <a:pPr>
              <a:buNone/>
            </a:pPr>
            <a:r>
              <a:rPr lang="en-US" sz="2800" dirty="0">
                <a:latin typeface="Times New Roman" panose="02020603050405020304" pitchFamily="18" charset="0"/>
                <a:cs typeface="Times New Roman" panose="02020603050405020304" pitchFamily="18" charset="0"/>
              </a:rPr>
              <a:t>Why it exists: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 </a:t>
            </a:r>
            <a:r>
              <a:rPr lang="en-US" sz="2000" b="1" dirty="0">
                <a:latin typeface="Times New Roman" panose="02020603050405020304" pitchFamily="18" charset="0"/>
                <a:cs typeface="Times New Roman" panose="02020603050405020304" pitchFamily="18" charset="0"/>
              </a:rPr>
              <a:t>every new user has a basic environment already set up</a:t>
            </a:r>
            <a:r>
              <a:rPr lang="en-US" sz="2000" dirty="0">
                <a:latin typeface="Times New Roman" panose="02020603050405020304" pitchFamily="18" charset="0"/>
                <a:cs typeface="Times New Roman" panose="02020603050405020304" pitchFamily="18" charset="0"/>
              </a:rPr>
              <a:t> when they first log in.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You can customize it as per your standard setup — e.g., default directories, configs, aliases. </a:t>
            </a:r>
          </a:p>
          <a:p>
            <a:pPr>
              <a:buNone/>
            </a:pPr>
            <a:r>
              <a:rPr lang="en-US" sz="2000" b="1" dirty="0">
                <a:latin typeface="Times New Roman" panose="02020603050405020304" pitchFamily="18" charset="0"/>
                <a:cs typeface="Times New Roman" panose="02020603050405020304" pitchFamily="18" charset="0"/>
              </a:rPr>
              <a:t>In short: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skel</a:t>
            </a:r>
            <a:r>
              <a:rPr lang="en-US" sz="2000" dirty="0">
                <a:latin typeface="Times New Roman" panose="02020603050405020304" pitchFamily="18" charset="0"/>
                <a:cs typeface="Times New Roman" panose="02020603050405020304" pitchFamily="18" charset="0"/>
              </a:rPr>
              <a:t> is the </a:t>
            </a:r>
            <a:r>
              <a:rPr lang="en-US" sz="2000" b="1" dirty="0">
                <a:latin typeface="Times New Roman" panose="02020603050405020304" pitchFamily="18" charset="0"/>
                <a:cs typeface="Times New Roman" panose="02020603050405020304" pitchFamily="18" charset="0"/>
              </a:rPr>
              <a:t>default template for home directories</a:t>
            </a:r>
            <a:r>
              <a:rPr lang="en-US" sz="2000" dirty="0">
                <a:latin typeface="Times New Roman" panose="02020603050405020304" pitchFamily="18" charset="0"/>
                <a:cs typeface="Times New Roman" panose="02020603050405020304" pitchFamily="18" charset="0"/>
              </a:rPr>
              <a:t> that ensures every new user gets the same starting files/settings. </a:t>
            </a:r>
          </a:p>
        </p:txBody>
      </p:sp>
    </p:spTree>
    <p:extLst>
      <p:ext uri="{BB962C8B-B14F-4D97-AF65-F5344CB8AC3E}">
        <p14:creationId xmlns:p14="http://schemas.microsoft.com/office/powerpoint/2010/main" val="19841264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2B494A6-9062-77D0-3891-DB98DB65A1E4}"/>
              </a:ext>
            </a:extLst>
          </p:cNvPr>
          <p:cNvSpPr txBox="1"/>
          <p:nvPr/>
        </p:nvSpPr>
        <p:spPr>
          <a:xfrm>
            <a:off x="101600" y="1294477"/>
            <a:ext cx="9042400" cy="2800767"/>
          </a:xfrm>
          <a:prstGeom prst="rect">
            <a:avLst/>
          </a:prstGeom>
          <a:noFill/>
        </p:spPr>
        <p:txBody>
          <a:bodyPr wrap="square">
            <a:spAutoFit/>
          </a:bodyPr>
          <a:lstStyle/>
          <a:p>
            <a:pPr>
              <a:buNone/>
            </a:pPr>
            <a:r>
              <a:rPr lang="en-US" sz="2800" dirty="0">
                <a:latin typeface="Times New Roman" panose="02020603050405020304" pitchFamily="18" charset="0"/>
                <a:cs typeface="Times New Roman" panose="02020603050405020304" pitchFamily="18" charset="0"/>
              </a:rPr>
              <a:t>📬 What it is: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directory where the </a:t>
            </a:r>
            <a:r>
              <a:rPr lang="en-US" sz="2000" b="1" dirty="0">
                <a:latin typeface="Times New Roman" panose="02020603050405020304" pitchFamily="18" charset="0"/>
                <a:cs typeface="Times New Roman" panose="02020603050405020304" pitchFamily="18" charset="0"/>
              </a:rPr>
              <a:t>system stores local incoming mail</a:t>
            </a:r>
            <a:r>
              <a:rPr lang="en-US" sz="2000" dirty="0">
                <a:latin typeface="Times New Roman" panose="02020603050405020304" pitchFamily="18" charset="0"/>
                <a:cs typeface="Times New Roman" panose="02020603050405020304" pitchFamily="18" charset="0"/>
              </a:rPr>
              <a:t> for users — one file per user (e.g., /var/spool/mail/raj).</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is also called the </a:t>
            </a:r>
            <a:r>
              <a:rPr lang="en-US" sz="2000" b="1" dirty="0">
                <a:latin typeface="Times New Roman" panose="02020603050405020304" pitchFamily="18" charset="0"/>
                <a:cs typeface="Times New Roman" panose="02020603050405020304" pitchFamily="18" charset="0"/>
              </a:rPr>
              <a:t>mail spool</a:t>
            </a:r>
            <a:r>
              <a:rPr lang="en-US" sz="2000" dirty="0">
                <a:latin typeface="Times New Roman" panose="02020603050405020304" pitchFamily="18" charset="0"/>
                <a:cs typeface="Times New Roman" panose="02020603050405020304" pitchFamily="18" charset="0"/>
              </a:rPr>
              <a:t>. </a:t>
            </a:r>
          </a:p>
          <a:p>
            <a:pPr>
              <a:buNone/>
            </a:pPr>
            <a:r>
              <a:rPr lang="en-US" sz="2800" dirty="0">
                <a:latin typeface="Times New Roman" panose="02020603050405020304" pitchFamily="18" charset="0"/>
                <a:cs typeface="Times New Roman" panose="02020603050405020304" pitchFamily="18" charset="0"/>
              </a:rPr>
              <a:t>📦 Why it exists: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mail delivery agents (like Postfix or </a:t>
            </a:r>
            <a:r>
              <a:rPr lang="en-US" sz="2000" dirty="0" err="1">
                <a:latin typeface="Times New Roman" panose="02020603050405020304" pitchFamily="18" charset="0"/>
                <a:cs typeface="Times New Roman" panose="02020603050405020304" pitchFamily="18" charset="0"/>
              </a:rPr>
              <a:t>Sendmail</a:t>
            </a:r>
            <a:r>
              <a:rPr lang="en-US" sz="2000" dirty="0">
                <a:latin typeface="Times New Roman" panose="02020603050405020304" pitchFamily="18" charset="0"/>
                <a:cs typeface="Times New Roman" panose="02020603050405020304" pitchFamily="18" charset="0"/>
              </a:rPr>
              <a:t>) deposit messages here when local mail arrives.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Files in this directory act as the </a:t>
            </a:r>
            <a:r>
              <a:rPr lang="en-US" sz="2000" b="1" dirty="0">
                <a:latin typeface="Times New Roman" panose="02020603050405020304" pitchFamily="18" charset="0"/>
                <a:cs typeface="Times New Roman" panose="02020603050405020304" pitchFamily="18" charset="0"/>
              </a:rPr>
              <a:t>inbox for local mail clients</a:t>
            </a:r>
            <a:r>
              <a:rPr lang="en-US" sz="2000" dirty="0">
                <a:latin typeface="Times New Roman" panose="02020603050405020304" pitchFamily="18" charset="0"/>
                <a:cs typeface="Times New Roman" panose="02020603050405020304" pitchFamily="18" charset="0"/>
              </a:rPr>
              <a:t> to read. </a:t>
            </a:r>
          </a:p>
        </p:txBody>
      </p:sp>
      <p:sp>
        <p:nvSpPr>
          <p:cNvPr id="6" name="TextBox 5">
            <a:extLst>
              <a:ext uri="{FF2B5EF4-FFF2-40B4-BE49-F238E27FC236}">
                <a16:creationId xmlns:a16="http://schemas.microsoft.com/office/drawing/2014/main" id="{251D632E-CCF4-FF26-13FB-9971F0C6D5AF}"/>
              </a:ext>
            </a:extLst>
          </p:cNvPr>
          <p:cNvSpPr txBox="1"/>
          <p:nvPr/>
        </p:nvSpPr>
        <p:spPr>
          <a:xfrm>
            <a:off x="1089467" y="39172"/>
            <a:ext cx="6736465" cy="553998"/>
          </a:xfrm>
          <a:prstGeom prst="rect">
            <a:avLst/>
          </a:prstGeom>
          <a:noFill/>
        </p:spPr>
        <p:txBody>
          <a:bodyPr wrap="square">
            <a:spAutoFit/>
          </a:bodyPr>
          <a:lstStyle/>
          <a:p>
            <a:pPr algn="ctr">
              <a:buNone/>
            </a:pPr>
            <a:r>
              <a:rPr lang="en-US" sz="3000" b="1" dirty="0">
                <a:latin typeface="Times New Roman" panose="02020603050405020304" pitchFamily="18" charset="0"/>
                <a:cs typeface="Times New Roman" panose="02020603050405020304" pitchFamily="18" charset="0"/>
              </a:rPr>
              <a:t>/var/spool/mail — Mail Spool Directory</a:t>
            </a:r>
          </a:p>
        </p:txBody>
      </p:sp>
    </p:spTree>
    <p:extLst>
      <p:ext uri="{BB962C8B-B14F-4D97-AF65-F5344CB8AC3E}">
        <p14:creationId xmlns:p14="http://schemas.microsoft.com/office/powerpoint/2010/main" val="7190468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CFD7A6C-03B8-1CED-2822-9FD0A6F7B308}"/>
              </a:ext>
            </a:extLst>
          </p:cNvPr>
          <p:cNvSpPr txBox="1"/>
          <p:nvPr/>
        </p:nvSpPr>
        <p:spPr>
          <a:xfrm>
            <a:off x="0" y="1016177"/>
            <a:ext cx="9144000" cy="2246769"/>
          </a:xfrm>
          <a:prstGeom prst="rect">
            <a:avLst/>
          </a:prstGeom>
          <a:noFill/>
        </p:spPr>
        <p:txBody>
          <a:bodyPr wrap="square">
            <a:spAutoFit/>
          </a:bodyPr>
          <a:lstStyle/>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Mail is delivered by a mail delivery agent or system processes (like </a:t>
            </a:r>
            <a:r>
              <a:rPr lang="en-US" sz="2000" dirty="0" err="1">
                <a:latin typeface="Times New Roman" panose="02020603050405020304" pitchFamily="18" charset="0"/>
                <a:cs typeface="Times New Roman" panose="02020603050405020304" pitchFamily="18" charset="0"/>
              </a:rPr>
              <a:t>cron</a:t>
            </a:r>
            <a:r>
              <a:rPr lang="en-US" sz="2000" dirty="0">
                <a:latin typeface="Times New Roman" panose="02020603050405020304" pitchFamily="18" charset="0"/>
                <a:cs typeface="Times New Roman" panose="02020603050405020304" pitchFamily="18" charset="0"/>
              </a:rPr>
              <a:t> output) into /var/spool/mail/&lt;username&gt;.</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Users can then read their mail using mail clients or by checking those files manually.</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there’s no mail delivered yet, these files will be </a:t>
            </a:r>
            <a:r>
              <a:rPr lang="en-US" sz="2000" b="1" dirty="0">
                <a:latin typeface="Times New Roman" panose="02020603050405020304" pitchFamily="18" charset="0"/>
                <a:cs typeface="Times New Roman" panose="02020603050405020304" pitchFamily="18" charset="0"/>
              </a:rPr>
              <a:t>empty</a:t>
            </a:r>
            <a:r>
              <a:rPr lang="en-US" sz="2000" dirty="0">
                <a:latin typeface="Times New Roman" panose="02020603050405020304" pitchFamily="18" charset="0"/>
                <a:cs typeface="Times New Roman" panose="02020603050405020304" pitchFamily="18" charset="0"/>
              </a:rPr>
              <a:t> — which is why your user1 file had no content. </a:t>
            </a:r>
          </a:p>
          <a:p>
            <a:pPr>
              <a:buNone/>
            </a:pPr>
            <a:r>
              <a:rPr lang="en-US" sz="2000" b="1" dirty="0">
                <a:latin typeface="Times New Roman" panose="02020603050405020304" pitchFamily="18" charset="0"/>
                <a:cs typeface="Times New Roman" panose="02020603050405020304" pitchFamily="18" charset="0"/>
              </a:rPr>
              <a:t>In short:</a:t>
            </a:r>
            <a:r>
              <a:rPr lang="en-US" sz="2000" dirty="0">
                <a:latin typeface="Times New Roman" panose="02020603050405020304" pitchFamily="18" charset="0"/>
                <a:cs typeface="Times New Roman" panose="02020603050405020304" pitchFamily="18" charset="0"/>
              </a:rPr>
              <a:t> /var/spool/mail/ is the </a:t>
            </a:r>
            <a:r>
              <a:rPr lang="en-US" sz="2000" b="1" dirty="0">
                <a:latin typeface="Times New Roman" panose="02020603050405020304" pitchFamily="18" charset="0"/>
                <a:cs typeface="Times New Roman" panose="02020603050405020304" pitchFamily="18" charset="0"/>
              </a:rPr>
              <a:t>traditional location for storing local user email messages</a:t>
            </a:r>
            <a:r>
              <a:rPr lang="en-US" sz="2000" dirty="0">
                <a:latin typeface="Times New Roman" panose="02020603050405020304" pitchFamily="18" charset="0"/>
                <a:cs typeface="Times New Roman" panose="02020603050405020304" pitchFamily="18" charset="0"/>
              </a:rPr>
              <a:t> waiting to be read. </a:t>
            </a:r>
          </a:p>
        </p:txBody>
      </p:sp>
      <p:sp>
        <p:nvSpPr>
          <p:cNvPr id="6" name="TextBox 5">
            <a:extLst>
              <a:ext uri="{FF2B5EF4-FFF2-40B4-BE49-F238E27FC236}">
                <a16:creationId xmlns:a16="http://schemas.microsoft.com/office/drawing/2014/main" id="{70275E0A-C679-6DC1-84A1-389D4522A775}"/>
              </a:ext>
            </a:extLst>
          </p:cNvPr>
          <p:cNvSpPr txBox="1"/>
          <p:nvPr/>
        </p:nvSpPr>
        <p:spPr>
          <a:xfrm>
            <a:off x="1990725" y="252512"/>
            <a:ext cx="5162550" cy="523220"/>
          </a:xfrm>
          <a:prstGeom prst="rect">
            <a:avLst/>
          </a:prstGeom>
          <a:noFill/>
        </p:spPr>
        <p:txBody>
          <a:bodyPr wrap="square">
            <a:spAutoFit/>
          </a:bodyPr>
          <a:lstStyle/>
          <a:p>
            <a:pPr algn="ctr">
              <a:buNone/>
            </a:pPr>
            <a:r>
              <a:rPr lang="en-US" sz="2800" dirty="0">
                <a:latin typeface="Times New Roman" panose="02020603050405020304" pitchFamily="18" charset="0"/>
                <a:cs typeface="Times New Roman" panose="02020603050405020304" pitchFamily="18" charset="0"/>
              </a:rPr>
              <a:t>📄 How it works:</a:t>
            </a:r>
          </a:p>
        </p:txBody>
      </p:sp>
    </p:spTree>
    <p:extLst>
      <p:ext uri="{BB962C8B-B14F-4D97-AF65-F5344CB8AC3E}">
        <p14:creationId xmlns:p14="http://schemas.microsoft.com/office/powerpoint/2010/main" val="422476704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6D97FA7-5031-9542-50C3-40D1DE22F528}"/>
              </a:ext>
            </a:extLst>
          </p:cNvPr>
          <p:cNvGraphicFramePr>
            <a:graphicFrameLocks noGrp="1"/>
          </p:cNvGraphicFramePr>
          <p:nvPr/>
        </p:nvGraphicFramePr>
        <p:xfrm>
          <a:off x="712788" y="2037715"/>
          <a:ext cx="7718424" cy="1645920"/>
        </p:xfrm>
        <a:graphic>
          <a:graphicData uri="http://schemas.openxmlformats.org/drawingml/2006/table">
            <a:tbl>
              <a:tblPr/>
              <a:tblGrid>
                <a:gridCol w="2572808">
                  <a:extLst>
                    <a:ext uri="{9D8B030D-6E8A-4147-A177-3AD203B41FA5}">
                      <a16:colId xmlns:a16="http://schemas.microsoft.com/office/drawing/2014/main" val="2607373084"/>
                    </a:ext>
                  </a:extLst>
                </a:gridCol>
                <a:gridCol w="2572808">
                  <a:extLst>
                    <a:ext uri="{9D8B030D-6E8A-4147-A177-3AD203B41FA5}">
                      <a16:colId xmlns:a16="http://schemas.microsoft.com/office/drawing/2014/main" val="1408660358"/>
                    </a:ext>
                  </a:extLst>
                </a:gridCol>
                <a:gridCol w="2572808">
                  <a:extLst>
                    <a:ext uri="{9D8B030D-6E8A-4147-A177-3AD203B41FA5}">
                      <a16:colId xmlns:a16="http://schemas.microsoft.com/office/drawing/2014/main" val="3397042836"/>
                    </a:ext>
                  </a:extLst>
                </a:gridCol>
              </a:tblGrid>
              <a:tr h="0">
                <a:tc>
                  <a:txBody>
                    <a:bodyPr/>
                    <a:lstStyle/>
                    <a:p>
                      <a:pPr>
                        <a:buNone/>
                      </a:pPr>
                      <a:r>
                        <a:rPr lang="en-IN"/>
                        <a:t>File/Directory</a:t>
                      </a:r>
                    </a:p>
                  </a:txBody>
                  <a:tcPr anchor="ctr">
                    <a:lnL>
                      <a:noFill/>
                    </a:lnL>
                    <a:lnR>
                      <a:noFill/>
                    </a:lnR>
                    <a:lnT>
                      <a:noFill/>
                    </a:lnT>
                    <a:lnB>
                      <a:noFill/>
                    </a:lnB>
                    <a:noFill/>
                  </a:tcPr>
                </a:tc>
                <a:tc>
                  <a:txBody>
                    <a:bodyPr/>
                    <a:lstStyle/>
                    <a:p>
                      <a:pPr>
                        <a:buNone/>
                      </a:pPr>
                      <a:r>
                        <a:rPr lang="en-IN"/>
                        <a:t>Purpose</a:t>
                      </a:r>
                    </a:p>
                  </a:txBody>
                  <a:tcPr anchor="ctr">
                    <a:lnL>
                      <a:noFill/>
                    </a:lnL>
                    <a:lnR>
                      <a:noFill/>
                    </a:lnR>
                    <a:lnT>
                      <a:noFill/>
                    </a:lnT>
                    <a:lnB>
                      <a:noFill/>
                    </a:lnB>
                    <a:noFill/>
                  </a:tcPr>
                </a:tc>
                <a:tc>
                  <a:txBody>
                    <a:bodyPr/>
                    <a:lstStyle/>
                    <a:p>
                      <a:pPr>
                        <a:buNone/>
                      </a:pPr>
                      <a:r>
                        <a:rPr lang="en-IN"/>
                        <a:t>What It Contains</a:t>
                      </a:r>
                    </a:p>
                  </a:txBody>
                  <a:tcPr anchor="ctr">
                    <a:lnL>
                      <a:noFill/>
                    </a:lnL>
                    <a:lnR>
                      <a:noFill/>
                    </a:lnR>
                    <a:lnT>
                      <a:noFill/>
                    </a:lnT>
                    <a:lnB>
                      <a:noFill/>
                    </a:lnB>
                    <a:noFill/>
                  </a:tcPr>
                </a:tc>
                <a:extLst>
                  <a:ext uri="{0D108BD9-81ED-4DB2-BD59-A6C34878D82A}">
                    <a16:rowId xmlns:a16="http://schemas.microsoft.com/office/drawing/2014/main" val="3114587947"/>
                  </a:ext>
                </a:extLst>
              </a:tr>
              <a:tr h="0">
                <a:tc>
                  <a:txBody>
                    <a:bodyPr/>
                    <a:lstStyle/>
                    <a:p>
                      <a:pPr>
                        <a:buNone/>
                      </a:pPr>
                      <a:r>
                        <a:rPr lang="en-IN" b="1"/>
                        <a:t>/etc/shadow</a:t>
                      </a:r>
                      <a:endParaRPr lang="en-IN"/>
                    </a:p>
                  </a:txBody>
                  <a:tcPr anchor="ctr">
                    <a:lnL>
                      <a:noFill/>
                    </a:lnL>
                    <a:lnR>
                      <a:noFill/>
                    </a:lnR>
                    <a:lnT>
                      <a:noFill/>
                    </a:lnT>
                    <a:lnB>
                      <a:noFill/>
                    </a:lnB>
                    <a:noFill/>
                  </a:tcPr>
                </a:tc>
                <a:tc>
                  <a:txBody>
                    <a:bodyPr/>
                    <a:lstStyle/>
                    <a:p>
                      <a:pPr>
                        <a:buNone/>
                      </a:pPr>
                      <a:r>
                        <a:rPr lang="en-IN"/>
                        <a:t>Stores secure password info</a:t>
                      </a:r>
                    </a:p>
                  </a:txBody>
                  <a:tcPr anchor="ctr">
                    <a:lnL>
                      <a:noFill/>
                    </a:lnL>
                    <a:lnR>
                      <a:noFill/>
                    </a:lnR>
                    <a:lnT>
                      <a:noFill/>
                    </a:lnT>
                    <a:lnB>
                      <a:noFill/>
                    </a:lnB>
                    <a:noFill/>
                  </a:tcPr>
                </a:tc>
                <a:tc>
                  <a:txBody>
                    <a:bodyPr/>
                    <a:lstStyle/>
                    <a:p>
                      <a:pPr>
                        <a:buNone/>
                      </a:pPr>
                      <a:r>
                        <a:rPr lang="en-US"/>
                        <a:t>Hashed passwords, aging &amp; expiration details</a:t>
                      </a:r>
                    </a:p>
                  </a:txBody>
                  <a:tcPr anchor="ctr">
                    <a:lnL>
                      <a:noFill/>
                    </a:lnL>
                    <a:lnR>
                      <a:noFill/>
                    </a:lnR>
                    <a:lnT>
                      <a:noFill/>
                    </a:lnT>
                    <a:lnB>
                      <a:noFill/>
                    </a:lnB>
                    <a:noFill/>
                  </a:tcPr>
                </a:tc>
                <a:extLst>
                  <a:ext uri="{0D108BD9-81ED-4DB2-BD59-A6C34878D82A}">
                    <a16:rowId xmlns:a16="http://schemas.microsoft.com/office/drawing/2014/main" val="3662596360"/>
                  </a:ext>
                </a:extLst>
              </a:tr>
              <a:tr h="0">
                <a:tc>
                  <a:txBody>
                    <a:bodyPr/>
                    <a:lstStyle/>
                    <a:p>
                      <a:pPr>
                        <a:buNone/>
                      </a:pPr>
                      <a:r>
                        <a:rPr lang="en-IN" b="1"/>
                        <a:t>/etc/skel</a:t>
                      </a:r>
                      <a:endParaRPr lang="en-IN"/>
                    </a:p>
                  </a:txBody>
                  <a:tcPr anchor="ctr">
                    <a:lnL>
                      <a:noFill/>
                    </a:lnL>
                    <a:lnR>
                      <a:noFill/>
                    </a:lnR>
                    <a:lnT>
                      <a:noFill/>
                    </a:lnT>
                    <a:lnB>
                      <a:noFill/>
                    </a:lnB>
                    <a:noFill/>
                  </a:tcPr>
                </a:tc>
                <a:tc>
                  <a:txBody>
                    <a:bodyPr/>
                    <a:lstStyle/>
                    <a:p>
                      <a:pPr>
                        <a:buNone/>
                      </a:pPr>
                      <a:r>
                        <a:rPr lang="en-IN"/>
                        <a:t>Templates for new users</a:t>
                      </a:r>
                    </a:p>
                  </a:txBody>
                  <a:tcPr anchor="ctr">
                    <a:lnL>
                      <a:noFill/>
                    </a:lnL>
                    <a:lnR>
                      <a:noFill/>
                    </a:lnR>
                    <a:lnT>
                      <a:noFill/>
                    </a:lnT>
                    <a:lnB>
                      <a:noFill/>
                    </a:lnB>
                    <a:noFill/>
                  </a:tcPr>
                </a:tc>
                <a:tc>
                  <a:txBody>
                    <a:bodyPr/>
                    <a:lstStyle/>
                    <a:p>
                      <a:pPr>
                        <a:buNone/>
                      </a:pPr>
                      <a:r>
                        <a:rPr lang="en-US"/>
                        <a:t>Default dotfiles copied to new users’ home</a:t>
                      </a:r>
                    </a:p>
                  </a:txBody>
                  <a:tcPr anchor="ctr">
                    <a:lnL>
                      <a:noFill/>
                    </a:lnL>
                    <a:lnR>
                      <a:noFill/>
                    </a:lnR>
                    <a:lnT>
                      <a:noFill/>
                    </a:lnT>
                    <a:lnB>
                      <a:noFill/>
                    </a:lnB>
                    <a:noFill/>
                  </a:tcPr>
                </a:tc>
                <a:extLst>
                  <a:ext uri="{0D108BD9-81ED-4DB2-BD59-A6C34878D82A}">
                    <a16:rowId xmlns:a16="http://schemas.microsoft.com/office/drawing/2014/main" val="2544308630"/>
                  </a:ext>
                </a:extLst>
              </a:tr>
              <a:tr h="0">
                <a:tc>
                  <a:txBody>
                    <a:bodyPr/>
                    <a:lstStyle/>
                    <a:p>
                      <a:pPr>
                        <a:buNone/>
                      </a:pPr>
                      <a:r>
                        <a:rPr lang="en-IN" b="1"/>
                        <a:t>/var/spool/mail</a:t>
                      </a:r>
                      <a:endParaRPr lang="en-IN"/>
                    </a:p>
                  </a:txBody>
                  <a:tcPr anchor="ctr">
                    <a:lnL>
                      <a:noFill/>
                    </a:lnL>
                    <a:lnR>
                      <a:noFill/>
                    </a:lnR>
                    <a:lnT>
                      <a:noFill/>
                    </a:lnT>
                    <a:lnB>
                      <a:noFill/>
                    </a:lnB>
                    <a:noFill/>
                  </a:tcPr>
                </a:tc>
                <a:tc>
                  <a:txBody>
                    <a:bodyPr/>
                    <a:lstStyle/>
                    <a:p>
                      <a:pPr>
                        <a:buNone/>
                      </a:pPr>
                      <a:r>
                        <a:rPr lang="en-IN"/>
                        <a:t>Local email storage</a:t>
                      </a:r>
                    </a:p>
                  </a:txBody>
                  <a:tcPr anchor="ctr">
                    <a:lnL>
                      <a:noFill/>
                    </a:lnL>
                    <a:lnR>
                      <a:noFill/>
                    </a:lnR>
                    <a:lnT>
                      <a:noFill/>
                    </a:lnT>
                    <a:lnB>
                      <a:noFill/>
                    </a:lnB>
                    <a:noFill/>
                  </a:tcPr>
                </a:tc>
                <a:tc>
                  <a:txBody>
                    <a:bodyPr/>
                    <a:lstStyle/>
                    <a:p>
                      <a:pPr>
                        <a:buNone/>
                      </a:pPr>
                      <a:r>
                        <a:rPr lang="en-US" dirty="0"/>
                        <a:t>Mail spool files for each user</a:t>
                      </a:r>
                    </a:p>
                  </a:txBody>
                  <a:tcPr anchor="ctr">
                    <a:lnL>
                      <a:noFill/>
                    </a:lnL>
                    <a:lnR>
                      <a:noFill/>
                    </a:lnR>
                    <a:lnT>
                      <a:noFill/>
                    </a:lnT>
                    <a:lnB>
                      <a:noFill/>
                    </a:lnB>
                    <a:noFill/>
                  </a:tcPr>
                </a:tc>
                <a:extLst>
                  <a:ext uri="{0D108BD9-81ED-4DB2-BD59-A6C34878D82A}">
                    <a16:rowId xmlns:a16="http://schemas.microsoft.com/office/drawing/2014/main" val="1142901367"/>
                  </a:ext>
                </a:extLst>
              </a:tr>
            </a:tbl>
          </a:graphicData>
        </a:graphic>
      </p:graphicFrame>
    </p:spTree>
    <p:extLst>
      <p:ext uri="{BB962C8B-B14F-4D97-AF65-F5344CB8AC3E}">
        <p14:creationId xmlns:p14="http://schemas.microsoft.com/office/powerpoint/2010/main" val="278029644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417C4-3651-ED13-D9BC-70E0B0C14D4B}"/>
              </a:ext>
            </a:extLst>
          </p:cNvPr>
          <p:cNvSpPr>
            <a:spLocks noGrp="1"/>
          </p:cNvSpPr>
          <p:nvPr>
            <p:ph type="title"/>
          </p:nvPr>
        </p:nvSpPr>
        <p:spPr>
          <a:xfrm>
            <a:off x="720000" y="241825"/>
            <a:ext cx="7704000" cy="572700"/>
          </a:xfrm>
        </p:spPr>
        <p:txBody>
          <a:bodyPr/>
          <a:lstStyle/>
          <a:p>
            <a:pPr algn="ct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Local Users</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lang="en-US" dirty="0"/>
          </a:p>
        </p:txBody>
      </p:sp>
      <p:sp>
        <p:nvSpPr>
          <p:cNvPr id="3" name="Rectangle 1">
            <a:extLst>
              <a:ext uri="{FF2B5EF4-FFF2-40B4-BE49-F238E27FC236}">
                <a16:creationId xmlns:a16="http://schemas.microsoft.com/office/drawing/2014/main" id="{101469E3-12F7-1607-AFB2-76F9DE8803B8}"/>
              </a:ext>
            </a:extLst>
          </p:cNvPr>
          <p:cNvSpPr>
            <a:spLocks noChangeArrowheads="1"/>
          </p:cNvSpPr>
          <p:nvPr/>
        </p:nvSpPr>
        <p:spPr bwMode="auto">
          <a:xfrm>
            <a:off x="820077" y="1017725"/>
            <a:ext cx="750384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eaLnBrk="0" fontAlgn="base" hangingPunct="0">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be either people (meaning accounts tied to physical users) or accounts that exist for specific applications to use.</a:t>
            </a:r>
          </a:p>
          <a:p>
            <a:pPr lvl="1" eaLnBrk="0" fontAlgn="base" hangingPunct="0">
              <a:spcBef>
                <a:spcPct val="0"/>
              </a:spcBef>
              <a:spcAft>
                <a:spcPct val="0"/>
              </a:spcAft>
              <a:buClr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user account is used to provide security boundaries between different people and programs that can be run.</a:t>
            </a:r>
          </a:p>
          <a:p>
            <a:pPr lvl="1" eaLnBrk="0" fontAlgn="base" hangingPunct="0">
              <a:spcBef>
                <a:spcPct val="0"/>
              </a:spcBef>
              <a:spcAft>
                <a:spcPct val="0"/>
              </a:spcAft>
              <a:buClr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user associated with a running process determines the files and directories accessible to that process.</a:t>
            </a:r>
          </a:p>
          <a:p>
            <a:pPr lvl="1" eaLnBrk="0" fontAlgn="base" hangingPunct="0">
              <a:spcBef>
                <a:spcPct val="0"/>
              </a:spcBef>
              <a:spcAft>
                <a:spcPct val="0"/>
              </a:spcAft>
              <a:buClrTx/>
              <a:buFontTx/>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command is used to view the current login user. Same command is for other users too, by specifying the username.</a:t>
            </a:r>
          </a:p>
          <a:p>
            <a:pPr lvl="1" eaLnBrk="0" fontAlgn="base" hangingPunct="0">
              <a:spcBef>
                <a:spcPct val="0"/>
              </a:spcBef>
              <a:spcAft>
                <a:spcPct val="0"/>
              </a:spcAft>
              <a:buClrTx/>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839345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94DCE-C424-FE22-B7CC-935334C7225C}"/>
              </a:ext>
            </a:extLst>
          </p:cNvPr>
          <p:cNvSpPr>
            <a:spLocks noGrp="1"/>
          </p:cNvSpPr>
          <p:nvPr>
            <p:ph type="title"/>
          </p:nvPr>
        </p:nvSpPr>
        <p:spPr/>
        <p:txBody>
          <a:bodyPr/>
          <a:lstStyle/>
          <a:p>
            <a:pPr algn="ct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commands</a:t>
            </a:r>
            <a:endParaRPr lang="en-US" dirty="0"/>
          </a:p>
        </p:txBody>
      </p:sp>
      <p:sp>
        <p:nvSpPr>
          <p:cNvPr id="4" name="TextBox 3">
            <a:extLst>
              <a:ext uri="{FF2B5EF4-FFF2-40B4-BE49-F238E27FC236}">
                <a16:creationId xmlns:a16="http://schemas.microsoft.com/office/drawing/2014/main" id="{40841371-3AF0-337F-E64A-C109582F5745}"/>
              </a:ext>
            </a:extLst>
          </p:cNvPr>
          <p:cNvSpPr txBox="1"/>
          <p:nvPr/>
        </p:nvSpPr>
        <p:spPr>
          <a:xfrm>
            <a:off x="1870075" y="1624112"/>
            <a:ext cx="5162550" cy="523220"/>
          </a:xfrm>
          <a:prstGeom prst="rect">
            <a:avLst/>
          </a:prstGeom>
          <a:noFill/>
        </p:spPr>
        <p:txBody>
          <a:bodyPr wrap="square">
            <a:spAutoFit/>
          </a:bodyPr>
          <a:lstStyle/>
          <a:p>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command is used to view the current login user</a:t>
            </a:r>
            <a:endParaRPr lang="en-US" dirty="0"/>
          </a:p>
        </p:txBody>
      </p:sp>
      <p:sp>
        <p:nvSpPr>
          <p:cNvPr id="6" name="TextBox 5">
            <a:extLst>
              <a:ext uri="{FF2B5EF4-FFF2-40B4-BE49-F238E27FC236}">
                <a16:creationId xmlns:a16="http://schemas.microsoft.com/office/drawing/2014/main" id="{C6DD7A3F-48BC-EB92-4623-0AF3CE20415F}"/>
              </a:ext>
            </a:extLst>
          </p:cNvPr>
          <p:cNvSpPr txBox="1"/>
          <p:nvPr/>
        </p:nvSpPr>
        <p:spPr>
          <a:xfrm>
            <a:off x="1870075" y="2418090"/>
            <a:ext cx="5162550" cy="523220"/>
          </a:xfrm>
          <a:prstGeom prst="rect">
            <a:avLst/>
          </a:prstGeom>
          <a:noFill/>
        </p:spPr>
        <p:txBody>
          <a:bodyPr wrap="square">
            <a:spAutoFit/>
          </a:bodyPr>
          <a:lstStyle/>
          <a:p>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prasad</a:t>
            </a:r>
          </a:p>
          <a:p>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command is used to view the prasad user</a:t>
            </a:r>
            <a:endParaRPr lang="en-US" dirty="0"/>
          </a:p>
        </p:txBody>
      </p:sp>
    </p:spTree>
    <p:extLst>
      <p:ext uri="{BB962C8B-B14F-4D97-AF65-F5344CB8AC3E}">
        <p14:creationId xmlns:p14="http://schemas.microsoft.com/office/powerpoint/2010/main" val="248717372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45801-483A-62E1-E53D-44370B0CABE9}"/>
              </a:ext>
            </a:extLst>
          </p:cNvPr>
          <p:cNvSpPr>
            <a:spLocks noGrp="1"/>
          </p:cNvSpPr>
          <p:nvPr>
            <p:ph type="title"/>
          </p:nvPr>
        </p:nvSpPr>
        <p:spPr>
          <a:xfrm>
            <a:off x="720000" y="0"/>
            <a:ext cx="7704000" cy="572700"/>
          </a:xfrm>
        </p:spPr>
        <p:txBody>
          <a:bodyPr/>
          <a:lstStyle/>
          <a:p>
            <a:pPr algn="ctr"/>
            <a:r>
              <a:rPr lang="en-US" dirty="0">
                <a:latin typeface="Times New Roman" panose="02020603050405020304" pitchFamily="18" charset="0"/>
                <a:cs typeface="Times New Roman" panose="02020603050405020304" pitchFamily="18" charset="0"/>
              </a:rPr>
              <a:t>Local user</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09A3D89-0D7E-353E-A175-3266EF9086CA}"/>
              </a:ext>
            </a:extLst>
          </p:cNvPr>
          <p:cNvPicPr>
            <a:picLocks noChangeAspect="1"/>
          </p:cNvPicPr>
          <p:nvPr/>
        </p:nvPicPr>
        <p:blipFill>
          <a:blip r:embed="rId2"/>
          <a:stretch>
            <a:fillRect/>
          </a:stretch>
        </p:blipFill>
        <p:spPr>
          <a:xfrm>
            <a:off x="393700" y="606569"/>
            <a:ext cx="8356600" cy="44707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96155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A73C8-18B9-754F-B6BE-E2C45323D652}"/>
              </a:ext>
            </a:extLst>
          </p:cNvPr>
          <p:cNvSpPr>
            <a:spLocks noGrp="1"/>
          </p:cNvSpPr>
          <p:nvPr>
            <p:ph type="title"/>
          </p:nvPr>
        </p:nvSpPr>
        <p:spPr>
          <a:xfrm>
            <a:off x="1191850" y="203725"/>
            <a:ext cx="6760300" cy="572700"/>
          </a:xfrm>
        </p:spPr>
        <p:txBody>
          <a:bodyPr/>
          <a:lstStyle/>
          <a:p>
            <a:pPr algn="ctr"/>
            <a:r>
              <a:rPr lang="en-US" b="1" dirty="0">
                <a:latin typeface="Times New Roman" panose="02020603050405020304" pitchFamily="18" charset="0"/>
                <a:cs typeface="Times New Roman" panose="02020603050405020304" pitchFamily="18" charset="0"/>
              </a:rPr>
              <a:t>UID Ranges</a:t>
            </a: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4F42358-E00C-EFAD-4C68-B6975D80718A}"/>
              </a:ext>
            </a:extLst>
          </p:cNvPr>
          <p:cNvSpPr txBox="1"/>
          <p:nvPr/>
        </p:nvSpPr>
        <p:spPr>
          <a:xfrm>
            <a:off x="1191850" y="928825"/>
            <a:ext cx="6760300" cy="3785652"/>
          </a:xfrm>
          <a:prstGeom prst="rect">
            <a:avLst/>
          </a:prstGeom>
          <a:noFill/>
        </p:spPr>
        <p:txBody>
          <a:bodyPr wrap="square">
            <a:spAutoFit/>
          </a:bodyPr>
          <a:lstStyle/>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UID 0</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is reserved for root user</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UID 1–200</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is reserved for system users assigned statically to system processes by Red Hat</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UID 201–999</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This ID is normally assigned is reserved for system users, used by system processes that do not own files on the file system dynamically from the available pool when the software is installed.</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UID 1000+</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is the range available for regular users.</a:t>
            </a:r>
          </a:p>
        </p:txBody>
      </p:sp>
    </p:spTree>
    <p:extLst>
      <p:ext uri="{BB962C8B-B14F-4D97-AF65-F5344CB8AC3E}">
        <p14:creationId xmlns:p14="http://schemas.microsoft.com/office/powerpoint/2010/main" val="380326139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240733CF-9638-4E7B-1E3E-752EEE2BF17C}"/>
              </a:ext>
            </a:extLst>
          </p:cNvPr>
          <p:cNvSpPr>
            <a:spLocks noChangeArrowheads="1"/>
          </p:cNvSpPr>
          <p:nvPr/>
        </p:nvSpPr>
        <p:spPr bwMode="auto">
          <a:xfrm>
            <a:off x="623887" y="730310"/>
            <a:ext cx="789622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 local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information is kept in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"flat file"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located at: /etc/passwd.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file has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seven fields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each field contains specific information:</a:t>
            </a: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Username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Password</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UID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ID)</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GID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(Group ID)</a:t>
            </a:r>
          </a:p>
          <a:p>
            <a:pPr marL="0" marR="0" lvl="0" indent="0" algn="l" defTabSz="914400" rtl="0" eaLnBrk="0" fontAlgn="base" latinLnBrk="0" hangingPunct="0">
              <a:lnSpc>
                <a:spcPct val="150000"/>
              </a:lnSpc>
              <a:spcBef>
                <a:spcPct val="0"/>
              </a:spcBef>
              <a:spcAft>
                <a:spcPct val="0"/>
              </a:spcAft>
              <a:buClrTx/>
              <a:buSzTx/>
              <a:buFontTx/>
              <a:buAutoNum type="arabicPeriod" startAt="5"/>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information)</a:t>
            </a:r>
          </a:p>
          <a:p>
            <a:pPr marL="0" marR="0" lvl="0" indent="0" algn="l" defTabSz="914400" rtl="0" eaLnBrk="0" fontAlgn="base" latinLnBrk="0" hangingPunct="0">
              <a:lnSpc>
                <a:spcPct val="150000"/>
              </a:lnSpc>
              <a:spcBef>
                <a:spcPct val="0"/>
              </a:spcBef>
              <a:spcAft>
                <a:spcPct val="0"/>
              </a:spcAft>
              <a:buClrTx/>
              <a:buSzTx/>
              <a:buFontTx/>
              <a:buAutoNum type="arabicPeriod" startAt="6"/>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Home Directory</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7"/>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Shell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(Default shell for the user)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05F72CF-A01F-0583-B04F-0A4CC7522CD0}"/>
              </a:ext>
            </a:extLst>
          </p:cNvPr>
          <p:cNvSpPr txBox="1"/>
          <p:nvPr/>
        </p:nvSpPr>
        <p:spPr>
          <a:xfrm>
            <a:off x="1990725" y="176312"/>
            <a:ext cx="5162550" cy="553998"/>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Local Users</a:t>
            </a:r>
          </a:p>
        </p:txBody>
      </p:sp>
    </p:spTree>
    <p:extLst>
      <p:ext uri="{BB962C8B-B14F-4D97-AF65-F5344CB8AC3E}">
        <p14:creationId xmlns:p14="http://schemas.microsoft.com/office/powerpoint/2010/main" val="190066920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
            <a:extLst>
              <a:ext uri="{FF2B5EF4-FFF2-40B4-BE49-F238E27FC236}">
                <a16:creationId xmlns:a16="http://schemas.microsoft.com/office/drawing/2014/main" id="{97590D4D-B9C3-F893-31B8-0B17C16D38E7}"/>
              </a:ext>
            </a:extLst>
          </p:cNvPr>
          <p:cNvSpPr>
            <a:spLocks noChangeArrowheads="1"/>
          </p:cNvSpPr>
          <p:nvPr/>
        </p:nvSpPr>
        <p:spPr bwMode="auto">
          <a:xfrm>
            <a:off x="127000" y="0"/>
            <a:ext cx="282481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Entry:</a:t>
            </a: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Rectangle 3">
            <a:extLst>
              <a:ext uri="{FF2B5EF4-FFF2-40B4-BE49-F238E27FC236}">
                <a16:creationId xmlns:a16="http://schemas.microsoft.com/office/drawing/2014/main" id="{D67CEA7B-3ABA-DE68-9618-1106C5EA5B4B}"/>
              </a:ext>
            </a:extLst>
          </p:cNvPr>
          <p:cNvSpPr>
            <a:spLocks noChangeArrowheads="1"/>
          </p:cNvSpPr>
          <p:nvPr/>
        </p:nvSpPr>
        <p:spPr bwMode="auto">
          <a:xfrm>
            <a:off x="1067593" y="905471"/>
            <a:ext cx="700881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solidFill>
                  <a:schemeClr val="bg1"/>
                </a:solidFill>
                <a:highlight>
                  <a:srgbClr val="000000"/>
                </a:highlight>
                <a:latin typeface="Times New Roman" panose="02020603050405020304" pitchFamily="18" charset="0"/>
                <a:cs typeface="Times New Roman" panose="02020603050405020304" pitchFamily="18" charset="0"/>
              </a:rPr>
              <a:t>[root@Linux1 ~]# grep prasad /etc/passwd</a:t>
            </a:r>
          </a:p>
          <a:p>
            <a:r>
              <a:rPr lang="en-US" sz="2000" dirty="0">
                <a:solidFill>
                  <a:schemeClr val="bg1"/>
                </a:solidFill>
                <a:highlight>
                  <a:srgbClr val="000000"/>
                </a:highlight>
                <a:latin typeface="Times New Roman" panose="02020603050405020304" pitchFamily="18" charset="0"/>
                <a:cs typeface="Times New Roman" panose="02020603050405020304" pitchFamily="18" charset="0"/>
              </a:rPr>
              <a:t>prasad:x:1002:1002::/home/prasad:/bin/bash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Explanation of Fields: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Ramesh → Username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 → Password (masked, actual password is stored in /etc/shadow)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1002 → UID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1002 → GID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(Empty) → Comment(HR/Admin/IT)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/home/Ramesh → Home Directory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/bin/bash → Default Shell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314781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11AAB-57B4-52FE-0611-447C3D34E552}"/>
              </a:ext>
            </a:extLst>
          </p:cNvPr>
          <p:cNvSpPr>
            <a:spLocks noGrp="1"/>
          </p:cNvSpPr>
          <p:nvPr>
            <p:ph type="title"/>
          </p:nvPr>
        </p:nvSpPr>
        <p:spPr>
          <a:xfrm>
            <a:off x="720000" y="114825"/>
            <a:ext cx="7704000" cy="572700"/>
          </a:xfrm>
        </p:spPr>
        <p:txBody>
          <a:bodyPr/>
          <a:lstStyle/>
          <a:p>
            <a:pPr algn="ctr"/>
            <a:r>
              <a:rPr lang="en-US" b="1" dirty="0">
                <a:latin typeface="Times New Roman" panose="02020603050405020304" pitchFamily="18" charset="0"/>
                <a:cs typeface="Times New Roman" panose="02020603050405020304" pitchFamily="18" charset="0"/>
              </a:rPr>
              <a:t>Managing Local Users</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BB87ACC-3F19-9FDD-29C3-9ED5931B9BAE}"/>
              </a:ext>
            </a:extLst>
          </p:cNvPr>
          <p:cNvSpPr txBox="1"/>
          <p:nvPr/>
        </p:nvSpPr>
        <p:spPr>
          <a:xfrm>
            <a:off x="977900" y="874965"/>
            <a:ext cx="3889374" cy="400110"/>
          </a:xfrm>
          <a:prstGeom prst="rect">
            <a:avLst/>
          </a:prstGeom>
          <a:noFill/>
        </p:spPr>
        <p:txBody>
          <a:bodyPr wrap="square">
            <a:spAutoFit/>
          </a:bodyPr>
          <a:lstStyle/>
          <a:p>
            <a:pPr algn="ctr"/>
            <a:r>
              <a:rPr lang="en-US" sz="2000" dirty="0">
                <a:solidFill>
                  <a:schemeClr val="bg1"/>
                </a:solidFill>
                <a:highlight>
                  <a:srgbClr val="000000"/>
                </a:highlight>
                <a:latin typeface="Times New Roman" panose="02020603050405020304" pitchFamily="18" charset="0"/>
                <a:cs typeface="Times New Roman" panose="02020603050405020304" pitchFamily="18" charset="0"/>
              </a:rPr>
              <a:t># useradd [option] &lt;username&gt;</a:t>
            </a:r>
          </a:p>
        </p:txBody>
      </p:sp>
      <p:graphicFrame>
        <p:nvGraphicFramePr>
          <p:cNvPr id="5" name="Table 4">
            <a:extLst>
              <a:ext uri="{FF2B5EF4-FFF2-40B4-BE49-F238E27FC236}">
                <a16:creationId xmlns:a16="http://schemas.microsoft.com/office/drawing/2014/main" id="{F1DEBC4C-4257-2671-22F9-B62434A8A519}"/>
              </a:ext>
            </a:extLst>
          </p:cNvPr>
          <p:cNvGraphicFramePr>
            <a:graphicFrameLocks/>
          </p:cNvGraphicFramePr>
          <p:nvPr>
            <p:extLst>
              <p:ext uri="{D42A27DB-BD31-4B8C-83A1-F6EECF244321}">
                <p14:modId xmlns:p14="http://schemas.microsoft.com/office/powerpoint/2010/main" val="3460143728"/>
              </p:ext>
            </p:extLst>
          </p:nvPr>
        </p:nvGraphicFramePr>
        <p:xfrm>
          <a:off x="1365250" y="1462515"/>
          <a:ext cx="7245350" cy="2377440"/>
        </p:xfrm>
        <a:graphic>
          <a:graphicData uri="http://schemas.openxmlformats.org/drawingml/2006/table">
            <a:tbl>
              <a:tblPr>
                <a:tableStyleId>{5DA37D80-6434-44D0-A028-1B22A696006F}</a:tableStyleId>
              </a:tblPr>
              <a:tblGrid>
                <a:gridCol w="1678460">
                  <a:extLst>
                    <a:ext uri="{9D8B030D-6E8A-4147-A177-3AD203B41FA5}">
                      <a16:colId xmlns:a16="http://schemas.microsoft.com/office/drawing/2014/main" val="2946725701"/>
                    </a:ext>
                  </a:extLst>
                </a:gridCol>
                <a:gridCol w="5566890">
                  <a:extLst>
                    <a:ext uri="{9D8B030D-6E8A-4147-A177-3AD203B41FA5}">
                      <a16:colId xmlns:a16="http://schemas.microsoft.com/office/drawing/2014/main" val="3930389113"/>
                    </a:ext>
                  </a:extLst>
                </a:gridCol>
              </a:tblGrid>
              <a:tr h="304800">
                <a:tc>
                  <a:txBody>
                    <a:bodyPr/>
                    <a:lstStyle/>
                    <a:p>
                      <a:pPr algn="ctr"/>
                      <a:r>
                        <a:rPr lang="en-US" sz="2000" dirty="0">
                          <a:latin typeface="Times New Roman" panose="02020603050405020304" pitchFamily="18" charset="0"/>
                          <a:cs typeface="Times New Roman" panose="02020603050405020304" pitchFamily="18" charset="0"/>
                        </a:rPr>
                        <a:t>Option</a:t>
                      </a:r>
                    </a:p>
                  </a:txBody>
                  <a:tcPr anchor="ctr">
                    <a:solidFill>
                      <a:schemeClr val="accent3">
                        <a:lumMod val="60000"/>
                        <a:lumOff val="40000"/>
                      </a:schemeClr>
                    </a:solidFill>
                  </a:tcPr>
                </a:tc>
                <a:tc>
                  <a:txBody>
                    <a:bodyPr/>
                    <a:lstStyle/>
                    <a:p>
                      <a:pPr algn="l"/>
                      <a:r>
                        <a:rPr lang="en-US" sz="2000" dirty="0">
                          <a:latin typeface="Times New Roman" panose="02020603050405020304" pitchFamily="18" charset="0"/>
                          <a:cs typeface="Times New Roman" panose="02020603050405020304" pitchFamily="18" charset="0"/>
                        </a:rPr>
                        <a:t>Description</a:t>
                      </a:r>
                    </a:p>
                  </a:txBody>
                  <a:tcPr anchor="ctr">
                    <a:solidFill>
                      <a:schemeClr val="accent3">
                        <a:lumMod val="60000"/>
                        <a:lumOff val="40000"/>
                      </a:schemeClr>
                    </a:solidFill>
                  </a:tcPr>
                </a:tc>
                <a:extLst>
                  <a:ext uri="{0D108BD9-81ED-4DB2-BD59-A6C34878D82A}">
                    <a16:rowId xmlns:a16="http://schemas.microsoft.com/office/drawing/2014/main" val="3781322950"/>
                  </a:ext>
                </a:extLst>
              </a:tr>
              <a:tr h="304800">
                <a:tc>
                  <a:txBody>
                    <a:bodyPr/>
                    <a:lstStyle/>
                    <a:p>
                      <a:pPr algn="ctr"/>
                      <a:r>
                        <a:rPr lang="en-US" sz="2000" dirty="0">
                          <a:latin typeface="Times New Roman" panose="02020603050405020304" pitchFamily="18" charset="0"/>
                          <a:cs typeface="Times New Roman" panose="02020603050405020304" pitchFamily="18" charset="0"/>
                        </a:rPr>
                        <a:t>-c 'comment'</a:t>
                      </a:r>
                    </a:p>
                  </a:txBody>
                  <a:tcPr anchor="ctr"/>
                </a:tc>
                <a:tc>
                  <a:txBody>
                    <a:bodyPr/>
                    <a:lstStyle/>
                    <a:p>
                      <a:pPr algn="l"/>
                      <a:r>
                        <a:rPr lang="en-US" sz="2000" dirty="0">
                          <a:latin typeface="Times New Roman" panose="02020603050405020304" pitchFamily="18" charset="0"/>
                          <a:cs typeface="Times New Roman" panose="02020603050405020304" pitchFamily="18" charset="0"/>
                        </a:rPr>
                        <a:t>Create user with a comment</a:t>
                      </a:r>
                    </a:p>
                  </a:txBody>
                  <a:tcPr anchor="ctr"/>
                </a:tc>
                <a:extLst>
                  <a:ext uri="{0D108BD9-81ED-4DB2-BD59-A6C34878D82A}">
                    <a16:rowId xmlns:a16="http://schemas.microsoft.com/office/drawing/2014/main" val="3778962743"/>
                  </a:ext>
                </a:extLst>
              </a:tr>
              <a:tr h="304800">
                <a:tc>
                  <a:txBody>
                    <a:bodyPr/>
                    <a:lstStyle/>
                    <a:p>
                      <a:pPr algn="ctr"/>
                      <a:r>
                        <a:rPr lang="en-US" sz="2000" dirty="0">
                          <a:latin typeface="Times New Roman" panose="02020603050405020304" pitchFamily="18" charset="0"/>
                          <a:cs typeface="Times New Roman" panose="02020603050405020304" pitchFamily="18" charset="0"/>
                        </a:rPr>
                        <a:t>-d</a:t>
                      </a:r>
                    </a:p>
                  </a:txBody>
                  <a:tcPr anchor="ctr"/>
                </a:tc>
                <a:tc>
                  <a:txBody>
                    <a:bodyPr/>
                    <a:lstStyle/>
                    <a:p>
                      <a:pPr algn="l"/>
                      <a:r>
                        <a:rPr lang="en-US" sz="2000" dirty="0">
                          <a:latin typeface="Times New Roman" panose="02020603050405020304" pitchFamily="18" charset="0"/>
                          <a:cs typeface="Times New Roman" panose="02020603050405020304" pitchFamily="18" charset="0"/>
                        </a:rPr>
                        <a:t>Change default home directory</a:t>
                      </a:r>
                    </a:p>
                  </a:txBody>
                  <a:tcPr anchor="ctr"/>
                </a:tc>
                <a:extLst>
                  <a:ext uri="{0D108BD9-81ED-4DB2-BD59-A6C34878D82A}">
                    <a16:rowId xmlns:a16="http://schemas.microsoft.com/office/drawing/2014/main" val="2303221258"/>
                  </a:ext>
                </a:extLst>
              </a:tr>
              <a:tr h="304800">
                <a:tc>
                  <a:txBody>
                    <a:bodyPr/>
                    <a:lstStyle/>
                    <a:p>
                      <a:pPr algn="ctr"/>
                      <a:r>
                        <a:rPr lang="en-US" sz="2000">
                          <a:latin typeface="Times New Roman" panose="02020603050405020304" pitchFamily="18" charset="0"/>
                          <a:cs typeface="Times New Roman" panose="02020603050405020304" pitchFamily="18" charset="0"/>
                        </a:rPr>
                        <a:t>-M</a:t>
                      </a:r>
                    </a:p>
                  </a:txBody>
                  <a:tcPr anchor="ctr"/>
                </a:tc>
                <a:tc>
                  <a:txBody>
                    <a:bodyPr/>
                    <a:lstStyle/>
                    <a:p>
                      <a:pPr algn="l"/>
                      <a:r>
                        <a:rPr lang="en-US" sz="2000" dirty="0">
                          <a:latin typeface="Times New Roman" panose="02020603050405020304" pitchFamily="18" charset="0"/>
                          <a:cs typeface="Times New Roman" panose="02020603050405020304" pitchFamily="18" charset="0"/>
                        </a:rPr>
                        <a:t>Create user without a home directory</a:t>
                      </a:r>
                    </a:p>
                  </a:txBody>
                  <a:tcPr anchor="ctr"/>
                </a:tc>
                <a:extLst>
                  <a:ext uri="{0D108BD9-81ED-4DB2-BD59-A6C34878D82A}">
                    <a16:rowId xmlns:a16="http://schemas.microsoft.com/office/drawing/2014/main" val="3336513562"/>
                  </a:ext>
                </a:extLst>
              </a:tr>
              <a:tr h="304800">
                <a:tc>
                  <a:txBody>
                    <a:bodyPr/>
                    <a:lstStyle/>
                    <a:p>
                      <a:pPr algn="ctr"/>
                      <a:r>
                        <a:rPr lang="en-US" sz="2000" dirty="0">
                          <a:latin typeface="Times New Roman" panose="02020603050405020304" pitchFamily="18" charset="0"/>
                          <a:cs typeface="Times New Roman" panose="02020603050405020304" pitchFamily="18" charset="0"/>
                        </a:rPr>
                        <a:t>-N</a:t>
                      </a:r>
                    </a:p>
                  </a:txBody>
                  <a:tcPr anchor="ctr"/>
                </a:tc>
                <a:tc>
                  <a:txBody>
                    <a:bodyPr/>
                    <a:lstStyle/>
                    <a:p>
                      <a:pPr algn="l"/>
                      <a:r>
                        <a:rPr lang="en-US" sz="2000" dirty="0">
                          <a:latin typeface="Times New Roman" panose="02020603050405020304" pitchFamily="18" charset="0"/>
                          <a:cs typeface="Times New Roman" panose="02020603050405020304" pitchFamily="18" charset="0"/>
                        </a:rPr>
                        <a:t>Create user without a primary group</a:t>
                      </a:r>
                    </a:p>
                  </a:txBody>
                  <a:tcPr anchor="ctr"/>
                </a:tc>
                <a:extLst>
                  <a:ext uri="{0D108BD9-81ED-4DB2-BD59-A6C34878D82A}">
                    <a16:rowId xmlns:a16="http://schemas.microsoft.com/office/drawing/2014/main" val="4127311155"/>
                  </a:ext>
                </a:extLst>
              </a:tr>
              <a:tr h="304800">
                <a:tc>
                  <a:txBody>
                    <a:bodyPr/>
                    <a:lstStyle/>
                    <a:p>
                      <a:pPr algn="ctr"/>
                      <a:r>
                        <a:rPr lang="en-US" sz="2000" dirty="0">
                          <a:latin typeface="Times New Roman" panose="02020603050405020304" pitchFamily="18" charset="0"/>
                          <a:cs typeface="Times New Roman" panose="02020603050405020304" pitchFamily="18" charset="0"/>
                        </a:rPr>
                        <a:t>-u</a:t>
                      </a:r>
                    </a:p>
                  </a:txBody>
                  <a:tcPr anchor="ctr"/>
                </a:tc>
                <a:tc>
                  <a:txBody>
                    <a:bodyPr/>
                    <a:lstStyle/>
                    <a:p>
                      <a:pPr algn="l"/>
                      <a:r>
                        <a:rPr lang="en-US" sz="2000" dirty="0">
                          <a:latin typeface="Times New Roman" panose="02020603050405020304" pitchFamily="18" charset="0"/>
                          <a:cs typeface="Times New Roman" panose="02020603050405020304" pitchFamily="18" charset="0"/>
                        </a:rPr>
                        <a:t>Create user with a specific user ID</a:t>
                      </a:r>
                    </a:p>
                  </a:txBody>
                  <a:tcPr anchor="ctr"/>
                </a:tc>
                <a:extLst>
                  <a:ext uri="{0D108BD9-81ED-4DB2-BD59-A6C34878D82A}">
                    <a16:rowId xmlns:a16="http://schemas.microsoft.com/office/drawing/2014/main" val="2680108423"/>
                  </a:ext>
                </a:extLst>
              </a:tr>
            </a:tbl>
          </a:graphicData>
        </a:graphic>
      </p:graphicFrame>
    </p:spTree>
    <p:extLst>
      <p:ext uri="{BB962C8B-B14F-4D97-AF65-F5344CB8AC3E}">
        <p14:creationId xmlns:p14="http://schemas.microsoft.com/office/powerpoint/2010/main" val="356575668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3BED0CA-53A9-2378-CE08-BE96DB2EAD96}"/>
              </a:ext>
            </a:extLst>
          </p:cNvPr>
          <p:cNvSpPr txBox="1"/>
          <p:nvPr/>
        </p:nvSpPr>
        <p:spPr>
          <a:xfrm>
            <a:off x="842168" y="1176229"/>
            <a:ext cx="7459663" cy="317009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You can manage user in Linux both way Graphical and command</a:t>
            </a:r>
          </a:p>
          <a:p>
            <a:r>
              <a:rPr lang="en-US" sz="2000" dirty="0">
                <a:latin typeface="Times New Roman" panose="02020603050405020304" pitchFamily="18" charset="0"/>
                <a:cs typeface="Times New Roman" panose="02020603050405020304" pitchFamily="18" charset="0"/>
              </a:rPr>
              <a:t>line utilities</a:t>
            </a:r>
          </a:p>
          <a:p>
            <a:r>
              <a:rPr lang="en-US" sz="2000" dirty="0">
                <a:latin typeface="Times New Roman" panose="02020603050405020304" pitchFamily="18" charset="0"/>
                <a:cs typeface="Times New Roman" panose="02020603050405020304" pitchFamily="18" charset="0"/>
              </a:rPr>
              <a:t>• useradd - -help command displays the basic option.</a:t>
            </a:r>
          </a:p>
          <a:p>
            <a:r>
              <a:rPr lang="en-US" sz="2000" dirty="0">
                <a:latin typeface="Times New Roman" panose="02020603050405020304" pitchFamily="18" charset="0"/>
                <a:cs typeface="Times New Roman" panose="02020603050405020304" pitchFamily="18" charset="0"/>
              </a:rPr>
              <a:t>• Range of valid UID numbers and default password aging rules,</a:t>
            </a:r>
          </a:p>
          <a:p>
            <a:r>
              <a:rPr lang="en-US" sz="2000" dirty="0">
                <a:latin typeface="Times New Roman" panose="02020603050405020304" pitchFamily="18" charset="0"/>
                <a:cs typeface="Times New Roman" panose="02020603050405020304" pitchFamily="18" charset="0"/>
              </a:rPr>
              <a:t>are read from /etc/</a:t>
            </a:r>
            <a:r>
              <a:rPr lang="en-US" sz="2000" dirty="0" err="1">
                <a:latin typeface="Times New Roman" panose="02020603050405020304" pitchFamily="18" charset="0"/>
                <a:cs typeface="Times New Roman" panose="02020603050405020304" pitchFamily="18" charset="0"/>
              </a:rPr>
              <a:t>login.defs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Generally following commands used to manage users along with</a:t>
            </a:r>
          </a:p>
          <a:p>
            <a:r>
              <a:rPr lang="en-US" sz="2000" dirty="0">
                <a:latin typeface="Times New Roman" panose="02020603050405020304" pitchFamily="18" charset="0"/>
                <a:cs typeface="Times New Roman" panose="02020603050405020304" pitchFamily="18" charset="0"/>
              </a:rPr>
              <a:t>options</a:t>
            </a:r>
          </a:p>
          <a:p>
            <a:r>
              <a:rPr lang="en-US" sz="2000" dirty="0">
                <a:latin typeface="Times New Roman" panose="02020603050405020304" pitchFamily="18" charset="0"/>
                <a:cs typeface="Times New Roman" panose="02020603050405020304" pitchFamily="18" charset="0"/>
              </a:rPr>
              <a:t>#useradd</a:t>
            </a:r>
          </a:p>
          <a:p>
            <a:r>
              <a:rPr lang="en-US" sz="2000" dirty="0">
                <a:latin typeface="Times New Roman" panose="02020603050405020304" pitchFamily="18" charset="0"/>
                <a:cs typeface="Times New Roman" panose="02020603050405020304" pitchFamily="18" charset="0"/>
              </a:rPr>
              <a:t>#usermod</a:t>
            </a:r>
          </a:p>
          <a:p>
            <a:r>
              <a:rPr lang="en-US" sz="2000" dirty="0">
                <a:latin typeface="Times New Roman" panose="02020603050405020304" pitchFamily="18" charset="0"/>
                <a:cs typeface="Times New Roman" panose="02020603050405020304" pitchFamily="18" charset="0"/>
              </a:rPr>
              <a:t>#userdel</a:t>
            </a:r>
          </a:p>
        </p:txBody>
      </p:sp>
      <p:sp>
        <p:nvSpPr>
          <p:cNvPr id="6" name="TextBox 5">
            <a:extLst>
              <a:ext uri="{FF2B5EF4-FFF2-40B4-BE49-F238E27FC236}">
                <a16:creationId xmlns:a16="http://schemas.microsoft.com/office/drawing/2014/main" id="{EF44F88E-D7B2-6A58-D461-D242CAF1574F}"/>
              </a:ext>
            </a:extLst>
          </p:cNvPr>
          <p:cNvSpPr txBox="1"/>
          <p:nvPr/>
        </p:nvSpPr>
        <p:spPr>
          <a:xfrm>
            <a:off x="1990725" y="189012"/>
            <a:ext cx="5162550" cy="553998"/>
          </a:xfrm>
          <a:prstGeom prst="rect">
            <a:avLst/>
          </a:prstGeom>
          <a:noFill/>
        </p:spPr>
        <p:txBody>
          <a:bodyPr wrap="square">
            <a:spAutoFit/>
          </a:bodyPr>
          <a:lstStyle/>
          <a:p>
            <a:pPr algn="ctr"/>
            <a:r>
              <a:rPr lang="en-US" sz="3000" dirty="0">
                <a:latin typeface="Times New Roman" panose="02020603050405020304" pitchFamily="18" charset="0"/>
                <a:cs typeface="Times New Roman" panose="02020603050405020304" pitchFamily="18" charset="0"/>
              </a:rPr>
              <a:t>Managing Local Users</a:t>
            </a:r>
          </a:p>
        </p:txBody>
      </p:sp>
    </p:spTree>
    <p:extLst>
      <p:ext uri="{BB962C8B-B14F-4D97-AF65-F5344CB8AC3E}">
        <p14:creationId xmlns:p14="http://schemas.microsoft.com/office/powerpoint/2010/main" val="287966453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B82667-1D92-A90A-2782-4B7E3BBE8E10}"/>
              </a:ext>
            </a:extLst>
          </p:cNvPr>
          <p:cNvSpPr txBox="1"/>
          <p:nvPr/>
        </p:nvSpPr>
        <p:spPr>
          <a:xfrm>
            <a:off x="727075" y="614522"/>
            <a:ext cx="2740025" cy="163121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useradd user1</a:t>
            </a:r>
          </a:p>
          <a:p>
            <a:r>
              <a:rPr lang="en-US" sz="2000" dirty="0">
                <a:latin typeface="Times New Roman" panose="02020603050405020304" pitchFamily="18" charset="0"/>
                <a:cs typeface="Times New Roman" panose="02020603050405020304" pitchFamily="18" charset="0"/>
              </a:rPr>
              <a:t>To create new user</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cat /etc/passwd</a:t>
            </a:r>
          </a:p>
          <a:p>
            <a:r>
              <a:rPr lang="en-US" sz="2000" dirty="0">
                <a:latin typeface="Times New Roman" panose="02020603050405020304" pitchFamily="18" charset="0"/>
                <a:cs typeface="Times New Roman" panose="02020603050405020304" pitchFamily="18" charset="0"/>
              </a:rPr>
              <a:t>To verify</a:t>
            </a:r>
          </a:p>
        </p:txBody>
      </p:sp>
      <p:sp>
        <p:nvSpPr>
          <p:cNvPr id="6" name="TextBox 5">
            <a:extLst>
              <a:ext uri="{FF2B5EF4-FFF2-40B4-BE49-F238E27FC236}">
                <a16:creationId xmlns:a16="http://schemas.microsoft.com/office/drawing/2014/main" id="{658F65DA-E375-1F69-325E-F0E36B1251DD}"/>
              </a:ext>
            </a:extLst>
          </p:cNvPr>
          <p:cNvSpPr txBox="1"/>
          <p:nvPr/>
        </p:nvSpPr>
        <p:spPr>
          <a:xfrm>
            <a:off x="9524" y="88455"/>
            <a:ext cx="3581401"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To create new user</a:t>
            </a:r>
          </a:p>
        </p:txBody>
      </p:sp>
      <p:sp>
        <p:nvSpPr>
          <p:cNvPr id="7" name="TextBox 6">
            <a:extLst>
              <a:ext uri="{FF2B5EF4-FFF2-40B4-BE49-F238E27FC236}">
                <a16:creationId xmlns:a16="http://schemas.microsoft.com/office/drawing/2014/main" id="{67752038-473E-44C9-0A48-9D58075128F5}"/>
              </a:ext>
            </a:extLst>
          </p:cNvPr>
          <p:cNvSpPr txBox="1"/>
          <p:nvPr/>
        </p:nvSpPr>
        <p:spPr>
          <a:xfrm>
            <a:off x="607650" y="2897762"/>
            <a:ext cx="7928700" cy="163121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#useradd -c </a:t>
            </a:r>
            <a:r>
              <a:rPr lang="en-US" sz="2000" dirty="0">
                <a:solidFill>
                  <a:srgbClr val="FF0000"/>
                </a:solidFill>
                <a:latin typeface="Times New Roman" panose="02020603050405020304" pitchFamily="18" charset="0"/>
                <a:cs typeface="Times New Roman" panose="02020603050405020304" pitchFamily="18" charset="0"/>
              </a:rPr>
              <a:t>account</a:t>
            </a:r>
            <a:r>
              <a:rPr lang="en-US" sz="2000" dirty="0">
                <a:latin typeface="Times New Roman" panose="02020603050405020304" pitchFamily="18" charset="0"/>
                <a:cs typeface="Times New Roman" panose="02020603050405020304" pitchFamily="18" charset="0"/>
              </a:rPr>
              <a:t> user2</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Times New Roman" panose="02020603050405020304" pitchFamily="18" charset="0"/>
                <a:cs typeface="Times New Roman" panose="02020603050405020304" pitchFamily="18" charset="0"/>
              </a:rPr>
              <a:t>user2 : x : 1004 : 1004 :</a:t>
            </a:r>
            <a:r>
              <a:rPr kumimoji="0" lang="en-US" sz="20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sym typeface="Arial"/>
              </a:rPr>
              <a:t>account</a:t>
            </a:r>
            <a:r>
              <a:rPr lang="en-US" sz="2000" dirty="0">
                <a:latin typeface="Times New Roman" panose="02020603050405020304" pitchFamily="18" charset="0"/>
                <a:cs typeface="Times New Roman" panose="02020603050405020304" pitchFamily="18" charset="0"/>
              </a:rPr>
              <a:t>: /home/user2 : /bin/bash</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verify</a:t>
            </a:r>
          </a:p>
          <a:p>
            <a:r>
              <a:rPr lang="en-US" sz="2000" dirty="0">
                <a:latin typeface="Times New Roman" panose="02020603050405020304" pitchFamily="18" charset="0"/>
                <a:cs typeface="Times New Roman" panose="02020603050405020304" pitchFamily="18" charset="0"/>
              </a:rPr>
              <a:t>#cat /etc/passwd</a:t>
            </a:r>
          </a:p>
        </p:txBody>
      </p:sp>
      <p:sp>
        <p:nvSpPr>
          <p:cNvPr id="9" name="TextBox 8">
            <a:extLst>
              <a:ext uri="{FF2B5EF4-FFF2-40B4-BE49-F238E27FC236}">
                <a16:creationId xmlns:a16="http://schemas.microsoft.com/office/drawing/2014/main" id="{B2083771-3AB3-3FDC-1000-171CAA0C6CF4}"/>
              </a:ext>
            </a:extLst>
          </p:cNvPr>
          <p:cNvSpPr txBox="1"/>
          <p:nvPr/>
        </p:nvSpPr>
        <p:spPr>
          <a:xfrm>
            <a:off x="1831975" y="2245738"/>
            <a:ext cx="5162550"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To create new user with comment</a:t>
            </a:r>
          </a:p>
        </p:txBody>
      </p:sp>
      <p:sp>
        <p:nvSpPr>
          <p:cNvPr id="2" name="TextBox 1">
            <a:extLst>
              <a:ext uri="{FF2B5EF4-FFF2-40B4-BE49-F238E27FC236}">
                <a16:creationId xmlns:a16="http://schemas.microsoft.com/office/drawing/2014/main" id="{03AF3816-15A9-A921-385C-D8354CB89A3A}"/>
              </a:ext>
            </a:extLst>
          </p:cNvPr>
          <p:cNvSpPr txBox="1"/>
          <p:nvPr/>
        </p:nvSpPr>
        <p:spPr>
          <a:xfrm>
            <a:off x="5676900" y="488565"/>
            <a:ext cx="2740025" cy="163121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userdel</a:t>
            </a:r>
            <a:r>
              <a:rPr lang="en-US" sz="2000" dirty="0">
                <a:latin typeface="Times New Roman" panose="02020603050405020304" pitchFamily="18" charset="0"/>
                <a:cs typeface="Times New Roman" panose="02020603050405020304" pitchFamily="18" charset="0"/>
              </a:rPr>
              <a:t> user1</a:t>
            </a:r>
          </a:p>
          <a:p>
            <a:r>
              <a:rPr lang="en-US" sz="2000" dirty="0">
                <a:latin typeface="Times New Roman" panose="02020603050405020304" pitchFamily="18" charset="0"/>
                <a:cs typeface="Times New Roman" panose="02020603050405020304" pitchFamily="18" charset="0"/>
              </a:rPr>
              <a:t>To delete a user</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cat /etc/passwd</a:t>
            </a:r>
          </a:p>
          <a:p>
            <a:r>
              <a:rPr lang="en-US" sz="2000" dirty="0">
                <a:latin typeface="Times New Roman" panose="02020603050405020304" pitchFamily="18" charset="0"/>
                <a:cs typeface="Times New Roman" panose="02020603050405020304" pitchFamily="18" charset="0"/>
              </a:rPr>
              <a:t>To verify</a:t>
            </a:r>
          </a:p>
        </p:txBody>
      </p:sp>
      <p:sp>
        <p:nvSpPr>
          <p:cNvPr id="8" name="TextBox 7">
            <a:extLst>
              <a:ext uri="{FF2B5EF4-FFF2-40B4-BE49-F238E27FC236}">
                <a16:creationId xmlns:a16="http://schemas.microsoft.com/office/drawing/2014/main" id="{24C831E7-79A1-5C32-30DC-D723ED8D0AAD}"/>
              </a:ext>
            </a:extLst>
          </p:cNvPr>
          <p:cNvSpPr txBox="1"/>
          <p:nvPr/>
        </p:nvSpPr>
        <p:spPr>
          <a:xfrm>
            <a:off x="4495800" y="88455"/>
            <a:ext cx="4175125"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To delete a user</a:t>
            </a:r>
          </a:p>
        </p:txBody>
      </p:sp>
    </p:spTree>
    <p:extLst>
      <p:ext uri="{BB962C8B-B14F-4D97-AF65-F5344CB8AC3E}">
        <p14:creationId xmlns:p14="http://schemas.microsoft.com/office/powerpoint/2010/main" val="194170125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265DE5-6651-B005-6390-DD2987A6C3D4}"/>
              </a:ext>
            </a:extLst>
          </p:cNvPr>
          <p:cNvSpPr txBox="1"/>
          <p:nvPr/>
        </p:nvSpPr>
        <p:spPr>
          <a:xfrm>
            <a:off x="745400" y="887512"/>
            <a:ext cx="5162550"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useradd -d /opt/user3 user3</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verify</a:t>
            </a:r>
          </a:p>
          <a:p>
            <a:r>
              <a:rPr lang="en-US" sz="2000" dirty="0">
                <a:latin typeface="Times New Roman" panose="02020603050405020304" pitchFamily="18" charset="0"/>
                <a:cs typeface="Times New Roman" panose="02020603050405020304" pitchFamily="18" charset="0"/>
              </a:rPr>
              <a:t>#Is /opt/</a:t>
            </a:r>
          </a:p>
        </p:txBody>
      </p:sp>
      <p:sp>
        <p:nvSpPr>
          <p:cNvPr id="6" name="TextBox 5">
            <a:extLst>
              <a:ext uri="{FF2B5EF4-FFF2-40B4-BE49-F238E27FC236}">
                <a16:creationId xmlns:a16="http://schemas.microsoft.com/office/drawing/2014/main" id="{FDB1A7BF-BF27-120E-2A23-E19D78967FAE}"/>
              </a:ext>
            </a:extLst>
          </p:cNvPr>
          <p:cNvSpPr txBox="1"/>
          <p:nvPr/>
        </p:nvSpPr>
        <p:spPr>
          <a:xfrm>
            <a:off x="1819275" y="328712"/>
            <a:ext cx="5162550"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Change default home directory</a:t>
            </a:r>
          </a:p>
        </p:txBody>
      </p:sp>
      <p:sp>
        <p:nvSpPr>
          <p:cNvPr id="7" name="TextBox 6">
            <a:extLst>
              <a:ext uri="{FF2B5EF4-FFF2-40B4-BE49-F238E27FC236}">
                <a16:creationId xmlns:a16="http://schemas.microsoft.com/office/drawing/2014/main" id="{F31107A5-E375-2789-07B1-04CBA0CD823B}"/>
              </a:ext>
            </a:extLst>
          </p:cNvPr>
          <p:cNvSpPr txBox="1"/>
          <p:nvPr/>
        </p:nvSpPr>
        <p:spPr>
          <a:xfrm>
            <a:off x="561975" y="3091696"/>
            <a:ext cx="5162550" cy="163121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useradd -M user4</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verify</a:t>
            </a:r>
          </a:p>
          <a:p>
            <a:r>
              <a:rPr lang="en-US" sz="2000" dirty="0">
                <a:latin typeface="Times New Roman" panose="02020603050405020304" pitchFamily="18" charset="0"/>
                <a:cs typeface="Times New Roman" panose="02020603050405020304" pitchFamily="18" charset="0"/>
              </a:rPr>
              <a:t>#cat etc/passwd/</a:t>
            </a:r>
          </a:p>
          <a:p>
            <a:r>
              <a:rPr lang="en-US" sz="2000" dirty="0">
                <a:latin typeface="Times New Roman" panose="02020603050405020304" pitchFamily="18" charset="0"/>
                <a:cs typeface="Times New Roman" panose="02020603050405020304" pitchFamily="18" charset="0"/>
              </a:rPr>
              <a:t>#ls /home/</a:t>
            </a:r>
          </a:p>
        </p:txBody>
      </p:sp>
      <p:sp>
        <p:nvSpPr>
          <p:cNvPr id="9" name="TextBox 8">
            <a:extLst>
              <a:ext uri="{FF2B5EF4-FFF2-40B4-BE49-F238E27FC236}">
                <a16:creationId xmlns:a16="http://schemas.microsoft.com/office/drawing/2014/main" id="{3F57D532-FA9E-D3C9-99D6-29E61F25B4A6}"/>
              </a:ext>
            </a:extLst>
          </p:cNvPr>
          <p:cNvSpPr txBox="1"/>
          <p:nvPr/>
        </p:nvSpPr>
        <p:spPr>
          <a:xfrm>
            <a:off x="1870075" y="2525812"/>
            <a:ext cx="5162550"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Create user without a home directory</a:t>
            </a:r>
          </a:p>
        </p:txBody>
      </p:sp>
    </p:spTree>
    <p:extLst>
      <p:ext uri="{BB962C8B-B14F-4D97-AF65-F5344CB8AC3E}">
        <p14:creationId xmlns:p14="http://schemas.microsoft.com/office/powerpoint/2010/main" val="376901676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43605-782E-9949-200C-CB140DFEEE56}"/>
              </a:ext>
            </a:extLst>
          </p:cNvPr>
          <p:cNvSpPr>
            <a:spLocks noGrp="1"/>
          </p:cNvSpPr>
          <p:nvPr>
            <p:ph type="title"/>
          </p:nvPr>
        </p:nvSpPr>
        <p:spPr>
          <a:xfrm>
            <a:off x="720000" y="587529"/>
            <a:ext cx="2735719" cy="481250"/>
          </a:xfrm>
        </p:spPr>
        <p:txBody>
          <a:bodyPr/>
          <a:lstStyle/>
          <a:p>
            <a:pPr algn="ctr"/>
            <a:r>
              <a:rPr lang="en-US" sz="2000" dirty="0">
                <a:latin typeface="Times New Roman" panose="02020603050405020304" pitchFamily="18" charset="0"/>
                <a:cs typeface="Times New Roman" panose="02020603050405020304" pitchFamily="18" charset="0"/>
              </a:rPr>
              <a:t>Rename a username </a:t>
            </a:r>
          </a:p>
        </p:txBody>
      </p:sp>
      <p:sp>
        <p:nvSpPr>
          <p:cNvPr id="5" name="TextBox 4">
            <a:extLst>
              <a:ext uri="{FF2B5EF4-FFF2-40B4-BE49-F238E27FC236}">
                <a16:creationId xmlns:a16="http://schemas.microsoft.com/office/drawing/2014/main" id="{67AA7F9C-F7C2-260C-2240-44C62ED4DF1E}"/>
              </a:ext>
            </a:extLst>
          </p:cNvPr>
          <p:cNvSpPr txBox="1"/>
          <p:nvPr/>
        </p:nvSpPr>
        <p:spPr>
          <a:xfrm>
            <a:off x="720000" y="1641848"/>
            <a:ext cx="5159828"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Usermod –l new_username old_username </a:t>
            </a:r>
          </a:p>
        </p:txBody>
      </p:sp>
      <p:sp>
        <p:nvSpPr>
          <p:cNvPr id="7" name="TextBox 6">
            <a:extLst>
              <a:ext uri="{FF2B5EF4-FFF2-40B4-BE49-F238E27FC236}">
                <a16:creationId xmlns:a16="http://schemas.microsoft.com/office/drawing/2014/main" id="{A6D16CE6-2565-F563-1AE1-555627A7EE8C}"/>
              </a:ext>
            </a:extLst>
          </p:cNvPr>
          <p:cNvSpPr txBox="1"/>
          <p:nvPr/>
        </p:nvSpPr>
        <p:spPr>
          <a:xfrm>
            <a:off x="720000" y="2322179"/>
            <a:ext cx="1496291" cy="307777"/>
          </a:xfrm>
          <a:prstGeom prst="rect">
            <a:avLst/>
          </a:prstGeom>
          <a:noFill/>
        </p:spPr>
        <p:txBody>
          <a:bodyPr wrap="square">
            <a:spAutoFit/>
          </a:bodyPr>
          <a:lstStyle/>
          <a:p>
            <a:r>
              <a:rPr lang="en-US" sz="1400" dirty="0">
                <a:highlight>
                  <a:srgbClr val="FFFF00"/>
                </a:highlight>
                <a:latin typeface="Times New Roman" panose="02020603050405020304" pitchFamily="18" charset="0"/>
                <a:cs typeface="Times New Roman" panose="02020603050405020304" pitchFamily="18" charset="0"/>
              </a:rPr>
              <a:t>(-l) Login Name</a:t>
            </a:r>
          </a:p>
        </p:txBody>
      </p:sp>
    </p:spTree>
    <p:extLst>
      <p:ext uri="{BB962C8B-B14F-4D97-AF65-F5344CB8AC3E}">
        <p14:creationId xmlns:p14="http://schemas.microsoft.com/office/powerpoint/2010/main" val="390936399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695C-3C72-4CC1-A736-E2A53E93A53E}"/>
              </a:ext>
            </a:extLst>
          </p:cNvPr>
          <p:cNvSpPr>
            <a:spLocks noGrp="1"/>
          </p:cNvSpPr>
          <p:nvPr>
            <p:ph type="title"/>
          </p:nvPr>
        </p:nvSpPr>
        <p:spPr>
          <a:xfrm>
            <a:off x="156800" y="1352243"/>
            <a:ext cx="8830400" cy="1008221"/>
          </a:xfrm>
        </p:spPr>
        <p:txBody>
          <a:bodyPr/>
          <a:lstStyle/>
          <a:p>
            <a:r>
              <a:rPr lang="en-US" sz="2000" b="0" dirty="0">
                <a:latin typeface="Times New Roman" panose="02020603050405020304" pitchFamily="18" charset="0"/>
                <a:cs typeface="Times New Roman" panose="02020603050405020304" pitchFamily="18" charset="0"/>
              </a:rPr>
              <a:t>nologin, login can never be done</a:t>
            </a:r>
            <a:br>
              <a:rPr lang="en-US" sz="2000" b="0" dirty="0">
                <a:latin typeface="Times New Roman" panose="02020603050405020304" pitchFamily="18" charset="0"/>
                <a:cs typeface="Times New Roman" panose="02020603050405020304" pitchFamily="18" charset="0"/>
              </a:rPr>
            </a:br>
            <a:r>
              <a:rPr lang="en-US" sz="2000" b="0" dirty="0">
                <a:latin typeface="Times New Roman" panose="02020603050405020304" pitchFamily="18" charset="0"/>
                <a:cs typeface="Times New Roman" panose="02020603050405020304" pitchFamily="18" charset="0"/>
              </a:rPr>
              <a:t>why no login: to no to interact with the other user, it may be a data base stored once.</a:t>
            </a:r>
          </a:p>
        </p:txBody>
      </p:sp>
      <p:sp>
        <p:nvSpPr>
          <p:cNvPr id="4" name="TextBox 3">
            <a:extLst>
              <a:ext uri="{FF2B5EF4-FFF2-40B4-BE49-F238E27FC236}">
                <a16:creationId xmlns:a16="http://schemas.microsoft.com/office/drawing/2014/main" id="{324E2CF8-47ED-2895-16BF-B3AB22E7793F}"/>
              </a:ext>
            </a:extLst>
          </p:cNvPr>
          <p:cNvSpPr txBox="1"/>
          <p:nvPr/>
        </p:nvSpPr>
        <p:spPr>
          <a:xfrm>
            <a:off x="577850" y="867052"/>
            <a:ext cx="5162550" cy="400110"/>
          </a:xfrm>
          <a:prstGeom prst="rect">
            <a:avLst/>
          </a:prstGeom>
          <a:noFill/>
        </p:spPr>
        <p:txBody>
          <a:bodyPr wrap="square">
            <a:spAutoFit/>
          </a:bodyPr>
          <a:lstStyle/>
          <a:p>
            <a:pPr lvl="1"/>
            <a:r>
              <a:rPr lang="en-US" sz="2000" dirty="0">
                <a:latin typeface="Times New Roman" panose="02020603050405020304" pitchFamily="18" charset="0"/>
                <a:cs typeface="Times New Roman" panose="02020603050405020304" pitchFamily="18" charset="0"/>
              </a:rPr>
              <a:t>#useradd -s /</a:t>
            </a:r>
            <a:r>
              <a:rPr lang="en-US" sz="2000" dirty="0" err="1">
                <a:latin typeface="Times New Roman" panose="02020603050405020304" pitchFamily="18" charset="0"/>
                <a:cs typeface="Times New Roman" panose="02020603050405020304" pitchFamily="18" charset="0"/>
              </a:rPr>
              <a:t>sbin</a:t>
            </a:r>
            <a:r>
              <a:rPr lang="en-US" sz="2000" dirty="0">
                <a:latin typeface="Times New Roman" panose="02020603050405020304" pitchFamily="18" charset="0"/>
                <a:cs typeface="Times New Roman" panose="02020603050405020304" pitchFamily="18" charset="0"/>
              </a:rPr>
              <a:t>/nologin db_adminl</a:t>
            </a:r>
          </a:p>
        </p:txBody>
      </p:sp>
      <p:sp>
        <p:nvSpPr>
          <p:cNvPr id="6" name="TextBox 5">
            <a:extLst>
              <a:ext uri="{FF2B5EF4-FFF2-40B4-BE49-F238E27FC236}">
                <a16:creationId xmlns:a16="http://schemas.microsoft.com/office/drawing/2014/main" id="{1E2A278D-AB7C-0810-2812-DD70068AB5F5}"/>
              </a:ext>
            </a:extLst>
          </p:cNvPr>
          <p:cNvSpPr txBox="1"/>
          <p:nvPr/>
        </p:nvSpPr>
        <p:spPr>
          <a:xfrm>
            <a:off x="1584325" y="274647"/>
            <a:ext cx="5162550" cy="400110"/>
          </a:xfrm>
          <a:prstGeom prst="rect">
            <a:avLst/>
          </a:prstGeom>
          <a:noFill/>
        </p:spPr>
        <p:txBody>
          <a:bodyPr wrap="square">
            <a:spAutoFit/>
          </a:bodyPr>
          <a:lstStyle/>
          <a:p>
            <a:pPr lvl="1" algn="ctr"/>
            <a:r>
              <a:rPr lang="en-US" sz="2000" b="1" dirty="0">
                <a:latin typeface="Times New Roman" panose="02020603050405020304" pitchFamily="18" charset="0"/>
                <a:cs typeface="Times New Roman" panose="02020603050405020304" pitchFamily="18" charset="0"/>
              </a:rPr>
              <a:t>Creating a user where we can't login</a:t>
            </a:r>
          </a:p>
        </p:txBody>
      </p:sp>
      <p:pic>
        <p:nvPicPr>
          <p:cNvPr id="10" name="Picture 9">
            <a:extLst>
              <a:ext uri="{FF2B5EF4-FFF2-40B4-BE49-F238E27FC236}">
                <a16:creationId xmlns:a16="http://schemas.microsoft.com/office/drawing/2014/main" id="{D95A15A5-BFE5-AF6B-60EF-24DE56910E06}"/>
              </a:ext>
            </a:extLst>
          </p:cNvPr>
          <p:cNvPicPr>
            <a:picLocks noChangeAspect="1"/>
          </p:cNvPicPr>
          <p:nvPr/>
        </p:nvPicPr>
        <p:blipFill>
          <a:blip r:embed="rId2"/>
          <a:stretch>
            <a:fillRect/>
          </a:stretch>
        </p:blipFill>
        <p:spPr>
          <a:xfrm>
            <a:off x="974280" y="2471133"/>
            <a:ext cx="6760020" cy="2401320"/>
          </a:xfrm>
          <a:prstGeom prst="rect">
            <a:avLst/>
          </a:prstGeom>
        </p:spPr>
      </p:pic>
    </p:spTree>
    <p:extLst>
      <p:ext uri="{BB962C8B-B14F-4D97-AF65-F5344CB8AC3E}">
        <p14:creationId xmlns:p14="http://schemas.microsoft.com/office/powerpoint/2010/main" val="200040878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66FBC-58E5-1C6E-BECF-396A35A44AD6}"/>
              </a:ext>
            </a:extLst>
          </p:cNvPr>
          <p:cNvSpPr>
            <a:spLocks noGrp="1"/>
          </p:cNvSpPr>
          <p:nvPr>
            <p:ph type="title"/>
          </p:nvPr>
        </p:nvSpPr>
        <p:spPr>
          <a:xfrm>
            <a:off x="135800" y="368824"/>
            <a:ext cx="3448050" cy="799575"/>
          </a:xfrm>
        </p:spPr>
        <p:txBody>
          <a:bodyPr/>
          <a:lstStyle/>
          <a:p>
            <a:pPr algn="ctr"/>
            <a:r>
              <a:rPr lang="en-US" sz="2000" dirty="0">
                <a:latin typeface="Times New Roman" panose="02020603050405020304" pitchFamily="18" charset="0"/>
                <a:cs typeface="Times New Roman" panose="02020603050405020304" pitchFamily="18" charset="0"/>
              </a:rPr>
              <a:t>Create user without a primary group</a:t>
            </a:r>
            <a:endParaRPr lang="en-US" sz="2000" dirty="0"/>
          </a:p>
        </p:txBody>
      </p:sp>
      <p:sp>
        <p:nvSpPr>
          <p:cNvPr id="4" name="TextBox 3">
            <a:extLst>
              <a:ext uri="{FF2B5EF4-FFF2-40B4-BE49-F238E27FC236}">
                <a16:creationId xmlns:a16="http://schemas.microsoft.com/office/drawing/2014/main" id="{31370883-8BC4-F58D-4331-47B5BF06C1A2}"/>
              </a:ext>
            </a:extLst>
          </p:cNvPr>
          <p:cNvSpPr txBox="1"/>
          <p:nvPr/>
        </p:nvSpPr>
        <p:spPr>
          <a:xfrm>
            <a:off x="600075" y="1652725"/>
            <a:ext cx="1800225" cy="307777"/>
          </a:xfrm>
          <a:prstGeom prst="rect">
            <a:avLst/>
          </a:prstGeom>
          <a:noFill/>
        </p:spPr>
        <p:txBody>
          <a:bodyPr wrap="square">
            <a:spAutoFit/>
          </a:bodyPr>
          <a:lstStyle/>
          <a:p>
            <a:r>
              <a:rPr lang="en-US" dirty="0"/>
              <a:t>#useradd -N user5</a:t>
            </a:r>
          </a:p>
        </p:txBody>
      </p:sp>
      <p:sp>
        <p:nvSpPr>
          <p:cNvPr id="18" name="TextBox 17">
            <a:extLst>
              <a:ext uri="{FF2B5EF4-FFF2-40B4-BE49-F238E27FC236}">
                <a16:creationId xmlns:a16="http://schemas.microsoft.com/office/drawing/2014/main" id="{2974B03C-3776-5795-A622-401603B76518}"/>
              </a:ext>
            </a:extLst>
          </p:cNvPr>
          <p:cNvSpPr txBox="1"/>
          <p:nvPr/>
        </p:nvSpPr>
        <p:spPr>
          <a:xfrm>
            <a:off x="4660900" y="1334989"/>
            <a:ext cx="3448050" cy="3170099"/>
          </a:xfrm>
          <a:prstGeom prst="rect">
            <a:avLst/>
          </a:prstGeom>
          <a:noFill/>
        </p:spPr>
        <p:txBody>
          <a:bodyPr wrap="square">
            <a:spAutoFit/>
          </a:bodyPr>
          <a:lstStyle/>
          <a:p>
            <a:r>
              <a:rPr lang="en-US" sz="2000" dirty="0">
                <a:solidFill>
                  <a:srgbClr val="FF0000"/>
                </a:solidFill>
                <a:latin typeface="Times New Roman" panose="02020603050405020304" pitchFamily="18" charset="0"/>
                <a:cs typeface="Times New Roman" panose="02020603050405020304" pitchFamily="18" charset="0"/>
              </a:rPr>
              <a:t># cat /etc/default/useradd</a:t>
            </a:r>
          </a:p>
          <a:p>
            <a:endParaRPr lang="en-US" sz="2000" dirty="0">
              <a:solidFill>
                <a:srgbClr val="FF0000"/>
              </a:solidFill>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useradd defaults file</a:t>
            </a:r>
          </a:p>
          <a:p>
            <a:r>
              <a:rPr lang="en-US" sz="2000" dirty="0">
                <a:latin typeface="Times New Roman" panose="02020603050405020304" pitchFamily="18" charset="0"/>
                <a:cs typeface="Times New Roman" panose="02020603050405020304" pitchFamily="18" charset="0"/>
              </a:rPr>
              <a:t>ROUP= 1OO</a:t>
            </a:r>
          </a:p>
          <a:p>
            <a:r>
              <a:rPr lang="en-US" sz="2000" dirty="0">
                <a:latin typeface="Times New Roman" panose="02020603050405020304" pitchFamily="18" charset="0"/>
                <a:cs typeface="Times New Roman" panose="02020603050405020304" pitchFamily="18" charset="0"/>
              </a:rPr>
              <a:t>HOME= /home</a:t>
            </a:r>
          </a:p>
          <a:p>
            <a:r>
              <a:rPr lang="en-US" sz="2000" dirty="0">
                <a:latin typeface="Times New Roman" panose="02020603050405020304" pitchFamily="18" charset="0"/>
                <a:cs typeface="Times New Roman" panose="02020603050405020304" pitchFamily="18" charset="0"/>
              </a:rPr>
              <a:t>INACTIVE=1</a:t>
            </a:r>
          </a:p>
          <a:p>
            <a:r>
              <a:rPr lang="en-US" sz="2000" dirty="0">
                <a:latin typeface="Times New Roman" panose="02020603050405020304" pitchFamily="18" charset="0"/>
                <a:cs typeface="Times New Roman" panose="02020603050405020304" pitchFamily="18" charset="0"/>
              </a:rPr>
              <a:t>EXPIRE=</a:t>
            </a:r>
          </a:p>
          <a:p>
            <a:r>
              <a:rPr lang="en-US" sz="2000" dirty="0">
                <a:latin typeface="Times New Roman" panose="02020603050405020304" pitchFamily="18" charset="0"/>
                <a:cs typeface="Times New Roman" panose="02020603050405020304" pitchFamily="18" charset="0"/>
              </a:rPr>
              <a:t>SHELL=/bin/bash</a:t>
            </a:r>
          </a:p>
          <a:p>
            <a:r>
              <a:rPr lang="en-US" sz="2000" dirty="0">
                <a:latin typeface="Times New Roman" panose="02020603050405020304" pitchFamily="18" charset="0"/>
                <a:cs typeface="Times New Roman" panose="02020603050405020304" pitchFamily="18" charset="0"/>
              </a:rPr>
              <a:t>SKEL=/etc/</a:t>
            </a:r>
            <a:r>
              <a:rPr lang="en-US" sz="2000" dirty="0" err="1">
                <a:latin typeface="Times New Roman" panose="02020603050405020304" pitchFamily="18" charset="0"/>
                <a:cs typeface="Times New Roman" panose="02020603050405020304" pitchFamily="18" charset="0"/>
              </a:rPr>
              <a:t>skel</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CREATE MAIL SPOOL=yes</a:t>
            </a:r>
          </a:p>
        </p:txBody>
      </p:sp>
      <p:sp>
        <p:nvSpPr>
          <p:cNvPr id="6" name="TextBox 5">
            <a:extLst>
              <a:ext uri="{FF2B5EF4-FFF2-40B4-BE49-F238E27FC236}">
                <a16:creationId xmlns:a16="http://schemas.microsoft.com/office/drawing/2014/main" id="{AEA17D54-CDF5-C852-9046-58984399F0FC}"/>
              </a:ext>
            </a:extLst>
          </p:cNvPr>
          <p:cNvSpPr txBox="1"/>
          <p:nvPr/>
        </p:nvSpPr>
        <p:spPr>
          <a:xfrm>
            <a:off x="4660900" y="460834"/>
            <a:ext cx="2905850" cy="307777"/>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To view the defaults</a:t>
            </a:r>
            <a:endParaRPr lang="en-US" dirty="0"/>
          </a:p>
        </p:txBody>
      </p:sp>
    </p:spTree>
    <p:extLst>
      <p:ext uri="{BB962C8B-B14F-4D97-AF65-F5344CB8AC3E}">
        <p14:creationId xmlns:p14="http://schemas.microsoft.com/office/powerpoint/2010/main" val="201809391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FE2CE-F33B-CA72-E5D6-731FD82A7332}"/>
              </a:ext>
            </a:extLst>
          </p:cNvPr>
          <p:cNvSpPr>
            <a:spLocks noGrp="1"/>
          </p:cNvSpPr>
          <p:nvPr>
            <p:ph type="title"/>
          </p:nvPr>
        </p:nvSpPr>
        <p:spPr>
          <a:xfrm>
            <a:off x="720000" y="1092725"/>
            <a:ext cx="1324700" cy="482075"/>
          </a:xfrm>
        </p:spPr>
        <p:txBody>
          <a:bodyPr/>
          <a:lstStyle/>
          <a:p>
            <a:r>
              <a:rPr lang="en-US" sz="2000" dirty="0">
                <a:latin typeface="Times New Roman" panose="02020603050405020304" pitchFamily="18" charset="0"/>
                <a:cs typeface="Times New Roman" panose="02020603050405020304" pitchFamily="18" charset="0"/>
              </a:rPr>
              <a:t>Example </a:t>
            </a:r>
          </a:p>
        </p:txBody>
      </p:sp>
      <p:sp>
        <p:nvSpPr>
          <p:cNvPr id="4" name="TextBox 3">
            <a:extLst>
              <a:ext uri="{FF2B5EF4-FFF2-40B4-BE49-F238E27FC236}">
                <a16:creationId xmlns:a16="http://schemas.microsoft.com/office/drawing/2014/main" id="{D83CDD20-8661-33E8-6E00-2DD5D9BFF4F0}"/>
              </a:ext>
            </a:extLst>
          </p:cNvPr>
          <p:cNvSpPr txBox="1"/>
          <p:nvPr/>
        </p:nvSpPr>
        <p:spPr>
          <a:xfrm>
            <a:off x="720000" y="1700768"/>
            <a:ext cx="5162550" cy="1323439"/>
          </a:xfrm>
          <a:prstGeom prst="rect">
            <a:avLst/>
          </a:prstGeom>
          <a:noFill/>
        </p:spPr>
        <p:txBody>
          <a:bodyPr wrap="square">
            <a:spAutoFit/>
          </a:bodyPr>
          <a:lstStyle/>
          <a:p>
            <a:pPr lvl="1"/>
            <a:r>
              <a:rPr lang="en-US" sz="2000" dirty="0">
                <a:latin typeface="Times New Roman" panose="02020603050405020304" pitchFamily="18" charset="0"/>
                <a:cs typeface="Times New Roman" panose="02020603050405020304" pitchFamily="18" charset="0"/>
              </a:rPr>
              <a:t># useradd -u 2056 user7</a:t>
            </a:r>
          </a:p>
          <a:p>
            <a:pPr lvl="1"/>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To verify</a:t>
            </a:r>
          </a:p>
          <a:p>
            <a:pPr lvl="1"/>
            <a:r>
              <a:rPr lang="en-US" sz="2000" dirty="0">
                <a:latin typeface="Times New Roman" panose="02020603050405020304" pitchFamily="18" charset="0"/>
                <a:cs typeface="Times New Roman" panose="02020603050405020304" pitchFamily="18" charset="0"/>
              </a:rPr>
              <a:t># cat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/pass</a:t>
            </a:r>
          </a:p>
        </p:txBody>
      </p:sp>
    </p:spTree>
    <p:extLst>
      <p:ext uri="{BB962C8B-B14F-4D97-AF65-F5344CB8AC3E}">
        <p14:creationId xmlns:p14="http://schemas.microsoft.com/office/powerpoint/2010/main" val="174942389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3FE182C-775B-55B2-9C4D-CABF51A59997}"/>
              </a:ext>
            </a:extLst>
          </p:cNvPr>
          <p:cNvSpPr txBox="1"/>
          <p:nvPr/>
        </p:nvSpPr>
        <p:spPr>
          <a:xfrm>
            <a:off x="1990725" y="573703"/>
            <a:ext cx="5162550"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To view the group info</a:t>
            </a:r>
          </a:p>
        </p:txBody>
      </p:sp>
      <p:sp>
        <p:nvSpPr>
          <p:cNvPr id="14" name="TextBox 13">
            <a:extLst>
              <a:ext uri="{FF2B5EF4-FFF2-40B4-BE49-F238E27FC236}">
                <a16:creationId xmlns:a16="http://schemas.microsoft.com/office/drawing/2014/main" id="{FF58E6D3-546D-BB3E-3F56-885B1198C4CA}"/>
              </a:ext>
            </a:extLst>
          </p:cNvPr>
          <p:cNvSpPr txBox="1"/>
          <p:nvPr/>
        </p:nvSpPr>
        <p:spPr>
          <a:xfrm>
            <a:off x="989012" y="1464588"/>
            <a:ext cx="2003425" cy="1938992"/>
          </a:xfrm>
          <a:prstGeom prst="rect">
            <a:avLst/>
          </a:prstGeom>
          <a:noFill/>
        </p:spPr>
        <p:txBody>
          <a:bodyPr wrap="square">
            <a:spAutoFit/>
          </a:bodyPr>
          <a:lstStyle/>
          <a:p>
            <a:r>
              <a:rPr lang="en-US" sz="2000" dirty="0">
                <a:highlight>
                  <a:srgbClr val="FFFF00"/>
                </a:highlight>
                <a:latin typeface="Times New Roman" panose="02020603050405020304" pitchFamily="18" charset="0"/>
                <a:cs typeface="Times New Roman" panose="02020603050405020304" pitchFamily="18" charset="0"/>
              </a:rPr>
              <a:t># cat /etc/group</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Results--</a:t>
            </a:r>
          </a:p>
          <a:p>
            <a:r>
              <a:rPr lang="en-US" sz="2000" dirty="0">
                <a:latin typeface="Times New Roman" panose="02020603050405020304" pitchFamily="18" charset="0"/>
                <a:cs typeface="Times New Roman" panose="02020603050405020304" pitchFamily="18" charset="0"/>
              </a:rPr>
              <a:t>user1:x:1003:</a:t>
            </a:r>
          </a:p>
          <a:p>
            <a:r>
              <a:rPr lang="en-US" sz="2000" dirty="0">
                <a:latin typeface="Times New Roman" panose="02020603050405020304" pitchFamily="18" charset="0"/>
                <a:cs typeface="Times New Roman" panose="02020603050405020304" pitchFamily="18" charset="0"/>
              </a:rPr>
              <a:t>user2:x:1004:</a:t>
            </a:r>
          </a:p>
          <a:p>
            <a:r>
              <a:rPr lang="en-US" sz="2000" dirty="0">
                <a:latin typeface="Times New Roman" panose="02020603050405020304" pitchFamily="18" charset="0"/>
                <a:cs typeface="Times New Roman" panose="02020603050405020304" pitchFamily="18" charset="0"/>
              </a:rPr>
              <a:t>user3:x:1005:</a:t>
            </a:r>
          </a:p>
        </p:txBody>
      </p:sp>
    </p:spTree>
    <p:extLst>
      <p:ext uri="{BB962C8B-B14F-4D97-AF65-F5344CB8AC3E}">
        <p14:creationId xmlns:p14="http://schemas.microsoft.com/office/powerpoint/2010/main" val="47758992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F17D0-566E-1246-9C9D-9524DFE14222}"/>
              </a:ext>
            </a:extLst>
          </p:cNvPr>
          <p:cNvSpPr>
            <a:spLocks noGrp="1"/>
          </p:cNvSpPr>
          <p:nvPr>
            <p:ph type="title"/>
          </p:nvPr>
        </p:nvSpPr>
        <p:spPr>
          <a:xfrm>
            <a:off x="3827100" y="356125"/>
            <a:ext cx="1489800" cy="572700"/>
          </a:xfrm>
        </p:spPr>
        <p:txBody>
          <a:bodyPr/>
          <a:lstStyle/>
          <a:p>
            <a:r>
              <a:rPr lang="en-US" dirty="0"/>
              <a:t>Group</a:t>
            </a:r>
          </a:p>
        </p:txBody>
      </p:sp>
      <p:sp>
        <p:nvSpPr>
          <p:cNvPr id="6" name="TextBox 5">
            <a:extLst>
              <a:ext uri="{FF2B5EF4-FFF2-40B4-BE49-F238E27FC236}">
                <a16:creationId xmlns:a16="http://schemas.microsoft.com/office/drawing/2014/main" id="{503ED641-48D2-CA4E-03CE-88AE71E7F39E}"/>
              </a:ext>
            </a:extLst>
          </p:cNvPr>
          <p:cNvSpPr txBox="1"/>
          <p:nvPr/>
        </p:nvSpPr>
        <p:spPr>
          <a:xfrm>
            <a:off x="1254125" y="928825"/>
            <a:ext cx="1990725" cy="1015663"/>
          </a:xfrm>
          <a:prstGeom prst="rect">
            <a:avLst/>
          </a:prstGeom>
          <a:noFill/>
        </p:spPr>
        <p:txBody>
          <a:bodyPr wrap="square">
            <a:spAutoFit/>
          </a:bodyPr>
          <a:lstStyle/>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Primary</a:t>
            </a:r>
          </a:p>
          <a:p>
            <a:pPr marL="34290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secondary</a:t>
            </a:r>
          </a:p>
        </p:txBody>
      </p:sp>
      <p:sp>
        <p:nvSpPr>
          <p:cNvPr id="10" name="TextBox 9">
            <a:extLst>
              <a:ext uri="{FF2B5EF4-FFF2-40B4-BE49-F238E27FC236}">
                <a16:creationId xmlns:a16="http://schemas.microsoft.com/office/drawing/2014/main" id="{8700E42E-02D3-EA6C-64C8-88C566FC5E35}"/>
              </a:ext>
            </a:extLst>
          </p:cNvPr>
          <p:cNvSpPr txBox="1"/>
          <p:nvPr/>
        </p:nvSpPr>
        <p:spPr>
          <a:xfrm>
            <a:off x="1245825" y="2571750"/>
            <a:ext cx="5162550" cy="16312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000" dirty="0">
                <a:latin typeface="Times New Roman" panose="02020603050405020304" pitchFamily="18" charset="0"/>
                <a:cs typeface="Times New Roman" panose="02020603050405020304" pitchFamily="18" charset="0"/>
              </a:rPr>
              <a:t>To add Group</a:t>
            </a:r>
          </a:p>
          <a:p>
            <a:endParaRPr lang="en-US" sz="2000" dirty="0">
              <a:latin typeface="Times New Roman" panose="02020603050405020304" pitchFamily="18" charset="0"/>
              <a:cs typeface="Times New Roman" panose="02020603050405020304" pitchFamily="18" charset="0"/>
            </a:endParaRPr>
          </a:p>
          <a:p>
            <a:r>
              <a:rPr lang="en-US" sz="2000" dirty="0">
                <a:solidFill>
                  <a:srgbClr val="FF0000"/>
                </a:solidFill>
                <a:latin typeface="Times New Roman" panose="02020603050405020304" pitchFamily="18" charset="0"/>
                <a:cs typeface="Times New Roman" panose="02020603050405020304" pitchFamily="18" charset="0"/>
              </a:rPr>
              <a:t># groupadd HR</a:t>
            </a:r>
          </a:p>
          <a:p>
            <a:r>
              <a:rPr lang="en-US" sz="2000" dirty="0">
                <a:solidFill>
                  <a:srgbClr val="FF0000"/>
                </a:solidFill>
                <a:latin typeface="Times New Roman" panose="02020603050405020304" pitchFamily="18" charset="0"/>
                <a:cs typeface="Times New Roman" panose="02020603050405020304" pitchFamily="18" charset="0"/>
              </a:rPr>
              <a:t># groupadd ADMIN</a:t>
            </a:r>
          </a:p>
          <a:p>
            <a:r>
              <a:rPr lang="en-US" sz="2000" dirty="0">
                <a:solidFill>
                  <a:srgbClr val="FF0000"/>
                </a:solidFill>
                <a:latin typeface="Times New Roman" panose="02020603050405020304" pitchFamily="18" charset="0"/>
                <a:cs typeface="Times New Roman" panose="02020603050405020304" pitchFamily="18" charset="0"/>
              </a:rPr>
              <a:t># groupadd IT</a:t>
            </a:r>
          </a:p>
        </p:txBody>
      </p:sp>
    </p:spTree>
    <p:extLst>
      <p:ext uri="{BB962C8B-B14F-4D97-AF65-F5344CB8AC3E}">
        <p14:creationId xmlns:p14="http://schemas.microsoft.com/office/powerpoint/2010/main" val="3619712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BBEB7279-7478-81A1-59EF-EFCBC78766DE}"/>
              </a:ext>
            </a:extLst>
          </p:cNvPr>
          <p:cNvSpPr>
            <a:spLocks noChangeArrowheads="1"/>
          </p:cNvSpPr>
          <p:nvPr/>
        </p:nvSpPr>
        <p:spPr bwMode="auto">
          <a:xfrm>
            <a:off x="329050" y="747582"/>
            <a:ext cx="848589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user is assigned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 primary group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is defined in the </a:t>
            </a:r>
            <a:r>
              <a:rPr kumimoji="0" lang="en-US" altLang="en-US" sz="1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t>
            </a:r>
            <a:r>
              <a:rPr kumimoji="0" lang="en-US" altLang="en-US" sz="1800" b="0"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etc</a:t>
            </a:r>
            <a:r>
              <a:rPr kumimoji="0" lang="en-US" altLang="en-US" sz="1800" b="0"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a:t>
            </a:r>
            <a:r>
              <a:rPr lang="en-US" altLang="en-US" sz="1800">
                <a:solidFill>
                  <a:srgbClr val="FF0000"/>
                </a:solidFill>
                <a:latin typeface="Times New Roman" panose="02020603050405020304" pitchFamily="18" charset="0"/>
                <a:cs typeface="Times New Roman" panose="02020603050405020304" pitchFamily="18" charset="0"/>
              </a:rPr>
              <a:t>group</a:t>
            </a:r>
            <a:r>
              <a:rPr kumimoji="0" lang="en-US" altLang="en-US" sz="1800" b="0"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the user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creates a file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file is automatically assigned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primary group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its group owner.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default, a new user’s primary group is a group with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same name as the username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is called user-private group model).</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AAFE3B0-B6D8-2915-A9DC-E54D7E90D560}"/>
              </a:ext>
            </a:extLst>
          </p:cNvPr>
          <p:cNvSpPr txBox="1"/>
          <p:nvPr/>
        </p:nvSpPr>
        <p:spPr>
          <a:xfrm>
            <a:off x="1993392" y="339888"/>
            <a:ext cx="5157216" cy="553998"/>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Primary Group</a:t>
            </a:r>
          </a:p>
        </p:txBody>
      </p:sp>
      <p:sp>
        <p:nvSpPr>
          <p:cNvPr id="10" name="TextBox 9">
            <a:extLst>
              <a:ext uri="{FF2B5EF4-FFF2-40B4-BE49-F238E27FC236}">
                <a16:creationId xmlns:a16="http://schemas.microsoft.com/office/drawing/2014/main" id="{5B8C47F3-C067-AE0F-B17C-FD206E3768F8}"/>
              </a:ext>
            </a:extLst>
          </p:cNvPr>
          <p:cNvSpPr txBox="1"/>
          <p:nvPr/>
        </p:nvSpPr>
        <p:spPr>
          <a:xfrm>
            <a:off x="329050" y="2863435"/>
            <a:ext cx="5157216"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id </a:t>
            </a:r>
            <a:r>
              <a:rPr lang="en-US" sz="1800" dirty="0" err="1">
                <a:latin typeface="Times New Roman" panose="02020603050405020304" pitchFamily="18" charset="0"/>
                <a:cs typeface="Times New Roman" panose="02020603050405020304" pitchFamily="18" charset="0"/>
              </a:rPr>
              <a:t>rahul</a:t>
            </a:r>
            <a:endParaRPr lang="en-US" sz="1800" dirty="0">
              <a:latin typeface="Times New Roman" panose="02020603050405020304" pitchFamily="18" charset="0"/>
              <a:cs typeface="Times New Roman" panose="02020603050405020304" pitchFamily="18" charset="0"/>
            </a:endParaRPr>
          </a:p>
          <a:p>
            <a:r>
              <a:rPr lang="en-US" sz="1800" dirty="0" err="1">
                <a:solidFill>
                  <a:srgbClr val="FF0000"/>
                </a:solidFill>
                <a:latin typeface="Times New Roman" panose="02020603050405020304" pitchFamily="18" charset="0"/>
                <a:cs typeface="Times New Roman" panose="02020603050405020304" pitchFamily="18" charset="0"/>
              </a:rPr>
              <a:t>uid</a:t>
            </a:r>
            <a:r>
              <a:rPr lang="en-US" sz="1800" dirty="0">
                <a:solidFill>
                  <a:srgbClr val="FF0000"/>
                </a:solidFill>
                <a:latin typeface="Times New Roman" panose="02020603050405020304" pitchFamily="18" charset="0"/>
                <a:cs typeface="Times New Roman" panose="02020603050405020304" pitchFamily="18" charset="0"/>
              </a:rPr>
              <a:t>=1001(</a:t>
            </a:r>
            <a:r>
              <a:rPr lang="en-US" sz="1800" dirty="0" err="1">
                <a:solidFill>
                  <a:srgbClr val="FF0000"/>
                </a:solidFill>
                <a:latin typeface="Times New Roman" panose="02020603050405020304" pitchFamily="18" charset="0"/>
                <a:cs typeface="Times New Roman" panose="02020603050405020304" pitchFamily="18" charset="0"/>
              </a:rPr>
              <a:t>rahul</a:t>
            </a:r>
            <a:r>
              <a:rPr lang="en-US" sz="1800" dirty="0">
                <a:solidFill>
                  <a:srgbClr val="FF0000"/>
                </a:solidFill>
                <a:latin typeface="Times New Roman" panose="02020603050405020304" pitchFamily="18" charset="0"/>
                <a:cs typeface="Times New Roman" panose="02020603050405020304" pitchFamily="18" charset="0"/>
              </a:rPr>
              <a:t>) gid=1001(</a:t>
            </a:r>
            <a:r>
              <a:rPr lang="en-US" sz="1800" dirty="0" err="1">
                <a:solidFill>
                  <a:srgbClr val="FF0000"/>
                </a:solidFill>
                <a:latin typeface="Times New Roman" panose="02020603050405020304" pitchFamily="18" charset="0"/>
                <a:cs typeface="Times New Roman" panose="02020603050405020304" pitchFamily="18" charset="0"/>
              </a:rPr>
              <a:t>rahul</a:t>
            </a:r>
            <a:r>
              <a:rPr lang="en-US" sz="1800" dirty="0">
                <a:solidFill>
                  <a:srgbClr val="FF0000"/>
                </a:solidFill>
                <a:latin typeface="Times New Roman" panose="02020603050405020304" pitchFamily="18" charset="0"/>
                <a:cs typeface="Times New Roman" panose="02020603050405020304" pitchFamily="18" charset="0"/>
              </a:rPr>
              <a:t>) groups=1001(</a:t>
            </a:r>
            <a:r>
              <a:rPr lang="en-US" sz="1800" dirty="0" err="1">
                <a:solidFill>
                  <a:srgbClr val="FF0000"/>
                </a:solidFill>
                <a:latin typeface="Times New Roman" panose="02020603050405020304" pitchFamily="18" charset="0"/>
                <a:cs typeface="Times New Roman" panose="02020603050405020304" pitchFamily="18" charset="0"/>
              </a:rPr>
              <a:t>rahul</a:t>
            </a:r>
            <a:r>
              <a:rPr lang="en-US" sz="1800" dirty="0">
                <a:solidFill>
                  <a:srgbClr val="FF0000"/>
                </a:solidFill>
                <a:latin typeface="Times New Roman" panose="02020603050405020304" pitchFamily="18" charset="0"/>
                <a:cs typeface="Times New Roman" panose="02020603050405020304" pitchFamily="18" charset="0"/>
              </a:rPr>
              <a:t>)</a:t>
            </a:r>
          </a:p>
        </p:txBody>
      </p:sp>
      <p:sp>
        <p:nvSpPr>
          <p:cNvPr id="14" name="Rectangle 3">
            <a:extLst>
              <a:ext uri="{FF2B5EF4-FFF2-40B4-BE49-F238E27FC236}">
                <a16:creationId xmlns:a16="http://schemas.microsoft.com/office/drawing/2014/main" id="{3C1CE063-4DBE-190C-8971-834B9C94E870}"/>
              </a:ext>
            </a:extLst>
          </p:cNvPr>
          <p:cNvSpPr>
            <a:spLocks noChangeArrowheads="1"/>
          </p:cNvSpPr>
          <p:nvPr/>
        </p:nvSpPr>
        <p:spPr bwMode="auto">
          <a:xfrm>
            <a:off x="329050" y="4211252"/>
            <a:ext cx="554029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Here, gid=1001(</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rahul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the primary group of user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rahul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64046782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535782-690C-B35C-3BAA-3E97A8987CD1}"/>
              </a:ext>
            </a:extLst>
          </p:cNvPr>
          <p:cNvSpPr>
            <a:spLocks noChangeArrowheads="1"/>
          </p:cNvSpPr>
          <p:nvPr/>
        </p:nvSpPr>
        <p:spPr bwMode="auto">
          <a:xfrm>
            <a:off x="274320" y="930439"/>
            <a:ext cx="613821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user can be a member of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secondary groups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allow users to access resources shared with other groups.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Secondary groups are listed in the </a:t>
            </a:r>
            <a:r>
              <a:rPr kumimoji="0" lang="en-US" altLang="en-US" sz="1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t>
            </a:r>
            <a:r>
              <a:rPr kumimoji="0" lang="en-US" altLang="en-US" sz="1800" b="0"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etc</a:t>
            </a:r>
            <a:r>
              <a:rPr kumimoji="0" lang="en-US" altLang="en-US" sz="1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/group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3BDAB45-7479-ED0B-F546-A9BDD8C58214}"/>
              </a:ext>
            </a:extLst>
          </p:cNvPr>
          <p:cNvSpPr txBox="1"/>
          <p:nvPr/>
        </p:nvSpPr>
        <p:spPr>
          <a:xfrm>
            <a:off x="1993392" y="0"/>
            <a:ext cx="5157216" cy="553998"/>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Secondary Groups</a:t>
            </a:r>
          </a:p>
        </p:txBody>
      </p:sp>
      <p:sp>
        <p:nvSpPr>
          <p:cNvPr id="5" name="Rectangle 2">
            <a:extLst>
              <a:ext uri="{FF2B5EF4-FFF2-40B4-BE49-F238E27FC236}">
                <a16:creationId xmlns:a16="http://schemas.microsoft.com/office/drawing/2014/main" id="{2314A87E-DC95-8441-A0D7-2B221E6AED8D}"/>
              </a:ext>
            </a:extLst>
          </p:cNvPr>
          <p:cNvSpPr>
            <a:spLocks noChangeArrowheads="1"/>
          </p:cNvSpPr>
          <p:nvPr/>
        </p:nvSpPr>
        <p:spPr bwMode="auto">
          <a:xfrm>
            <a:off x="274320" y="2329925"/>
            <a:ext cx="8095486" cy="646331"/>
          </a:xfrm>
          <a:prstGeom prst="rect">
            <a:avLst/>
          </a:prstGeom>
          <a:ln/>
        </p:spPr>
        <p:style>
          <a:lnRef idx="2">
            <a:schemeClr val="dk1"/>
          </a:lnRef>
          <a:fillRef idx="1">
            <a:schemeClr val="lt1"/>
          </a:fillRef>
          <a:effectRef idx="0">
            <a:schemeClr val="dk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id </a:t>
            </a:r>
            <a:r>
              <a:rPr kumimoji="0" lang="en-US" altLang="en-US" sz="1800" b="0"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rahul</a:t>
            </a:r>
            <a:r>
              <a:rPr kumimoji="0" lang="en-US" altLang="en-US" sz="1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uid</a:t>
            </a:r>
            <a:r>
              <a:rPr kumimoji="0" lang="en-US" altLang="en-US" sz="1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=1001(</a:t>
            </a:r>
            <a:r>
              <a:rPr kumimoji="0" lang="en-US" altLang="en-US" sz="1800" b="0"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rahul</a:t>
            </a:r>
            <a:r>
              <a:rPr kumimoji="0" lang="en-US" altLang="en-US" sz="1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gid=1001(</a:t>
            </a:r>
            <a:r>
              <a:rPr kumimoji="0" lang="en-US" altLang="en-US" sz="1800" b="0"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rahul</a:t>
            </a:r>
            <a:r>
              <a:rPr kumimoji="0" lang="en-US" altLang="en-US" sz="1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groups=1001(</a:t>
            </a:r>
            <a:r>
              <a:rPr kumimoji="0" lang="en-US" altLang="en-US" sz="1800" b="0"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rahul</a:t>
            </a:r>
            <a:r>
              <a:rPr kumimoji="0" lang="en-US" altLang="en-US" sz="1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),27(sudo),1002(</a:t>
            </a:r>
            <a:r>
              <a:rPr kumimoji="0" lang="en-US" altLang="en-US" sz="1800" b="0"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devs</a:t>
            </a:r>
            <a:r>
              <a:rPr kumimoji="0" lang="en-US" altLang="en-US" sz="1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t>
            </a:r>
          </a:p>
        </p:txBody>
      </p:sp>
      <p:sp>
        <p:nvSpPr>
          <p:cNvPr id="7" name="Rectangle 3">
            <a:extLst>
              <a:ext uri="{FF2B5EF4-FFF2-40B4-BE49-F238E27FC236}">
                <a16:creationId xmlns:a16="http://schemas.microsoft.com/office/drawing/2014/main" id="{3C34F458-BCED-F544-E423-994BA66D17DA}"/>
              </a:ext>
            </a:extLst>
          </p:cNvPr>
          <p:cNvSpPr>
            <a:spLocks noChangeArrowheads="1"/>
          </p:cNvSpPr>
          <p:nvPr/>
        </p:nvSpPr>
        <p:spPr bwMode="auto">
          <a:xfrm>
            <a:off x="274320" y="3175413"/>
            <a:ext cx="69813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Here, sudo and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devs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secondary groups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the user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rahul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belongs to.</a:t>
            </a:r>
          </a:p>
        </p:txBody>
      </p:sp>
    </p:spTree>
    <p:extLst>
      <p:ext uri="{BB962C8B-B14F-4D97-AF65-F5344CB8AC3E}">
        <p14:creationId xmlns:p14="http://schemas.microsoft.com/office/powerpoint/2010/main" val="380491387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91D3D-4029-8D47-E1D5-7651BEDA6F3F}"/>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Club all the commands</a:t>
            </a:r>
          </a:p>
        </p:txBody>
      </p:sp>
      <p:sp>
        <p:nvSpPr>
          <p:cNvPr id="6" name="TextBox 5">
            <a:extLst>
              <a:ext uri="{FF2B5EF4-FFF2-40B4-BE49-F238E27FC236}">
                <a16:creationId xmlns:a16="http://schemas.microsoft.com/office/drawing/2014/main" id="{0CE9EB7C-A578-5FCE-1A2C-C14BFBAC1929}"/>
              </a:ext>
            </a:extLst>
          </p:cNvPr>
          <p:cNvSpPr txBox="1"/>
          <p:nvPr/>
        </p:nvSpPr>
        <p:spPr>
          <a:xfrm>
            <a:off x="720000" y="1192312"/>
            <a:ext cx="5162550" cy="1815882"/>
          </a:xfrm>
          <a:prstGeom prst="rect">
            <a:avLst/>
          </a:prstGeom>
          <a:noFill/>
        </p:spPr>
        <p:txBody>
          <a:bodyPr wrap="square">
            <a:spAutoFit/>
          </a:bodyPr>
          <a:lstStyle/>
          <a:p>
            <a:r>
              <a:rPr lang="en-US" dirty="0"/>
              <a:t>Creating a user with</a:t>
            </a:r>
          </a:p>
          <a:p>
            <a:endParaRPr lang="en-US" dirty="0"/>
          </a:p>
          <a:p>
            <a:r>
              <a:rPr lang="en-US" dirty="0"/>
              <a:t>UID – 2000</a:t>
            </a:r>
          </a:p>
          <a:p>
            <a:r>
              <a:rPr lang="en-US" dirty="0"/>
              <a:t>primary Group – 2052</a:t>
            </a:r>
          </a:p>
          <a:p>
            <a:r>
              <a:rPr lang="en-US" dirty="0"/>
              <a:t>secondary – IT</a:t>
            </a:r>
          </a:p>
          <a:p>
            <a:r>
              <a:rPr lang="en-US" dirty="0"/>
              <a:t>home </a:t>
            </a:r>
            <a:r>
              <a:rPr lang="en-US" dirty="0" err="1"/>
              <a:t>dir</a:t>
            </a:r>
            <a:r>
              <a:rPr lang="en-US" dirty="0"/>
              <a:t> # opt/</a:t>
            </a:r>
            <a:r>
              <a:rPr lang="en-US" dirty="0" err="1"/>
              <a:t>testuser</a:t>
            </a:r>
            <a:endParaRPr lang="en-US" dirty="0"/>
          </a:p>
          <a:p>
            <a:r>
              <a:rPr lang="en-US" dirty="0"/>
              <a:t>shell /bin/</a:t>
            </a:r>
            <a:r>
              <a:rPr lang="en-US" dirty="0" err="1"/>
              <a:t>sh</a:t>
            </a:r>
            <a:endParaRPr lang="en-US" dirty="0"/>
          </a:p>
          <a:p>
            <a:r>
              <a:rPr lang="en-US" dirty="0"/>
              <a:t>comment -- HR</a:t>
            </a:r>
          </a:p>
        </p:txBody>
      </p:sp>
      <p:pic>
        <p:nvPicPr>
          <p:cNvPr id="10" name="Picture 9">
            <a:extLst>
              <a:ext uri="{FF2B5EF4-FFF2-40B4-BE49-F238E27FC236}">
                <a16:creationId xmlns:a16="http://schemas.microsoft.com/office/drawing/2014/main" id="{9E1AA889-4708-8210-9C55-D792025625E6}"/>
              </a:ext>
            </a:extLst>
          </p:cNvPr>
          <p:cNvPicPr>
            <a:picLocks noChangeAspect="1"/>
          </p:cNvPicPr>
          <p:nvPr/>
        </p:nvPicPr>
        <p:blipFill>
          <a:blip r:embed="rId2"/>
          <a:stretch>
            <a:fillRect/>
          </a:stretch>
        </p:blipFill>
        <p:spPr>
          <a:xfrm>
            <a:off x="1137228" y="3097828"/>
            <a:ext cx="6869543" cy="1706719"/>
          </a:xfrm>
          <a:prstGeom prst="rect">
            <a:avLst/>
          </a:prstGeom>
        </p:spPr>
      </p:pic>
    </p:spTree>
    <p:extLst>
      <p:ext uri="{BB962C8B-B14F-4D97-AF65-F5344CB8AC3E}">
        <p14:creationId xmlns:p14="http://schemas.microsoft.com/office/powerpoint/2010/main" val="425492562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37A7B-ABAC-9649-86EE-2124F7540747}"/>
              </a:ext>
            </a:extLst>
          </p:cNvPr>
          <p:cNvSpPr>
            <a:spLocks noGrp="1"/>
          </p:cNvSpPr>
          <p:nvPr>
            <p:ph type="title"/>
          </p:nvPr>
        </p:nvSpPr>
        <p:spPr>
          <a:xfrm>
            <a:off x="546100" y="1034132"/>
            <a:ext cx="3712300" cy="418575"/>
          </a:xfrm>
        </p:spPr>
        <p:txBody>
          <a:bodyPr/>
          <a:lstStyle/>
          <a:p>
            <a:r>
              <a:rPr lang="en-US" sz="2000" dirty="0">
                <a:solidFill>
                  <a:schemeClr val="bg1"/>
                </a:solidFill>
                <a:effectLst/>
                <a:highlight>
                  <a:srgbClr val="000000"/>
                </a:highlight>
                <a:latin typeface="Times New Roman" panose="02020603050405020304" pitchFamily="18" charset="0"/>
                <a:cs typeface="Times New Roman" panose="02020603050405020304" pitchFamily="18" charset="0"/>
              </a:rPr>
              <a:t># </a:t>
            </a:r>
            <a:r>
              <a:rPr lang="en-US" sz="2000" dirty="0" err="1">
                <a:solidFill>
                  <a:schemeClr val="bg1"/>
                </a:solidFill>
                <a:effectLst/>
                <a:highlight>
                  <a:srgbClr val="000000"/>
                </a:highlight>
                <a:latin typeface="Times New Roman" panose="02020603050405020304" pitchFamily="18" charset="0"/>
                <a:cs typeface="Times New Roman" panose="02020603050405020304" pitchFamily="18" charset="0"/>
              </a:rPr>
              <a:t>usermod</a:t>
            </a:r>
            <a:r>
              <a:rPr lang="en-US" sz="2000" dirty="0">
                <a:solidFill>
                  <a:schemeClr val="bg1"/>
                </a:solidFill>
                <a:effectLst/>
                <a:highlight>
                  <a:srgbClr val="000000"/>
                </a:highlight>
                <a:latin typeface="Times New Roman" panose="02020603050405020304" pitchFamily="18" charset="0"/>
                <a:cs typeface="Times New Roman" panose="02020603050405020304" pitchFamily="18" charset="0"/>
              </a:rPr>
              <a:t> [option] &lt;username&gt;</a:t>
            </a:r>
            <a:endParaRPr lang="en-US" sz="2000" dirty="0">
              <a:solidFill>
                <a:schemeClr val="bg1"/>
              </a:solidFill>
              <a:highlight>
                <a:srgbClr val="000000"/>
              </a:highlight>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4BE4ABBB-4AB8-3FD2-CC4E-115290EA376C}"/>
              </a:ext>
            </a:extLst>
          </p:cNvPr>
          <p:cNvGraphicFramePr>
            <a:graphicFrameLocks noGrp="1"/>
          </p:cNvGraphicFramePr>
          <p:nvPr>
            <p:extLst>
              <p:ext uri="{D42A27DB-BD31-4B8C-83A1-F6EECF244321}">
                <p14:modId xmlns:p14="http://schemas.microsoft.com/office/powerpoint/2010/main" val="1755902046"/>
              </p:ext>
            </p:extLst>
          </p:nvPr>
        </p:nvGraphicFramePr>
        <p:xfrm>
          <a:off x="546100" y="1799315"/>
          <a:ext cx="8051800" cy="2579120"/>
        </p:xfrm>
        <a:graphic>
          <a:graphicData uri="http://schemas.openxmlformats.org/drawingml/2006/table">
            <a:tbl>
              <a:tblPr firstRow="1" firstCol="1" bandRow="1">
                <a:tableStyleId>{F2DE63D5-997A-4646-A377-4702673A728D}</a:tableStyleId>
              </a:tblPr>
              <a:tblGrid>
                <a:gridCol w="1782062">
                  <a:extLst>
                    <a:ext uri="{9D8B030D-6E8A-4147-A177-3AD203B41FA5}">
                      <a16:colId xmlns:a16="http://schemas.microsoft.com/office/drawing/2014/main" val="931812925"/>
                    </a:ext>
                  </a:extLst>
                </a:gridCol>
                <a:gridCol w="6269738">
                  <a:extLst>
                    <a:ext uri="{9D8B030D-6E8A-4147-A177-3AD203B41FA5}">
                      <a16:colId xmlns:a16="http://schemas.microsoft.com/office/drawing/2014/main" val="755514766"/>
                    </a:ext>
                  </a:extLst>
                </a:gridCol>
              </a:tblGrid>
              <a:tr h="281063">
                <a:tc>
                  <a:txBody>
                    <a:bodyPr/>
                    <a:lstStyle/>
                    <a:p>
                      <a:pPr algn="ct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Options</a:t>
                      </a:r>
                      <a:endParaRPr lang="en-US" sz="2000" dirty="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Descriptions</a:t>
                      </a:r>
                      <a:endParaRPr lang="en-US" sz="2000" dirty="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56923005"/>
                  </a:ext>
                </a:extLst>
              </a:tr>
              <a:tr h="259065">
                <a:tc>
                  <a:txBody>
                    <a:bodyPr/>
                    <a:lstStyle/>
                    <a:p>
                      <a:pPr algn="ct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a:t>
                      </a:r>
                      <a:r>
                        <a:rPr lang="en-US" sz="2000" dirty="0" err="1">
                          <a:effectLst/>
                          <a:latin typeface="Times New Roman" panose="02020603050405020304" pitchFamily="18" charset="0"/>
                          <a:cs typeface="Times New Roman" panose="02020603050405020304" pitchFamily="18" charset="0"/>
                        </a:rPr>
                        <a:t>aG</a:t>
                      </a:r>
                      <a:endParaRPr lang="en-US" sz="2000" dirty="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Add a user in multiple group</a:t>
                      </a:r>
                      <a:endParaRPr lang="en-US" sz="2000" dirty="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67407824"/>
                  </a:ext>
                </a:extLst>
              </a:tr>
              <a:tr h="259065">
                <a:tc>
                  <a:txBody>
                    <a:bodyPr/>
                    <a:lstStyle/>
                    <a:p>
                      <a:pPr algn="ct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-L</a:t>
                      </a:r>
                      <a:endParaRPr lang="en-US" sz="2000" dirty="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You can lock the user account</a:t>
                      </a:r>
                      <a:endParaRPr lang="en-US" sz="2000" dirty="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89001223"/>
                  </a:ext>
                </a:extLst>
              </a:tr>
              <a:tr h="259065">
                <a:tc>
                  <a:txBody>
                    <a:bodyPr/>
                    <a:lstStyle/>
                    <a:p>
                      <a:pPr algn="ctr">
                        <a:lnSpc>
                          <a:spcPct val="115000"/>
                        </a:lnSpc>
                        <a:spcAft>
                          <a:spcPts val="1000"/>
                        </a:spcAft>
                        <a:buNone/>
                      </a:pPr>
                      <a:r>
                        <a:rPr lang="en-US" sz="2000" dirty="0">
                          <a:effectLst/>
                          <a:latin typeface="Times New Roman" panose="02020603050405020304" pitchFamily="18" charset="0"/>
                          <a:ea typeface="MS Mincho" panose="020B0400000000000000" pitchFamily="49" charset="-128"/>
                          <a:cs typeface="Times New Roman" panose="02020603050405020304" pitchFamily="18" charset="0"/>
                        </a:rPr>
                        <a:t>-e</a:t>
                      </a:r>
                    </a:p>
                  </a:txBody>
                  <a:tcPr marL="68580" marR="68580" marT="0" marB="0"/>
                </a:tc>
                <a:tc>
                  <a:txBody>
                    <a:bodyPr/>
                    <a:lstStyle/>
                    <a:p>
                      <a:pPr>
                        <a:lnSpc>
                          <a:spcPct val="115000"/>
                        </a:lnSpc>
                        <a:spcAft>
                          <a:spcPts val="1000"/>
                        </a:spcAft>
                        <a:buNone/>
                      </a:pPr>
                      <a:r>
                        <a:rPr lang="en-US" sz="2000" b="0" dirty="0">
                          <a:latin typeface="Times New Roman" panose="02020603050405020304" pitchFamily="18" charset="0"/>
                          <a:cs typeface="Times New Roman" panose="02020603050405020304" pitchFamily="18" charset="0"/>
                        </a:rPr>
                        <a:t>set or change the account expiration date for a user</a:t>
                      </a:r>
                      <a:endParaRPr lang="en-US" sz="2000" b="0" dirty="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8879484"/>
                  </a:ext>
                </a:extLst>
              </a:tr>
              <a:tr h="259065">
                <a:tc>
                  <a:txBody>
                    <a:bodyPr/>
                    <a:lstStyle/>
                    <a:p>
                      <a:pPr algn="ct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-u</a:t>
                      </a:r>
                      <a:endParaRPr lang="en-US" sz="2000" dirty="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Change the user id</a:t>
                      </a:r>
                      <a:endParaRPr lang="en-US" sz="2000" dirty="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895118719"/>
                  </a:ext>
                </a:extLst>
              </a:tr>
              <a:tr h="309835">
                <a:tc>
                  <a:txBody>
                    <a:bodyPr/>
                    <a:lstStyle/>
                    <a:p>
                      <a:pPr algn="ctr">
                        <a:lnSpc>
                          <a:spcPct val="115000"/>
                        </a:lnSpc>
                        <a:spcAft>
                          <a:spcPts val="1000"/>
                        </a:spcAft>
                        <a:buNone/>
                      </a:pPr>
                      <a:r>
                        <a:rPr lang="en-US" sz="2000">
                          <a:effectLst/>
                          <a:latin typeface="Times New Roman" panose="02020603050405020304" pitchFamily="18" charset="0"/>
                          <a:cs typeface="Times New Roman" panose="02020603050405020304" pitchFamily="18" charset="0"/>
                        </a:rPr>
                        <a:t>-m</a:t>
                      </a:r>
                      <a:endParaRPr lang="en-US" sz="200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Move the user home directory must be used with –d option</a:t>
                      </a:r>
                      <a:endParaRPr lang="en-US" sz="2000" dirty="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52219590"/>
                  </a:ext>
                </a:extLst>
              </a:tr>
              <a:tr h="259065">
                <a:tc>
                  <a:txBody>
                    <a:bodyPr/>
                    <a:lstStyle/>
                    <a:p>
                      <a:pPr algn="ct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-s</a:t>
                      </a:r>
                      <a:endParaRPr lang="en-US" sz="2000" dirty="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Create user with specific login shell</a:t>
                      </a:r>
                      <a:endParaRPr lang="en-US" sz="2000" dirty="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50851536"/>
                  </a:ext>
                </a:extLst>
              </a:tr>
              <a:tr h="0">
                <a:tc>
                  <a:txBody>
                    <a:bodyPr/>
                    <a:lstStyle/>
                    <a:p>
                      <a:pPr algn="ct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-U</a:t>
                      </a:r>
                      <a:endParaRPr lang="en-US" sz="2000" dirty="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2000" dirty="0">
                          <a:effectLst/>
                          <a:latin typeface="Times New Roman" panose="02020603050405020304" pitchFamily="18" charset="0"/>
                          <a:cs typeface="Times New Roman" panose="02020603050405020304" pitchFamily="18" charset="0"/>
                        </a:rPr>
                        <a:t>Unlock the user account</a:t>
                      </a:r>
                      <a:endParaRPr lang="en-US" sz="2000" dirty="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99999475"/>
                  </a:ext>
                </a:extLst>
              </a:tr>
            </a:tbl>
          </a:graphicData>
        </a:graphic>
      </p:graphicFrame>
      <p:sp>
        <p:nvSpPr>
          <p:cNvPr id="11" name="Title 1">
            <a:extLst>
              <a:ext uri="{FF2B5EF4-FFF2-40B4-BE49-F238E27FC236}">
                <a16:creationId xmlns:a16="http://schemas.microsoft.com/office/drawing/2014/main" id="{7365E0B6-0B17-E9FC-A6F0-5ECE5F8D836E}"/>
              </a:ext>
            </a:extLst>
          </p:cNvPr>
          <p:cNvSpPr txBox="1">
            <a:spLocks/>
          </p:cNvSpPr>
          <p:nvPr/>
        </p:nvSpPr>
        <p:spPr>
          <a:xfrm>
            <a:off x="720000" y="1148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pPr algn="ctr"/>
            <a:r>
              <a:rPr lang="en-US" dirty="0">
                <a:latin typeface="Times New Roman" panose="02020603050405020304" pitchFamily="18" charset="0"/>
                <a:cs typeface="Times New Roman" panose="02020603050405020304" pitchFamily="18" charset="0"/>
              </a:rPr>
              <a:t>Managing Local Users</a:t>
            </a:r>
          </a:p>
        </p:txBody>
      </p:sp>
    </p:spTree>
    <p:extLst>
      <p:ext uri="{BB962C8B-B14F-4D97-AF65-F5344CB8AC3E}">
        <p14:creationId xmlns:p14="http://schemas.microsoft.com/office/powerpoint/2010/main" val="137416807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38A5C-B69C-CE8E-6600-650871CCFB6F}"/>
              </a:ext>
            </a:extLst>
          </p:cNvPr>
          <p:cNvSpPr>
            <a:spLocks noGrp="1"/>
          </p:cNvSpPr>
          <p:nvPr>
            <p:ph type="title"/>
          </p:nvPr>
        </p:nvSpPr>
        <p:spPr>
          <a:xfrm>
            <a:off x="720000" y="138500"/>
            <a:ext cx="7039700" cy="388034"/>
          </a:xfrm>
        </p:spPr>
        <p: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sz="2000" dirty="0">
                <a:effectLst/>
                <a:latin typeface="Times New Roman" panose="02020603050405020304" pitchFamily="18" charset="0"/>
                <a:cs typeface="Times New Roman" panose="02020603050405020304" pitchFamily="18" charset="0"/>
              </a:rPr>
              <a:t>Add a user in multiple group/</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user to a secondary group</a:t>
            </a:r>
            <a:b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b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br>
              <a:rPr lang="en-US" sz="2000" dirty="0">
                <a:effectLst/>
                <a:latin typeface="Times New Roman" panose="02020603050405020304" pitchFamily="18" charset="0"/>
                <a:ea typeface="MS Mincho" panose="020B0400000000000000" pitchFamily="49" charset="-128"/>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6F7AEA8-D464-4A75-5255-B6DCC07060AB}"/>
              </a:ext>
            </a:extLst>
          </p:cNvPr>
          <p:cNvSpPr txBox="1"/>
          <p:nvPr/>
        </p:nvSpPr>
        <p:spPr>
          <a:xfrm>
            <a:off x="720000" y="940534"/>
            <a:ext cx="5162550" cy="163121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usermod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devs</a:t>
            </a:r>
            <a:r>
              <a:rPr lang="en-US" sz="2000" dirty="0">
                <a:latin typeface="Times New Roman" panose="02020603050405020304" pitchFamily="18" charset="0"/>
                <a:cs typeface="Times New Roman" panose="02020603050405020304" pitchFamily="18" charset="0"/>
              </a:rPr>
              <a:t> Rahul</a:t>
            </a:r>
          </a:p>
          <a:p>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To verify</a:t>
            </a:r>
          </a:p>
          <a:p>
            <a:pPr lvl="1"/>
            <a:r>
              <a:rPr lang="en-US" sz="2000" dirty="0">
                <a:latin typeface="Times New Roman" panose="02020603050405020304" pitchFamily="18" charset="0"/>
                <a:cs typeface="Times New Roman" panose="02020603050405020304" pitchFamily="18" charset="0"/>
              </a:rPr>
              <a:t># cat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/group</a:t>
            </a:r>
          </a:p>
          <a:p>
            <a:endParaRPr lang="en-US"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C6BFE50-EC8B-2B8D-1E47-D992836FE0E7}"/>
              </a:ext>
            </a:extLst>
          </p:cNvPr>
          <p:cNvSpPr txBox="1"/>
          <p:nvPr/>
        </p:nvSpPr>
        <p:spPr>
          <a:xfrm>
            <a:off x="720000" y="3399750"/>
            <a:ext cx="5162550"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usermod</a:t>
            </a:r>
            <a:r>
              <a:rPr lang="en-US" sz="2000" dirty="0">
                <a:latin typeface="Times New Roman" panose="02020603050405020304" pitchFamily="18" charset="0"/>
                <a:cs typeface="Times New Roman" panose="02020603050405020304" pitchFamily="18" charset="0"/>
              </a:rPr>
              <a:t> -g newgroup Rahul</a:t>
            </a:r>
          </a:p>
          <a:p>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To verify</a:t>
            </a:r>
          </a:p>
          <a:p>
            <a:pPr lvl="1"/>
            <a:r>
              <a:rPr lang="en-US" sz="2000" dirty="0">
                <a:latin typeface="Times New Roman" panose="02020603050405020304" pitchFamily="18" charset="0"/>
                <a:cs typeface="Times New Roman" panose="02020603050405020304" pitchFamily="18" charset="0"/>
              </a:rPr>
              <a:t># cat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/group</a:t>
            </a:r>
          </a:p>
        </p:txBody>
      </p:sp>
      <p:sp>
        <p:nvSpPr>
          <p:cNvPr id="12" name="Rectangle 2">
            <a:extLst>
              <a:ext uri="{FF2B5EF4-FFF2-40B4-BE49-F238E27FC236}">
                <a16:creationId xmlns:a16="http://schemas.microsoft.com/office/drawing/2014/main" id="{61C519FC-4B4C-C35B-3139-E15A0EE7C90E}"/>
              </a:ext>
            </a:extLst>
          </p:cNvPr>
          <p:cNvSpPr>
            <a:spLocks noChangeArrowheads="1"/>
          </p:cNvSpPr>
          <p:nvPr/>
        </p:nvSpPr>
        <p:spPr bwMode="auto">
          <a:xfrm>
            <a:off x="2763651" y="2785695"/>
            <a:ext cx="36166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1" algn="ctr" eaLnBrk="0" fontAlgn="base" hangingPunct="0">
              <a:spcBef>
                <a:spcPct val="0"/>
              </a:spcBef>
              <a:spcAft>
                <a:spcPct val="0"/>
              </a:spcAft>
              <a:buClrTx/>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Change a user's primary group</a:t>
            </a:r>
          </a:p>
        </p:txBody>
      </p:sp>
    </p:spTree>
    <p:extLst>
      <p:ext uri="{BB962C8B-B14F-4D97-AF65-F5344CB8AC3E}">
        <p14:creationId xmlns:p14="http://schemas.microsoft.com/office/powerpoint/2010/main" val="339174728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5FE40D3-F208-B267-FC4C-B0DB37715885}"/>
              </a:ext>
            </a:extLst>
          </p:cNvPr>
          <p:cNvSpPr txBox="1"/>
          <p:nvPr/>
        </p:nvSpPr>
        <p:spPr>
          <a:xfrm>
            <a:off x="688975" y="811312"/>
            <a:ext cx="516255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usermod</a:t>
            </a:r>
            <a:r>
              <a:rPr lang="en-US" sz="2000" dirty="0">
                <a:latin typeface="Times New Roman" panose="02020603050405020304" pitchFamily="18" charset="0"/>
                <a:cs typeface="Times New Roman" panose="02020603050405020304" pitchFamily="18" charset="0"/>
              </a:rPr>
              <a:t> -c IT </a:t>
            </a:r>
            <a:r>
              <a:rPr lang="en-US" sz="2000" dirty="0" err="1">
                <a:latin typeface="Times New Roman" panose="02020603050405020304" pitchFamily="18" charset="0"/>
                <a:cs typeface="Times New Roman" panose="02020603050405020304" pitchFamily="18" charset="0"/>
              </a:rPr>
              <a:t>rahul</a:t>
            </a: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3AC3EAF-8DE5-6681-E0C5-637376567FB2}"/>
              </a:ext>
            </a:extLst>
          </p:cNvPr>
          <p:cNvSpPr txBox="1"/>
          <p:nvPr/>
        </p:nvSpPr>
        <p:spPr>
          <a:xfrm>
            <a:off x="1990725" y="277912"/>
            <a:ext cx="5162550" cy="400110"/>
          </a:xfrm>
          <a:prstGeom prst="rect">
            <a:avLst/>
          </a:prstGeom>
          <a:noFill/>
        </p:spPr>
        <p:txBody>
          <a:bodyPr wrap="square">
            <a:spAutoFit/>
          </a:bodyPr>
          <a:lstStyle/>
          <a:p>
            <a:pPr lvl="1" algn="ctr" eaLnBrk="0" fontAlgn="base" hangingPunct="0">
              <a:spcBef>
                <a:spcPct val="0"/>
              </a:spcBef>
              <a:spcAft>
                <a:spcPct val="0"/>
              </a:spcAft>
              <a:buClrTx/>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Change a user’s comment</a:t>
            </a:r>
          </a:p>
        </p:txBody>
      </p:sp>
      <p:sp>
        <p:nvSpPr>
          <p:cNvPr id="9" name="Rectangle 1">
            <a:extLst>
              <a:ext uri="{FF2B5EF4-FFF2-40B4-BE49-F238E27FC236}">
                <a16:creationId xmlns:a16="http://schemas.microsoft.com/office/drawing/2014/main" id="{614C3BE3-14BB-0A9E-DD8A-18E19D732343}"/>
              </a:ext>
            </a:extLst>
          </p:cNvPr>
          <p:cNvSpPr>
            <a:spLocks noChangeArrowheads="1"/>
          </p:cNvSpPr>
          <p:nvPr/>
        </p:nvSpPr>
        <p:spPr bwMode="auto">
          <a:xfrm>
            <a:off x="1308100" y="1304776"/>
            <a:ext cx="6515100" cy="2246769"/>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Set account to expire on 1st June 2025</a:t>
            </a:r>
          </a:p>
          <a:p>
            <a:pPr eaLnBrk="0" fontAlgn="base" hangingPunct="0">
              <a:spcBef>
                <a:spcPct val="0"/>
              </a:spcBef>
              <a:spcAft>
                <a:spcPct val="0"/>
              </a:spcAft>
              <a:buClrTx/>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usermod</a:t>
            </a:r>
            <a:r>
              <a:rPr lang="en-US" sz="2000" dirty="0">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-e </a:t>
            </a:r>
            <a:r>
              <a:rPr lang="en-US" sz="2000" dirty="0">
                <a:latin typeface="Times New Roman" panose="02020603050405020304" pitchFamily="18" charset="0"/>
                <a:cs typeface="Times New Roman" panose="02020603050405020304" pitchFamily="18" charset="0"/>
              </a:rPr>
              <a:t>2025-06-01 Rahul</a:t>
            </a:r>
          </a:p>
          <a:p>
            <a:pPr eaLnBrk="0" fontAlgn="base" hangingPunct="0">
              <a:spcBef>
                <a:spcPct val="0"/>
              </a:spcBef>
              <a:spcAft>
                <a:spcPct val="0"/>
              </a:spcAft>
              <a:buClrTx/>
            </a:pPr>
            <a:endParaRPr lang="en-US" sz="2000"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buClrTx/>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Remove account expiration (make it permanent)</a:t>
            </a:r>
          </a:p>
          <a:p>
            <a:pPr eaLnBrk="0" fontAlgn="base" hangingPunct="0">
              <a:spcBef>
                <a:spcPct val="0"/>
              </a:spcBef>
              <a:spcAft>
                <a:spcPct val="0"/>
              </a:spcAft>
              <a:buClrTx/>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usermod</a:t>
            </a:r>
            <a:r>
              <a:rPr lang="en-US" sz="2000" dirty="0">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-e </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rahul</a:t>
            </a:r>
            <a:endParaRPr 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6" name="Rectangle 4">
            <a:extLst>
              <a:ext uri="{FF2B5EF4-FFF2-40B4-BE49-F238E27FC236}">
                <a16:creationId xmlns:a16="http://schemas.microsoft.com/office/drawing/2014/main" id="{E6C69A93-5808-4263-A89C-3F7F74F18FFA}"/>
              </a:ext>
            </a:extLst>
          </p:cNvPr>
          <p:cNvSpPr>
            <a:spLocks noChangeArrowheads="1"/>
          </p:cNvSpPr>
          <p:nvPr/>
        </p:nvSpPr>
        <p:spPr bwMode="auto">
          <a:xfrm>
            <a:off x="2673350" y="3644899"/>
            <a:ext cx="37973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verify the expiration date: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chage</a:t>
            </a:r>
            <a:r>
              <a:rPr kumimoji="0" lang="en-US" altLang="en-US"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-l </a:t>
            </a:r>
            <a:r>
              <a:rPr kumimoji="0" lang="en-US" altLang="en-US" sz="2000" b="0"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rahul</a:t>
            </a:r>
            <a:r>
              <a:rPr kumimoji="0" lang="en-US" altLang="en-US"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will show:</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Account expires : </a:t>
            </a:r>
            <a:r>
              <a:rPr kumimoji="0" lang="en-US" altLang="en-US"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Jun 01, 2025</a:t>
            </a:r>
          </a:p>
        </p:txBody>
      </p:sp>
    </p:spTree>
    <p:extLst>
      <p:ext uri="{BB962C8B-B14F-4D97-AF65-F5344CB8AC3E}">
        <p14:creationId xmlns:p14="http://schemas.microsoft.com/office/powerpoint/2010/main" val="331318001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52190D-D043-4E9F-9BAD-78305F0D1314}"/>
              </a:ext>
            </a:extLst>
          </p:cNvPr>
          <p:cNvSpPr txBox="1"/>
          <p:nvPr/>
        </p:nvSpPr>
        <p:spPr>
          <a:xfrm>
            <a:off x="784098" y="934921"/>
            <a:ext cx="3787902"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groupadd</a:t>
            </a:r>
            <a:r>
              <a:rPr lang="en-US" sz="2000" dirty="0">
                <a:latin typeface="Times New Roman" panose="02020603050405020304" pitchFamily="18" charset="0"/>
                <a:cs typeface="Times New Roman" panose="02020603050405020304" pitchFamily="18" charset="0"/>
              </a:rPr>
              <a:t> -g 3000 account</a:t>
            </a:r>
          </a:p>
          <a:p>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To verify</a:t>
            </a:r>
          </a:p>
          <a:p>
            <a:pPr lvl="1"/>
            <a:r>
              <a:rPr lang="en-US" sz="2000" dirty="0">
                <a:latin typeface="Times New Roman" panose="02020603050405020304" pitchFamily="18" charset="0"/>
                <a:cs typeface="Times New Roman" panose="02020603050405020304" pitchFamily="18" charset="0"/>
              </a:rPr>
              <a:t># cat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/group</a:t>
            </a:r>
          </a:p>
        </p:txBody>
      </p:sp>
      <p:sp>
        <p:nvSpPr>
          <p:cNvPr id="6" name="TextBox 5">
            <a:extLst>
              <a:ext uri="{FF2B5EF4-FFF2-40B4-BE49-F238E27FC236}">
                <a16:creationId xmlns:a16="http://schemas.microsoft.com/office/drawing/2014/main" id="{B26B6128-024A-C56B-CB59-D2C6CD785566}"/>
              </a:ext>
            </a:extLst>
          </p:cNvPr>
          <p:cNvSpPr txBox="1"/>
          <p:nvPr/>
        </p:nvSpPr>
        <p:spPr>
          <a:xfrm>
            <a:off x="1993392" y="273597"/>
            <a:ext cx="5157216"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To create a group with specific group id</a:t>
            </a:r>
          </a:p>
        </p:txBody>
      </p:sp>
      <p:sp>
        <p:nvSpPr>
          <p:cNvPr id="10" name="TextBox 9">
            <a:extLst>
              <a:ext uri="{FF2B5EF4-FFF2-40B4-BE49-F238E27FC236}">
                <a16:creationId xmlns:a16="http://schemas.microsoft.com/office/drawing/2014/main" id="{E2061EA3-EC02-0187-C2CA-296FCE18AFD5}"/>
              </a:ext>
            </a:extLst>
          </p:cNvPr>
          <p:cNvSpPr txBox="1"/>
          <p:nvPr/>
        </p:nvSpPr>
        <p:spPr>
          <a:xfrm>
            <a:off x="784098" y="3300140"/>
            <a:ext cx="6366510"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groupmod</a:t>
            </a:r>
            <a:r>
              <a:rPr lang="en-US" sz="2000" dirty="0">
                <a:latin typeface="Times New Roman" panose="02020603050405020304" pitchFamily="18" charset="0"/>
                <a:cs typeface="Times New Roman" panose="02020603050405020304" pitchFamily="18" charset="0"/>
              </a:rPr>
              <a:t> -g 1050 account</a:t>
            </a:r>
          </a:p>
          <a:p>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To verify</a:t>
            </a:r>
          </a:p>
          <a:p>
            <a:pPr lvl="1"/>
            <a:r>
              <a:rPr lang="en-US" sz="2000" dirty="0">
                <a:latin typeface="Times New Roman" panose="02020603050405020304" pitchFamily="18" charset="0"/>
                <a:cs typeface="Times New Roman" panose="02020603050405020304" pitchFamily="18" charset="0"/>
              </a:rPr>
              <a:t># cat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/group</a:t>
            </a:r>
          </a:p>
        </p:txBody>
      </p:sp>
      <p:sp>
        <p:nvSpPr>
          <p:cNvPr id="12" name="TextBox 11">
            <a:extLst>
              <a:ext uri="{FF2B5EF4-FFF2-40B4-BE49-F238E27FC236}">
                <a16:creationId xmlns:a16="http://schemas.microsoft.com/office/drawing/2014/main" id="{10A0A97A-B291-30CF-CE4D-1EB1DC4D904F}"/>
              </a:ext>
            </a:extLst>
          </p:cNvPr>
          <p:cNvSpPr txBox="1"/>
          <p:nvPr/>
        </p:nvSpPr>
        <p:spPr>
          <a:xfrm>
            <a:off x="1993392" y="2519574"/>
            <a:ext cx="5157216"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To change the group id</a:t>
            </a:r>
          </a:p>
        </p:txBody>
      </p:sp>
    </p:spTree>
    <p:extLst>
      <p:ext uri="{BB962C8B-B14F-4D97-AF65-F5344CB8AC3E}">
        <p14:creationId xmlns:p14="http://schemas.microsoft.com/office/powerpoint/2010/main" val="316390614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63F6560-AEFB-4B1A-668E-E071711B78D0}"/>
              </a:ext>
            </a:extLst>
          </p:cNvPr>
          <p:cNvSpPr txBox="1"/>
          <p:nvPr/>
        </p:nvSpPr>
        <p:spPr>
          <a:xfrm>
            <a:off x="1988820" y="334530"/>
            <a:ext cx="5166360"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To rename a group </a:t>
            </a:r>
          </a:p>
        </p:txBody>
      </p:sp>
      <p:sp>
        <p:nvSpPr>
          <p:cNvPr id="6" name="TextBox 5">
            <a:extLst>
              <a:ext uri="{FF2B5EF4-FFF2-40B4-BE49-F238E27FC236}">
                <a16:creationId xmlns:a16="http://schemas.microsoft.com/office/drawing/2014/main" id="{C687E159-6AB7-CED9-5DDB-5A80DA8CB36E}"/>
              </a:ext>
            </a:extLst>
          </p:cNvPr>
          <p:cNvSpPr txBox="1"/>
          <p:nvPr/>
        </p:nvSpPr>
        <p:spPr>
          <a:xfrm>
            <a:off x="845819" y="990952"/>
            <a:ext cx="372618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groupmod</a:t>
            </a:r>
            <a:r>
              <a:rPr lang="en-US" sz="2000" dirty="0">
                <a:latin typeface="Times New Roman" panose="02020603050405020304" pitchFamily="18" charset="0"/>
                <a:cs typeface="Times New Roman" panose="02020603050405020304" pitchFamily="18" charset="0"/>
              </a:rPr>
              <a:t> –n newgroup account</a:t>
            </a:r>
          </a:p>
        </p:txBody>
      </p:sp>
      <p:sp>
        <p:nvSpPr>
          <p:cNvPr id="8" name="TextBox 7">
            <a:extLst>
              <a:ext uri="{FF2B5EF4-FFF2-40B4-BE49-F238E27FC236}">
                <a16:creationId xmlns:a16="http://schemas.microsoft.com/office/drawing/2014/main" id="{9BE6BDEF-9F23-3476-B90F-496F36616B21}"/>
              </a:ext>
            </a:extLst>
          </p:cNvPr>
          <p:cNvSpPr txBox="1"/>
          <p:nvPr/>
        </p:nvSpPr>
        <p:spPr>
          <a:xfrm>
            <a:off x="763524" y="2356093"/>
            <a:ext cx="5482118"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usermod</a:t>
            </a:r>
            <a:r>
              <a:rPr lang="en-US" sz="2000" dirty="0">
                <a:latin typeface="Times New Roman" panose="02020603050405020304" pitchFamily="18" charset="0"/>
                <a:cs typeface="Times New Roman" panose="02020603050405020304" pitchFamily="18" charset="0"/>
              </a:rPr>
              <a:t> -G mygroup user1</a:t>
            </a:r>
          </a:p>
        </p:txBody>
      </p:sp>
      <p:sp>
        <p:nvSpPr>
          <p:cNvPr id="10" name="TextBox 9">
            <a:extLst>
              <a:ext uri="{FF2B5EF4-FFF2-40B4-BE49-F238E27FC236}">
                <a16:creationId xmlns:a16="http://schemas.microsoft.com/office/drawing/2014/main" id="{6442B539-D20C-4522-4125-DE41E16FCA24}"/>
              </a:ext>
            </a:extLst>
          </p:cNvPr>
          <p:cNvSpPr txBox="1"/>
          <p:nvPr/>
        </p:nvSpPr>
        <p:spPr>
          <a:xfrm>
            <a:off x="2752343" y="1699671"/>
            <a:ext cx="3639313"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To add/replace from a group </a:t>
            </a:r>
          </a:p>
        </p:txBody>
      </p:sp>
      <p:sp>
        <p:nvSpPr>
          <p:cNvPr id="12" name="TextBox 11">
            <a:extLst>
              <a:ext uri="{FF2B5EF4-FFF2-40B4-BE49-F238E27FC236}">
                <a16:creationId xmlns:a16="http://schemas.microsoft.com/office/drawing/2014/main" id="{F7E08236-A457-500D-F2CD-EA127FC2476F}"/>
              </a:ext>
            </a:extLst>
          </p:cNvPr>
          <p:cNvSpPr txBox="1"/>
          <p:nvPr/>
        </p:nvSpPr>
        <p:spPr>
          <a:xfrm>
            <a:off x="845819" y="3829330"/>
            <a:ext cx="445095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usermod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aG</a:t>
            </a:r>
            <a:r>
              <a:rPr lang="en-US" sz="2000" dirty="0">
                <a:latin typeface="Times New Roman" panose="02020603050405020304" pitchFamily="18" charset="0"/>
                <a:cs typeface="Times New Roman" panose="02020603050405020304" pitchFamily="18" charset="0"/>
              </a:rPr>
              <a:t> mygroup user1</a:t>
            </a:r>
          </a:p>
        </p:txBody>
      </p:sp>
      <p:sp>
        <p:nvSpPr>
          <p:cNvPr id="14" name="TextBox 13">
            <a:extLst>
              <a:ext uri="{FF2B5EF4-FFF2-40B4-BE49-F238E27FC236}">
                <a16:creationId xmlns:a16="http://schemas.microsoft.com/office/drawing/2014/main" id="{CBCC6285-F8A3-03FB-CB2C-0ED10E7E868E}"/>
              </a:ext>
            </a:extLst>
          </p:cNvPr>
          <p:cNvSpPr txBox="1"/>
          <p:nvPr/>
        </p:nvSpPr>
        <p:spPr>
          <a:xfrm>
            <a:off x="2752343" y="3172908"/>
            <a:ext cx="5020346"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User will stay in both group</a:t>
            </a:r>
          </a:p>
        </p:txBody>
      </p:sp>
      <p:sp>
        <p:nvSpPr>
          <p:cNvPr id="3" name="TextBox 2">
            <a:extLst>
              <a:ext uri="{FF2B5EF4-FFF2-40B4-BE49-F238E27FC236}">
                <a16:creationId xmlns:a16="http://schemas.microsoft.com/office/drawing/2014/main" id="{A390CCC1-3913-91ED-6F1D-9AEB3DED5E00}"/>
              </a:ext>
            </a:extLst>
          </p:cNvPr>
          <p:cNvSpPr txBox="1"/>
          <p:nvPr/>
        </p:nvSpPr>
        <p:spPr>
          <a:xfrm>
            <a:off x="6720840" y="2232983"/>
            <a:ext cx="1805940" cy="70788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a:spAutoFit/>
          </a:bodyPr>
          <a:lstStyle/>
          <a:p>
            <a:pPr lvl="1"/>
            <a:r>
              <a:rPr lang="en-US" sz="2000" dirty="0">
                <a:latin typeface="Times New Roman" panose="02020603050405020304" pitchFamily="18" charset="0"/>
                <a:cs typeface="Times New Roman" panose="02020603050405020304" pitchFamily="18" charset="0"/>
              </a:rPr>
              <a:t>To verify</a:t>
            </a:r>
          </a:p>
          <a:p>
            <a:pPr lvl="1"/>
            <a:r>
              <a:rPr lang="en-US" sz="2000" dirty="0">
                <a:latin typeface="Times New Roman" panose="02020603050405020304" pitchFamily="18" charset="0"/>
                <a:cs typeface="Times New Roman" panose="02020603050405020304" pitchFamily="18" charset="0"/>
              </a:rPr>
              <a:t># cat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/group</a:t>
            </a:r>
          </a:p>
        </p:txBody>
      </p:sp>
    </p:spTree>
    <p:extLst>
      <p:ext uri="{BB962C8B-B14F-4D97-AF65-F5344CB8AC3E}">
        <p14:creationId xmlns:p14="http://schemas.microsoft.com/office/powerpoint/2010/main" val="73048340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E5FAF-EE84-5221-8C7C-DDFCDB022673}"/>
              </a:ext>
            </a:extLst>
          </p:cNvPr>
          <p:cNvSpPr>
            <a:spLocks noGrp="1"/>
          </p:cNvSpPr>
          <p:nvPr>
            <p:ph type="title"/>
          </p:nvPr>
        </p:nvSpPr>
        <p:spPr>
          <a:xfrm>
            <a:off x="2646000" y="344441"/>
            <a:ext cx="3852000" cy="400110"/>
          </a:xfrm>
        </p:spPr>
        <p:txBody>
          <a:bodyPr/>
          <a:lstStyle/>
          <a:p>
            <a:pPr algn="ctr"/>
            <a:r>
              <a:rPr lang="en-US" sz="2000" dirty="0">
                <a:latin typeface="Times New Roman" panose="02020603050405020304" pitchFamily="18" charset="0"/>
                <a:cs typeface="Times New Roman" panose="02020603050405020304" pitchFamily="18" charset="0"/>
              </a:rPr>
              <a:t>To add a user in multiple group</a:t>
            </a:r>
          </a:p>
        </p:txBody>
      </p:sp>
      <p:sp>
        <p:nvSpPr>
          <p:cNvPr id="4" name="TextBox 3">
            <a:extLst>
              <a:ext uri="{FF2B5EF4-FFF2-40B4-BE49-F238E27FC236}">
                <a16:creationId xmlns:a16="http://schemas.microsoft.com/office/drawing/2014/main" id="{BEDDA1DA-4B0C-BA7F-3A57-0715244DB76E}"/>
              </a:ext>
            </a:extLst>
          </p:cNvPr>
          <p:cNvSpPr txBox="1"/>
          <p:nvPr/>
        </p:nvSpPr>
        <p:spPr>
          <a:xfrm>
            <a:off x="1170432" y="1061011"/>
            <a:ext cx="5157216"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#usermod -a -G </a:t>
            </a:r>
            <a:r>
              <a:rPr lang="en-US" sz="2000" dirty="0" err="1">
                <a:latin typeface="Times New Roman" panose="02020603050405020304" pitchFamily="18" charset="0"/>
                <a:cs typeface="Times New Roman" panose="02020603050405020304" pitchFamily="18" charset="0"/>
              </a:rPr>
              <a:t>HR,mygroup</a:t>
            </a:r>
            <a:r>
              <a:rPr lang="en-US" sz="2000" dirty="0">
                <a:latin typeface="Times New Roman" panose="02020603050405020304" pitchFamily="18" charset="0"/>
                <a:cs typeface="Times New Roman" panose="02020603050405020304" pitchFamily="18" charset="0"/>
              </a:rPr>
              <a:t> user3</a:t>
            </a:r>
          </a:p>
        </p:txBody>
      </p:sp>
      <p:sp>
        <p:nvSpPr>
          <p:cNvPr id="6" name="TextBox 5">
            <a:extLst>
              <a:ext uri="{FF2B5EF4-FFF2-40B4-BE49-F238E27FC236}">
                <a16:creationId xmlns:a16="http://schemas.microsoft.com/office/drawing/2014/main" id="{BF1F2246-4D62-C489-BA63-7E5EC87DB096}"/>
              </a:ext>
            </a:extLst>
          </p:cNvPr>
          <p:cNvSpPr txBox="1"/>
          <p:nvPr/>
        </p:nvSpPr>
        <p:spPr>
          <a:xfrm>
            <a:off x="1170432" y="2244514"/>
            <a:ext cx="5157216" cy="255454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#gpasswd -d userl HR</a:t>
            </a:r>
          </a:p>
          <a:p>
            <a:r>
              <a:rPr lang="en-US" sz="2000" dirty="0">
                <a:latin typeface="Times New Roman" panose="02020603050405020304" pitchFamily="18" charset="0"/>
                <a:cs typeface="Times New Roman" panose="02020603050405020304" pitchFamily="18" charset="0"/>
              </a:rPr>
              <a:t>removing user user1 from group HR</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#gpasswd -d user1 mygroup</a:t>
            </a:r>
          </a:p>
          <a:p>
            <a:r>
              <a:rPr lang="en-US" sz="2000" dirty="0">
                <a:latin typeface="Times New Roman" panose="02020603050405020304" pitchFamily="18" charset="0"/>
                <a:cs typeface="Times New Roman" panose="02020603050405020304" pitchFamily="18" charset="0"/>
              </a:rPr>
              <a:t> removing user user1 from group mygroup</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#gpasswd -d user2 mygroup</a:t>
            </a:r>
          </a:p>
          <a:p>
            <a:r>
              <a:rPr lang="en-US" sz="2000" dirty="0">
                <a:latin typeface="Times New Roman" panose="02020603050405020304" pitchFamily="18" charset="0"/>
                <a:cs typeface="Times New Roman" panose="02020603050405020304" pitchFamily="18" charset="0"/>
              </a:rPr>
              <a:t> removing user user2 from group mygroup</a:t>
            </a:r>
          </a:p>
        </p:txBody>
      </p:sp>
      <p:sp>
        <p:nvSpPr>
          <p:cNvPr id="5" name="TextBox 4">
            <a:extLst>
              <a:ext uri="{FF2B5EF4-FFF2-40B4-BE49-F238E27FC236}">
                <a16:creationId xmlns:a16="http://schemas.microsoft.com/office/drawing/2014/main" id="{C3E3E7D7-7F0C-0809-943A-947AF5D31425}"/>
              </a:ext>
            </a:extLst>
          </p:cNvPr>
          <p:cNvSpPr txBox="1"/>
          <p:nvPr/>
        </p:nvSpPr>
        <p:spPr>
          <a:xfrm>
            <a:off x="1993392" y="1813355"/>
            <a:ext cx="5157216"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To remove a user from group</a:t>
            </a:r>
          </a:p>
        </p:txBody>
      </p:sp>
      <p:sp>
        <p:nvSpPr>
          <p:cNvPr id="3" name="TextBox 2">
            <a:extLst>
              <a:ext uri="{FF2B5EF4-FFF2-40B4-BE49-F238E27FC236}">
                <a16:creationId xmlns:a16="http://schemas.microsoft.com/office/drawing/2014/main" id="{FD1CF4CC-C08E-DF82-7ABA-226D272F950F}"/>
              </a:ext>
            </a:extLst>
          </p:cNvPr>
          <p:cNvSpPr txBox="1"/>
          <p:nvPr/>
        </p:nvSpPr>
        <p:spPr>
          <a:xfrm>
            <a:off x="6498000" y="2557172"/>
            <a:ext cx="2024208" cy="70788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a:spAutoFit/>
          </a:bodyPr>
          <a:lstStyle/>
          <a:p>
            <a:pPr lvl="1"/>
            <a:r>
              <a:rPr lang="en-US" sz="2000" dirty="0">
                <a:latin typeface="Times New Roman" panose="02020603050405020304" pitchFamily="18" charset="0"/>
                <a:cs typeface="Times New Roman" panose="02020603050405020304" pitchFamily="18" charset="0"/>
              </a:rPr>
              <a:t>To verify</a:t>
            </a:r>
          </a:p>
          <a:p>
            <a:pPr lvl="1"/>
            <a:r>
              <a:rPr lang="en-US" sz="2000" dirty="0">
                <a:latin typeface="Times New Roman" panose="02020603050405020304" pitchFamily="18" charset="0"/>
                <a:cs typeface="Times New Roman" panose="02020603050405020304" pitchFamily="18" charset="0"/>
              </a:rPr>
              <a:t># cat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/group</a:t>
            </a:r>
          </a:p>
        </p:txBody>
      </p:sp>
    </p:spTree>
    <p:extLst>
      <p:ext uri="{BB962C8B-B14F-4D97-AF65-F5344CB8AC3E}">
        <p14:creationId xmlns:p14="http://schemas.microsoft.com/office/powerpoint/2010/main" val="221667427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95E5B-387C-E98F-A419-1481ACCE74EC}"/>
              </a:ext>
            </a:extLst>
          </p:cNvPr>
          <p:cNvSpPr>
            <a:spLocks noGrp="1"/>
          </p:cNvSpPr>
          <p:nvPr>
            <p:ph type="title"/>
          </p:nvPr>
        </p:nvSpPr>
        <p:spPr>
          <a:xfrm>
            <a:off x="1352124" y="326153"/>
            <a:ext cx="6439752" cy="572700"/>
          </a:xfrm>
        </p:spPr>
        <p:txBody>
          <a:bodyPr/>
          <a:lstStyle/>
          <a:p>
            <a:pPr algn="ctr"/>
            <a:r>
              <a:rPr lang="en-US" sz="2000" dirty="0">
                <a:latin typeface="Times New Roman" panose="02020603050405020304" pitchFamily="18" charset="0"/>
                <a:cs typeface="Times New Roman" panose="02020603050405020304" pitchFamily="18" charset="0"/>
              </a:rPr>
              <a:t>To add multiple user in a single group</a:t>
            </a:r>
          </a:p>
        </p:txBody>
      </p:sp>
      <p:sp>
        <p:nvSpPr>
          <p:cNvPr id="4" name="TextBox 3">
            <a:extLst>
              <a:ext uri="{FF2B5EF4-FFF2-40B4-BE49-F238E27FC236}">
                <a16:creationId xmlns:a16="http://schemas.microsoft.com/office/drawing/2014/main" id="{C98B6C7B-073A-46D8-788A-6BBFF3DEA692}"/>
              </a:ext>
            </a:extLst>
          </p:cNvPr>
          <p:cNvSpPr txBox="1"/>
          <p:nvPr/>
        </p:nvSpPr>
        <p:spPr>
          <a:xfrm>
            <a:off x="466344" y="1521470"/>
            <a:ext cx="3904488"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gpasswd -M user2,user3 mygroup</a:t>
            </a:r>
          </a:p>
          <a:p>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To verify</a:t>
            </a:r>
          </a:p>
          <a:p>
            <a:pPr lvl="1"/>
            <a:r>
              <a:rPr lang="en-US" sz="2000" dirty="0">
                <a:latin typeface="Times New Roman" panose="02020603050405020304" pitchFamily="18" charset="0"/>
                <a:cs typeface="Times New Roman" panose="02020603050405020304" pitchFamily="18" charset="0"/>
              </a:rPr>
              <a:t># cat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/group</a:t>
            </a:r>
          </a:p>
        </p:txBody>
      </p:sp>
    </p:spTree>
    <p:extLst>
      <p:ext uri="{BB962C8B-B14F-4D97-AF65-F5344CB8AC3E}">
        <p14:creationId xmlns:p14="http://schemas.microsoft.com/office/powerpoint/2010/main" val="164953050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A61DD63-0E42-C218-3344-D1C4DD7A92BE}"/>
              </a:ext>
            </a:extLst>
          </p:cNvPr>
          <p:cNvSpPr txBox="1"/>
          <p:nvPr/>
        </p:nvSpPr>
        <p:spPr>
          <a:xfrm>
            <a:off x="755419" y="1210657"/>
            <a:ext cx="8388581" cy="3603359"/>
          </a:xfrm>
          <a:prstGeom prst="rect">
            <a:avLst/>
          </a:prstGeom>
          <a:noFill/>
        </p:spPr>
        <p:txBody>
          <a:bodyPr wrap="square">
            <a:spAutoFit/>
          </a:bodyPr>
          <a:lstStyle/>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Suppose you have a directory:</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exam_data</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This directory is owned by the group: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examteam</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Only members of the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examteam</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group can access this folder.</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Now assume:</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- 3 permanent staff members are already part of the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examteam</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group.</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- 1 external examiner visits for only one day.</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You do NOT want to permanently add him to the group using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usermod</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aG</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a:t>
            </a:r>
          </a:p>
        </p:txBody>
      </p:sp>
      <p:sp>
        <p:nvSpPr>
          <p:cNvPr id="3" name="TextBox 2">
            <a:extLst>
              <a:ext uri="{FF2B5EF4-FFF2-40B4-BE49-F238E27FC236}">
                <a16:creationId xmlns:a16="http://schemas.microsoft.com/office/drawing/2014/main" id="{2102F3F8-660F-E794-2496-B76AF7D0DEE4}"/>
              </a:ext>
            </a:extLst>
          </p:cNvPr>
          <p:cNvSpPr txBox="1"/>
          <p:nvPr/>
        </p:nvSpPr>
        <p:spPr>
          <a:xfrm>
            <a:off x="2128222" y="113305"/>
            <a:ext cx="4887556" cy="417871"/>
          </a:xfrm>
          <a:prstGeom prst="rect">
            <a:avLst/>
          </a:prstGeom>
          <a:noFill/>
        </p:spPr>
        <p:txBody>
          <a:bodyPr wrap="square">
            <a:spAutoFit/>
          </a:bodyPr>
          <a:lstStyle/>
          <a:p>
            <a:pPr marL="0" marR="0" algn="ctr">
              <a:lnSpc>
                <a:spcPct val="115000"/>
              </a:lnSpc>
              <a:spcBef>
                <a:spcPts val="2400"/>
              </a:spcBef>
              <a:buNone/>
            </a:pPr>
            <a:r>
              <a:rPr lang="en-US" sz="2000" b="1" kern="0" dirty="0">
                <a:solidFill>
                  <a:srgbClr val="365F91"/>
                </a:solidFill>
                <a:effectLst/>
                <a:latin typeface="Times New Roman" panose="02020603050405020304" pitchFamily="18" charset="0"/>
                <a:ea typeface="MS Gothic" panose="020B0609070205080204" pitchFamily="49" charset="-128"/>
                <a:cs typeface="Times New Roman" panose="02020603050405020304" pitchFamily="18" charset="0"/>
              </a:rPr>
              <a:t>Why Do We Set Password for a Group </a:t>
            </a:r>
          </a:p>
        </p:txBody>
      </p:sp>
      <p:sp>
        <p:nvSpPr>
          <p:cNvPr id="5" name="TextBox 4">
            <a:extLst>
              <a:ext uri="{FF2B5EF4-FFF2-40B4-BE49-F238E27FC236}">
                <a16:creationId xmlns:a16="http://schemas.microsoft.com/office/drawing/2014/main" id="{436D7B4B-CAB4-B571-699A-305B4FD818A1}"/>
              </a:ext>
            </a:extLst>
          </p:cNvPr>
          <p:cNvSpPr txBox="1"/>
          <p:nvPr/>
        </p:nvSpPr>
        <p:spPr>
          <a:xfrm>
            <a:off x="294322" y="559581"/>
            <a:ext cx="7272337" cy="417871"/>
          </a:xfrm>
          <a:prstGeom prst="rect">
            <a:avLst/>
          </a:prstGeom>
          <a:noFill/>
        </p:spPr>
        <p:txBody>
          <a:bodyPr wrap="square">
            <a:spAutoFit/>
          </a:bodyPr>
          <a:lstStyle/>
          <a:p>
            <a:pPr marL="0" marR="0">
              <a:lnSpc>
                <a:spcPct val="115000"/>
              </a:lnSpc>
              <a:spcBef>
                <a:spcPts val="1000"/>
              </a:spcBef>
              <a:buNone/>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Temporary Shared Access Without Permanent Membership</a:t>
            </a:r>
          </a:p>
        </p:txBody>
      </p:sp>
    </p:spTree>
    <p:extLst>
      <p:ext uri="{BB962C8B-B14F-4D97-AF65-F5344CB8AC3E}">
        <p14:creationId xmlns:p14="http://schemas.microsoft.com/office/powerpoint/2010/main" val="1048953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A37902-26AD-71C2-9AAE-20DB7309BDAA}"/>
              </a:ext>
            </a:extLst>
          </p:cNvPr>
          <p:cNvSpPr txBox="1"/>
          <p:nvPr/>
        </p:nvSpPr>
        <p:spPr>
          <a:xfrm>
            <a:off x="492528" y="628719"/>
            <a:ext cx="8445731" cy="4147097"/>
          </a:xfrm>
          <a:prstGeom prst="rect">
            <a:avLst/>
          </a:prstGeom>
          <a:noFill/>
        </p:spPr>
        <p:txBody>
          <a:bodyPr wrap="square">
            <a:spAutoFit/>
          </a:bodyPr>
          <a:lstStyle/>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Step 1: Set a password for the group</a:t>
            </a: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Command: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gpasswd</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examteam</a:t>
            </a:r>
            <a:endParaRPr lang="en-US"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Step 2: Share the group password securely with the external examiner.</a:t>
            </a: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Step 3: The examiner runs:</a:t>
            </a: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Command: </a:t>
            </a:r>
            <a:r>
              <a:rPr lang="en-US" sz="2000" dirty="0" err="1">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newgrp</a:t>
            </a:r>
            <a:r>
              <a:rPr lang="en-US"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 </a:t>
            </a:r>
            <a:r>
              <a:rPr lang="en-US" sz="2000" dirty="0" err="1">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rPr>
              <a:t>examteam</a:t>
            </a:r>
            <a:endParaRPr lang="en-US" sz="2000" dirty="0">
              <a:effectLst/>
              <a:highlight>
                <a:srgbClr val="FFFF00"/>
              </a:highligh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Step 4: After entering the group password, the examiner temporarily switches to the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examteam</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group and gains access to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exam_data</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a:t>
            </a: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After the exam is completed, remove the group password:</a:t>
            </a:r>
          </a:p>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Command: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gpasswd</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-r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examteam</a:t>
            </a:r>
            <a:endParaRPr lang="en-US" sz="20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3" name="TextBox 2">
            <a:extLst>
              <a:ext uri="{FF2B5EF4-FFF2-40B4-BE49-F238E27FC236}">
                <a16:creationId xmlns:a16="http://schemas.microsoft.com/office/drawing/2014/main" id="{E731E843-570B-480E-07D9-6E896E0C6B1A}"/>
              </a:ext>
            </a:extLst>
          </p:cNvPr>
          <p:cNvSpPr txBox="1"/>
          <p:nvPr/>
        </p:nvSpPr>
        <p:spPr>
          <a:xfrm>
            <a:off x="1991678" y="102819"/>
            <a:ext cx="5160644" cy="417871"/>
          </a:xfrm>
          <a:prstGeom prst="rect">
            <a:avLst/>
          </a:prstGeom>
          <a:noFill/>
        </p:spPr>
        <p:txBody>
          <a:bodyPr wrap="square">
            <a:spAutoFit/>
          </a:bodyPr>
          <a:lstStyle/>
          <a:p>
            <a:pPr marL="0" marR="0" algn="ctr">
              <a:lnSpc>
                <a:spcPct val="115000"/>
              </a:lnSpc>
              <a:spcBef>
                <a:spcPts val="1000"/>
              </a:spcBef>
              <a:buNone/>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Steps to Use Group Password</a:t>
            </a:r>
          </a:p>
        </p:txBody>
      </p:sp>
    </p:spTree>
    <p:extLst>
      <p:ext uri="{BB962C8B-B14F-4D97-AF65-F5344CB8AC3E}">
        <p14:creationId xmlns:p14="http://schemas.microsoft.com/office/powerpoint/2010/main" val="243392119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7D2304-B0BA-2C4F-5A22-6994BD510C39}"/>
              </a:ext>
            </a:extLst>
          </p:cNvPr>
          <p:cNvSpPr txBox="1"/>
          <p:nvPr/>
        </p:nvSpPr>
        <p:spPr>
          <a:xfrm>
            <a:off x="1991678" y="0"/>
            <a:ext cx="5160644" cy="417871"/>
          </a:xfrm>
          <a:prstGeom prst="rect">
            <a:avLst/>
          </a:prstGeom>
          <a:noFill/>
        </p:spPr>
        <p:txBody>
          <a:bodyPr wrap="square">
            <a:spAutoFit/>
          </a:bodyPr>
          <a:lstStyle/>
          <a:p>
            <a:pPr marL="0" marR="0" algn="ctr">
              <a:lnSpc>
                <a:spcPct val="115000"/>
              </a:lnSpc>
              <a:spcBef>
                <a:spcPts val="1000"/>
              </a:spcBef>
              <a:buNone/>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Why Use Group Password?</a:t>
            </a:r>
          </a:p>
        </p:txBody>
      </p:sp>
      <p:sp>
        <p:nvSpPr>
          <p:cNvPr id="6" name="TextBox 5">
            <a:extLst>
              <a:ext uri="{FF2B5EF4-FFF2-40B4-BE49-F238E27FC236}">
                <a16:creationId xmlns:a16="http://schemas.microsoft.com/office/drawing/2014/main" id="{C1C7D896-0DAB-B0B3-1801-F5DF6995DA50}"/>
              </a:ext>
            </a:extLst>
          </p:cNvPr>
          <p:cNvSpPr txBox="1"/>
          <p:nvPr/>
        </p:nvSpPr>
        <p:spPr>
          <a:xfrm>
            <a:off x="217170" y="511847"/>
            <a:ext cx="5160644" cy="1479700"/>
          </a:xfrm>
          <a:prstGeom prst="rect">
            <a:avLst/>
          </a:prstGeom>
          <a:noFill/>
        </p:spPr>
        <p:txBody>
          <a:bodyPr wrap="square">
            <a:spAutoFit/>
          </a:bodyPr>
          <a:lstStyle/>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Provides temporary access</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No permanent modification in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etc</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/group</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Quick access control</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Easy to revoke access</a:t>
            </a:r>
          </a:p>
        </p:txBody>
      </p:sp>
      <p:sp>
        <p:nvSpPr>
          <p:cNvPr id="8" name="TextBox 7">
            <a:extLst>
              <a:ext uri="{FF2B5EF4-FFF2-40B4-BE49-F238E27FC236}">
                <a16:creationId xmlns:a16="http://schemas.microsoft.com/office/drawing/2014/main" id="{026BC1D1-6ECB-393A-9B2F-19EFB3BE0974}"/>
              </a:ext>
            </a:extLst>
          </p:cNvPr>
          <p:cNvSpPr txBox="1"/>
          <p:nvPr/>
        </p:nvSpPr>
        <p:spPr>
          <a:xfrm>
            <a:off x="1991678" y="2085523"/>
            <a:ext cx="5160644" cy="417871"/>
          </a:xfrm>
          <a:prstGeom prst="rect">
            <a:avLst/>
          </a:prstGeom>
          <a:noFill/>
        </p:spPr>
        <p:txBody>
          <a:bodyPr wrap="square">
            <a:spAutoFit/>
          </a:bodyPr>
          <a:lstStyle/>
          <a:p>
            <a:pPr marL="0" marR="0" algn="ctr">
              <a:lnSpc>
                <a:spcPct val="115000"/>
              </a:lnSpc>
              <a:spcBef>
                <a:spcPts val="1000"/>
              </a:spcBef>
              <a:buNone/>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Why Is It Rarely Used Today?</a:t>
            </a:r>
          </a:p>
        </p:txBody>
      </p:sp>
      <p:sp>
        <p:nvSpPr>
          <p:cNvPr id="10" name="TextBox 9">
            <a:extLst>
              <a:ext uri="{FF2B5EF4-FFF2-40B4-BE49-F238E27FC236}">
                <a16:creationId xmlns:a16="http://schemas.microsoft.com/office/drawing/2014/main" id="{C7EEC61A-9859-05A2-5900-C777EB2ED470}"/>
              </a:ext>
            </a:extLst>
          </p:cNvPr>
          <p:cNvSpPr txBox="1"/>
          <p:nvPr/>
        </p:nvSpPr>
        <p:spPr>
          <a:xfrm>
            <a:off x="271462" y="2640107"/>
            <a:ext cx="5160644" cy="1833643"/>
          </a:xfrm>
          <a:prstGeom prst="rect">
            <a:avLst/>
          </a:prstGeom>
          <a:noFill/>
        </p:spPr>
        <p:txBody>
          <a:bodyPr wrap="square">
            <a:spAutoFit/>
          </a:bodyPr>
          <a:lstStyle/>
          <a:p>
            <a:pPr marL="0" marR="0">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Sharing passwords is insecure</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No proper auditing</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Hard to track who used the password</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Modern systems prefer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usermod</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ACLs, and role-based access control</a:t>
            </a:r>
          </a:p>
        </p:txBody>
      </p:sp>
    </p:spTree>
    <p:extLst>
      <p:ext uri="{BB962C8B-B14F-4D97-AF65-F5344CB8AC3E}">
        <p14:creationId xmlns:p14="http://schemas.microsoft.com/office/powerpoint/2010/main" val="26040727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1BA26BB-09FC-7AC4-9CFC-E2255C821672}"/>
              </a:ext>
            </a:extLst>
          </p:cNvPr>
          <p:cNvSpPr txBox="1"/>
          <p:nvPr/>
        </p:nvSpPr>
        <p:spPr>
          <a:xfrm>
            <a:off x="0" y="1702717"/>
            <a:ext cx="9144000" cy="2246769"/>
          </a:xfrm>
          <a:prstGeom prst="rect">
            <a:avLst/>
          </a:prstGeom>
          <a:noFill/>
        </p:spPr>
        <p:txBody>
          <a:bodyPr wrap="square">
            <a:spAutoFit/>
          </a:bodyPr>
          <a:lstStyle/>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1. First try a graceful termination: kill 101756</a:t>
            </a:r>
          </a:p>
          <a:p>
            <a:r>
              <a:rPr lang="en-IN" sz="2000" dirty="0">
                <a:latin typeface="Times New Roman" panose="02020603050405020304" pitchFamily="18" charset="0"/>
                <a:cs typeface="Times New Roman" panose="02020603050405020304" pitchFamily="18" charset="0"/>
              </a:rPr>
              <a:t>   This sends SIGTERM (signal 15) asking the process to exit cleanly.</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2. If the process does not stop, force-kill it:</a:t>
            </a:r>
          </a:p>
          <a:p>
            <a:r>
              <a:rPr lang="en-IN" sz="2000" dirty="0">
                <a:latin typeface="Times New Roman" panose="02020603050405020304" pitchFamily="18" charset="0"/>
                <a:cs typeface="Times New Roman" panose="02020603050405020304" pitchFamily="18" charset="0"/>
              </a:rPr>
              <a:t>   kill -9 101756</a:t>
            </a:r>
          </a:p>
          <a:p>
            <a:r>
              <a:rPr lang="en-IN" sz="2000" dirty="0">
                <a:latin typeface="Times New Roman" panose="02020603050405020304" pitchFamily="18" charset="0"/>
                <a:cs typeface="Times New Roman" panose="02020603050405020304" pitchFamily="18" charset="0"/>
              </a:rPr>
              <a:t>   # This sends SIGKILL (signal 9), forcing the process to stop immediately.</a:t>
            </a:r>
          </a:p>
        </p:txBody>
      </p:sp>
      <p:sp>
        <p:nvSpPr>
          <p:cNvPr id="6" name="TextBox 5">
            <a:extLst>
              <a:ext uri="{FF2B5EF4-FFF2-40B4-BE49-F238E27FC236}">
                <a16:creationId xmlns:a16="http://schemas.microsoft.com/office/drawing/2014/main" id="{F526F693-5050-8A47-17F3-60AFF81B98D3}"/>
              </a:ext>
            </a:extLst>
          </p:cNvPr>
          <p:cNvSpPr txBox="1"/>
          <p:nvPr/>
        </p:nvSpPr>
        <p:spPr>
          <a:xfrm>
            <a:off x="1713054" y="245439"/>
            <a:ext cx="5440100" cy="954107"/>
          </a:xfrm>
          <a:prstGeom prst="rect">
            <a:avLst/>
          </a:prstGeom>
          <a:noFill/>
        </p:spPr>
        <p:txBody>
          <a:bodyPr wrap="square">
            <a:spAutoFit/>
          </a:bodyPr>
          <a:lstStyle/>
          <a:p>
            <a:pPr algn="ctr"/>
            <a:r>
              <a:rPr lang="en-IN" sz="2800" dirty="0">
                <a:latin typeface="Times New Roman" panose="02020603050405020304" pitchFamily="18" charset="0"/>
                <a:cs typeface="Times New Roman" panose="02020603050405020304" pitchFamily="18" charset="0"/>
              </a:rPr>
              <a:t>How to kill a process by PID (example PID: 10156)</a:t>
            </a:r>
          </a:p>
        </p:txBody>
      </p:sp>
    </p:spTree>
    <p:extLst>
      <p:ext uri="{BB962C8B-B14F-4D97-AF65-F5344CB8AC3E}">
        <p14:creationId xmlns:p14="http://schemas.microsoft.com/office/powerpoint/2010/main" val="419774636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D26F90-CCF5-D5B1-F18D-658D089A8779}"/>
              </a:ext>
            </a:extLst>
          </p:cNvPr>
          <p:cNvSpPr txBox="1"/>
          <p:nvPr/>
        </p:nvSpPr>
        <p:spPr>
          <a:xfrm>
            <a:off x="86810" y="574752"/>
            <a:ext cx="8970380" cy="4216539"/>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3. If you get “Operation not permitted” (e.g., process owned by another user), use </a:t>
            </a:r>
            <a:r>
              <a:rPr lang="en-IN" sz="2000" dirty="0" err="1">
                <a:latin typeface="Times New Roman" panose="02020603050405020304" pitchFamily="18" charset="0"/>
                <a:cs typeface="Times New Roman" panose="02020603050405020304" pitchFamily="18" charset="0"/>
              </a:rPr>
              <a:t>sudo</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sudo</a:t>
            </a:r>
            <a:r>
              <a:rPr lang="en-IN" sz="2000" dirty="0">
                <a:latin typeface="Times New Roman" panose="02020603050405020304" pitchFamily="18" charset="0"/>
                <a:cs typeface="Times New Roman" panose="02020603050405020304" pitchFamily="18" charset="0"/>
              </a:rPr>
              <a:t> kill -9 101756</a:t>
            </a:r>
          </a:p>
          <a:p>
            <a:r>
              <a:rPr lang="en-IN" sz="2000" dirty="0">
                <a:latin typeface="Times New Roman" panose="02020603050405020304" pitchFamily="18" charset="0"/>
                <a:cs typeface="Times New Roman" panose="02020603050405020304" pitchFamily="18" charset="0"/>
              </a:rPr>
              <a:t>   Only root (or </a:t>
            </a:r>
            <a:r>
              <a:rPr lang="en-IN" sz="2000" dirty="0" err="1">
                <a:latin typeface="Times New Roman" panose="02020603050405020304" pitchFamily="18" charset="0"/>
                <a:cs typeface="Times New Roman" panose="02020603050405020304" pitchFamily="18" charset="0"/>
              </a:rPr>
              <a:t>sudo</a:t>
            </a:r>
            <a:r>
              <a:rPr lang="en-IN" sz="2000" dirty="0">
                <a:latin typeface="Times New Roman" panose="02020603050405020304" pitchFamily="18" charset="0"/>
                <a:cs typeface="Times New Roman" panose="02020603050405020304" pitchFamily="18" charset="0"/>
              </a:rPr>
              <a:t>) can kill other users’ processes.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Notes</a:t>
            </a:r>
            <a:endParaRPr lang="en-I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By default, `kill &lt;PID&gt;` sends SIGTERM (gentle request to terminate). </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`kill -9 &lt;PID&gt;` sends SIGKILL (force kill) and cannot be caught or ignored by the process.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After killing, you can check if the process is gone:</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ps</a:t>
            </a:r>
            <a:r>
              <a:rPr lang="en-IN" sz="2000" dirty="0">
                <a:latin typeface="Times New Roman" panose="02020603050405020304" pitchFamily="18" charset="0"/>
                <a:cs typeface="Times New Roman" panose="02020603050405020304" pitchFamily="18" charset="0"/>
              </a:rPr>
              <a:t> -p 101756</a:t>
            </a:r>
          </a:p>
          <a:p>
            <a:r>
              <a:rPr lang="en-IN" sz="2000" dirty="0">
                <a:latin typeface="Times New Roman" panose="02020603050405020304" pitchFamily="18" charset="0"/>
                <a:cs typeface="Times New Roman" panose="02020603050405020304" pitchFamily="18" charset="0"/>
              </a:rPr>
              <a:t>     If no output, it’s terminated</a:t>
            </a:r>
          </a:p>
        </p:txBody>
      </p:sp>
    </p:spTree>
    <p:extLst>
      <p:ext uri="{BB962C8B-B14F-4D97-AF65-F5344CB8AC3E}">
        <p14:creationId xmlns:p14="http://schemas.microsoft.com/office/powerpoint/2010/main" val="397370257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2F225-1FD8-C9C4-B1DB-4CD17FF48403}"/>
              </a:ext>
            </a:extLst>
          </p:cNvPr>
          <p:cNvSpPr>
            <a:spLocks noGrp="1"/>
          </p:cNvSpPr>
          <p:nvPr>
            <p:ph type="title"/>
          </p:nvPr>
        </p:nvSpPr>
        <p:spPr>
          <a:xfrm>
            <a:off x="720000" y="0"/>
            <a:ext cx="7704000" cy="572700"/>
          </a:xfrm>
        </p:spPr>
        <p:txBody>
          <a:bodyPr/>
          <a:lstStyle/>
          <a:p>
            <a:pPr algn="ctr"/>
            <a:r>
              <a:rPr lang="en-US" dirty="0">
                <a:latin typeface="Times New Roman" panose="02020603050405020304" pitchFamily="18" charset="0"/>
                <a:cs typeface="Times New Roman" panose="02020603050405020304" pitchFamily="18" charset="0"/>
              </a:rPr>
              <a:t>Gaining Super User Access</a:t>
            </a:r>
          </a:p>
        </p:txBody>
      </p:sp>
      <p:sp>
        <p:nvSpPr>
          <p:cNvPr id="4" name="TextBox 3">
            <a:extLst>
              <a:ext uri="{FF2B5EF4-FFF2-40B4-BE49-F238E27FC236}">
                <a16:creationId xmlns:a16="http://schemas.microsoft.com/office/drawing/2014/main" id="{36F2FEB1-8F00-C0E6-2203-6B06D8D12DB7}"/>
              </a:ext>
            </a:extLst>
          </p:cNvPr>
          <p:cNvSpPr txBox="1"/>
          <p:nvPr/>
        </p:nvSpPr>
        <p:spPr>
          <a:xfrm>
            <a:off x="457200" y="1120908"/>
            <a:ext cx="8769096" cy="2862322"/>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In RHEL root is the superuser, who has full access to the system.</a:t>
            </a:r>
          </a:p>
          <a:p>
            <a:r>
              <a:rPr lang="en-US" sz="2000" dirty="0">
                <a:latin typeface="Times New Roman" panose="02020603050405020304" pitchFamily="18" charset="0"/>
                <a:cs typeface="Times New Roman" panose="02020603050405020304" pitchFamily="18" charset="0"/>
              </a:rPr>
              <a:t>The root user can run all commands without any restrictions.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This user managed the complete system administration.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This user has the power to override normal privileges for the local user to perform some administrative tasks in the system.</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The root user in Linux is almost like the Administrator account in Windows.</a:t>
            </a:r>
          </a:p>
        </p:txBody>
      </p:sp>
      <p:sp>
        <p:nvSpPr>
          <p:cNvPr id="5" name="TextBox 4">
            <a:extLst>
              <a:ext uri="{FF2B5EF4-FFF2-40B4-BE49-F238E27FC236}">
                <a16:creationId xmlns:a16="http://schemas.microsoft.com/office/drawing/2014/main" id="{AA1831FC-047D-A681-E4EC-A0F32EF62DA4}"/>
              </a:ext>
            </a:extLst>
          </p:cNvPr>
          <p:cNvSpPr txBox="1"/>
          <p:nvPr/>
        </p:nvSpPr>
        <p:spPr>
          <a:xfrm>
            <a:off x="457200" y="572700"/>
            <a:ext cx="1682496"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Super User</a:t>
            </a:r>
          </a:p>
        </p:txBody>
      </p:sp>
    </p:spTree>
    <p:extLst>
      <p:ext uri="{BB962C8B-B14F-4D97-AF65-F5344CB8AC3E}">
        <p14:creationId xmlns:p14="http://schemas.microsoft.com/office/powerpoint/2010/main" val="73443705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A6440-9288-2D79-1A9B-A8323B369BB9}"/>
              </a:ext>
            </a:extLst>
          </p:cNvPr>
          <p:cNvSpPr>
            <a:spLocks noGrp="1"/>
          </p:cNvSpPr>
          <p:nvPr>
            <p:ph type="title"/>
          </p:nvPr>
        </p:nvSpPr>
        <p:spPr>
          <a:xfrm>
            <a:off x="564552" y="381017"/>
            <a:ext cx="2324952" cy="377935"/>
          </a:xfrm>
        </p:spPr>
        <p:txBody>
          <a:bodyPr/>
          <a:lstStyle/>
          <a:p>
            <a:r>
              <a:rPr lang="en-US" sz="2000" dirty="0">
                <a:latin typeface="Times New Roman" panose="02020603050405020304" pitchFamily="18" charset="0"/>
                <a:cs typeface="Times New Roman" panose="02020603050405020304" pitchFamily="18" charset="0"/>
              </a:rPr>
              <a:t> • Switching Users</a:t>
            </a:r>
          </a:p>
        </p:txBody>
      </p:sp>
      <p:sp>
        <p:nvSpPr>
          <p:cNvPr id="4" name="TextBox 3">
            <a:extLst>
              <a:ext uri="{FF2B5EF4-FFF2-40B4-BE49-F238E27FC236}">
                <a16:creationId xmlns:a16="http://schemas.microsoft.com/office/drawing/2014/main" id="{E27DC87E-3488-8B08-AB9E-F4325F2874C2}"/>
              </a:ext>
            </a:extLst>
          </p:cNvPr>
          <p:cNvSpPr txBox="1"/>
          <p:nvPr/>
        </p:nvSpPr>
        <p:spPr>
          <a:xfrm>
            <a:off x="308228" y="1197694"/>
            <a:ext cx="8003667" cy="224676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With the help of "</a:t>
            </a:r>
            <a:r>
              <a:rPr lang="en-US" sz="2000" dirty="0" err="1">
                <a:latin typeface="Times New Roman" panose="02020603050405020304" pitchFamily="18" charset="0"/>
                <a:cs typeface="Times New Roman" panose="02020603050405020304" pitchFamily="18" charset="0"/>
              </a:rPr>
              <a:t>su</a:t>
            </a:r>
            <a:r>
              <a:rPr lang="en-US" sz="2000" dirty="0">
                <a:latin typeface="Times New Roman" panose="02020603050405020304" pitchFamily="18" charset="0"/>
                <a:cs typeface="Times New Roman" panose="02020603050405020304" pitchFamily="18" charset="0"/>
              </a:rPr>
              <a:t>" command you can switch between the users.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If it is run by local user it will prompt for the password but if root user</a:t>
            </a:r>
          </a:p>
          <a:p>
            <a:r>
              <a:rPr lang="en-US" sz="2000" dirty="0">
                <a:latin typeface="Times New Roman" panose="02020603050405020304" pitchFamily="18" charset="0"/>
                <a:cs typeface="Times New Roman" panose="02020603050405020304" pitchFamily="18" charset="0"/>
              </a:rPr>
              <a:t>invoke this command no password is required.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The command </a:t>
            </a:r>
            <a:r>
              <a:rPr lang="en-US" sz="2000" dirty="0" err="1">
                <a:latin typeface="Times New Roman" panose="02020603050405020304" pitchFamily="18" charset="0"/>
                <a:cs typeface="Times New Roman" panose="02020603050405020304" pitchFamily="18" charset="0"/>
              </a:rPr>
              <a:t>su</a:t>
            </a:r>
            <a:r>
              <a:rPr lang="en-US" sz="2000" dirty="0">
                <a:latin typeface="Times New Roman" panose="02020603050405020304" pitchFamily="18" charset="0"/>
                <a:cs typeface="Times New Roman" panose="02020603050405020304" pitchFamily="18" charset="0"/>
              </a:rPr>
              <a:t> username starts a non-login shell, while the</a:t>
            </a:r>
          </a:p>
          <a:p>
            <a:r>
              <a:rPr lang="en-US" sz="2000" dirty="0">
                <a:latin typeface="Times New Roman" panose="02020603050405020304" pitchFamily="18" charset="0"/>
                <a:cs typeface="Times New Roman" panose="02020603050405020304" pitchFamily="18" charset="0"/>
              </a:rPr>
              <a:t>command </a:t>
            </a:r>
            <a:r>
              <a:rPr lang="en-US" sz="2000" dirty="0" err="1">
                <a:latin typeface="Times New Roman" panose="02020603050405020304" pitchFamily="18" charset="0"/>
                <a:cs typeface="Times New Roman" panose="02020603050405020304" pitchFamily="18" charset="0"/>
              </a:rPr>
              <a:t>su</a:t>
            </a:r>
            <a:r>
              <a:rPr lang="en-US" sz="2000" dirty="0">
                <a:latin typeface="Times New Roman" panose="02020603050405020304" pitchFamily="18" charset="0"/>
                <a:cs typeface="Times New Roman" panose="02020603050405020304" pitchFamily="18" charset="0"/>
              </a:rPr>
              <a:t> - username starts a login shell</a:t>
            </a:r>
          </a:p>
        </p:txBody>
      </p:sp>
    </p:spTree>
    <p:extLst>
      <p:ext uri="{BB962C8B-B14F-4D97-AF65-F5344CB8AC3E}">
        <p14:creationId xmlns:p14="http://schemas.microsoft.com/office/powerpoint/2010/main" val="297601307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8F562C-B05B-C669-9B6F-6AAD74EEC4EA}"/>
              </a:ext>
            </a:extLst>
          </p:cNvPr>
          <p:cNvPicPr>
            <a:picLocks noChangeAspect="1"/>
          </p:cNvPicPr>
          <p:nvPr/>
        </p:nvPicPr>
        <p:blipFill>
          <a:blip r:embed="rId2"/>
          <a:stretch>
            <a:fillRect/>
          </a:stretch>
        </p:blipFill>
        <p:spPr>
          <a:xfrm>
            <a:off x="2609576" y="1396602"/>
            <a:ext cx="3924848" cy="2057687"/>
          </a:xfrm>
          <a:prstGeom prst="rect">
            <a:avLst/>
          </a:prstGeom>
        </p:spPr>
      </p:pic>
      <p:sp>
        <p:nvSpPr>
          <p:cNvPr id="3" name="TextBox 2">
            <a:extLst>
              <a:ext uri="{FF2B5EF4-FFF2-40B4-BE49-F238E27FC236}">
                <a16:creationId xmlns:a16="http://schemas.microsoft.com/office/drawing/2014/main" id="{B6D3E653-E191-A68F-3A1F-8B5F62FDD64A}"/>
              </a:ext>
            </a:extLst>
          </p:cNvPr>
          <p:cNvSpPr txBox="1"/>
          <p:nvPr/>
        </p:nvSpPr>
        <p:spPr>
          <a:xfrm>
            <a:off x="795528" y="705648"/>
            <a:ext cx="1271016"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Example:</a:t>
            </a:r>
            <a:endParaRPr lang="en-US" sz="2000" b="1" dirty="0"/>
          </a:p>
        </p:txBody>
      </p:sp>
    </p:spTree>
    <p:extLst>
      <p:ext uri="{BB962C8B-B14F-4D97-AF65-F5344CB8AC3E}">
        <p14:creationId xmlns:p14="http://schemas.microsoft.com/office/powerpoint/2010/main" val="417451639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B5199-F113-44E5-EAA1-0911BCC0AE4D}"/>
              </a:ext>
            </a:extLst>
          </p:cNvPr>
          <p:cNvSpPr>
            <a:spLocks noGrp="1"/>
          </p:cNvSpPr>
          <p:nvPr>
            <p:ph type="title"/>
          </p:nvPr>
        </p:nvSpPr>
        <p:spPr>
          <a:xfrm>
            <a:off x="510876" y="381017"/>
            <a:ext cx="1255104" cy="572700"/>
          </a:xfrm>
        </p:spPr>
        <p:txBody>
          <a:bodyPr/>
          <a:lstStyle/>
          <a:p>
            <a:r>
              <a:rPr lang="en-US" dirty="0"/>
              <a:t>Sudo</a:t>
            </a:r>
          </a:p>
        </p:txBody>
      </p:sp>
      <p:sp>
        <p:nvSpPr>
          <p:cNvPr id="4" name="TextBox 3">
            <a:extLst>
              <a:ext uri="{FF2B5EF4-FFF2-40B4-BE49-F238E27FC236}">
                <a16:creationId xmlns:a16="http://schemas.microsoft.com/office/drawing/2014/main" id="{7E9FF234-7EA1-A5BE-0351-CB6EEE69E80F}"/>
              </a:ext>
            </a:extLst>
          </p:cNvPr>
          <p:cNvSpPr txBox="1"/>
          <p:nvPr/>
        </p:nvSpPr>
        <p:spPr>
          <a:xfrm>
            <a:off x="510876" y="1140589"/>
            <a:ext cx="8194212" cy="255454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Sudo can give root privileges by configuring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sudoers</a:t>
            </a:r>
            <a:r>
              <a:rPr lang="en-US" sz="2000" dirty="0">
                <a:latin typeface="Times New Roman" panose="02020603050405020304" pitchFamily="18" charset="0"/>
                <a:cs typeface="Times New Roman" panose="02020603050405020304" pitchFamily="18" charset="0"/>
              </a:rPr>
              <a:t> file.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With sudo you can specified specific rights to the specific users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Sudo requires to enter their own password not other unlike you do in </a:t>
            </a:r>
            <a:r>
              <a:rPr lang="en-US" sz="2000" dirty="0" err="1">
                <a:latin typeface="Times New Roman" panose="02020603050405020304" pitchFamily="18" charset="0"/>
                <a:cs typeface="Times New Roman" panose="02020603050405020304" pitchFamily="18" charset="0"/>
              </a:rPr>
              <a:t>su</a:t>
            </a:r>
            <a:r>
              <a:rPr lang="en-US" sz="2000" dirty="0">
                <a:latin typeface="Times New Roman" panose="02020603050405020304" pitchFamily="18" charset="0"/>
                <a:cs typeface="Times New Roman" panose="02020603050405020304" pitchFamily="18" charset="0"/>
              </a:rPr>
              <a:t> command.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In RHEL9 all members of group wheel able to use sudo to run command.</a:t>
            </a:r>
          </a:p>
        </p:txBody>
      </p:sp>
    </p:spTree>
    <p:extLst>
      <p:ext uri="{BB962C8B-B14F-4D97-AF65-F5344CB8AC3E}">
        <p14:creationId xmlns:p14="http://schemas.microsoft.com/office/powerpoint/2010/main" val="111039853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38BFF-72C9-299E-9834-E1CC61DE69D1}"/>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sudoers</a:t>
            </a: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54856F8-6B72-5B4E-2040-21E64DD15909}"/>
              </a:ext>
            </a:extLst>
          </p:cNvPr>
          <p:cNvSpPr txBox="1"/>
          <p:nvPr/>
        </p:nvSpPr>
        <p:spPr>
          <a:xfrm>
            <a:off x="720000" y="1268512"/>
            <a:ext cx="2270088"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cat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sudoers</a:t>
            </a:r>
            <a:endParaRPr lang="en-US"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5B923AB-2B62-137A-C74F-C74486A40097}"/>
              </a:ext>
            </a:extLst>
          </p:cNvPr>
          <p:cNvPicPr>
            <a:picLocks noChangeAspect="1"/>
          </p:cNvPicPr>
          <p:nvPr/>
        </p:nvPicPr>
        <p:blipFill>
          <a:blip r:embed="rId2"/>
          <a:stretch>
            <a:fillRect/>
          </a:stretch>
        </p:blipFill>
        <p:spPr>
          <a:xfrm>
            <a:off x="720000" y="1736676"/>
            <a:ext cx="5468113" cy="704948"/>
          </a:xfrm>
          <a:prstGeom prst="rect">
            <a:avLst/>
          </a:prstGeom>
        </p:spPr>
      </p:pic>
      <p:pic>
        <p:nvPicPr>
          <p:cNvPr id="8" name="Picture 7">
            <a:extLst>
              <a:ext uri="{FF2B5EF4-FFF2-40B4-BE49-F238E27FC236}">
                <a16:creationId xmlns:a16="http://schemas.microsoft.com/office/drawing/2014/main" id="{F870C4EA-C9DB-18DB-09D7-B938F59790CF}"/>
              </a:ext>
            </a:extLst>
          </p:cNvPr>
          <p:cNvPicPr>
            <a:picLocks noChangeAspect="1"/>
          </p:cNvPicPr>
          <p:nvPr/>
        </p:nvPicPr>
        <p:blipFill>
          <a:blip r:embed="rId3"/>
          <a:stretch>
            <a:fillRect/>
          </a:stretch>
        </p:blipFill>
        <p:spPr>
          <a:xfrm>
            <a:off x="720000" y="2701877"/>
            <a:ext cx="3600953" cy="647790"/>
          </a:xfrm>
          <a:prstGeom prst="rect">
            <a:avLst/>
          </a:prstGeom>
        </p:spPr>
      </p:pic>
      <p:pic>
        <p:nvPicPr>
          <p:cNvPr id="10" name="Picture 9">
            <a:extLst>
              <a:ext uri="{FF2B5EF4-FFF2-40B4-BE49-F238E27FC236}">
                <a16:creationId xmlns:a16="http://schemas.microsoft.com/office/drawing/2014/main" id="{533D499F-1731-685B-9BB0-3F67AB32AAB1}"/>
              </a:ext>
            </a:extLst>
          </p:cNvPr>
          <p:cNvPicPr>
            <a:picLocks noChangeAspect="1"/>
          </p:cNvPicPr>
          <p:nvPr/>
        </p:nvPicPr>
        <p:blipFill>
          <a:blip r:embed="rId4"/>
          <a:stretch>
            <a:fillRect/>
          </a:stretch>
        </p:blipFill>
        <p:spPr>
          <a:xfrm>
            <a:off x="720000" y="3628970"/>
            <a:ext cx="4296375" cy="600159"/>
          </a:xfrm>
          <a:prstGeom prst="rect">
            <a:avLst/>
          </a:prstGeom>
        </p:spPr>
      </p:pic>
    </p:spTree>
    <p:extLst>
      <p:ext uri="{BB962C8B-B14F-4D97-AF65-F5344CB8AC3E}">
        <p14:creationId xmlns:p14="http://schemas.microsoft.com/office/powerpoint/2010/main" val="213193870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A25315-D1EB-4359-18C6-1BE41A6E436C}"/>
              </a:ext>
            </a:extLst>
          </p:cNvPr>
          <p:cNvPicPr>
            <a:picLocks noChangeAspect="1"/>
          </p:cNvPicPr>
          <p:nvPr/>
        </p:nvPicPr>
        <p:blipFill>
          <a:blip r:embed="rId2"/>
          <a:stretch>
            <a:fillRect/>
          </a:stretch>
        </p:blipFill>
        <p:spPr>
          <a:xfrm>
            <a:off x="1909391" y="1681038"/>
            <a:ext cx="5325218" cy="1781424"/>
          </a:xfrm>
          <a:prstGeom prst="rect">
            <a:avLst/>
          </a:prstGeom>
        </p:spPr>
      </p:pic>
      <p:sp>
        <p:nvSpPr>
          <p:cNvPr id="5" name="TextBox 4">
            <a:extLst>
              <a:ext uri="{FF2B5EF4-FFF2-40B4-BE49-F238E27FC236}">
                <a16:creationId xmlns:a16="http://schemas.microsoft.com/office/drawing/2014/main" id="{5ECD9FC9-2640-7883-455C-E1AC2FBFB383}"/>
              </a:ext>
            </a:extLst>
          </p:cNvPr>
          <p:cNvSpPr txBox="1"/>
          <p:nvPr/>
        </p:nvSpPr>
        <p:spPr>
          <a:xfrm>
            <a:off x="1909391" y="705648"/>
            <a:ext cx="5325217"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Trying to add new user-account as a local user</a:t>
            </a:r>
          </a:p>
        </p:txBody>
      </p:sp>
    </p:spTree>
    <p:extLst>
      <p:ext uri="{BB962C8B-B14F-4D97-AF65-F5344CB8AC3E}">
        <p14:creationId xmlns:p14="http://schemas.microsoft.com/office/powerpoint/2010/main" val="390431633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A92D4-8A51-9C53-0D08-AFB07D97AE67}"/>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B6BBDCD3-7D90-6BA3-A88A-79D55CDFDE9E}"/>
              </a:ext>
            </a:extLst>
          </p:cNvPr>
          <p:cNvPicPr>
            <a:picLocks noChangeAspect="1"/>
          </p:cNvPicPr>
          <p:nvPr/>
        </p:nvPicPr>
        <p:blipFill>
          <a:blip r:embed="rId2"/>
          <a:stretch>
            <a:fillRect/>
          </a:stretch>
        </p:blipFill>
        <p:spPr>
          <a:xfrm>
            <a:off x="262636" y="326153"/>
            <a:ext cx="7912100" cy="4061888"/>
          </a:xfrm>
          <a:prstGeom prst="rect">
            <a:avLst/>
          </a:prstGeom>
        </p:spPr>
      </p:pic>
    </p:spTree>
    <p:extLst>
      <p:ext uri="{BB962C8B-B14F-4D97-AF65-F5344CB8AC3E}">
        <p14:creationId xmlns:p14="http://schemas.microsoft.com/office/powerpoint/2010/main" val="72206675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7969A1-C8E8-2FAF-9CD0-A832D03F426B}"/>
              </a:ext>
            </a:extLst>
          </p:cNvPr>
          <p:cNvPicPr>
            <a:picLocks noChangeAspect="1"/>
          </p:cNvPicPr>
          <p:nvPr/>
        </p:nvPicPr>
        <p:blipFill>
          <a:blip r:embed="rId2"/>
          <a:stretch>
            <a:fillRect/>
          </a:stretch>
        </p:blipFill>
        <p:spPr>
          <a:xfrm>
            <a:off x="756774" y="398265"/>
            <a:ext cx="3781953" cy="1000265"/>
          </a:xfrm>
          <a:prstGeom prst="rect">
            <a:avLst/>
          </a:prstGeom>
        </p:spPr>
      </p:pic>
      <p:pic>
        <p:nvPicPr>
          <p:cNvPr id="6" name="Picture 5">
            <a:extLst>
              <a:ext uri="{FF2B5EF4-FFF2-40B4-BE49-F238E27FC236}">
                <a16:creationId xmlns:a16="http://schemas.microsoft.com/office/drawing/2014/main" id="{557B1FD2-92B4-B58B-85F7-99FC451F5FF2}"/>
              </a:ext>
            </a:extLst>
          </p:cNvPr>
          <p:cNvPicPr>
            <a:picLocks noChangeAspect="1"/>
          </p:cNvPicPr>
          <p:nvPr/>
        </p:nvPicPr>
        <p:blipFill>
          <a:blip r:embed="rId3"/>
          <a:stretch>
            <a:fillRect/>
          </a:stretch>
        </p:blipFill>
        <p:spPr>
          <a:xfrm>
            <a:off x="756774" y="1789850"/>
            <a:ext cx="1733792" cy="390580"/>
          </a:xfrm>
          <a:prstGeom prst="rect">
            <a:avLst/>
          </a:prstGeom>
        </p:spPr>
      </p:pic>
      <p:pic>
        <p:nvPicPr>
          <p:cNvPr id="8" name="Picture 7">
            <a:extLst>
              <a:ext uri="{FF2B5EF4-FFF2-40B4-BE49-F238E27FC236}">
                <a16:creationId xmlns:a16="http://schemas.microsoft.com/office/drawing/2014/main" id="{D463F957-88B3-BC34-E765-70CED24928F1}"/>
              </a:ext>
            </a:extLst>
          </p:cNvPr>
          <p:cNvPicPr>
            <a:picLocks noChangeAspect="1"/>
          </p:cNvPicPr>
          <p:nvPr/>
        </p:nvPicPr>
        <p:blipFill>
          <a:blip r:embed="rId4"/>
          <a:stretch>
            <a:fillRect/>
          </a:stretch>
        </p:blipFill>
        <p:spPr>
          <a:xfrm>
            <a:off x="756774" y="2571750"/>
            <a:ext cx="6639852" cy="1952898"/>
          </a:xfrm>
          <a:prstGeom prst="rect">
            <a:avLst/>
          </a:prstGeom>
        </p:spPr>
      </p:pic>
    </p:spTree>
    <p:extLst>
      <p:ext uri="{BB962C8B-B14F-4D97-AF65-F5344CB8AC3E}">
        <p14:creationId xmlns:p14="http://schemas.microsoft.com/office/powerpoint/2010/main" val="217574399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DC650A-394D-693F-B2A5-F561598A4FC6}"/>
              </a:ext>
            </a:extLst>
          </p:cNvPr>
          <p:cNvPicPr>
            <a:picLocks noChangeAspect="1"/>
          </p:cNvPicPr>
          <p:nvPr/>
        </p:nvPicPr>
        <p:blipFill>
          <a:blip r:embed="rId2"/>
          <a:stretch>
            <a:fillRect/>
          </a:stretch>
        </p:blipFill>
        <p:spPr>
          <a:xfrm>
            <a:off x="811530" y="1048881"/>
            <a:ext cx="7520940" cy="3230512"/>
          </a:xfrm>
          <a:prstGeom prst="rect">
            <a:avLst/>
          </a:prstGeom>
        </p:spPr>
      </p:pic>
    </p:spTree>
    <p:extLst>
      <p:ext uri="{BB962C8B-B14F-4D97-AF65-F5344CB8AC3E}">
        <p14:creationId xmlns:p14="http://schemas.microsoft.com/office/powerpoint/2010/main" val="212007076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337CD6C-7E83-2734-F906-EB8A5BB27683}"/>
              </a:ext>
            </a:extLst>
          </p:cNvPr>
          <p:cNvPicPr>
            <a:picLocks noChangeAspect="1"/>
          </p:cNvPicPr>
          <p:nvPr/>
        </p:nvPicPr>
        <p:blipFill>
          <a:blip r:embed="rId2"/>
          <a:stretch>
            <a:fillRect/>
          </a:stretch>
        </p:blipFill>
        <p:spPr>
          <a:xfrm>
            <a:off x="1080954" y="1831225"/>
            <a:ext cx="6982092" cy="1481049"/>
          </a:xfrm>
          <a:prstGeom prst="rect">
            <a:avLst/>
          </a:prstGeom>
        </p:spPr>
      </p:pic>
      <p:sp>
        <p:nvSpPr>
          <p:cNvPr id="4" name="TextBox 3">
            <a:extLst>
              <a:ext uri="{FF2B5EF4-FFF2-40B4-BE49-F238E27FC236}">
                <a16:creationId xmlns:a16="http://schemas.microsoft.com/office/drawing/2014/main" id="{BA0E461A-3C9C-3AB1-D472-68E56D39B900}"/>
              </a:ext>
            </a:extLst>
          </p:cNvPr>
          <p:cNvSpPr txBox="1"/>
          <p:nvPr/>
        </p:nvSpPr>
        <p:spPr>
          <a:xfrm>
            <a:off x="1993392" y="385608"/>
            <a:ext cx="5157216" cy="400110"/>
          </a:xfrm>
          <a:prstGeom prst="rect">
            <a:avLst/>
          </a:prstGeom>
          <a:noFill/>
        </p:spPr>
        <p:txBody>
          <a:bodyPr wrap="square">
            <a:spAutoFit/>
          </a:bodyPr>
          <a:lstStyle/>
          <a:p>
            <a:pPr algn="ctr" rtl="0"/>
            <a:r>
              <a:rPr lang="en-US" sz="2000" b="1" i="0" u="none" strike="noStrike" baseline="0" dirty="0">
                <a:solidFill>
                  <a:srgbClr val="000000"/>
                </a:solidFill>
                <a:latin typeface="Times New Roman" panose="02020603050405020304" pitchFamily="18" charset="0"/>
              </a:rPr>
              <a:t>To remove then local user from wheel group</a:t>
            </a:r>
          </a:p>
        </p:txBody>
      </p:sp>
    </p:spTree>
    <p:extLst>
      <p:ext uri="{BB962C8B-B14F-4D97-AF65-F5344CB8AC3E}">
        <p14:creationId xmlns:p14="http://schemas.microsoft.com/office/powerpoint/2010/main" val="135240039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79C7C-947B-6C06-CD11-976497CEF3ED}"/>
              </a:ext>
            </a:extLst>
          </p:cNvPr>
          <p:cNvSpPr>
            <a:spLocks noGrp="1"/>
          </p:cNvSpPr>
          <p:nvPr>
            <p:ph type="title"/>
          </p:nvPr>
        </p:nvSpPr>
        <p:spPr>
          <a:xfrm>
            <a:off x="720000" y="149750"/>
            <a:ext cx="7704000" cy="572700"/>
          </a:xfrm>
        </p:spPr>
        <p:style>
          <a:lnRef idx="2">
            <a:schemeClr val="dk1"/>
          </a:lnRef>
          <a:fillRef idx="1">
            <a:schemeClr val="lt1"/>
          </a:fillRef>
          <a:effectRef idx="0">
            <a:schemeClr val="dk1"/>
          </a:effectRef>
          <a:fontRef idx="minor">
            <a:schemeClr val="dk1"/>
          </a:fontRef>
        </p:style>
        <p:txBody>
          <a:bodyPr/>
          <a:lstStyle/>
          <a:p>
            <a:pPr algn="ctr"/>
            <a:r>
              <a:rPr lang="en-US" dirty="0">
                <a:latin typeface="Times New Roman" panose="02020603050405020304" pitchFamily="18" charset="0"/>
                <a:cs typeface="Times New Roman" panose="02020603050405020304" pitchFamily="18" charset="0"/>
              </a:rPr>
              <a:t>File Permission</a:t>
            </a:r>
          </a:p>
        </p:txBody>
      </p:sp>
      <p:sp>
        <p:nvSpPr>
          <p:cNvPr id="4" name="TextBox 3">
            <a:extLst>
              <a:ext uri="{FF2B5EF4-FFF2-40B4-BE49-F238E27FC236}">
                <a16:creationId xmlns:a16="http://schemas.microsoft.com/office/drawing/2014/main" id="{79E751DF-2C03-C109-DECE-BBE056911A55}"/>
              </a:ext>
            </a:extLst>
          </p:cNvPr>
          <p:cNvSpPr txBox="1"/>
          <p:nvPr/>
        </p:nvSpPr>
        <p:spPr>
          <a:xfrm>
            <a:off x="720000" y="1025800"/>
            <a:ext cx="7704000" cy="3477875"/>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 Permission allow a users to access resources in the</a:t>
            </a:r>
          </a:p>
          <a:p>
            <a:pPr algn="just"/>
            <a:r>
              <a:rPr lang="en-US" sz="2000" dirty="0">
                <a:latin typeface="Times New Roman" panose="02020603050405020304" pitchFamily="18" charset="0"/>
                <a:cs typeface="Times New Roman" panose="02020603050405020304" pitchFamily="18" charset="0"/>
              </a:rPr>
              <a:t>organizations.</a:t>
            </a:r>
          </a:p>
          <a:p>
            <a:pPr algn="just"/>
            <a:r>
              <a:rPr lang="en-US" sz="2000" dirty="0">
                <a:latin typeface="Times New Roman" panose="02020603050405020304" pitchFamily="18" charset="0"/>
                <a:cs typeface="Times New Roman" panose="02020603050405020304" pitchFamily="18" charset="0"/>
              </a:rPr>
              <a:t>• With the help </a:t>
            </a:r>
            <a:r>
              <a:rPr lang="en-US" sz="2000">
                <a:latin typeface="Times New Roman" panose="02020603050405020304" pitchFamily="18" charset="0"/>
                <a:cs typeface="Times New Roman" panose="02020603050405020304" pitchFamily="18" charset="0"/>
              </a:rPr>
              <a:t>of permissions, </a:t>
            </a:r>
            <a:r>
              <a:rPr lang="en-US" sz="2000" dirty="0">
                <a:latin typeface="Times New Roman" panose="02020603050405020304" pitchFamily="18" charset="0"/>
                <a:cs typeface="Times New Roman" panose="02020603050405020304" pitchFamily="18" charset="0"/>
              </a:rPr>
              <a:t>you can control file and directory</a:t>
            </a:r>
          </a:p>
          <a:p>
            <a:pPr algn="just"/>
            <a:r>
              <a:rPr lang="en-US" sz="2000" dirty="0">
                <a:latin typeface="Times New Roman" panose="02020603050405020304" pitchFamily="18" charset="0"/>
                <a:cs typeface="Times New Roman" panose="02020603050405020304" pitchFamily="18" charset="0"/>
              </a:rPr>
              <a:t>access.</a:t>
            </a:r>
          </a:p>
          <a:p>
            <a:pPr algn="just"/>
            <a:r>
              <a:rPr lang="en-US" sz="2000" dirty="0">
                <a:latin typeface="Times New Roman" panose="02020603050405020304" pitchFamily="18" charset="0"/>
                <a:cs typeface="Times New Roman" panose="02020603050405020304" pitchFamily="18" charset="0"/>
              </a:rPr>
              <a:t>• Red Hat Enterprise Linux permission are simple and flexible, by</a:t>
            </a:r>
          </a:p>
          <a:p>
            <a:pPr algn="just"/>
            <a:r>
              <a:rPr lang="en-US" sz="2000" dirty="0">
                <a:latin typeface="Times New Roman" panose="02020603050405020304" pitchFamily="18" charset="0"/>
                <a:cs typeface="Times New Roman" panose="02020603050405020304" pitchFamily="18" charset="0"/>
              </a:rPr>
              <a:t>which users can easily change or modify the permission of there file and directory.</a:t>
            </a:r>
          </a:p>
          <a:p>
            <a:pPr algn="just"/>
            <a:r>
              <a:rPr lang="en-US" sz="2000" dirty="0">
                <a:latin typeface="Times New Roman" panose="02020603050405020304" pitchFamily="18" charset="0"/>
                <a:cs typeface="Times New Roman" panose="02020603050405020304" pitchFamily="18" charset="0"/>
              </a:rPr>
              <a:t>• Files have three categories to which permission will apply, Users, Groups and Other Users.</a:t>
            </a:r>
          </a:p>
          <a:p>
            <a:pPr algn="just"/>
            <a:r>
              <a:rPr lang="en-US" sz="2000" dirty="0">
                <a:latin typeface="Times New Roman" panose="02020603050405020304" pitchFamily="18" charset="0"/>
                <a:cs typeface="Times New Roman" panose="02020603050405020304" pitchFamily="18" charset="0"/>
              </a:rPr>
              <a:t>• Permission precedence- user permission override group</a:t>
            </a:r>
          </a:p>
          <a:p>
            <a:pPr algn="just"/>
            <a:r>
              <a:rPr lang="en-US" sz="2000" dirty="0">
                <a:latin typeface="Times New Roman" panose="02020603050405020304" pitchFamily="18" charset="0"/>
                <a:cs typeface="Times New Roman" panose="02020603050405020304" pitchFamily="18" charset="0"/>
              </a:rPr>
              <a:t>permission, which override other permission.</a:t>
            </a:r>
          </a:p>
        </p:txBody>
      </p:sp>
    </p:spTree>
    <p:extLst>
      <p:ext uri="{BB962C8B-B14F-4D97-AF65-F5344CB8AC3E}">
        <p14:creationId xmlns:p14="http://schemas.microsoft.com/office/powerpoint/2010/main" val="387117088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30703-ACC7-4957-34D7-F13E54F8E2B0}"/>
              </a:ext>
            </a:extLst>
          </p:cNvPr>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US" dirty="0">
                <a:latin typeface="Times New Roman" panose="02020603050405020304" pitchFamily="18" charset="0"/>
                <a:cs typeface="Times New Roman" panose="02020603050405020304" pitchFamily="18" charset="0"/>
              </a:rPr>
              <a:t>Types of Permission</a:t>
            </a:r>
          </a:p>
        </p:txBody>
      </p:sp>
      <p:sp>
        <p:nvSpPr>
          <p:cNvPr id="6" name="TextBox 5">
            <a:extLst>
              <a:ext uri="{FF2B5EF4-FFF2-40B4-BE49-F238E27FC236}">
                <a16:creationId xmlns:a16="http://schemas.microsoft.com/office/drawing/2014/main" id="{0D723919-17EE-768F-D028-03E8532F842C}"/>
              </a:ext>
            </a:extLst>
          </p:cNvPr>
          <p:cNvSpPr txBox="1"/>
          <p:nvPr/>
        </p:nvSpPr>
        <p:spPr>
          <a:xfrm>
            <a:off x="696563" y="1900783"/>
            <a:ext cx="1282536" cy="400110"/>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2000" dirty="0">
                <a:latin typeface="Times New Roman" panose="02020603050405020304" pitchFamily="18" charset="0"/>
                <a:cs typeface="Times New Roman" panose="02020603050405020304" pitchFamily="18" charset="0"/>
              </a:rPr>
              <a:t>Read (r) </a:t>
            </a:r>
          </a:p>
        </p:txBody>
      </p:sp>
      <p:sp>
        <p:nvSpPr>
          <p:cNvPr id="8" name="TextBox 7">
            <a:extLst>
              <a:ext uri="{FF2B5EF4-FFF2-40B4-BE49-F238E27FC236}">
                <a16:creationId xmlns:a16="http://schemas.microsoft.com/office/drawing/2014/main" id="{BAF6225B-C509-A650-8A2E-E11DE570F61F}"/>
              </a:ext>
            </a:extLst>
          </p:cNvPr>
          <p:cNvSpPr txBox="1"/>
          <p:nvPr/>
        </p:nvSpPr>
        <p:spPr>
          <a:xfrm>
            <a:off x="696563" y="2746067"/>
            <a:ext cx="1257139" cy="400110"/>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2000" dirty="0">
                <a:latin typeface="Times New Roman" panose="02020603050405020304" pitchFamily="18" charset="0"/>
                <a:cs typeface="Times New Roman" panose="02020603050405020304" pitchFamily="18" charset="0"/>
              </a:rPr>
              <a:t>Write (w) </a:t>
            </a:r>
          </a:p>
        </p:txBody>
      </p:sp>
      <p:sp>
        <p:nvSpPr>
          <p:cNvPr id="10" name="TextBox 9">
            <a:extLst>
              <a:ext uri="{FF2B5EF4-FFF2-40B4-BE49-F238E27FC236}">
                <a16:creationId xmlns:a16="http://schemas.microsoft.com/office/drawing/2014/main" id="{8377FAC4-05A6-55D7-4C35-7C9DD8F42CE5}"/>
              </a:ext>
            </a:extLst>
          </p:cNvPr>
          <p:cNvSpPr txBox="1"/>
          <p:nvPr/>
        </p:nvSpPr>
        <p:spPr>
          <a:xfrm>
            <a:off x="696563" y="3636416"/>
            <a:ext cx="1536504" cy="400110"/>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2000" dirty="0">
                <a:latin typeface="Times New Roman" panose="02020603050405020304" pitchFamily="18" charset="0"/>
                <a:cs typeface="Times New Roman" panose="02020603050405020304" pitchFamily="18" charset="0"/>
              </a:rPr>
              <a:t>Execute (x) </a:t>
            </a:r>
          </a:p>
        </p:txBody>
      </p:sp>
      <p:sp>
        <p:nvSpPr>
          <p:cNvPr id="12" name="TextBox 11">
            <a:extLst>
              <a:ext uri="{FF2B5EF4-FFF2-40B4-BE49-F238E27FC236}">
                <a16:creationId xmlns:a16="http://schemas.microsoft.com/office/drawing/2014/main" id="{0D2CB175-3FBF-24CF-EB56-115E49F39FAE}"/>
              </a:ext>
            </a:extLst>
          </p:cNvPr>
          <p:cNvSpPr txBox="1"/>
          <p:nvPr/>
        </p:nvSpPr>
        <p:spPr>
          <a:xfrm>
            <a:off x="3904488" y="1701830"/>
            <a:ext cx="3839076" cy="7078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r>
              <a:rPr lang="en-US" sz="2000" dirty="0">
                <a:latin typeface="Times New Roman" panose="02020603050405020304" pitchFamily="18" charset="0"/>
                <a:cs typeface="Times New Roman" panose="02020603050405020304" pitchFamily="18" charset="0"/>
              </a:rPr>
              <a:t>• Content of file can be read</a:t>
            </a:r>
          </a:p>
          <a:p>
            <a:r>
              <a:rPr lang="en-US" sz="2000" dirty="0">
                <a:latin typeface="Times New Roman" panose="02020603050405020304" pitchFamily="18" charset="0"/>
                <a:cs typeface="Times New Roman" panose="02020603050405020304" pitchFamily="18" charset="0"/>
              </a:rPr>
              <a:t>• Content of directory can be listed</a:t>
            </a:r>
          </a:p>
        </p:txBody>
      </p:sp>
      <p:sp>
        <p:nvSpPr>
          <p:cNvPr id="14" name="TextBox 13">
            <a:extLst>
              <a:ext uri="{FF2B5EF4-FFF2-40B4-BE49-F238E27FC236}">
                <a16:creationId xmlns:a16="http://schemas.microsoft.com/office/drawing/2014/main" id="{743193E5-51C2-9B4B-5682-B8ACCBC634D9}"/>
              </a:ext>
            </a:extLst>
          </p:cNvPr>
          <p:cNvSpPr txBox="1"/>
          <p:nvPr/>
        </p:nvSpPr>
        <p:spPr>
          <a:xfrm>
            <a:off x="3849004" y="2592179"/>
            <a:ext cx="5294996" cy="70788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a:spAutoFit/>
          </a:bodyPr>
          <a:lstStyle/>
          <a:p>
            <a:r>
              <a:rPr lang="en-US" sz="2000" dirty="0">
                <a:latin typeface="Times New Roman" panose="02020603050405020304" pitchFamily="18" charset="0"/>
                <a:cs typeface="Times New Roman" panose="02020603050405020304" pitchFamily="18" charset="0"/>
              </a:rPr>
              <a:t>• Content of file can be change in file</a:t>
            </a:r>
          </a:p>
          <a:p>
            <a:r>
              <a:rPr lang="en-US" sz="2000" dirty="0">
                <a:latin typeface="Times New Roman" panose="02020603050405020304" pitchFamily="18" charset="0"/>
                <a:cs typeface="Times New Roman" panose="02020603050405020304" pitchFamily="18" charset="0"/>
              </a:rPr>
              <a:t>• File can be created or deleted from the directory</a:t>
            </a:r>
          </a:p>
        </p:txBody>
      </p:sp>
      <p:sp>
        <p:nvSpPr>
          <p:cNvPr id="16" name="TextBox 15">
            <a:extLst>
              <a:ext uri="{FF2B5EF4-FFF2-40B4-BE49-F238E27FC236}">
                <a16:creationId xmlns:a16="http://schemas.microsoft.com/office/drawing/2014/main" id="{506EBD74-1AEE-E9BE-9BDC-AF755FF0BFE5}"/>
              </a:ext>
            </a:extLst>
          </p:cNvPr>
          <p:cNvSpPr txBox="1"/>
          <p:nvPr/>
        </p:nvSpPr>
        <p:spPr>
          <a:xfrm>
            <a:off x="3871976" y="3482528"/>
            <a:ext cx="4692204" cy="7078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r>
              <a:rPr lang="en-US" sz="2000" dirty="0">
                <a:latin typeface="Times New Roman" panose="02020603050405020304" pitchFamily="18" charset="0"/>
                <a:cs typeface="Times New Roman" panose="02020603050405020304" pitchFamily="18" charset="0"/>
              </a:rPr>
              <a:t>• Files can be executed as command</a:t>
            </a:r>
          </a:p>
          <a:p>
            <a:r>
              <a:rPr lang="en-US" sz="2000" dirty="0">
                <a:latin typeface="Times New Roman" panose="02020603050405020304" pitchFamily="18" charset="0"/>
                <a:cs typeface="Times New Roman" panose="02020603050405020304" pitchFamily="18" charset="0"/>
              </a:rPr>
              <a:t>• Content of the directory can be accessed.</a:t>
            </a:r>
          </a:p>
        </p:txBody>
      </p:sp>
      <p:sp>
        <p:nvSpPr>
          <p:cNvPr id="17" name="Arrow: Right 16">
            <a:extLst>
              <a:ext uri="{FF2B5EF4-FFF2-40B4-BE49-F238E27FC236}">
                <a16:creationId xmlns:a16="http://schemas.microsoft.com/office/drawing/2014/main" id="{1526938E-CA11-64E7-537E-1882F0B47DA1}"/>
              </a:ext>
            </a:extLst>
          </p:cNvPr>
          <p:cNvSpPr/>
          <p:nvPr/>
        </p:nvSpPr>
        <p:spPr>
          <a:xfrm>
            <a:off x="2385467" y="3659499"/>
            <a:ext cx="1252728" cy="3539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57E64CF9-65D1-62A2-1AF7-74EFB2F45372}"/>
              </a:ext>
            </a:extLst>
          </p:cNvPr>
          <p:cNvSpPr/>
          <p:nvPr/>
        </p:nvSpPr>
        <p:spPr>
          <a:xfrm>
            <a:off x="2385467" y="2769150"/>
            <a:ext cx="1252728" cy="3539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8C290D25-7028-6327-7800-EC092A06789D}"/>
              </a:ext>
            </a:extLst>
          </p:cNvPr>
          <p:cNvSpPr/>
          <p:nvPr/>
        </p:nvSpPr>
        <p:spPr>
          <a:xfrm>
            <a:off x="2385467" y="1923866"/>
            <a:ext cx="1252728" cy="3539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466268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9BBE34C-EDE5-71B3-586D-E1E5D695BF8D}"/>
              </a:ext>
            </a:extLst>
          </p:cNvPr>
          <p:cNvSpPr txBox="1"/>
          <p:nvPr/>
        </p:nvSpPr>
        <p:spPr>
          <a:xfrm>
            <a:off x="1988742" y="507484"/>
            <a:ext cx="5157786" cy="55399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3000" b="1" dirty="0">
                <a:latin typeface="Times New Roman" panose="02020603050405020304" pitchFamily="18" charset="0"/>
                <a:cs typeface="Times New Roman" panose="02020603050405020304" pitchFamily="18" charset="0"/>
              </a:rPr>
              <a:t>Viewing File Permission</a:t>
            </a:r>
          </a:p>
        </p:txBody>
      </p:sp>
      <p:sp>
        <p:nvSpPr>
          <p:cNvPr id="8" name="TextBox 7">
            <a:extLst>
              <a:ext uri="{FF2B5EF4-FFF2-40B4-BE49-F238E27FC236}">
                <a16:creationId xmlns:a16="http://schemas.microsoft.com/office/drawing/2014/main" id="{4338CFF1-4718-4CB0-DB6A-D8EEBCC1617B}"/>
              </a:ext>
            </a:extLst>
          </p:cNvPr>
          <p:cNvSpPr txBox="1"/>
          <p:nvPr/>
        </p:nvSpPr>
        <p:spPr>
          <a:xfrm>
            <a:off x="493808" y="2230764"/>
            <a:ext cx="8516842" cy="553998"/>
          </a:xfrm>
          <a:prstGeom prst="rect">
            <a:avLst/>
          </a:prstGeom>
          <a:noFill/>
        </p:spPr>
        <p:txBody>
          <a:bodyPr wrap="square">
            <a:spAutoFit/>
          </a:bodyPr>
          <a:lstStyle/>
          <a:p>
            <a:pPr algn="ctr"/>
            <a:r>
              <a:rPr lang="en-US" sz="3000" dirty="0">
                <a:latin typeface="Times New Roman" panose="02020603050405020304" pitchFamily="18" charset="0"/>
                <a:cs typeface="Times New Roman" panose="02020603050405020304" pitchFamily="18" charset="0"/>
              </a:rPr>
              <a:t>d   </a:t>
            </a:r>
            <a:r>
              <a:rPr lang="en-US" sz="3000" dirty="0" err="1">
                <a:latin typeface="Times New Roman" panose="02020603050405020304" pitchFamily="18" charset="0"/>
                <a:cs typeface="Times New Roman" panose="02020603050405020304" pitchFamily="18" charset="0"/>
              </a:rPr>
              <a:t>rwx</a:t>
            </a:r>
            <a:r>
              <a:rPr lang="en-US" sz="3000" dirty="0">
                <a:latin typeface="Times New Roman" panose="02020603050405020304" pitchFamily="18" charset="0"/>
                <a:cs typeface="Times New Roman" panose="02020603050405020304" pitchFamily="18" charset="0"/>
              </a:rPr>
              <a:t>   r-x   </a:t>
            </a:r>
            <a:r>
              <a:rPr lang="en-US" sz="3000" dirty="0" err="1">
                <a:latin typeface="Times New Roman" panose="02020603050405020304" pitchFamily="18" charset="0"/>
                <a:cs typeface="Times New Roman" panose="02020603050405020304" pitchFamily="18" charset="0"/>
              </a:rPr>
              <a:t>r-x</a:t>
            </a:r>
            <a:r>
              <a:rPr lang="en-US" sz="3000" dirty="0">
                <a:latin typeface="Times New Roman" panose="02020603050405020304" pitchFamily="18" charset="0"/>
                <a:cs typeface="Times New Roman" panose="02020603050405020304" pitchFamily="18" charset="0"/>
              </a:rPr>
              <a:t> . 2  root   </a:t>
            </a:r>
            <a:r>
              <a:rPr lang="en-US" sz="3000" dirty="0" err="1">
                <a:latin typeface="Times New Roman" panose="02020603050405020304" pitchFamily="18" charset="0"/>
                <a:cs typeface="Times New Roman" panose="02020603050405020304" pitchFamily="18" charset="0"/>
              </a:rPr>
              <a:t>root</a:t>
            </a:r>
            <a:r>
              <a:rPr lang="en-US" sz="3000" dirty="0">
                <a:latin typeface="Times New Roman" panose="02020603050405020304" pitchFamily="18" charset="0"/>
                <a:cs typeface="Times New Roman" panose="02020603050405020304" pitchFamily="18" charset="0"/>
              </a:rPr>
              <a:t>   6 Feb 20 10:51 dir1</a:t>
            </a:r>
          </a:p>
        </p:txBody>
      </p:sp>
      <p:sp>
        <p:nvSpPr>
          <p:cNvPr id="10" name="TextBox 9">
            <a:extLst>
              <a:ext uri="{FF2B5EF4-FFF2-40B4-BE49-F238E27FC236}">
                <a16:creationId xmlns:a16="http://schemas.microsoft.com/office/drawing/2014/main" id="{735D5F2F-4636-2028-D8D6-04EEEB74FDEC}"/>
              </a:ext>
            </a:extLst>
          </p:cNvPr>
          <p:cNvSpPr txBox="1"/>
          <p:nvPr/>
        </p:nvSpPr>
        <p:spPr>
          <a:xfrm>
            <a:off x="66943" y="3009535"/>
            <a:ext cx="1081923" cy="323165"/>
          </a:xfrm>
          <a:prstGeom prst="rect">
            <a:avLst/>
          </a:prstGeom>
          <a:noFill/>
        </p:spPr>
        <p:txBody>
          <a:bodyPr wrap="square">
            <a:spAutoFit/>
          </a:bodyPr>
          <a:lstStyle/>
          <a:p>
            <a:r>
              <a:rPr lang="en-US" sz="1500" dirty="0">
                <a:highlight>
                  <a:srgbClr val="FFFF00"/>
                </a:highlight>
                <a:latin typeface="Times New Roman" panose="02020603050405020304" pitchFamily="18" charset="0"/>
                <a:cs typeface="Times New Roman" panose="02020603050405020304" pitchFamily="18" charset="0"/>
              </a:rPr>
              <a:t>Directory</a:t>
            </a:r>
          </a:p>
        </p:txBody>
      </p:sp>
      <p:sp>
        <p:nvSpPr>
          <p:cNvPr id="14" name="TextBox 13">
            <a:extLst>
              <a:ext uri="{FF2B5EF4-FFF2-40B4-BE49-F238E27FC236}">
                <a16:creationId xmlns:a16="http://schemas.microsoft.com/office/drawing/2014/main" id="{830B664B-0CAD-3FDB-8E90-848A42FFCB00}"/>
              </a:ext>
            </a:extLst>
          </p:cNvPr>
          <p:cNvSpPr txBox="1"/>
          <p:nvPr/>
        </p:nvSpPr>
        <p:spPr>
          <a:xfrm>
            <a:off x="647148" y="3317312"/>
            <a:ext cx="1748740" cy="323165"/>
          </a:xfrm>
          <a:prstGeom prst="rect">
            <a:avLst/>
          </a:prstGeom>
          <a:noFill/>
        </p:spPr>
        <p:txBody>
          <a:bodyPr wrap="square">
            <a:spAutoFit/>
          </a:bodyPr>
          <a:lstStyle/>
          <a:p>
            <a:r>
              <a:rPr lang="en-US" sz="1500" dirty="0">
                <a:highlight>
                  <a:srgbClr val="00FF00"/>
                </a:highlight>
                <a:latin typeface="Times New Roman" panose="02020603050405020304" pitchFamily="18" charset="0"/>
                <a:cs typeface="Times New Roman" panose="02020603050405020304" pitchFamily="18" charset="0"/>
              </a:rPr>
              <a:t>Owner Permission</a:t>
            </a:r>
          </a:p>
        </p:txBody>
      </p:sp>
      <p:sp>
        <p:nvSpPr>
          <p:cNvPr id="16" name="TextBox 15">
            <a:extLst>
              <a:ext uri="{FF2B5EF4-FFF2-40B4-BE49-F238E27FC236}">
                <a16:creationId xmlns:a16="http://schemas.microsoft.com/office/drawing/2014/main" id="{830E86B2-98F1-8375-20CD-B7CE44B5DD32}"/>
              </a:ext>
            </a:extLst>
          </p:cNvPr>
          <p:cNvSpPr txBox="1"/>
          <p:nvPr/>
        </p:nvSpPr>
        <p:spPr>
          <a:xfrm>
            <a:off x="1860870" y="3553934"/>
            <a:ext cx="1748741" cy="323165"/>
          </a:xfrm>
          <a:prstGeom prst="rect">
            <a:avLst/>
          </a:prstGeom>
          <a:noFill/>
        </p:spPr>
        <p:txBody>
          <a:bodyPr wrap="square">
            <a:spAutoFit/>
          </a:bodyPr>
          <a:lstStyle/>
          <a:p>
            <a:r>
              <a:rPr lang="en-US" sz="1500" dirty="0">
                <a:highlight>
                  <a:srgbClr val="00FFFF"/>
                </a:highlight>
                <a:latin typeface="Times New Roman" panose="02020603050405020304" pitchFamily="18" charset="0"/>
                <a:cs typeface="Times New Roman" panose="02020603050405020304" pitchFamily="18" charset="0"/>
              </a:rPr>
              <a:t>Group Permission</a:t>
            </a:r>
          </a:p>
        </p:txBody>
      </p:sp>
      <p:sp>
        <p:nvSpPr>
          <p:cNvPr id="18" name="TextBox 17">
            <a:extLst>
              <a:ext uri="{FF2B5EF4-FFF2-40B4-BE49-F238E27FC236}">
                <a16:creationId xmlns:a16="http://schemas.microsoft.com/office/drawing/2014/main" id="{CCE9218E-C4B4-0FF2-9283-8B5E3858D44A}"/>
              </a:ext>
            </a:extLst>
          </p:cNvPr>
          <p:cNvSpPr txBox="1"/>
          <p:nvPr/>
        </p:nvSpPr>
        <p:spPr>
          <a:xfrm>
            <a:off x="3027165" y="3861711"/>
            <a:ext cx="1956534" cy="323165"/>
          </a:xfrm>
          <a:prstGeom prst="rect">
            <a:avLst/>
          </a:prstGeom>
          <a:noFill/>
        </p:spPr>
        <p:txBody>
          <a:bodyPr wrap="square">
            <a:spAutoFit/>
          </a:bodyPr>
          <a:lstStyle/>
          <a:p>
            <a:r>
              <a:rPr lang="en-US" sz="1500" dirty="0">
                <a:highlight>
                  <a:srgbClr val="FF00FF"/>
                </a:highlight>
                <a:latin typeface="Times New Roman" panose="02020603050405020304" pitchFamily="18" charset="0"/>
                <a:cs typeface="Times New Roman" panose="02020603050405020304" pitchFamily="18" charset="0"/>
              </a:rPr>
              <a:t>Other Permission</a:t>
            </a:r>
          </a:p>
        </p:txBody>
      </p:sp>
      <p:sp>
        <p:nvSpPr>
          <p:cNvPr id="22" name="TextBox 21">
            <a:extLst>
              <a:ext uri="{FF2B5EF4-FFF2-40B4-BE49-F238E27FC236}">
                <a16:creationId xmlns:a16="http://schemas.microsoft.com/office/drawing/2014/main" id="{543A36BE-A08E-A71A-8A4B-8C6B9F48ED0F}"/>
              </a:ext>
            </a:extLst>
          </p:cNvPr>
          <p:cNvSpPr txBox="1"/>
          <p:nvPr/>
        </p:nvSpPr>
        <p:spPr>
          <a:xfrm>
            <a:off x="5416258" y="3892489"/>
            <a:ext cx="768235" cy="323165"/>
          </a:xfrm>
          <a:prstGeom prst="rect">
            <a:avLst/>
          </a:prstGeom>
          <a:noFill/>
        </p:spPr>
        <p:txBody>
          <a:bodyPr wrap="square">
            <a:spAutoFit/>
          </a:bodyPr>
          <a:lstStyle/>
          <a:p>
            <a:r>
              <a:rPr lang="en-US" sz="1500" dirty="0">
                <a:solidFill>
                  <a:schemeClr val="bg1"/>
                </a:solidFill>
                <a:highlight>
                  <a:srgbClr val="0000FF"/>
                </a:highlight>
                <a:latin typeface="Times New Roman" panose="02020603050405020304" pitchFamily="18" charset="0"/>
                <a:cs typeface="Times New Roman" panose="02020603050405020304" pitchFamily="18" charset="0"/>
              </a:rPr>
              <a:t>Owner</a:t>
            </a:r>
          </a:p>
        </p:txBody>
      </p:sp>
      <p:sp>
        <p:nvSpPr>
          <p:cNvPr id="24" name="TextBox 23">
            <a:extLst>
              <a:ext uri="{FF2B5EF4-FFF2-40B4-BE49-F238E27FC236}">
                <a16:creationId xmlns:a16="http://schemas.microsoft.com/office/drawing/2014/main" id="{82ECB791-B785-4212-E7B6-91BAB1D840BD}"/>
              </a:ext>
            </a:extLst>
          </p:cNvPr>
          <p:cNvSpPr txBox="1"/>
          <p:nvPr/>
        </p:nvSpPr>
        <p:spPr>
          <a:xfrm>
            <a:off x="5866045" y="3566346"/>
            <a:ext cx="731668" cy="323165"/>
          </a:xfrm>
          <a:prstGeom prst="rect">
            <a:avLst/>
          </a:prstGeom>
          <a:noFill/>
        </p:spPr>
        <p:txBody>
          <a:bodyPr wrap="square">
            <a:spAutoFit/>
          </a:bodyPr>
          <a:lstStyle/>
          <a:p>
            <a:r>
              <a:rPr lang="en-US" sz="1500" dirty="0">
                <a:solidFill>
                  <a:schemeClr val="bg1"/>
                </a:solidFill>
                <a:highlight>
                  <a:srgbClr val="FF0000"/>
                </a:highlight>
                <a:latin typeface="Times New Roman" panose="02020603050405020304" pitchFamily="18" charset="0"/>
                <a:cs typeface="Times New Roman" panose="02020603050405020304" pitchFamily="18" charset="0"/>
              </a:rPr>
              <a:t>Group</a:t>
            </a:r>
          </a:p>
        </p:txBody>
      </p:sp>
      <p:sp>
        <p:nvSpPr>
          <p:cNvPr id="26" name="TextBox 25">
            <a:extLst>
              <a:ext uri="{FF2B5EF4-FFF2-40B4-BE49-F238E27FC236}">
                <a16:creationId xmlns:a16="http://schemas.microsoft.com/office/drawing/2014/main" id="{37D72FB0-F13A-8032-665C-749EDBBAF4F5}"/>
              </a:ext>
            </a:extLst>
          </p:cNvPr>
          <p:cNvSpPr txBox="1"/>
          <p:nvPr/>
        </p:nvSpPr>
        <p:spPr>
          <a:xfrm>
            <a:off x="6331701" y="3276935"/>
            <a:ext cx="1324256" cy="323165"/>
          </a:xfrm>
          <a:prstGeom prst="rect">
            <a:avLst/>
          </a:prstGeom>
          <a:noFill/>
        </p:spPr>
        <p:txBody>
          <a:bodyPr wrap="square">
            <a:spAutoFit/>
          </a:bodyPr>
          <a:lstStyle/>
          <a:p>
            <a:r>
              <a:rPr lang="en-US" sz="1500" dirty="0">
                <a:solidFill>
                  <a:schemeClr val="bg1"/>
                </a:solidFill>
                <a:highlight>
                  <a:srgbClr val="008080"/>
                </a:highlight>
                <a:latin typeface="Times New Roman" panose="02020603050405020304" pitchFamily="18" charset="0"/>
                <a:cs typeface="Times New Roman" panose="02020603050405020304" pitchFamily="18" charset="0"/>
              </a:rPr>
              <a:t>Time Stamp</a:t>
            </a:r>
          </a:p>
        </p:txBody>
      </p:sp>
      <p:sp>
        <p:nvSpPr>
          <p:cNvPr id="28" name="TextBox 27">
            <a:extLst>
              <a:ext uri="{FF2B5EF4-FFF2-40B4-BE49-F238E27FC236}">
                <a16:creationId xmlns:a16="http://schemas.microsoft.com/office/drawing/2014/main" id="{524F0E07-B153-1525-FC20-DFE74E09A048}"/>
              </a:ext>
            </a:extLst>
          </p:cNvPr>
          <p:cNvSpPr txBox="1"/>
          <p:nvPr/>
        </p:nvSpPr>
        <p:spPr>
          <a:xfrm>
            <a:off x="7122344" y="2999936"/>
            <a:ext cx="1621606" cy="323165"/>
          </a:xfrm>
          <a:prstGeom prst="rect">
            <a:avLst/>
          </a:prstGeom>
          <a:noFill/>
        </p:spPr>
        <p:txBody>
          <a:bodyPr wrap="square">
            <a:spAutoFit/>
          </a:bodyPr>
          <a:lstStyle/>
          <a:p>
            <a:r>
              <a:rPr lang="en-US" sz="1500" dirty="0">
                <a:solidFill>
                  <a:schemeClr val="bg1"/>
                </a:solidFill>
                <a:highlight>
                  <a:srgbClr val="808080"/>
                </a:highlight>
                <a:latin typeface="Times New Roman" panose="02020603050405020304" pitchFamily="18" charset="0"/>
                <a:cs typeface="Times New Roman" panose="02020603050405020304" pitchFamily="18" charset="0"/>
              </a:rPr>
              <a:t>Directory Name</a:t>
            </a:r>
          </a:p>
        </p:txBody>
      </p:sp>
      <p:cxnSp>
        <p:nvCxnSpPr>
          <p:cNvPr id="33" name="Straight Arrow Connector 32">
            <a:extLst>
              <a:ext uri="{FF2B5EF4-FFF2-40B4-BE49-F238E27FC236}">
                <a16:creationId xmlns:a16="http://schemas.microsoft.com/office/drawing/2014/main" id="{2FAA7437-5753-4CFB-29A6-5AB914B81CAE}"/>
              </a:ext>
            </a:extLst>
          </p:cNvPr>
          <p:cNvCxnSpPr>
            <a:cxnSpLocks/>
            <a:endCxn id="10" idx="0"/>
          </p:cNvCxnSpPr>
          <p:nvPr/>
        </p:nvCxnSpPr>
        <p:spPr>
          <a:xfrm flipH="1">
            <a:off x="607905" y="2716525"/>
            <a:ext cx="189620" cy="293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9169205-B3B0-2E5F-74F7-800CC9915F65}"/>
              </a:ext>
            </a:extLst>
          </p:cNvPr>
          <p:cNvCxnSpPr>
            <a:cxnSpLocks/>
            <a:endCxn id="14" idx="0"/>
          </p:cNvCxnSpPr>
          <p:nvPr/>
        </p:nvCxnSpPr>
        <p:spPr>
          <a:xfrm>
            <a:off x="1417247" y="2690775"/>
            <a:ext cx="104271" cy="6265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909C486-B46B-5C2C-8DB0-214B3285EFAC}"/>
              </a:ext>
            </a:extLst>
          </p:cNvPr>
          <p:cNvCxnSpPr>
            <a:cxnSpLocks/>
            <a:endCxn id="16" idx="0"/>
          </p:cNvCxnSpPr>
          <p:nvPr/>
        </p:nvCxnSpPr>
        <p:spPr>
          <a:xfrm>
            <a:off x="2369926" y="2760494"/>
            <a:ext cx="365315" cy="793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66F8A36-7EFA-9577-E3FA-02125981048F}"/>
              </a:ext>
            </a:extLst>
          </p:cNvPr>
          <p:cNvCxnSpPr>
            <a:cxnSpLocks/>
            <a:endCxn id="18" idx="0"/>
          </p:cNvCxnSpPr>
          <p:nvPr/>
        </p:nvCxnSpPr>
        <p:spPr>
          <a:xfrm>
            <a:off x="3155616" y="2731960"/>
            <a:ext cx="849816" cy="11297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95BA50BE-87C6-FEC4-7B83-DF3D3E084D5F}"/>
              </a:ext>
            </a:extLst>
          </p:cNvPr>
          <p:cNvCxnSpPr>
            <a:cxnSpLocks/>
            <a:endCxn id="24" idx="0"/>
          </p:cNvCxnSpPr>
          <p:nvPr/>
        </p:nvCxnSpPr>
        <p:spPr>
          <a:xfrm>
            <a:off x="5192826" y="2784762"/>
            <a:ext cx="1039053" cy="7815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E4935420-683B-D9C1-32BB-504F5E3E866E}"/>
              </a:ext>
            </a:extLst>
          </p:cNvPr>
          <p:cNvCxnSpPr>
            <a:cxnSpLocks/>
            <a:endCxn id="26" idx="0"/>
          </p:cNvCxnSpPr>
          <p:nvPr/>
        </p:nvCxnSpPr>
        <p:spPr>
          <a:xfrm>
            <a:off x="6880891" y="2740427"/>
            <a:ext cx="112938" cy="536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83612EF-3E91-3AE8-61CF-D5596332D77C}"/>
              </a:ext>
            </a:extLst>
          </p:cNvPr>
          <p:cNvCxnSpPr>
            <a:cxnSpLocks/>
            <a:endCxn id="22" idx="0"/>
          </p:cNvCxnSpPr>
          <p:nvPr/>
        </p:nvCxnSpPr>
        <p:spPr>
          <a:xfrm>
            <a:off x="4449647" y="2716525"/>
            <a:ext cx="1350729" cy="11759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D0F9D659-F3B8-0DA1-052D-0294BC85B739}"/>
              </a:ext>
            </a:extLst>
          </p:cNvPr>
          <p:cNvCxnSpPr>
            <a:cxnSpLocks/>
            <a:endCxn id="28" idx="0"/>
          </p:cNvCxnSpPr>
          <p:nvPr/>
        </p:nvCxnSpPr>
        <p:spPr>
          <a:xfrm flipH="1">
            <a:off x="7933147" y="2760494"/>
            <a:ext cx="102500" cy="2394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4344B1B7-38F8-2471-ABD5-FC1AC9F34C89}"/>
              </a:ext>
            </a:extLst>
          </p:cNvPr>
          <p:cNvSpPr txBox="1"/>
          <p:nvPr/>
        </p:nvSpPr>
        <p:spPr>
          <a:xfrm>
            <a:off x="4090013" y="4169488"/>
            <a:ext cx="2126313" cy="323165"/>
          </a:xfrm>
          <a:prstGeom prst="rect">
            <a:avLst/>
          </a:prstGeom>
          <a:noFill/>
        </p:spPr>
        <p:txBody>
          <a:bodyPr wrap="square">
            <a:spAutoFit/>
          </a:bodyPr>
          <a:lstStyle/>
          <a:p>
            <a:r>
              <a:rPr lang="en-US" sz="1500" dirty="0">
                <a:solidFill>
                  <a:schemeClr val="bg1"/>
                </a:solidFill>
                <a:highlight>
                  <a:srgbClr val="008000"/>
                </a:highlight>
                <a:latin typeface="Times New Roman" panose="02020603050405020304" pitchFamily="18" charset="0"/>
                <a:cs typeface="Times New Roman" panose="02020603050405020304" pitchFamily="18" charset="0"/>
              </a:rPr>
              <a:t>No. of content inside </a:t>
            </a:r>
          </a:p>
        </p:txBody>
      </p:sp>
      <p:cxnSp>
        <p:nvCxnSpPr>
          <p:cNvPr id="94" name="Straight Arrow Connector 93">
            <a:extLst>
              <a:ext uri="{FF2B5EF4-FFF2-40B4-BE49-F238E27FC236}">
                <a16:creationId xmlns:a16="http://schemas.microsoft.com/office/drawing/2014/main" id="{591ED097-F36E-2C97-2B0E-FAF0E3933192}"/>
              </a:ext>
            </a:extLst>
          </p:cNvPr>
          <p:cNvCxnSpPr>
            <a:cxnSpLocks/>
            <a:endCxn id="88" idx="0"/>
          </p:cNvCxnSpPr>
          <p:nvPr/>
        </p:nvCxnSpPr>
        <p:spPr>
          <a:xfrm>
            <a:off x="3671387" y="2730574"/>
            <a:ext cx="1481783" cy="1438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596760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971A5-6DE8-419A-DD1E-7056B799F3BA}"/>
              </a:ext>
            </a:extLst>
          </p:cNvPr>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US" dirty="0">
                <a:latin typeface="Times New Roman" panose="02020603050405020304" pitchFamily="18" charset="0"/>
                <a:cs typeface="Times New Roman" panose="02020603050405020304" pitchFamily="18" charset="0"/>
              </a:rPr>
              <a:t>File Permission</a:t>
            </a:r>
          </a:p>
        </p:txBody>
      </p:sp>
      <p:sp>
        <p:nvSpPr>
          <p:cNvPr id="4" name="TextBox 3">
            <a:extLst>
              <a:ext uri="{FF2B5EF4-FFF2-40B4-BE49-F238E27FC236}">
                <a16:creationId xmlns:a16="http://schemas.microsoft.com/office/drawing/2014/main" id="{04EA865C-5399-C4C7-0C05-44704CECEBBC}"/>
              </a:ext>
            </a:extLst>
          </p:cNvPr>
          <p:cNvSpPr txBox="1"/>
          <p:nvPr/>
        </p:nvSpPr>
        <p:spPr>
          <a:xfrm>
            <a:off x="720000" y="1017725"/>
            <a:ext cx="7704000" cy="3785652"/>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Permission Precedence</a:t>
            </a:r>
          </a:p>
          <a:p>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If UID match, Owner permission will apply</a:t>
            </a:r>
          </a:p>
          <a:p>
            <a:r>
              <a:rPr lang="en-US" sz="2000" dirty="0">
                <a:latin typeface="Times New Roman" panose="02020603050405020304" pitchFamily="18" charset="0"/>
                <a:cs typeface="Times New Roman" panose="02020603050405020304" pitchFamily="18" charset="0"/>
              </a:rPr>
              <a:t>— If GID match, Group permission will apply</a:t>
            </a:r>
          </a:p>
          <a:p>
            <a:r>
              <a:rPr lang="en-US" sz="2000" dirty="0">
                <a:latin typeface="Times New Roman" panose="02020603050405020304" pitchFamily="18" charset="0"/>
                <a:cs typeface="Times New Roman" panose="02020603050405020304" pitchFamily="18" charset="0"/>
              </a:rPr>
              <a:t>— If neither UID nor GID match, Other permission will apply</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Modifying Permission</a:t>
            </a:r>
          </a:p>
          <a:p>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By default, all file and directory will have default permission, which can</a:t>
            </a:r>
          </a:p>
          <a:p>
            <a:r>
              <a:rPr lang="en-US" sz="2000" dirty="0">
                <a:latin typeface="Times New Roman" panose="02020603050405020304" pitchFamily="18" charset="0"/>
                <a:cs typeface="Times New Roman" panose="02020603050405020304" pitchFamily="18" charset="0"/>
              </a:rPr>
              <a:t>be change with chmod command.</a:t>
            </a:r>
          </a:p>
          <a:p>
            <a:r>
              <a:rPr lang="en-US" sz="2000" dirty="0">
                <a:latin typeface="Times New Roman" panose="02020603050405020304" pitchFamily="18" charset="0"/>
                <a:cs typeface="Times New Roman" panose="02020603050405020304" pitchFamily="18" charset="0"/>
              </a:rPr>
              <a:t>— chmod command function on three parameter who, what and which.</a:t>
            </a:r>
          </a:p>
          <a:p>
            <a:r>
              <a:rPr lang="en-US" sz="2000" dirty="0">
                <a:latin typeface="Times New Roman" panose="02020603050405020304" pitchFamily="18" charset="0"/>
                <a:cs typeface="Times New Roman" panose="02020603050405020304" pitchFamily="18" charset="0"/>
              </a:rPr>
              <a:t>— Permission can be change either symbolic or numeric.</a:t>
            </a:r>
          </a:p>
        </p:txBody>
      </p:sp>
    </p:spTree>
    <p:extLst>
      <p:ext uri="{BB962C8B-B14F-4D97-AF65-F5344CB8AC3E}">
        <p14:creationId xmlns:p14="http://schemas.microsoft.com/office/powerpoint/2010/main" val="330758863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1B6F45-CD79-337B-4AE9-77467C6A6885}"/>
              </a:ext>
            </a:extLst>
          </p:cNvPr>
          <p:cNvSpPr/>
          <p:nvPr/>
        </p:nvSpPr>
        <p:spPr>
          <a:xfrm>
            <a:off x="586737" y="1026605"/>
            <a:ext cx="1892808" cy="7406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solidFill>
                  <a:srgbClr val="FF0000"/>
                </a:solidFill>
                <a:latin typeface="Times New Roman" panose="02020603050405020304" pitchFamily="18" charset="0"/>
                <a:cs typeface="Times New Roman" panose="02020603050405020304" pitchFamily="18" charset="0"/>
              </a:rPr>
              <a:t>Symbolic Method</a:t>
            </a:r>
            <a:endParaRPr lang="en-US" sz="2000" dirty="0">
              <a:solidFill>
                <a:srgbClr val="FF0000"/>
              </a:solidFill>
            </a:endParaRPr>
          </a:p>
        </p:txBody>
      </p:sp>
      <p:sp>
        <p:nvSpPr>
          <p:cNvPr id="3" name="Rectangle 2">
            <a:extLst>
              <a:ext uri="{FF2B5EF4-FFF2-40B4-BE49-F238E27FC236}">
                <a16:creationId xmlns:a16="http://schemas.microsoft.com/office/drawing/2014/main" id="{9BACBADF-BFA7-6259-C5F2-F367E63C19ED}"/>
              </a:ext>
            </a:extLst>
          </p:cNvPr>
          <p:cNvSpPr/>
          <p:nvPr/>
        </p:nvSpPr>
        <p:spPr>
          <a:xfrm>
            <a:off x="1171952" y="1912812"/>
            <a:ext cx="1459481" cy="589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User = u</a:t>
            </a:r>
          </a:p>
        </p:txBody>
      </p:sp>
      <p:sp>
        <p:nvSpPr>
          <p:cNvPr id="4" name="Rectangle 3">
            <a:extLst>
              <a:ext uri="{FF2B5EF4-FFF2-40B4-BE49-F238E27FC236}">
                <a16:creationId xmlns:a16="http://schemas.microsoft.com/office/drawing/2014/main" id="{002A7CEA-F2A7-6940-1EE6-0B4F84DE7120}"/>
              </a:ext>
            </a:extLst>
          </p:cNvPr>
          <p:cNvSpPr/>
          <p:nvPr/>
        </p:nvSpPr>
        <p:spPr>
          <a:xfrm>
            <a:off x="1171952" y="2645541"/>
            <a:ext cx="1459486" cy="589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Group = g</a:t>
            </a:r>
          </a:p>
        </p:txBody>
      </p:sp>
      <p:sp>
        <p:nvSpPr>
          <p:cNvPr id="5" name="Rectangle 4">
            <a:extLst>
              <a:ext uri="{FF2B5EF4-FFF2-40B4-BE49-F238E27FC236}">
                <a16:creationId xmlns:a16="http://schemas.microsoft.com/office/drawing/2014/main" id="{A396304D-25BC-3102-C379-D088D8ABC89C}"/>
              </a:ext>
            </a:extLst>
          </p:cNvPr>
          <p:cNvSpPr/>
          <p:nvPr/>
        </p:nvSpPr>
        <p:spPr>
          <a:xfrm>
            <a:off x="1171953" y="3378270"/>
            <a:ext cx="1459486" cy="572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Other = o</a:t>
            </a:r>
          </a:p>
        </p:txBody>
      </p:sp>
      <p:sp>
        <p:nvSpPr>
          <p:cNvPr id="6" name="Rectangle 5">
            <a:extLst>
              <a:ext uri="{FF2B5EF4-FFF2-40B4-BE49-F238E27FC236}">
                <a16:creationId xmlns:a16="http://schemas.microsoft.com/office/drawing/2014/main" id="{4D7626FB-EF3D-1D8E-DB92-B3B2451F899B}"/>
              </a:ext>
            </a:extLst>
          </p:cNvPr>
          <p:cNvSpPr/>
          <p:nvPr/>
        </p:nvSpPr>
        <p:spPr>
          <a:xfrm>
            <a:off x="3454281" y="1026605"/>
            <a:ext cx="1892808" cy="7406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000">
              <a:solidFill>
                <a:srgbClr val="FF0000"/>
              </a:solidFill>
            </a:endParaRPr>
          </a:p>
          <a:p>
            <a:pPr algn="ctr"/>
            <a:r>
              <a:rPr lang="en-US" sz="2000">
                <a:solidFill>
                  <a:srgbClr val="FF0000"/>
                </a:solidFill>
              </a:rPr>
              <a:t>Permission</a:t>
            </a:r>
            <a:endParaRPr lang="en-US" sz="2000" dirty="0">
              <a:solidFill>
                <a:srgbClr val="FF0000"/>
              </a:solidFill>
            </a:endParaRPr>
          </a:p>
          <a:p>
            <a:pPr algn="ctr"/>
            <a:endParaRPr lang="en-US" sz="2000" dirty="0">
              <a:solidFill>
                <a:srgbClr val="FF0000"/>
              </a:solidFill>
            </a:endParaRPr>
          </a:p>
        </p:txBody>
      </p:sp>
      <p:sp>
        <p:nvSpPr>
          <p:cNvPr id="10" name="Rectangle 9">
            <a:extLst>
              <a:ext uri="{FF2B5EF4-FFF2-40B4-BE49-F238E27FC236}">
                <a16:creationId xmlns:a16="http://schemas.microsoft.com/office/drawing/2014/main" id="{3202CA3C-70CE-AC0C-47DE-83E5B205F9A3}"/>
              </a:ext>
            </a:extLst>
          </p:cNvPr>
          <p:cNvSpPr/>
          <p:nvPr/>
        </p:nvSpPr>
        <p:spPr>
          <a:xfrm>
            <a:off x="6664457" y="1016833"/>
            <a:ext cx="1892808" cy="7406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solidFill>
                  <a:srgbClr val="FF0000"/>
                </a:solidFill>
              </a:rPr>
              <a:t>Operator</a:t>
            </a:r>
          </a:p>
        </p:txBody>
      </p:sp>
      <p:sp>
        <p:nvSpPr>
          <p:cNvPr id="14" name="Title 1">
            <a:extLst>
              <a:ext uri="{FF2B5EF4-FFF2-40B4-BE49-F238E27FC236}">
                <a16:creationId xmlns:a16="http://schemas.microsoft.com/office/drawing/2014/main" id="{95EFE7E7-B3FA-AAC9-F810-938BF32FDCD4}"/>
              </a:ext>
            </a:extLst>
          </p:cNvPr>
          <p:cNvSpPr>
            <a:spLocks noGrp="1"/>
          </p:cNvSpPr>
          <p:nvPr>
            <p:ph type="title"/>
          </p:nvPr>
        </p:nvSpPr>
        <p:spPr>
          <a:xfrm>
            <a:off x="424344" y="99003"/>
            <a:ext cx="7704000" cy="572700"/>
          </a:xfrm>
        </p:spPr>
        <p:style>
          <a:lnRef idx="2">
            <a:schemeClr val="dk1"/>
          </a:lnRef>
          <a:fillRef idx="1">
            <a:schemeClr val="lt1"/>
          </a:fillRef>
          <a:effectRef idx="0">
            <a:schemeClr val="dk1"/>
          </a:effectRef>
          <a:fontRef idx="minor">
            <a:schemeClr val="dk1"/>
          </a:fontRef>
        </p:style>
        <p:txBody>
          <a:bodyPr/>
          <a:lstStyle/>
          <a:p>
            <a:pPr algn="ctr"/>
            <a:r>
              <a:rPr lang="en-US" dirty="0">
                <a:solidFill>
                  <a:schemeClr val="tx1"/>
                </a:solidFill>
                <a:latin typeface="Times New Roman" panose="02020603050405020304" pitchFamily="18" charset="0"/>
                <a:cs typeface="Times New Roman" panose="02020603050405020304" pitchFamily="18" charset="0"/>
              </a:rPr>
              <a:t>Symbolic Method</a:t>
            </a:r>
          </a:p>
        </p:txBody>
      </p:sp>
      <p:sp>
        <p:nvSpPr>
          <p:cNvPr id="16" name="Rectangle 15">
            <a:extLst>
              <a:ext uri="{FF2B5EF4-FFF2-40B4-BE49-F238E27FC236}">
                <a16:creationId xmlns:a16="http://schemas.microsoft.com/office/drawing/2014/main" id="{CCC730BE-A4D8-D25B-FFFB-75BCD43B31C9}"/>
              </a:ext>
            </a:extLst>
          </p:cNvPr>
          <p:cNvSpPr/>
          <p:nvPr/>
        </p:nvSpPr>
        <p:spPr>
          <a:xfrm>
            <a:off x="4105028" y="1926146"/>
            <a:ext cx="1392753" cy="589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Read = r</a:t>
            </a:r>
          </a:p>
        </p:txBody>
      </p:sp>
      <p:sp>
        <p:nvSpPr>
          <p:cNvPr id="17" name="Rectangle 16">
            <a:extLst>
              <a:ext uri="{FF2B5EF4-FFF2-40B4-BE49-F238E27FC236}">
                <a16:creationId xmlns:a16="http://schemas.microsoft.com/office/drawing/2014/main" id="{3144F5AF-407B-DF29-8BB2-36FB3604768F}"/>
              </a:ext>
            </a:extLst>
          </p:cNvPr>
          <p:cNvSpPr/>
          <p:nvPr/>
        </p:nvSpPr>
        <p:spPr>
          <a:xfrm>
            <a:off x="4105028" y="2651570"/>
            <a:ext cx="1410953" cy="589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Write = w</a:t>
            </a:r>
          </a:p>
        </p:txBody>
      </p:sp>
      <p:sp>
        <p:nvSpPr>
          <p:cNvPr id="18" name="Rectangle 17">
            <a:extLst>
              <a:ext uri="{FF2B5EF4-FFF2-40B4-BE49-F238E27FC236}">
                <a16:creationId xmlns:a16="http://schemas.microsoft.com/office/drawing/2014/main" id="{7353434E-87ED-469C-8A26-F57F72A6B974}"/>
              </a:ext>
            </a:extLst>
          </p:cNvPr>
          <p:cNvSpPr/>
          <p:nvPr/>
        </p:nvSpPr>
        <p:spPr>
          <a:xfrm>
            <a:off x="4105029" y="3343597"/>
            <a:ext cx="1410952" cy="589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Exec = x</a:t>
            </a:r>
          </a:p>
        </p:txBody>
      </p:sp>
      <p:sp>
        <p:nvSpPr>
          <p:cNvPr id="19" name="Rectangle 18">
            <a:extLst>
              <a:ext uri="{FF2B5EF4-FFF2-40B4-BE49-F238E27FC236}">
                <a16:creationId xmlns:a16="http://schemas.microsoft.com/office/drawing/2014/main" id="{D126F6C4-3530-C865-D34E-DB124595ACF4}"/>
              </a:ext>
            </a:extLst>
          </p:cNvPr>
          <p:cNvSpPr/>
          <p:nvPr/>
        </p:nvSpPr>
        <p:spPr>
          <a:xfrm>
            <a:off x="7315205" y="1893513"/>
            <a:ext cx="1242060" cy="589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a:t>
            </a:r>
          </a:p>
        </p:txBody>
      </p:sp>
      <p:sp>
        <p:nvSpPr>
          <p:cNvPr id="20" name="Rectangle 19">
            <a:extLst>
              <a:ext uri="{FF2B5EF4-FFF2-40B4-BE49-F238E27FC236}">
                <a16:creationId xmlns:a16="http://schemas.microsoft.com/office/drawing/2014/main" id="{DECE7F16-4735-150E-527F-DC06680B4470}"/>
              </a:ext>
            </a:extLst>
          </p:cNvPr>
          <p:cNvSpPr/>
          <p:nvPr/>
        </p:nvSpPr>
        <p:spPr>
          <a:xfrm>
            <a:off x="7315205" y="2618555"/>
            <a:ext cx="1242060" cy="589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a:t>
            </a:r>
          </a:p>
        </p:txBody>
      </p:sp>
      <p:sp>
        <p:nvSpPr>
          <p:cNvPr id="21" name="Rectangle 20">
            <a:extLst>
              <a:ext uri="{FF2B5EF4-FFF2-40B4-BE49-F238E27FC236}">
                <a16:creationId xmlns:a16="http://schemas.microsoft.com/office/drawing/2014/main" id="{64463AB2-48F6-356D-69DF-F188D6754EEA}"/>
              </a:ext>
            </a:extLst>
          </p:cNvPr>
          <p:cNvSpPr/>
          <p:nvPr/>
        </p:nvSpPr>
        <p:spPr>
          <a:xfrm>
            <a:off x="7315205" y="3343597"/>
            <a:ext cx="1242060" cy="589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a:t>
            </a:r>
          </a:p>
        </p:txBody>
      </p:sp>
      <p:cxnSp>
        <p:nvCxnSpPr>
          <p:cNvPr id="25" name="Straight Connector 24">
            <a:extLst>
              <a:ext uri="{FF2B5EF4-FFF2-40B4-BE49-F238E27FC236}">
                <a16:creationId xmlns:a16="http://schemas.microsoft.com/office/drawing/2014/main" id="{4201B9EE-6FE6-F983-1EED-C79C83D9A335}"/>
              </a:ext>
            </a:extLst>
          </p:cNvPr>
          <p:cNvCxnSpPr>
            <a:cxnSpLocks/>
          </p:cNvCxnSpPr>
          <p:nvPr/>
        </p:nvCxnSpPr>
        <p:spPr>
          <a:xfrm>
            <a:off x="778761" y="1767269"/>
            <a:ext cx="0" cy="1926672"/>
          </a:xfrm>
          <a:prstGeom prst="line">
            <a:avLst/>
          </a:prstGeom>
        </p:spPr>
        <p:style>
          <a:lnRef idx="3">
            <a:schemeClr val="accent2"/>
          </a:lnRef>
          <a:fillRef idx="0">
            <a:schemeClr val="accent2"/>
          </a:fillRef>
          <a:effectRef idx="2">
            <a:schemeClr val="accent2"/>
          </a:effectRef>
          <a:fontRef idx="minor">
            <a:schemeClr val="tx1"/>
          </a:fontRef>
        </p:style>
      </p:cxnSp>
      <p:cxnSp>
        <p:nvCxnSpPr>
          <p:cNvPr id="28" name="Straight Arrow Connector 27">
            <a:extLst>
              <a:ext uri="{FF2B5EF4-FFF2-40B4-BE49-F238E27FC236}">
                <a16:creationId xmlns:a16="http://schemas.microsoft.com/office/drawing/2014/main" id="{F32070DA-6CC3-7005-6CBF-30026C5EEF03}"/>
              </a:ext>
            </a:extLst>
          </p:cNvPr>
          <p:cNvCxnSpPr>
            <a:cxnSpLocks/>
            <a:endCxn id="3" idx="1"/>
          </p:cNvCxnSpPr>
          <p:nvPr/>
        </p:nvCxnSpPr>
        <p:spPr>
          <a:xfrm>
            <a:off x="778761" y="2207325"/>
            <a:ext cx="393191"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a:extLst>
              <a:ext uri="{FF2B5EF4-FFF2-40B4-BE49-F238E27FC236}">
                <a16:creationId xmlns:a16="http://schemas.microsoft.com/office/drawing/2014/main" id="{6C5C4432-CA29-727F-53CE-450786CA1BE5}"/>
              </a:ext>
            </a:extLst>
          </p:cNvPr>
          <p:cNvCxnSpPr>
            <a:cxnSpLocks/>
            <a:endCxn id="4" idx="1"/>
          </p:cNvCxnSpPr>
          <p:nvPr/>
        </p:nvCxnSpPr>
        <p:spPr>
          <a:xfrm>
            <a:off x="778761" y="2932749"/>
            <a:ext cx="393191" cy="7305"/>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Straight Arrow Connector 32">
            <a:extLst>
              <a:ext uri="{FF2B5EF4-FFF2-40B4-BE49-F238E27FC236}">
                <a16:creationId xmlns:a16="http://schemas.microsoft.com/office/drawing/2014/main" id="{DA225C8B-79DE-7F5F-A414-C40FAA277F98}"/>
              </a:ext>
            </a:extLst>
          </p:cNvPr>
          <p:cNvCxnSpPr>
            <a:cxnSpLocks/>
          </p:cNvCxnSpPr>
          <p:nvPr/>
        </p:nvCxnSpPr>
        <p:spPr>
          <a:xfrm>
            <a:off x="778761" y="3686636"/>
            <a:ext cx="393192" cy="7305"/>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5" name="Straight Connector 44">
            <a:extLst>
              <a:ext uri="{FF2B5EF4-FFF2-40B4-BE49-F238E27FC236}">
                <a16:creationId xmlns:a16="http://schemas.microsoft.com/office/drawing/2014/main" id="{3464C191-65D8-B0F1-B5B8-C9A1F649F9AC}"/>
              </a:ext>
            </a:extLst>
          </p:cNvPr>
          <p:cNvCxnSpPr>
            <a:cxnSpLocks/>
          </p:cNvCxnSpPr>
          <p:nvPr/>
        </p:nvCxnSpPr>
        <p:spPr>
          <a:xfrm>
            <a:off x="3664503" y="1767269"/>
            <a:ext cx="0" cy="1919367"/>
          </a:xfrm>
          <a:prstGeom prst="line">
            <a:avLst/>
          </a:prstGeom>
        </p:spPr>
        <p:style>
          <a:lnRef idx="3">
            <a:schemeClr val="accent2"/>
          </a:lnRef>
          <a:fillRef idx="0">
            <a:schemeClr val="accent2"/>
          </a:fillRef>
          <a:effectRef idx="2">
            <a:schemeClr val="accent2"/>
          </a:effectRef>
          <a:fontRef idx="minor">
            <a:schemeClr val="tx1"/>
          </a:fontRef>
        </p:style>
      </p:cxnSp>
      <p:cxnSp>
        <p:nvCxnSpPr>
          <p:cNvPr id="46" name="Straight Arrow Connector 45">
            <a:extLst>
              <a:ext uri="{FF2B5EF4-FFF2-40B4-BE49-F238E27FC236}">
                <a16:creationId xmlns:a16="http://schemas.microsoft.com/office/drawing/2014/main" id="{C1691633-592A-857C-BA79-C5E2FA282CAA}"/>
              </a:ext>
            </a:extLst>
          </p:cNvPr>
          <p:cNvCxnSpPr>
            <a:cxnSpLocks/>
          </p:cNvCxnSpPr>
          <p:nvPr/>
        </p:nvCxnSpPr>
        <p:spPr>
          <a:xfrm>
            <a:off x="3664503" y="2207325"/>
            <a:ext cx="393192"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7" name="Straight Arrow Connector 46">
            <a:extLst>
              <a:ext uri="{FF2B5EF4-FFF2-40B4-BE49-F238E27FC236}">
                <a16:creationId xmlns:a16="http://schemas.microsoft.com/office/drawing/2014/main" id="{3CDC08E9-607A-5043-0533-CA02E50770DD}"/>
              </a:ext>
            </a:extLst>
          </p:cNvPr>
          <p:cNvCxnSpPr>
            <a:cxnSpLocks/>
          </p:cNvCxnSpPr>
          <p:nvPr/>
        </p:nvCxnSpPr>
        <p:spPr>
          <a:xfrm>
            <a:off x="3664503" y="2932749"/>
            <a:ext cx="393192" cy="7305"/>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8" name="Straight Arrow Connector 47">
            <a:extLst>
              <a:ext uri="{FF2B5EF4-FFF2-40B4-BE49-F238E27FC236}">
                <a16:creationId xmlns:a16="http://schemas.microsoft.com/office/drawing/2014/main" id="{70039E2B-3E13-53E1-094F-121DB21D7129}"/>
              </a:ext>
            </a:extLst>
          </p:cNvPr>
          <p:cNvCxnSpPr>
            <a:cxnSpLocks/>
          </p:cNvCxnSpPr>
          <p:nvPr/>
        </p:nvCxnSpPr>
        <p:spPr>
          <a:xfrm>
            <a:off x="3664503" y="3686636"/>
            <a:ext cx="393192" cy="7305"/>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1" name="Straight Connector 50">
            <a:extLst>
              <a:ext uri="{FF2B5EF4-FFF2-40B4-BE49-F238E27FC236}">
                <a16:creationId xmlns:a16="http://schemas.microsoft.com/office/drawing/2014/main" id="{DF4C59B7-E9B9-174E-FB29-7EF80D54E7E8}"/>
              </a:ext>
            </a:extLst>
          </p:cNvPr>
          <p:cNvCxnSpPr>
            <a:cxnSpLocks/>
          </p:cNvCxnSpPr>
          <p:nvPr/>
        </p:nvCxnSpPr>
        <p:spPr>
          <a:xfrm>
            <a:off x="6892877" y="1780733"/>
            <a:ext cx="0" cy="1919367"/>
          </a:xfrm>
          <a:prstGeom prst="line">
            <a:avLst/>
          </a:prstGeom>
        </p:spPr>
        <p:style>
          <a:lnRef idx="3">
            <a:schemeClr val="accent2"/>
          </a:lnRef>
          <a:fillRef idx="0">
            <a:schemeClr val="accent2"/>
          </a:fillRef>
          <a:effectRef idx="2">
            <a:schemeClr val="accent2"/>
          </a:effectRef>
          <a:fontRef idx="minor">
            <a:schemeClr val="tx1"/>
          </a:fontRef>
        </p:style>
      </p:cxnSp>
      <p:cxnSp>
        <p:nvCxnSpPr>
          <p:cNvPr id="52" name="Straight Arrow Connector 51">
            <a:extLst>
              <a:ext uri="{FF2B5EF4-FFF2-40B4-BE49-F238E27FC236}">
                <a16:creationId xmlns:a16="http://schemas.microsoft.com/office/drawing/2014/main" id="{06177029-2296-B91B-8DC8-65E79D43AF26}"/>
              </a:ext>
            </a:extLst>
          </p:cNvPr>
          <p:cNvCxnSpPr>
            <a:cxnSpLocks/>
          </p:cNvCxnSpPr>
          <p:nvPr/>
        </p:nvCxnSpPr>
        <p:spPr>
          <a:xfrm>
            <a:off x="6892877" y="2220789"/>
            <a:ext cx="393192"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3" name="Straight Arrow Connector 52">
            <a:extLst>
              <a:ext uri="{FF2B5EF4-FFF2-40B4-BE49-F238E27FC236}">
                <a16:creationId xmlns:a16="http://schemas.microsoft.com/office/drawing/2014/main" id="{6FFBCB86-E12D-85BD-6C22-E213A89CCCA8}"/>
              </a:ext>
            </a:extLst>
          </p:cNvPr>
          <p:cNvCxnSpPr>
            <a:cxnSpLocks/>
          </p:cNvCxnSpPr>
          <p:nvPr/>
        </p:nvCxnSpPr>
        <p:spPr>
          <a:xfrm>
            <a:off x="6892877" y="2946213"/>
            <a:ext cx="393192" cy="7305"/>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4" name="Straight Arrow Connector 53">
            <a:extLst>
              <a:ext uri="{FF2B5EF4-FFF2-40B4-BE49-F238E27FC236}">
                <a16:creationId xmlns:a16="http://schemas.microsoft.com/office/drawing/2014/main" id="{5D3737E3-6268-2DEA-3A9E-C0C509D4861A}"/>
              </a:ext>
            </a:extLst>
          </p:cNvPr>
          <p:cNvCxnSpPr>
            <a:cxnSpLocks/>
          </p:cNvCxnSpPr>
          <p:nvPr/>
        </p:nvCxnSpPr>
        <p:spPr>
          <a:xfrm>
            <a:off x="6892877" y="3700100"/>
            <a:ext cx="393192" cy="7305"/>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2825761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21226B-AE67-DD64-5FB0-1433C83DCA7A}"/>
              </a:ext>
            </a:extLst>
          </p:cNvPr>
          <p:cNvSpPr/>
          <p:nvPr/>
        </p:nvSpPr>
        <p:spPr>
          <a:xfrm>
            <a:off x="840171" y="869662"/>
            <a:ext cx="3214243" cy="7406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solidFill>
                  <a:srgbClr val="FF0000"/>
                </a:solidFill>
              </a:rPr>
              <a:t>Numeric Permission value</a:t>
            </a:r>
          </a:p>
        </p:txBody>
      </p:sp>
      <p:sp>
        <p:nvSpPr>
          <p:cNvPr id="3" name="Rectangle 2">
            <a:extLst>
              <a:ext uri="{FF2B5EF4-FFF2-40B4-BE49-F238E27FC236}">
                <a16:creationId xmlns:a16="http://schemas.microsoft.com/office/drawing/2014/main" id="{734FCD54-615A-86F4-784E-87108A3B6684}"/>
              </a:ext>
            </a:extLst>
          </p:cNvPr>
          <p:cNvSpPr/>
          <p:nvPr/>
        </p:nvSpPr>
        <p:spPr>
          <a:xfrm>
            <a:off x="5479227" y="869662"/>
            <a:ext cx="3214243" cy="7406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solidFill>
                  <a:srgbClr val="FF0000"/>
                </a:solidFill>
              </a:rPr>
              <a:t>Numeric Permission value</a:t>
            </a:r>
          </a:p>
        </p:txBody>
      </p:sp>
      <p:sp>
        <p:nvSpPr>
          <p:cNvPr id="4" name="Rectangle 3">
            <a:extLst>
              <a:ext uri="{FF2B5EF4-FFF2-40B4-BE49-F238E27FC236}">
                <a16:creationId xmlns:a16="http://schemas.microsoft.com/office/drawing/2014/main" id="{F574E0F6-AEF7-2C22-B0A9-7082550095AA}"/>
              </a:ext>
            </a:extLst>
          </p:cNvPr>
          <p:cNvSpPr/>
          <p:nvPr/>
        </p:nvSpPr>
        <p:spPr>
          <a:xfrm>
            <a:off x="1752600" y="1878708"/>
            <a:ext cx="2301814" cy="589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No Permission = 0</a:t>
            </a:r>
          </a:p>
        </p:txBody>
      </p:sp>
      <p:sp>
        <p:nvSpPr>
          <p:cNvPr id="6" name="Rectangle 5">
            <a:extLst>
              <a:ext uri="{FF2B5EF4-FFF2-40B4-BE49-F238E27FC236}">
                <a16:creationId xmlns:a16="http://schemas.microsoft.com/office/drawing/2014/main" id="{1B8E246E-2A4C-71A5-EEF5-EADD95A99178}"/>
              </a:ext>
            </a:extLst>
          </p:cNvPr>
          <p:cNvSpPr/>
          <p:nvPr/>
        </p:nvSpPr>
        <p:spPr>
          <a:xfrm>
            <a:off x="1752599" y="4092514"/>
            <a:ext cx="2301815" cy="589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Write &amp; Exec = 3</a:t>
            </a:r>
          </a:p>
        </p:txBody>
      </p:sp>
      <p:sp>
        <p:nvSpPr>
          <p:cNvPr id="7" name="Rectangle 6">
            <a:extLst>
              <a:ext uri="{FF2B5EF4-FFF2-40B4-BE49-F238E27FC236}">
                <a16:creationId xmlns:a16="http://schemas.microsoft.com/office/drawing/2014/main" id="{F4BDE503-4700-B2DA-849D-074511115C18}"/>
              </a:ext>
            </a:extLst>
          </p:cNvPr>
          <p:cNvSpPr/>
          <p:nvPr/>
        </p:nvSpPr>
        <p:spPr>
          <a:xfrm>
            <a:off x="1752600" y="3356039"/>
            <a:ext cx="2301814" cy="589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Write = 2</a:t>
            </a:r>
          </a:p>
        </p:txBody>
      </p:sp>
      <p:sp>
        <p:nvSpPr>
          <p:cNvPr id="8" name="Rectangle 7">
            <a:extLst>
              <a:ext uri="{FF2B5EF4-FFF2-40B4-BE49-F238E27FC236}">
                <a16:creationId xmlns:a16="http://schemas.microsoft.com/office/drawing/2014/main" id="{1189B9EF-CE4C-72FC-40B5-143882A70D53}"/>
              </a:ext>
            </a:extLst>
          </p:cNvPr>
          <p:cNvSpPr/>
          <p:nvPr/>
        </p:nvSpPr>
        <p:spPr>
          <a:xfrm>
            <a:off x="1752600" y="2619564"/>
            <a:ext cx="2301814" cy="589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Exc = 1</a:t>
            </a:r>
          </a:p>
        </p:txBody>
      </p:sp>
      <p:sp>
        <p:nvSpPr>
          <p:cNvPr id="9" name="Rectangle 8">
            <a:extLst>
              <a:ext uri="{FF2B5EF4-FFF2-40B4-BE49-F238E27FC236}">
                <a16:creationId xmlns:a16="http://schemas.microsoft.com/office/drawing/2014/main" id="{DA96DDBA-85EF-7FAB-DCBC-A1CC1E7DFB71}"/>
              </a:ext>
            </a:extLst>
          </p:cNvPr>
          <p:cNvSpPr/>
          <p:nvPr/>
        </p:nvSpPr>
        <p:spPr>
          <a:xfrm>
            <a:off x="6391655" y="4092514"/>
            <a:ext cx="2301815" cy="589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Full Control = 7</a:t>
            </a:r>
          </a:p>
        </p:txBody>
      </p:sp>
      <p:sp>
        <p:nvSpPr>
          <p:cNvPr id="10" name="Rectangle 9">
            <a:extLst>
              <a:ext uri="{FF2B5EF4-FFF2-40B4-BE49-F238E27FC236}">
                <a16:creationId xmlns:a16="http://schemas.microsoft.com/office/drawing/2014/main" id="{0A18B453-D13D-3460-ABDE-1DBDB1B59904}"/>
              </a:ext>
            </a:extLst>
          </p:cNvPr>
          <p:cNvSpPr/>
          <p:nvPr/>
        </p:nvSpPr>
        <p:spPr>
          <a:xfrm>
            <a:off x="6391656" y="3397187"/>
            <a:ext cx="2289622" cy="589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Read &amp; Write = 6</a:t>
            </a:r>
          </a:p>
        </p:txBody>
      </p:sp>
      <p:sp>
        <p:nvSpPr>
          <p:cNvPr id="11" name="Rectangle 10">
            <a:extLst>
              <a:ext uri="{FF2B5EF4-FFF2-40B4-BE49-F238E27FC236}">
                <a16:creationId xmlns:a16="http://schemas.microsoft.com/office/drawing/2014/main" id="{5F0B5191-1617-6205-43F4-681AF90E252C}"/>
              </a:ext>
            </a:extLst>
          </p:cNvPr>
          <p:cNvSpPr/>
          <p:nvPr/>
        </p:nvSpPr>
        <p:spPr>
          <a:xfrm>
            <a:off x="6379464" y="2662238"/>
            <a:ext cx="2301814" cy="589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Read &amp; Exec = 5</a:t>
            </a:r>
          </a:p>
        </p:txBody>
      </p:sp>
      <p:sp>
        <p:nvSpPr>
          <p:cNvPr id="12" name="Rectangle 11">
            <a:extLst>
              <a:ext uri="{FF2B5EF4-FFF2-40B4-BE49-F238E27FC236}">
                <a16:creationId xmlns:a16="http://schemas.microsoft.com/office/drawing/2014/main" id="{C9BF95A4-8916-F566-C39A-C9B547BADA65}"/>
              </a:ext>
            </a:extLst>
          </p:cNvPr>
          <p:cNvSpPr/>
          <p:nvPr/>
        </p:nvSpPr>
        <p:spPr>
          <a:xfrm>
            <a:off x="6379464" y="1910141"/>
            <a:ext cx="2301814" cy="589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rPr>
              <a:t>Read = 4</a:t>
            </a:r>
          </a:p>
        </p:txBody>
      </p:sp>
      <p:sp>
        <p:nvSpPr>
          <p:cNvPr id="16" name="Title 1">
            <a:extLst>
              <a:ext uri="{FF2B5EF4-FFF2-40B4-BE49-F238E27FC236}">
                <a16:creationId xmlns:a16="http://schemas.microsoft.com/office/drawing/2014/main" id="{982821D1-6469-3879-D60E-34932019D1C1}"/>
              </a:ext>
            </a:extLst>
          </p:cNvPr>
          <p:cNvSpPr>
            <a:spLocks noGrp="1"/>
          </p:cNvSpPr>
          <p:nvPr>
            <p:ph type="title"/>
          </p:nvPr>
        </p:nvSpPr>
        <p:spPr>
          <a:xfrm>
            <a:off x="720725" y="150651"/>
            <a:ext cx="7702550" cy="573088"/>
          </a:xfrm>
        </p:spPr>
        <p:style>
          <a:lnRef idx="2">
            <a:schemeClr val="dk1"/>
          </a:lnRef>
          <a:fillRef idx="1">
            <a:schemeClr val="lt1"/>
          </a:fillRef>
          <a:effectRef idx="0">
            <a:schemeClr val="dk1"/>
          </a:effectRef>
          <a:fontRef idx="minor">
            <a:schemeClr val="dk1"/>
          </a:fontRef>
        </p:style>
        <p:txBody>
          <a:bodyPr/>
          <a:lstStyle/>
          <a:p>
            <a:pPr algn="ctr"/>
            <a:r>
              <a:rPr lang="en-US" dirty="0">
                <a:solidFill>
                  <a:schemeClr val="tx1"/>
                </a:solidFill>
                <a:latin typeface="Times New Roman" panose="02020603050405020304" pitchFamily="18" charset="0"/>
                <a:cs typeface="Times New Roman" panose="02020603050405020304" pitchFamily="18" charset="0"/>
              </a:rPr>
              <a:t>Numeric Method</a:t>
            </a:r>
          </a:p>
        </p:txBody>
      </p:sp>
      <p:cxnSp>
        <p:nvCxnSpPr>
          <p:cNvPr id="18" name="Straight Connector 17">
            <a:extLst>
              <a:ext uri="{FF2B5EF4-FFF2-40B4-BE49-F238E27FC236}">
                <a16:creationId xmlns:a16="http://schemas.microsoft.com/office/drawing/2014/main" id="{2DDD8E8F-32DB-2EE0-EB2B-673DED65B7B6}"/>
              </a:ext>
            </a:extLst>
          </p:cNvPr>
          <p:cNvCxnSpPr/>
          <p:nvPr/>
        </p:nvCxnSpPr>
        <p:spPr>
          <a:xfrm>
            <a:off x="1179576" y="1610326"/>
            <a:ext cx="0" cy="2776701"/>
          </a:xfrm>
          <a:prstGeom prst="line">
            <a:avLst/>
          </a:prstGeom>
        </p:spPr>
        <p:style>
          <a:lnRef idx="3">
            <a:schemeClr val="accent3"/>
          </a:lnRef>
          <a:fillRef idx="0">
            <a:schemeClr val="accent3"/>
          </a:fillRef>
          <a:effectRef idx="2">
            <a:schemeClr val="accent3"/>
          </a:effectRef>
          <a:fontRef idx="minor">
            <a:schemeClr val="tx1"/>
          </a:fontRef>
        </p:style>
      </p:cxnSp>
      <p:cxnSp>
        <p:nvCxnSpPr>
          <p:cNvPr id="21" name="Straight Arrow Connector 20">
            <a:extLst>
              <a:ext uri="{FF2B5EF4-FFF2-40B4-BE49-F238E27FC236}">
                <a16:creationId xmlns:a16="http://schemas.microsoft.com/office/drawing/2014/main" id="{0FD38033-6E59-27F5-C72D-07CE5D646E7F}"/>
              </a:ext>
            </a:extLst>
          </p:cNvPr>
          <p:cNvCxnSpPr>
            <a:endCxn id="4" idx="1"/>
          </p:cNvCxnSpPr>
          <p:nvPr/>
        </p:nvCxnSpPr>
        <p:spPr>
          <a:xfrm>
            <a:off x="1179576" y="2173221"/>
            <a:ext cx="573024"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Straight Arrow Connector 21">
            <a:extLst>
              <a:ext uri="{FF2B5EF4-FFF2-40B4-BE49-F238E27FC236}">
                <a16:creationId xmlns:a16="http://schemas.microsoft.com/office/drawing/2014/main" id="{5E60996A-7878-876D-6502-C88836FF8580}"/>
              </a:ext>
            </a:extLst>
          </p:cNvPr>
          <p:cNvCxnSpPr/>
          <p:nvPr/>
        </p:nvCxnSpPr>
        <p:spPr>
          <a:xfrm>
            <a:off x="1192784" y="2914077"/>
            <a:ext cx="573024"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a:extLst>
              <a:ext uri="{FF2B5EF4-FFF2-40B4-BE49-F238E27FC236}">
                <a16:creationId xmlns:a16="http://schemas.microsoft.com/office/drawing/2014/main" id="{0037A603-73DC-FFE0-A18B-7E8F5149CBA1}"/>
              </a:ext>
            </a:extLst>
          </p:cNvPr>
          <p:cNvCxnSpPr/>
          <p:nvPr/>
        </p:nvCxnSpPr>
        <p:spPr>
          <a:xfrm>
            <a:off x="1179576" y="3659693"/>
            <a:ext cx="573024"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Straight Arrow Connector 23">
            <a:extLst>
              <a:ext uri="{FF2B5EF4-FFF2-40B4-BE49-F238E27FC236}">
                <a16:creationId xmlns:a16="http://schemas.microsoft.com/office/drawing/2014/main" id="{9EFDBC93-3507-6D17-E6A9-CBADB54BAA43}"/>
              </a:ext>
            </a:extLst>
          </p:cNvPr>
          <p:cNvCxnSpPr/>
          <p:nvPr/>
        </p:nvCxnSpPr>
        <p:spPr>
          <a:xfrm>
            <a:off x="1192784" y="4387027"/>
            <a:ext cx="573024"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Connector 24">
            <a:extLst>
              <a:ext uri="{FF2B5EF4-FFF2-40B4-BE49-F238E27FC236}">
                <a16:creationId xmlns:a16="http://schemas.microsoft.com/office/drawing/2014/main" id="{BB4D5118-CFAF-A41E-5B05-26B5918BB0C2}"/>
              </a:ext>
            </a:extLst>
          </p:cNvPr>
          <p:cNvCxnSpPr/>
          <p:nvPr/>
        </p:nvCxnSpPr>
        <p:spPr>
          <a:xfrm>
            <a:off x="5782056" y="1620547"/>
            <a:ext cx="0" cy="2776701"/>
          </a:xfrm>
          <a:prstGeom prst="line">
            <a:avLst/>
          </a:prstGeom>
        </p:spPr>
        <p:style>
          <a:lnRef idx="3">
            <a:schemeClr val="accent3"/>
          </a:lnRef>
          <a:fillRef idx="0">
            <a:schemeClr val="accent3"/>
          </a:fillRef>
          <a:effectRef idx="2">
            <a:schemeClr val="accent3"/>
          </a:effectRef>
          <a:fontRef idx="minor">
            <a:schemeClr val="tx1"/>
          </a:fontRef>
        </p:style>
      </p:cxnSp>
      <p:cxnSp>
        <p:nvCxnSpPr>
          <p:cNvPr id="26" name="Straight Arrow Connector 25">
            <a:extLst>
              <a:ext uri="{FF2B5EF4-FFF2-40B4-BE49-F238E27FC236}">
                <a16:creationId xmlns:a16="http://schemas.microsoft.com/office/drawing/2014/main" id="{8B5D73C9-A52D-4F42-5031-58DAA7EF88FF}"/>
              </a:ext>
            </a:extLst>
          </p:cNvPr>
          <p:cNvCxnSpPr/>
          <p:nvPr/>
        </p:nvCxnSpPr>
        <p:spPr>
          <a:xfrm>
            <a:off x="5782056" y="2183442"/>
            <a:ext cx="573024"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Straight Arrow Connector 26">
            <a:extLst>
              <a:ext uri="{FF2B5EF4-FFF2-40B4-BE49-F238E27FC236}">
                <a16:creationId xmlns:a16="http://schemas.microsoft.com/office/drawing/2014/main" id="{FF7BCB19-D2F0-2A06-8DAF-1F0C64CB26CD}"/>
              </a:ext>
            </a:extLst>
          </p:cNvPr>
          <p:cNvCxnSpPr/>
          <p:nvPr/>
        </p:nvCxnSpPr>
        <p:spPr>
          <a:xfrm>
            <a:off x="5795264" y="2924298"/>
            <a:ext cx="573024"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D4D2A656-4865-33F3-EAC5-EF46C137F4C1}"/>
              </a:ext>
            </a:extLst>
          </p:cNvPr>
          <p:cNvCxnSpPr/>
          <p:nvPr/>
        </p:nvCxnSpPr>
        <p:spPr>
          <a:xfrm>
            <a:off x="5782056" y="3669914"/>
            <a:ext cx="573024"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a:extLst>
              <a:ext uri="{FF2B5EF4-FFF2-40B4-BE49-F238E27FC236}">
                <a16:creationId xmlns:a16="http://schemas.microsoft.com/office/drawing/2014/main" id="{0DF12E03-07AC-08B4-52AC-216C74BFA5AD}"/>
              </a:ext>
            </a:extLst>
          </p:cNvPr>
          <p:cNvCxnSpPr/>
          <p:nvPr/>
        </p:nvCxnSpPr>
        <p:spPr>
          <a:xfrm>
            <a:off x="5795264" y="4397248"/>
            <a:ext cx="573024"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57030834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9A8F7A-2BC0-D309-E8AD-528DB5839474}"/>
              </a:ext>
            </a:extLst>
          </p:cNvPr>
          <p:cNvSpPr txBox="1"/>
          <p:nvPr/>
        </p:nvSpPr>
        <p:spPr>
          <a:xfrm>
            <a:off x="365760" y="1185932"/>
            <a:ext cx="8412480" cy="2862322"/>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In RHEL who create the file or directory that user will become the owner and group owner of the file, but latter you can change ownership with chown     command.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chown can be used to change USER ownership</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chgrp</a:t>
            </a:r>
            <a:r>
              <a:rPr lang="en-US" sz="2000" dirty="0">
                <a:latin typeface="Times New Roman" panose="02020603050405020304" pitchFamily="18" charset="0"/>
                <a:cs typeface="Times New Roman" panose="02020603050405020304" pitchFamily="18" charset="0"/>
              </a:rPr>
              <a:t> can be used to change group ownership.</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Only root can change the ownership of a file. Group ownership, however, can be set by root or the file's owner.</a:t>
            </a:r>
          </a:p>
        </p:txBody>
      </p:sp>
      <p:sp>
        <p:nvSpPr>
          <p:cNvPr id="6" name="TextBox 5">
            <a:extLst>
              <a:ext uri="{FF2B5EF4-FFF2-40B4-BE49-F238E27FC236}">
                <a16:creationId xmlns:a16="http://schemas.microsoft.com/office/drawing/2014/main" id="{EE0B258B-72DE-9B7F-CDAB-06D634440E85}"/>
              </a:ext>
            </a:extLst>
          </p:cNvPr>
          <p:cNvSpPr txBox="1"/>
          <p:nvPr/>
        </p:nvSpPr>
        <p:spPr>
          <a:xfrm>
            <a:off x="1280160" y="338872"/>
            <a:ext cx="6421120" cy="55399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3000" dirty="0">
                <a:latin typeface="Times New Roman" panose="02020603050405020304" pitchFamily="18" charset="0"/>
                <a:cs typeface="Times New Roman" panose="02020603050405020304" pitchFamily="18" charset="0"/>
              </a:rPr>
              <a:t>Taking Ownership</a:t>
            </a:r>
          </a:p>
        </p:txBody>
      </p:sp>
    </p:spTree>
    <p:extLst>
      <p:ext uri="{BB962C8B-B14F-4D97-AF65-F5344CB8AC3E}">
        <p14:creationId xmlns:p14="http://schemas.microsoft.com/office/powerpoint/2010/main" val="252719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95EBD219-63B1-09D5-669D-1D77A5CF7BE3}"/>
              </a:ext>
            </a:extLst>
          </p:cNvPr>
          <p:cNvSpPr>
            <a:spLocks noChangeAspect="1" noChangeArrowheads="1"/>
          </p:cNvSpPr>
          <p:nvPr/>
        </p:nvSpPr>
        <p:spPr bwMode="auto">
          <a:xfrm>
            <a:off x="4419599" y="2419349"/>
            <a:ext cx="2466975" cy="24669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descr="A diagram of a computer program&#10;&#10;AI-generated content may be incorrect.">
            <a:extLst>
              <a:ext uri="{FF2B5EF4-FFF2-40B4-BE49-F238E27FC236}">
                <a16:creationId xmlns:a16="http://schemas.microsoft.com/office/drawing/2014/main" id="{304420D1-29CB-1E16-4F87-0DFF9F59B995}"/>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1853361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45D39-649E-6C9D-C007-9F25C62AAB50}"/>
              </a:ext>
            </a:extLst>
          </p:cNvPr>
          <p:cNvSpPr>
            <a:spLocks noGrp="1"/>
          </p:cNvSpPr>
          <p:nvPr>
            <p:ph type="title"/>
          </p:nvPr>
        </p:nvSpPr>
        <p:spPr/>
        <p:txBody>
          <a:bodyPr/>
          <a:lstStyle/>
          <a:p>
            <a:pPr algn="ctr"/>
            <a:r>
              <a:rPr lang="en-US" dirty="0"/>
              <a:t>Special Permission</a:t>
            </a:r>
            <a:endParaRPr lang="en-IN" dirty="0"/>
          </a:p>
        </p:txBody>
      </p:sp>
      <p:sp>
        <p:nvSpPr>
          <p:cNvPr id="4" name="TextBox 3">
            <a:extLst>
              <a:ext uri="{FF2B5EF4-FFF2-40B4-BE49-F238E27FC236}">
                <a16:creationId xmlns:a16="http://schemas.microsoft.com/office/drawing/2014/main" id="{6B2C423F-A4FB-B5C0-C8EB-BD8C59B0B1D4}"/>
              </a:ext>
            </a:extLst>
          </p:cNvPr>
          <p:cNvSpPr txBox="1"/>
          <p:nvPr/>
        </p:nvSpPr>
        <p:spPr>
          <a:xfrm>
            <a:off x="231494" y="1670388"/>
            <a:ext cx="8634714" cy="2246769"/>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In Linux, apart from the normal permissions (r – read, w – write, x – execute), there are </a:t>
            </a:r>
            <a:r>
              <a:rPr lang="en-US" sz="2000" b="1" dirty="0">
                <a:latin typeface="Times New Roman" panose="02020603050405020304" pitchFamily="18" charset="0"/>
                <a:cs typeface="Times New Roman" panose="02020603050405020304" pitchFamily="18" charset="0"/>
              </a:rPr>
              <a:t>three special permissions</a:t>
            </a:r>
            <a:r>
              <a:rPr lang="en-US" sz="2000" dirty="0">
                <a:latin typeface="Times New Roman" panose="02020603050405020304" pitchFamily="18" charset="0"/>
                <a:cs typeface="Times New Roman" panose="02020603050405020304" pitchFamily="18" charset="0"/>
              </a:rPr>
              <a:t> that provide additional security and control.</a:t>
            </a:r>
          </a:p>
          <a:p>
            <a:pPr>
              <a:buNone/>
            </a:pPr>
            <a:r>
              <a:rPr lang="en-US" sz="2000" dirty="0">
                <a:latin typeface="Times New Roman" panose="02020603050405020304" pitchFamily="18" charset="0"/>
                <a:cs typeface="Times New Roman" panose="02020603050405020304" pitchFamily="18" charset="0"/>
              </a:rPr>
              <a:t>They are:</a:t>
            </a:r>
          </a:p>
          <a:p>
            <a:pPr>
              <a:buFont typeface="+mj-lt"/>
              <a:buAutoNum type="arabicPeriod"/>
            </a:pPr>
            <a:r>
              <a:rPr lang="en-US" sz="2000" b="1" dirty="0">
                <a:latin typeface="Times New Roman" panose="02020603050405020304" pitchFamily="18" charset="0"/>
                <a:cs typeface="Times New Roman" panose="02020603050405020304" pitchFamily="18" charset="0"/>
              </a:rPr>
              <a:t>SUID (Set User ID)</a:t>
            </a:r>
            <a:endParaRPr lang="en-US" sz="2000" dirty="0">
              <a:latin typeface="Times New Roman" panose="02020603050405020304" pitchFamily="18" charset="0"/>
              <a:cs typeface="Times New Roman" panose="02020603050405020304" pitchFamily="18" charset="0"/>
            </a:endParaRPr>
          </a:p>
          <a:p>
            <a:pPr>
              <a:buFont typeface="+mj-lt"/>
              <a:buAutoNum type="arabicPeriod"/>
            </a:pPr>
            <a:r>
              <a:rPr lang="en-US" sz="2000" b="1" dirty="0">
                <a:latin typeface="Times New Roman" panose="02020603050405020304" pitchFamily="18" charset="0"/>
                <a:cs typeface="Times New Roman" panose="02020603050405020304" pitchFamily="18" charset="0"/>
              </a:rPr>
              <a:t>SGID (Set Group ID)</a:t>
            </a:r>
            <a:endParaRPr lang="en-US" sz="2000" dirty="0">
              <a:latin typeface="Times New Roman" panose="02020603050405020304" pitchFamily="18" charset="0"/>
              <a:cs typeface="Times New Roman" panose="02020603050405020304" pitchFamily="18" charset="0"/>
            </a:endParaRPr>
          </a:p>
          <a:p>
            <a:pPr>
              <a:buFont typeface="+mj-lt"/>
              <a:buAutoNum type="arabicPeriod"/>
            </a:pPr>
            <a:r>
              <a:rPr lang="en-US" sz="2000" b="1" dirty="0">
                <a:latin typeface="Times New Roman" panose="02020603050405020304" pitchFamily="18" charset="0"/>
                <a:cs typeface="Times New Roman" panose="02020603050405020304" pitchFamily="18" charset="0"/>
              </a:rPr>
              <a:t>Sticky Bit</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These permissions modify the normal behavior of files and directories.</a:t>
            </a:r>
          </a:p>
        </p:txBody>
      </p:sp>
    </p:spTree>
    <p:extLst>
      <p:ext uri="{BB962C8B-B14F-4D97-AF65-F5344CB8AC3E}">
        <p14:creationId xmlns:p14="http://schemas.microsoft.com/office/powerpoint/2010/main" val="427129376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44D9DBB-397F-1E7E-773F-B9E61D1AD7F6}"/>
              </a:ext>
            </a:extLst>
          </p:cNvPr>
          <p:cNvSpPr txBox="1"/>
          <p:nvPr/>
        </p:nvSpPr>
        <p:spPr>
          <a:xfrm>
            <a:off x="0" y="842318"/>
            <a:ext cx="9143999" cy="2246769"/>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 Definition</a:t>
            </a:r>
          </a:p>
          <a:p>
            <a:pPr>
              <a:buNone/>
            </a:pPr>
            <a:r>
              <a:rPr lang="en-US" sz="2000" dirty="0">
                <a:latin typeface="Times New Roman" panose="02020603050405020304" pitchFamily="18" charset="0"/>
                <a:cs typeface="Times New Roman" panose="02020603050405020304" pitchFamily="18" charset="0"/>
              </a:rPr>
              <a:t>SUID is a special permission applied to </a:t>
            </a:r>
            <a:r>
              <a:rPr lang="en-US" sz="2000" b="1" dirty="0">
                <a:latin typeface="Times New Roman" panose="02020603050405020304" pitchFamily="18" charset="0"/>
                <a:cs typeface="Times New Roman" panose="02020603050405020304" pitchFamily="18" charset="0"/>
              </a:rPr>
              <a:t>executable files</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When a file has SUID enabled, any user executing that file runs it with the </a:t>
            </a:r>
            <a:r>
              <a:rPr lang="en-US" sz="2000" b="1" dirty="0">
                <a:latin typeface="Times New Roman" panose="02020603050405020304" pitchFamily="18" charset="0"/>
                <a:cs typeface="Times New Roman" panose="02020603050405020304" pitchFamily="18" charset="0"/>
              </a:rPr>
              <a:t>file owner's permissions</a:t>
            </a:r>
            <a:r>
              <a:rPr lang="en-US" sz="2000" dirty="0">
                <a:latin typeface="Times New Roman" panose="02020603050405020304" pitchFamily="18" charset="0"/>
                <a:cs typeface="Times New Roman" panose="02020603050405020304" pitchFamily="18" charset="0"/>
              </a:rPr>
              <a:t>, not their own permissions.</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 Purpose</a:t>
            </a:r>
          </a:p>
          <a:p>
            <a:pPr>
              <a:buNone/>
            </a:pPr>
            <a:r>
              <a:rPr lang="en-US" sz="2000" dirty="0">
                <a:latin typeface="Times New Roman" panose="02020603050405020304" pitchFamily="18" charset="0"/>
                <a:cs typeface="Times New Roman" panose="02020603050405020304" pitchFamily="18" charset="0"/>
              </a:rPr>
              <a:t>It allows normal users to temporarily perform tasks that require higher privileges.</a:t>
            </a:r>
          </a:p>
        </p:txBody>
      </p:sp>
      <p:sp>
        <p:nvSpPr>
          <p:cNvPr id="6" name="TextBox 5">
            <a:extLst>
              <a:ext uri="{FF2B5EF4-FFF2-40B4-BE49-F238E27FC236}">
                <a16:creationId xmlns:a16="http://schemas.microsoft.com/office/drawing/2014/main" id="{8CC82885-BEDF-3CF8-AD07-8BBBC5F48B4A}"/>
              </a:ext>
            </a:extLst>
          </p:cNvPr>
          <p:cNvSpPr txBox="1"/>
          <p:nvPr/>
        </p:nvSpPr>
        <p:spPr>
          <a:xfrm>
            <a:off x="1990846" y="106543"/>
            <a:ext cx="5162308" cy="523220"/>
          </a:xfrm>
          <a:prstGeom prst="rect">
            <a:avLst/>
          </a:prstGeom>
          <a:noFill/>
        </p:spPr>
        <p:txBody>
          <a:bodyPr wrap="square">
            <a:spAutoFit/>
          </a:bodyPr>
          <a:lstStyle/>
          <a:p>
            <a:pPr algn="ctr">
              <a:buNone/>
            </a:pPr>
            <a:r>
              <a:rPr lang="en-US" sz="2800" b="1" dirty="0">
                <a:latin typeface="Times New Roman" panose="02020603050405020304" pitchFamily="18" charset="0"/>
                <a:cs typeface="Times New Roman" panose="02020603050405020304" pitchFamily="18" charset="0"/>
              </a:rPr>
              <a:t>SUID (Set User ID)</a:t>
            </a:r>
          </a:p>
        </p:txBody>
      </p:sp>
      <p:sp>
        <p:nvSpPr>
          <p:cNvPr id="8" name="TextBox 7">
            <a:extLst>
              <a:ext uri="{FF2B5EF4-FFF2-40B4-BE49-F238E27FC236}">
                <a16:creationId xmlns:a16="http://schemas.microsoft.com/office/drawing/2014/main" id="{4C0D2077-B262-693F-370B-2249372C3609}"/>
              </a:ext>
            </a:extLst>
          </p:cNvPr>
          <p:cNvSpPr txBox="1"/>
          <p:nvPr/>
        </p:nvSpPr>
        <p:spPr>
          <a:xfrm>
            <a:off x="1099595" y="3301642"/>
            <a:ext cx="8044404" cy="163121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 How It Works</a:t>
            </a:r>
          </a:p>
          <a:p>
            <a:pPr>
              <a:buNone/>
            </a:pPr>
            <a:r>
              <a:rPr lang="en-US" sz="2000" dirty="0">
                <a:latin typeface="Times New Roman" panose="02020603050405020304" pitchFamily="18" charset="0"/>
                <a:cs typeface="Times New Roman" panose="02020603050405020304" pitchFamily="18" charset="0"/>
              </a:rPr>
              <a:t>Normally:</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 program runs with the permissions of the user who executes it.</a:t>
            </a:r>
          </a:p>
          <a:p>
            <a:pPr>
              <a:buNone/>
            </a:pPr>
            <a:r>
              <a:rPr lang="en-US" sz="2000" dirty="0">
                <a:latin typeface="Times New Roman" panose="02020603050405020304" pitchFamily="18" charset="0"/>
                <a:cs typeface="Times New Roman" panose="02020603050405020304" pitchFamily="18" charset="0"/>
              </a:rPr>
              <a:t>With SUID:</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program runs with the permissions of the file owner.</a:t>
            </a:r>
          </a:p>
        </p:txBody>
      </p:sp>
    </p:spTree>
    <p:extLst>
      <p:ext uri="{BB962C8B-B14F-4D97-AF65-F5344CB8AC3E}">
        <p14:creationId xmlns:p14="http://schemas.microsoft.com/office/powerpoint/2010/main" val="64202032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F972A97-28B1-E6A8-7DD9-0501C21430E7}"/>
              </a:ext>
            </a:extLst>
          </p:cNvPr>
          <p:cNvSpPr txBox="1"/>
          <p:nvPr/>
        </p:nvSpPr>
        <p:spPr>
          <a:xfrm>
            <a:off x="300943" y="217259"/>
            <a:ext cx="8843058" cy="2554545"/>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 Real-Time Example</a:t>
            </a:r>
          </a:p>
          <a:p>
            <a:pPr>
              <a:buNone/>
            </a:pPr>
            <a:r>
              <a:rPr lang="en-US" sz="2000" dirty="0">
                <a:latin typeface="Times New Roman" panose="02020603050405020304" pitchFamily="18" charset="0"/>
                <a:cs typeface="Times New Roman" panose="02020603050405020304" pitchFamily="18" charset="0"/>
              </a:rPr>
              <a:t>The Linux </a:t>
            </a:r>
            <a:r>
              <a:rPr lang="en-US" sz="2000" dirty="0">
                <a:highlight>
                  <a:srgbClr val="FFFF00"/>
                </a:highlight>
                <a:latin typeface="Times New Roman" panose="02020603050405020304" pitchFamily="18" charset="0"/>
                <a:cs typeface="Times New Roman" panose="02020603050405020304" pitchFamily="18" charset="0"/>
              </a:rPr>
              <a:t>passwd</a:t>
            </a:r>
            <a:r>
              <a:rPr lang="en-US" sz="2000" dirty="0">
                <a:latin typeface="Times New Roman" panose="02020603050405020304" pitchFamily="18" charset="0"/>
                <a:cs typeface="Times New Roman" panose="02020603050405020304" pitchFamily="18" charset="0"/>
              </a:rPr>
              <a:t> command: passwd</a:t>
            </a:r>
          </a:p>
          <a:p>
            <a:pPr>
              <a:buNone/>
            </a:pPr>
            <a:r>
              <a:rPr lang="en-US" sz="2000" dirty="0">
                <a:latin typeface="Times New Roman" panose="02020603050405020304" pitchFamily="18" charset="0"/>
                <a:cs typeface="Times New Roman" panose="02020603050405020304" pitchFamily="18" charset="0"/>
              </a:rPr>
              <a:t>When a normal user changes their password:</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must modify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/shadow</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/shadow is owned by root</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Normal users do not have permission to modify it, Because passwd has SUID set.</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runs with </a:t>
            </a:r>
            <a:r>
              <a:rPr lang="en-US" sz="2000" b="1" dirty="0">
                <a:latin typeface="Times New Roman" panose="02020603050405020304" pitchFamily="18" charset="0"/>
                <a:cs typeface="Times New Roman" panose="02020603050405020304" pitchFamily="18" charset="0"/>
              </a:rPr>
              <a:t>root privileges</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 it can update the password securely</a:t>
            </a:r>
          </a:p>
        </p:txBody>
      </p:sp>
      <p:sp>
        <p:nvSpPr>
          <p:cNvPr id="6" name="TextBox 5">
            <a:extLst>
              <a:ext uri="{FF2B5EF4-FFF2-40B4-BE49-F238E27FC236}">
                <a16:creationId xmlns:a16="http://schemas.microsoft.com/office/drawing/2014/main" id="{3EC85BBA-498F-706F-81D3-5EFD444449B3}"/>
              </a:ext>
            </a:extLst>
          </p:cNvPr>
          <p:cNvSpPr txBox="1"/>
          <p:nvPr/>
        </p:nvSpPr>
        <p:spPr>
          <a:xfrm>
            <a:off x="1197981" y="2771804"/>
            <a:ext cx="7048982" cy="2246769"/>
          </a:xfrm>
          <a:prstGeom prst="rect">
            <a:avLst/>
          </a:prstGeom>
          <a:noFill/>
        </p:spPr>
        <p:txBody>
          <a:bodyPr wrap="square">
            <a:spAutoFit/>
          </a:bodyPr>
          <a:lstStyle/>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 Symbol Representation</a:t>
            </a:r>
          </a:p>
          <a:p>
            <a:pPr rtl="0">
              <a:buNone/>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rwsr</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xr</a:t>
            </a:r>
            <a:r>
              <a:rPr lang="en-US" sz="2000" dirty="0">
                <a:latin typeface="Times New Roman" panose="02020603050405020304" pitchFamily="18" charset="0"/>
                <a:cs typeface="Times New Roman" panose="02020603050405020304" pitchFamily="18" charset="0"/>
              </a:rPr>
              <a:t>-x</a:t>
            </a:r>
          </a:p>
          <a:p>
            <a:pPr>
              <a:buNone/>
            </a:pPr>
            <a:r>
              <a:rPr lang="en-US" sz="2000" dirty="0">
                <a:latin typeface="Times New Roman" panose="02020603050405020304" pitchFamily="18" charset="0"/>
                <a:cs typeface="Times New Roman" panose="02020603050405020304" pitchFamily="18" charset="0"/>
              </a:rPr>
              <a:t>The s in the user execute position indicates SUID.</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 Numeric Value</a:t>
            </a:r>
          </a:p>
          <a:p>
            <a:pPr>
              <a:buNone/>
            </a:pPr>
            <a:r>
              <a:rPr lang="en-US" sz="2000" dirty="0">
                <a:latin typeface="Times New Roman" panose="02020603050405020304" pitchFamily="18" charset="0"/>
                <a:cs typeface="Times New Roman" panose="02020603050405020304" pitchFamily="18" charset="0"/>
              </a:rPr>
              <a:t>SUID = </a:t>
            </a:r>
            <a:r>
              <a:rPr lang="en-US" sz="2000" b="1" dirty="0">
                <a:latin typeface="Times New Roman" panose="02020603050405020304" pitchFamily="18" charset="0"/>
                <a:cs typeface="Times New Roman" panose="02020603050405020304" pitchFamily="18" charset="0"/>
              </a:rPr>
              <a:t>4</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936475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05D705D-FABF-EE0B-AB0B-A55590B63C4B}"/>
              </a:ext>
            </a:extLst>
          </p:cNvPr>
          <p:cNvSpPr txBox="1"/>
          <p:nvPr/>
        </p:nvSpPr>
        <p:spPr>
          <a:xfrm>
            <a:off x="1099595" y="885680"/>
            <a:ext cx="7430946" cy="4093428"/>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 Definition</a:t>
            </a:r>
          </a:p>
          <a:p>
            <a:pPr>
              <a:buNone/>
            </a:pPr>
            <a:r>
              <a:rPr lang="en-US" sz="2000" dirty="0">
                <a:latin typeface="Times New Roman" panose="02020603050405020304" pitchFamily="18" charset="0"/>
                <a:cs typeface="Times New Roman" panose="02020603050405020304" pitchFamily="18" charset="0"/>
              </a:rPr>
              <a:t>SGID is a special permission that can be applied to both:</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Executable files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Directories</a:t>
            </a:r>
          </a:p>
          <a:p>
            <a:pPr>
              <a:buNone/>
            </a:pPr>
            <a:r>
              <a:rPr lang="en-US" sz="2000" b="1" dirty="0">
                <a:latin typeface="Times New Roman" panose="02020603050405020304" pitchFamily="18" charset="0"/>
                <a:cs typeface="Times New Roman" panose="02020603050405020304" pitchFamily="18" charset="0"/>
              </a:rPr>
              <a:t>📘 Behavior on Files</a:t>
            </a:r>
          </a:p>
          <a:p>
            <a:pPr>
              <a:buNone/>
            </a:pPr>
            <a:r>
              <a:rPr lang="en-US" sz="2000" dirty="0">
                <a:latin typeface="Times New Roman" panose="02020603050405020304" pitchFamily="18" charset="0"/>
                <a:cs typeface="Times New Roman" panose="02020603050405020304" pitchFamily="18" charset="0"/>
              </a:rPr>
              <a:t>When SGID is set on a file: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file executes with the </a:t>
            </a:r>
            <a:r>
              <a:rPr lang="en-US" sz="2000" b="1" dirty="0">
                <a:latin typeface="Times New Roman" panose="02020603050405020304" pitchFamily="18" charset="0"/>
                <a:cs typeface="Times New Roman" panose="02020603050405020304" pitchFamily="18" charset="0"/>
              </a:rPr>
              <a:t>group permissions of the file</a:t>
            </a:r>
            <a:r>
              <a:rPr lang="en-US" sz="2000" dirty="0">
                <a:latin typeface="Times New Roman" panose="02020603050405020304" pitchFamily="18" charset="0"/>
                <a:cs typeface="Times New Roman" panose="02020603050405020304" pitchFamily="18" charset="0"/>
              </a:rPr>
              <a:t>, not the user’s group.</a:t>
            </a:r>
          </a:p>
          <a:p>
            <a:pPr>
              <a:buNone/>
            </a:pPr>
            <a:r>
              <a:rPr lang="en-US" sz="2000" b="1" dirty="0">
                <a:latin typeface="Times New Roman" panose="02020603050405020304" pitchFamily="18" charset="0"/>
                <a:cs typeface="Times New Roman" panose="02020603050405020304" pitchFamily="18" charset="0"/>
              </a:rPr>
              <a:t>📘 Behavior on Directories</a:t>
            </a:r>
          </a:p>
          <a:p>
            <a:pPr>
              <a:buNone/>
            </a:pPr>
            <a:r>
              <a:rPr lang="en-US" sz="2000" dirty="0">
                <a:latin typeface="Times New Roman" panose="02020603050405020304" pitchFamily="18" charset="0"/>
                <a:cs typeface="Times New Roman" panose="02020603050405020304" pitchFamily="18" charset="0"/>
              </a:rPr>
              <a:t>When SGID is set on a directory:</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 new files created inside inherit the </a:t>
            </a:r>
            <a:r>
              <a:rPr lang="en-US" sz="2000" b="1" dirty="0">
                <a:latin typeface="Times New Roman" panose="02020603050405020304" pitchFamily="18" charset="0"/>
                <a:cs typeface="Times New Roman" panose="02020603050405020304" pitchFamily="18" charset="0"/>
              </a:rPr>
              <a:t>group ownership of the directory</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Not the primary group of the user</a:t>
            </a:r>
          </a:p>
        </p:txBody>
      </p:sp>
      <p:sp>
        <p:nvSpPr>
          <p:cNvPr id="6" name="TextBox 5">
            <a:extLst>
              <a:ext uri="{FF2B5EF4-FFF2-40B4-BE49-F238E27FC236}">
                <a16:creationId xmlns:a16="http://schemas.microsoft.com/office/drawing/2014/main" id="{360D8B15-33BF-BEDF-E87D-246A906B1355}"/>
              </a:ext>
            </a:extLst>
          </p:cNvPr>
          <p:cNvSpPr txBox="1"/>
          <p:nvPr/>
        </p:nvSpPr>
        <p:spPr>
          <a:xfrm>
            <a:off x="1990846" y="362460"/>
            <a:ext cx="5162308" cy="523220"/>
          </a:xfrm>
          <a:prstGeom prst="rect">
            <a:avLst/>
          </a:prstGeom>
          <a:noFill/>
        </p:spPr>
        <p:txBody>
          <a:bodyPr wrap="square">
            <a:spAutoFit/>
          </a:bodyPr>
          <a:lstStyle/>
          <a:p>
            <a:pPr algn="ctr">
              <a:buNone/>
            </a:pPr>
            <a:r>
              <a:rPr lang="en-US" sz="2800" b="1" dirty="0">
                <a:latin typeface="Times New Roman" panose="02020603050405020304" pitchFamily="18" charset="0"/>
                <a:cs typeface="Times New Roman" panose="02020603050405020304" pitchFamily="18" charset="0"/>
              </a:rPr>
              <a:t> SGID (Set Group ID)</a:t>
            </a:r>
          </a:p>
        </p:txBody>
      </p:sp>
    </p:spTree>
    <p:extLst>
      <p:ext uri="{BB962C8B-B14F-4D97-AF65-F5344CB8AC3E}">
        <p14:creationId xmlns:p14="http://schemas.microsoft.com/office/powerpoint/2010/main" val="135368956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412D846-50BB-24D8-F6A3-436515490F38}"/>
              </a:ext>
            </a:extLst>
          </p:cNvPr>
          <p:cNvSpPr txBox="1"/>
          <p:nvPr/>
        </p:nvSpPr>
        <p:spPr>
          <a:xfrm>
            <a:off x="405114" y="526933"/>
            <a:ext cx="5636871" cy="3170099"/>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 Why It Is Useful</a:t>
            </a:r>
          </a:p>
          <a:p>
            <a:pPr>
              <a:buNone/>
            </a:pPr>
            <a:r>
              <a:rPr lang="en-US" sz="2000" dirty="0">
                <a:latin typeface="Times New Roman" panose="02020603050405020304" pitchFamily="18" charset="0"/>
                <a:cs typeface="Times New Roman" panose="02020603050405020304" pitchFamily="18" charset="0"/>
              </a:rPr>
              <a:t>Very important in: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Shared project directories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Team collaboration environments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Server environments</a:t>
            </a:r>
          </a:p>
          <a:p>
            <a:pPr>
              <a:buNone/>
            </a:pPr>
            <a:r>
              <a:rPr lang="en-US" sz="2000" b="1" dirty="0">
                <a:latin typeface="Times New Roman" panose="02020603050405020304" pitchFamily="18" charset="0"/>
                <a:cs typeface="Times New Roman" panose="02020603050405020304" pitchFamily="18" charset="0"/>
              </a:rPr>
              <a:t>📘 Symbol Representation</a:t>
            </a:r>
          </a:p>
          <a:p>
            <a:pPr rtl="0">
              <a:buNone/>
            </a:pPr>
            <a:r>
              <a:rPr lang="en-US" sz="2000" dirty="0" err="1">
                <a:latin typeface="Times New Roman" panose="02020603050405020304" pitchFamily="18" charset="0"/>
                <a:cs typeface="Times New Roman" panose="02020603050405020304" pitchFamily="18" charset="0"/>
              </a:rPr>
              <a:t>drwxrwsr</a:t>
            </a:r>
            <a:r>
              <a:rPr lang="en-US" sz="2000" dirty="0">
                <a:latin typeface="Times New Roman" panose="02020603050405020304" pitchFamily="18" charset="0"/>
                <a:cs typeface="Times New Roman" panose="02020603050405020304" pitchFamily="18" charset="0"/>
              </a:rPr>
              <a:t>-x</a:t>
            </a:r>
          </a:p>
          <a:p>
            <a:pPr>
              <a:buNone/>
            </a:pPr>
            <a:r>
              <a:rPr lang="en-US" sz="2000" dirty="0">
                <a:latin typeface="Times New Roman" panose="02020603050405020304" pitchFamily="18" charset="0"/>
                <a:cs typeface="Times New Roman" panose="02020603050405020304" pitchFamily="18" charset="0"/>
              </a:rPr>
              <a:t>The s in the group execute position indicates SGID.</a:t>
            </a:r>
          </a:p>
          <a:p>
            <a:pPr>
              <a:buNone/>
            </a:pPr>
            <a:r>
              <a:rPr lang="en-US" sz="2000" b="1" dirty="0">
                <a:latin typeface="Times New Roman" panose="02020603050405020304" pitchFamily="18" charset="0"/>
                <a:cs typeface="Times New Roman" panose="02020603050405020304" pitchFamily="18" charset="0"/>
              </a:rPr>
              <a:t>📘 Numeric Value</a:t>
            </a:r>
          </a:p>
          <a:p>
            <a:pPr>
              <a:buNone/>
            </a:pPr>
            <a:r>
              <a:rPr lang="en-US" sz="2000" dirty="0">
                <a:latin typeface="Times New Roman" panose="02020603050405020304" pitchFamily="18" charset="0"/>
                <a:cs typeface="Times New Roman" panose="02020603050405020304" pitchFamily="18" charset="0"/>
              </a:rPr>
              <a:t>SGID = </a:t>
            </a:r>
            <a:r>
              <a:rPr lang="en-US" sz="2000" b="1" dirty="0">
                <a:latin typeface="Times New Roman" panose="02020603050405020304" pitchFamily="18" charset="0"/>
                <a:cs typeface="Times New Roman" panose="02020603050405020304" pitchFamily="18" charset="0"/>
              </a:rPr>
              <a:t>2</a:t>
            </a: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4D706D6-EBFB-1364-BD0F-23336A495FB1}"/>
              </a:ext>
            </a:extLst>
          </p:cNvPr>
          <p:cNvSpPr txBox="1"/>
          <p:nvPr/>
        </p:nvSpPr>
        <p:spPr>
          <a:xfrm>
            <a:off x="3310359" y="3293128"/>
            <a:ext cx="5428527" cy="1015663"/>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Example: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IT department shared folder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All users inside should have files under group "IT".</a:t>
            </a:r>
          </a:p>
        </p:txBody>
      </p:sp>
    </p:spTree>
    <p:extLst>
      <p:ext uri="{BB962C8B-B14F-4D97-AF65-F5344CB8AC3E}">
        <p14:creationId xmlns:p14="http://schemas.microsoft.com/office/powerpoint/2010/main" val="39719208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53A4DB-EC7F-4CB0-BCF8-46C4DF545761}"/>
              </a:ext>
            </a:extLst>
          </p:cNvPr>
          <p:cNvSpPr txBox="1"/>
          <p:nvPr/>
        </p:nvSpPr>
        <p:spPr>
          <a:xfrm>
            <a:off x="595223" y="1390457"/>
            <a:ext cx="7718424" cy="1015663"/>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sticky bit</a:t>
            </a:r>
            <a:r>
              <a:rPr lang="en-US" sz="2000" dirty="0">
                <a:latin typeface="Times New Roman" panose="02020603050405020304" pitchFamily="18" charset="0"/>
                <a:cs typeface="Times New Roman" panose="02020603050405020304" pitchFamily="18" charset="0"/>
              </a:rPr>
              <a:t> is used </a:t>
            </a:r>
            <a:r>
              <a:rPr lang="en-US" sz="2000" b="1" dirty="0">
                <a:latin typeface="Times New Roman" panose="02020603050405020304" pitchFamily="18" charset="0"/>
                <a:cs typeface="Times New Roman" panose="02020603050405020304" pitchFamily="18" charset="0"/>
              </a:rPr>
              <a:t>only on directories</a:t>
            </a:r>
            <a:r>
              <a:rPr lang="en-US" sz="2000" dirty="0">
                <a:latin typeface="Times New Roman" panose="02020603050405020304" pitchFamily="18" charset="0"/>
                <a:cs typeface="Times New Roman" panose="02020603050405020304" pitchFamily="18" charset="0"/>
              </a:rPr>
              <a:t>, to ensure that </a:t>
            </a:r>
            <a:r>
              <a:rPr lang="en-US" sz="2000" b="1" dirty="0">
                <a:latin typeface="Times New Roman" panose="02020603050405020304" pitchFamily="18" charset="0"/>
                <a:cs typeface="Times New Roman" panose="02020603050405020304" pitchFamily="18" charset="0"/>
              </a:rPr>
              <a:t>only the owner of a file can delete or rename it</a:t>
            </a:r>
            <a:r>
              <a:rPr lang="en-US" sz="2000" dirty="0">
                <a:latin typeface="Times New Roman" panose="02020603050405020304" pitchFamily="18" charset="0"/>
                <a:cs typeface="Times New Roman" panose="02020603050405020304" pitchFamily="18" charset="0"/>
              </a:rPr>
              <a:t>, even if others have write permissions on the directory.</a:t>
            </a:r>
          </a:p>
        </p:txBody>
      </p:sp>
      <p:sp>
        <p:nvSpPr>
          <p:cNvPr id="7" name="Rectangle 1">
            <a:extLst>
              <a:ext uri="{FF2B5EF4-FFF2-40B4-BE49-F238E27FC236}">
                <a16:creationId xmlns:a16="http://schemas.microsoft.com/office/drawing/2014/main" id="{B7FA7DC8-A268-AF00-3720-B650C835481B}"/>
              </a:ext>
            </a:extLst>
          </p:cNvPr>
          <p:cNvSpPr>
            <a:spLocks noChangeArrowheads="1"/>
          </p:cNvSpPr>
          <p:nvPr/>
        </p:nvSpPr>
        <p:spPr bwMode="auto">
          <a:xfrm>
            <a:off x="543224" y="3170986"/>
            <a:ext cx="824397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Method 1: Using Symbolic Mode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#chmod +t /path/to/directory</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A50B0A1-05E2-3931-9262-A1DFCFDBA12E}"/>
              </a:ext>
            </a:extLst>
          </p:cNvPr>
          <p:cNvSpPr txBox="1"/>
          <p:nvPr/>
        </p:nvSpPr>
        <p:spPr>
          <a:xfrm>
            <a:off x="1992702" y="358331"/>
            <a:ext cx="5158596" cy="5847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3200" b="1">
                <a:latin typeface="Times New Roman" panose="02020603050405020304" pitchFamily="18" charset="0"/>
                <a:cs typeface="Times New Roman" panose="02020603050405020304" pitchFamily="18" charset="0"/>
              </a:rPr>
              <a:t>sticky bit</a:t>
            </a:r>
            <a:endParaRPr lang="en-US" sz="3200" dirty="0"/>
          </a:p>
        </p:txBody>
      </p:sp>
      <p:graphicFrame>
        <p:nvGraphicFramePr>
          <p:cNvPr id="14" name="Table 13">
            <a:extLst>
              <a:ext uri="{FF2B5EF4-FFF2-40B4-BE49-F238E27FC236}">
                <a16:creationId xmlns:a16="http://schemas.microsoft.com/office/drawing/2014/main" id="{3B4D5066-779F-D83B-372F-7E1987E9F6B1}"/>
              </a:ext>
            </a:extLst>
          </p:cNvPr>
          <p:cNvGraphicFramePr>
            <a:graphicFrameLocks noGrp="1"/>
          </p:cNvGraphicFramePr>
          <p:nvPr/>
        </p:nvGraphicFramePr>
        <p:xfrm>
          <a:off x="543224" y="2488008"/>
          <a:ext cx="7718425" cy="396240"/>
        </p:xfrm>
        <a:graphic>
          <a:graphicData uri="http://schemas.openxmlformats.org/drawingml/2006/table">
            <a:tbl>
              <a:tblPr/>
              <a:tblGrid>
                <a:gridCol w="7718425">
                  <a:extLst>
                    <a:ext uri="{9D8B030D-6E8A-4147-A177-3AD203B41FA5}">
                      <a16:colId xmlns:a16="http://schemas.microsoft.com/office/drawing/2014/main" val="140397544"/>
                    </a:ext>
                  </a:extLst>
                </a:gridCol>
              </a:tblGrid>
              <a:tr h="0">
                <a:tc>
                  <a:txBody>
                    <a:bodyPr/>
                    <a:lstStyle/>
                    <a:p>
                      <a:r>
                        <a:rPr lang="en-US" sz="2000" dirty="0">
                          <a:latin typeface="Times New Roman" panose="02020603050405020304" pitchFamily="18" charset="0"/>
                          <a:cs typeface="Times New Roman" panose="02020603050405020304" pitchFamily="18" charset="0"/>
                        </a:rPr>
                        <a:t>Only the </a:t>
                      </a:r>
                      <a:r>
                        <a:rPr lang="en-US" sz="2000" b="1" dirty="0">
                          <a:latin typeface="Times New Roman" panose="02020603050405020304" pitchFamily="18" charset="0"/>
                          <a:cs typeface="Times New Roman" panose="02020603050405020304" pitchFamily="18" charset="0"/>
                        </a:rPr>
                        <a:t>owner</a:t>
                      </a:r>
                      <a:r>
                        <a:rPr lang="en-US" sz="2000" dirty="0">
                          <a:latin typeface="Times New Roman" panose="02020603050405020304" pitchFamily="18" charset="0"/>
                          <a:cs typeface="Times New Roman" panose="02020603050405020304" pitchFamily="18" charset="0"/>
                        </a:rPr>
                        <a:t> can delete their files in the directory.</a:t>
                      </a:r>
                    </a:p>
                  </a:txBody>
                  <a:tcPr anchor="ctr">
                    <a:lnL>
                      <a:noFill/>
                    </a:lnL>
                    <a:lnR>
                      <a:noFill/>
                    </a:lnR>
                    <a:lnT>
                      <a:noFill/>
                    </a:lnT>
                    <a:lnB>
                      <a:noFill/>
                    </a:lnB>
                    <a:noFill/>
                  </a:tcPr>
                </a:tc>
                <a:extLst>
                  <a:ext uri="{0D108BD9-81ED-4DB2-BD59-A6C34878D82A}">
                    <a16:rowId xmlns:a16="http://schemas.microsoft.com/office/drawing/2014/main" val="3196916366"/>
                  </a:ext>
                </a:extLst>
              </a:tr>
            </a:tbl>
          </a:graphicData>
        </a:graphic>
      </p:graphicFrame>
    </p:spTree>
    <p:extLst>
      <p:ext uri="{BB962C8B-B14F-4D97-AF65-F5344CB8AC3E}">
        <p14:creationId xmlns:p14="http://schemas.microsoft.com/office/powerpoint/2010/main" val="150842742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5DA56B19-04C0-F682-D3B5-70E54FF5242B}"/>
              </a:ext>
            </a:extLst>
          </p:cNvPr>
          <p:cNvSpPr>
            <a:spLocks noChangeArrowheads="1"/>
          </p:cNvSpPr>
          <p:nvPr/>
        </p:nvSpPr>
        <p:spPr bwMode="auto">
          <a:xfrm>
            <a:off x="554900" y="353945"/>
            <a:ext cx="721383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Method 2: Using Numeric Mode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numeric mode, the sticky bit is represented by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as the first digit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chmod 1777 /shared</a:t>
            </a:r>
          </a:p>
        </p:txBody>
      </p:sp>
      <p:sp>
        <p:nvSpPr>
          <p:cNvPr id="4" name="Rectangle 2">
            <a:extLst>
              <a:ext uri="{FF2B5EF4-FFF2-40B4-BE49-F238E27FC236}">
                <a16:creationId xmlns:a16="http://schemas.microsoft.com/office/drawing/2014/main" id="{13DE7A1E-803F-0322-9BB0-C5EC6A9E32E4}"/>
              </a:ext>
            </a:extLst>
          </p:cNvPr>
          <p:cNvSpPr>
            <a:spLocks noChangeArrowheads="1"/>
          </p:cNvSpPr>
          <p:nvPr/>
        </p:nvSpPr>
        <p:spPr bwMode="auto">
          <a:xfrm>
            <a:off x="554900" y="2040835"/>
            <a:ext cx="786376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Verify Sticky Bit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the ls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command: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ls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/shared</a:t>
            </a:r>
          </a:p>
        </p:txBody>
      </p:sp>
      <p:sp>
        <p:nvSpPr>
          <p:cNvPr id="6" name="TextBox 5">
            <a:extLst>
              <a:ext uri="{FF2B5EF4-FFF2-40B4-BE49-F238E27FC236}">
                <a16:creationId xmlns:a16="http://schemas.microsoft.com/office/drawing/2014/main" id="{2EEBF477-A9C3-26F4-CA02-06AE72907A16}"/>
              </a:ext>
            </a:extLst>
          </p:cNvPr>
          <p:cNvSpPr txBox="1"/>
          <p:nvPr/>
        </p:nvSpPr>
        <p:spPr>
          <a:xfrm>
            <a:off x="554900" y="3419949"/>
            <a:ext cx="7446100" cy="400110"/>
          </a:xfrm>
          <a:prstGeom prst="rect">
            <a:avLst/>
          </a:prstGeom>
          <a:noFill/>
        </p:spPr>
        <p:txBody>
          <a:bodyPr wrap="square">
            <a:spAutoFit/>
          </a:bodyPr>
          <a:lstStyle/>
          <a:p>
            <a:r>
              <a:rPr lang="en-US" sz="2000" dirty="0" err="1">
                <a:latin typeface="Times New Roman" panose="02020603050405020304" pitchFamily="18" charset="0"/>
                <a:cs typeface="Times New Roman" panose="02020603050405020304" pitchFamily="18" charset="0"/>
              </a:rPr>
              <a:t>drwxrwxrwt</a:t>
            </a:r>
            <a:r>
              <a:rPr lang="en-US" sz="2000" dirty="0">
                <a:latin typeface="Times New Roman" panose="02020603050405020304" pitchFamily="18" charset="0"/>
                <a:cs typeface="Times New Roman" panose="02020603050405020304" pitchFamily="18" charset="0"/>
              </a:rPr>
              <a:t>  2 root </a:t>
            </a:r>
            <a:r>
              <a:rPr lang="en-US" sz="2000" dirty="0" err="1">
                <a:latin typeface="Times New Roman" panose="02020603050405020304" pitchFamily="18" charset="0"/>
                <a:cs typeface="Times New Roman" panose="02020603050405020304" pitchFamily="18" charset="0"/>
              </a:rPr>
              <a:t>root</a:t>
            </a:r>
            <a:r>
              <a:rPr lang="en-US" sz="2000" dirty="0">
                <a:latin typeface="Times New Roman" panose="02020603050405020304" pitchFamily="18" charset="0"/>
                <a:cs typeface="Times New Roman" panose="02020603050405020304" pitchFamily="18" charset="0"/>
              </a:rPr>
              <a:t> 4096 May 26 10:00 /shared</a:t>
            </a:r>
          </a:p>
        </p:txBody>
      </p:sp>
      <p:sp>
        <p:nvSpPr>
          <p:cNvPr id="7" name="Rectangle 3">
            <a:extLst>
              <a:ext uri="{FF2B5EF4-FFF2-40B4-BE49-F238E27FC236}">
                <a16:creationId xmlns:a16="http://schemas.microsoft.com/office/drawing/2014/main" id="{7B31727C-42A1-0527-A8CF-62B33657A2DE}"/>
              </a:ext>
            </a:extLst>
          </p:cNvPr>
          <p:cNvSpPr>
            <a:spLocks noChangeArrowheads="1"/>
          </p:cNvSpPr>
          <p:nvPr/>
        </p:nvSpPr>
        <p:spPr bwMode="auto">
          <a:xfrm>
            <a:off x="554900" y="3983455"/>
            <a:ext cx="481574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Notice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the end — that's the sticky bit.</a:t>
            </a:r>
          </a:p>
        </p:txBody>
      </p:sp>
    </p:spTree>
    <p:extLst>
      <p:ext uri="{BB962C8B-B14F-4D97-AF65-F5344CB8AC3E}">
        <p14:creationId xmlns:p14="http://schemas.microsoft.com/office/powerpoint/2010/main" val="373687467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B7617BB-6085-2825-D917-2FCA030A20B5}"/>
              </a:ext>
            </a:extLst>
          </p:cNvPr>
          <p:cNvGraphicFramePr>
            <a:graphicFrameLocks noGrp="1"/>
          </p:cNvGraphicFramePr>
          <p:nvPr>
            <p:extLst>
              <p:ext uri="{D42A27DB-BD31-4B8C-83A1-F6EECF244321}">
                <p14:modId xmlns:p14="http://schemas.microsoft.com/office/powerpoint/2010/main" val="2797925951"/>
              </p:ext>
            </p:extLst>
          </p:nvPr>
        </p:nvGraphicFramePr>
        <p:xfrm>
          <a:off x="712788" y="2251075"/>
          <a:ext cx="7718424" cy="2438400"/>
        </p:xfrm>
        <a:graphic>
          <a:graphicData uri="http://schemas.openxmlformats.org/drawingml/2006/table">
            <a:tbl>
              <a:tblPr>
                <a:tableStyleId>{08FB837D-C827-4EFA-A057-4D05807E0F7C}</a:tableStyleId>
              </a:tblPr>
              <a:tblGrid>
                <a:gridCol w="3859212">
                  <a:extLst>
                    <a:ext uri="{9D8B030D-6E8A-4147-A177-3AD203B41FA5}">
                      <a16:colId xmlns:a16="http://schemas.microsoft.com/office/drawing/2014/main" val="412239137"/>
                    </a:ext>
                  </a:extLst>
                </a:gridCol>
                <a:gridCol w="3859212">
                  <a:extLst>
                    <a:ext uri="{9D8B030D-6E8A-4147-A177-3AD203B41FA5}">
                      <a16:colId xmlns:a16="http://schemas.microsoft.com/office/drawing/2014/main" val="3332980696"/>
                    </a:ext>
                  </a:extLst>
                </a:gridCol>
              </a:tblGrid>
              <a:tr h="304800">
                <a:tc>
                  <a:txBody>
                    <a:bodyPr/>
                    <a:lstStyle/>
                    <a:p>
                      <a:pPr>
                        <a:buNone/>
                      </a:pPr>
                      <a:r>
                        <a:rPr lang="en-IN" sz="1400" dirty="0">
                          <a:highlight>
                            <a:srgbClr val="FFFF00"/>
                          </a:highlight>
                        </a:rPr>
                        <a:t>Number</a:t>
                      </a:r>
                    </a:p>
                  </a:txBody>
                  <a:tcPr anchor="ctr"/>
                </a:tc>
                <a:tc>
                  <a:txBody>
                    <a:bodyPr/>
                    <a:lstStyle/>
                    <a:p>
                      <a:pPr>
                        <a:buNone/>
                      </a:pPr>
                      <a:r>
                        <a:rPr lang="en-IN" sz="1400" dirty="0">
                          <a:highlight>
                            <a:srgbClr val="FFFF00"/>
                          </a:highlight>
                        </a:rPr>
                        <a:t>Meaning</a:t>
                      </a:r>
                    </a:p>
                  </a:txBody>
                  <a:tcPr anchor="ctr"/>
                </a:tc>
                <a:extLst>
                  <a:ext uri="{0D108BD9-81ED-4DB2-BD59-A6C34878D82A}">
                    <a16:rowId xmlns:a16="http://schemas.microsoft.com/office/drawing/2014/main" val="497728319"/>
                  </a:ext>
                </a:extLst>
              </a:tr>
              <a:tr h="304800">
                <a:tc>
                  <a:txBody>
                    <a:bodyPr/>
                    <a:lstStyle/>
                    <a:p>
                      <a:pPr>
                        <a:buNone/>
                      </a:pPr>
                      <a:r>
                        <a:rPr lang="en-IN" sz="1400" dirty="0"/>
                        <a:t>1</a:t>
                      </a:r>
                    </a:p>
                  </a:txBody>
                  <a:tcPr anchor="ctr"/>
                </a:tc>
                <a:tc>
                  <a:txBody>
                    <a:bodyPr/>
                    <a:lstStyle/>
                    <a:p>
                      <a:pPr>
                        <a:buNone/>
                      </a:pPr>
                      <a:r>
                        <a:rPr lang="en-IN" sz="1400" dirty="0"/>
                        <a:t>Sticky</a:t>
                      </a:r>
                    </a:p>
                  </a:txBody>
                  <a:tcPr anchor="ctr"/>
                </a:tc>
                <a:extLst>
                  <a:ext uri="{0D108BD9-81ED-4DB2-BD59-A6C34878D82A}">
                    <a16:rowId xmlns:a16="http://schemas.microsoft.com/office/drawing/2014/main" val="2871185620"/>
                  </a:ext>
                </a:extLst>
              </a:tr>
              <a:tr h="304800">
                <a:tc>
                  <a:txBody>
                    <a:bodyPr/>
                    <a:lstStyle/>
                    <a:p>
                      <a:pPr>
                        <a:buNone/>
                      </a:pPr>
                      <a:r>
                        <a:rPr lang="en-IN" sz="1400" dirty="0"/>
                        <a:t>2</a:t>
                      </a:r>
                    </a:p>
                  </a:txBody>
                  <a:tcPr anchor="ctr"/>
                </a:tc>
                <a:tc>
                  <a:txBody>
                    <a:bodyPr/>
                    <a:lstStyle/>
                    <a:p>
                      <a:pPr>
                        <a:buNone/>
                      </a:pPr>
                      <a:r>
                        <a:rPr lang="en-IN" sz="1400"/>
                        <a:t>SGID</a:t>
                      </a:r>
                    </a:p>
                  </a:txBody>
                  <a:tcPr anchor="ctr"/>
                </a:tc>
                <a:extLst>
                  <a:ext uri="{0D108BD9-81ED-4DB2-BD59-A6C34878D82A}">
                    <a16:rowId xmlns:a16="http://schemas.microsoft.com/office/drawing/2014/main" val="3308984179"/>
                  </a:ext>
                </a:extLst>
              </a:tr>
              <a:tr h="304800">
                <a:tc>
                  <a:txBody>
                    <a:bodyPr/>
                    <a:lstStyle/>
                    <a:p>
                      <a:pPr>
                        <a:buNone/>
                      </a:pPr>
                      <a:r>
                        <a:rPr lang="en-IN" sz="1400"/>
                        <a:t>3</a:t>
                      </a:r>
                    </a:p>
                  </a:txBody>
                  <a:tcPr anchor="ctr"/>
                </a:tc>
                <a:tc>
                  <a:txBody>
                    <a:bodyPr/>
                    <a:lstStyle/>
                    <a:p>
                      <a:pPr>
                        <a:buNone/>
                      </a:pPr>
                      <a:r>
                        <a:rPr lang="en-IN" sz="1400"/>
                        <a:t>SGID + Sticky (2+1)</a:t>
                      </a:r>
                    </a:p>
                  </a:txBody>
                  <a:tcPr anchor="ctr"/>
                </a:tc>
                <a:extLst>
                  <a:ext uri="{0D108BD9-81ED-4DB2-BD59-A6C34878D82A}">
                    <a16:rowId xmlns:a16="http://schemas.microsoft.com/office/drawing/2014/main" val="2605854780"/>
                  </a:ext>
                </a:extLst>
              </a:tr>
              <a:tr h="304800">
                <a:tc>
                  <a:txBody>
                    <a:bodyPr/>
                    <a:lstStyle/>
                    <a:p>
                      <a:pPr>
                        <a:buNone/>
                      </a:pPr>
                      <a:r>
                        <a:rPr lang="en-IN" sz="1400"/>
                        <a:t>4</a:t>
                      </a:r>
                    </a:p>
                  </a:txBody>
                  <a:tcPr anchor="ctr"/>
                </a:tc>
                <a:tc>
                  <a:txBody>
                    <a:bodyPr/>
                    <a:lstStyle/>
                    <a:p>
                      <a:pPr>
                        <a:buNone/>
                      </a:pPr>
                      <a:r>
                        <a:rPr lang="en-IN" sz="1400"/>
                        <a:t>SUID</a:t>
                      </a:r>
                    </a:p>
                  </a:txBody>
                  <a:tcPr anchor="ctr"/>
                </a:tc>
                <a:extLst>
                  <a:ext uri="{0D108BD9-81ED-4DB2-BD59-A6C34878D82A}">
                    <a16:rowId xmlns:a16="http://schemas.microsoft.com/office/drawing/2014/main" val="1924716374"/>
                  </a:ext>
                </a:extLst>
              </a:tr>
              <a:tr h="304800">
                <a:tc>
                  <a:txBody>
                    <a:bodyPr/>
                    <a:lstStyle/>
                    <a:p>
                      <a:pPr>
                        <a:buNone/>
                      </a:pPr>
                      <a:r>
                        <a:rPr lang="en-IN" sz="1400"/>
                        <a:t>5</a:t>
                      </a:r>
                    </a:p>
                  </a:txBody>
                  <a:tcPr anchor="ctr"/>
                </a:tc>
                <a:tc>
                  <a:txBody>
                    <a:bodyPr/>
                    <a:lstStyle/>
                    <a:p>
                      <a:pPr>
                        <a:buNone/>
                      </a:pPr>
                      <a:r>
                        <a:rPr lang="en-IN" sz="1400"/>
                        <a:t>SUID + Sticky (4+1)</a:t>
                      </a:r>
                    </a:p>
                  </a:txBody>
                  <a:tcPr anchor="ctr"/>
                </a:tc>
                <a:extLst>
                  <a:ext uri="{0D108BD9-81ED-4DB2-BD59-A6C34878D82A}">
                    <a16:rowId xmlns:a16="http://schemas.microsoft.com/office/drawing/2014/main" val="1850854358"/>
                  </a:ext>
                </a:extLst>
              </a:tr>
              <a:tr h="304800">
                <a:tc>
                  <a:txBody>
                    <a:bodyPr/>
                    <a:lstStyle/>
                    <a:p>
                      <a:pPr>
                        <a:buNone/>
                      </a:pPr>
                      <a:r>
                        <a:rPr lang="en-IN" sz="1400"/>
                        <a:t>6</a:t>
                      </a:r>
                    </a:p>
                  </a:txBody>
                  <a:tcPr anchor="ctr"/>
                </a:tc>
                <a:tc>
                  <a:txBody>
                    <a:bodyPr/>
                    <a:lstStyle/>
                    <a:p>
                      <a:pPr>
                        <a:buNone/>
                      </a:pPr>
                      <a:r>
                        <a:rPr lang="en-IN" sz="1400"/>
                        <a:t>SUID + SGID (4+2)</a:t>
                      </a:r>
                    </a:p>
                  </a:txBody>
                  <a:tcPr anchor="ctr"/>
                </a:tc>
                <a:extLst>
                  <a:ext uri="{0D108BD9-81ED-4DB2-BD59-A6C34878D82A}">
                    <a16:rowId xmlns:a16="http://schemas.microsoft.com/office/drawing/2014/main" val="3637329857"/>
                  </a:ext>
                </a:extLst>
              </a:tr>
              <a:tr h="304800">
                <a:tc>
                  <a:txBody>
                    <a:bodyPr/>
                    <a:lstStyle/>
                    <a:p>
                      <a:pPr>
                        <a:buNone/>
                      </a:pPr>
                      <a:r>
                        <a:rPr lang="en-IN" sz="1400"/>
                        <a:t>7</a:t>
                      </a:r>
                    </a:p>
                  </a:txBody>
                  <a:tcPr anchor="ctr"/>
                </a:tc>
                <a:tc>
                  <a:txBody>
                    <a:bodyPr/>
                    <a:lstStyle/>
                    <a:p>
                      <a:pPr>
                        <a:buNone/>
                      </a:pPr>
                      <a:r>
                        <a:rPr lang="en-IN" sz="1400" dirty="0"/>
                        <a:t>SUID + SGID + Sticky (4+2+1)</a:t>
                      </a:r>
                    </a:p>
                  </a:txBody>
                  <a:tcPr anchor="ctr"/>
                </a:tc>
                <a:extLst>
                  <a:ext uri="{0D108BD9-81ED-4DB2-BD59-A6C34878D82A}">
                    <a16:rowId xmlns:a16="http://schemas.microsoft.com/office/drawing/2014/main" val="1983766079"/>
                  </a:ext>
                </a:extLst>
              </a:tr>
            </a:tbl>
          </a:graphicData>
        </a:graphic>
      </p:graphicFrame>
      <p:graphicFrame>
        <p:nvGraphicFramePr>
          <p:cNvPr id="4" name="Table 3">
            <a:extLst>
              <a:ext uri="{FF2B5EF4-FFF2-40B4-BE49-F238E27FC236}">
                <a16:creationId xmlns:a16="http://schemas.microsoft.com/office/drawing/2014/main" id="{FA84851E-4260-89FF-FC3A-8E0305B7959A}"/>
              </a:ext>
            </a:extLst>
          </p:cNvPr>
          <p:cNvGraphicFramePr>
            <a:graphicFrameLocks noGrp="1"/>
          </p:cNvGraphicFramePr>
          <p:nvPr>
            <p:extLst>
              <p:ext uri="{D42A27DB-BD31-4B8C-83A1-F6EECF244321}">
                <p14:modId xmlns:p14="http://schemas.microsoft.com/office/powerpoint/2010/main" val="664509877"/>
              </p:ext>
            </p:extLst>
          </p:nvPr>
        </p:nvGraphicFramePr>
        <p:xfrm>
          <a:off x="712788" y="1031875"/>
          <a:ext cx="7718424" cy="1219200"/>
        </p:xfrm>
        <a:graphic>
          <a:graphicData uri="http://schemas.openxmlformats.org/drawingml/2006/table">
            <a:tbl>
              <a:tblPr>
                <a:tableStyleId>{69C7853C-536D-4A76-A0AE-DD22124D55A5}</a:tableStyleId>
              </a:tblPr>
              <a:tblGrid>
                <a:gridCol w="3859212">
                  <a:extLst>
                    <a:ext uri="{9D8B030D-6E8A-4147-A177-3AD203B41FA5}">
                      <a16:colId xmlns:a16="http://schemas.microsoft.com/office/drawing/2014/main" val="339763079"/>
                    </a:ext>
                  </a:extLst>
                </a:gridCol>
                <a:gridCol w="3859212">
                  <a:extLst>
                    <a:ext uri="{9D8B030D-6E8A-4147-A177-3AD203B41FA5}">
                      <a16:colId xmlns:a16="http://schemas.microsoft.com/office/drawing/2014/main" val="1225187119"/>
                    </a:ext>
                  </a:extLst>
                </a:gridCol>
              </a:tblGrid>
              <a:tr h="304800">
                <a:tc>
                  <a:txBody>
                    <a:bodyPr/>
                    <a:lstStyle/>
                    <a:p>
                      <a:pPr>
                        <a:buNone/>
                      </a:pPr>
                      <a:r>
                        <a:rPr lang="en-IN" sz="1400" dirty="0">
                          <a:highlight>
                            <a:srgbClr val="FFFF00"/>
                          </a:highlight>
                        </a:rPr>
                        <a:t>Special Permission</a:t>
                      </a:r>
                    </a:p>
                  </a:txBody>
                  <a:tcPr anchor="ctr"/>
                </a:tc>
                <a:tc>
                  <a:txBody>
                    <a:bodyPr/>
                    <a:lstStyle/>
                    <a:p>
                      <a:pPr>
                        <a:buNone/>
                      </a:pPr>
                      <a:r>
                        <a:rPr lang="en-IN" sz="1400" dirty="0">
                          <a:highlight>
                            <a:srgbClr val="FFFF00"/>
                          </a:highlight>
                        </a:rPr>
                        <a:t>Value</a:t>
                      </a:r>
                    </a:p>
                  </a:txBody>
                  <a:tcPr anchor="ctr"/>
                </a:tc>
                <a:extLst>
                  <a:ext uri="{0D108BD9-81ED-4DB2-BD59-A6C34878D82A}">
                    <a16:rowId xmlns:a16="http://schemas.microsoft.com/office/drawing/2014/main" val="216163879"/>
                  </a:ext>
                </a:extLst>
              </a:tr>
              <a:tr h="304800">
                <a:tc>
                  <a:txBody>
                    <a:bodyPr/>
                    <a:lstStyle/>
                    <a:p>
                      <a:pPr>
                        <a:buNone/>
                      </a:pPr>
                      <a:r>
                        <a:rPr lang="en-IN" sz="1400" dirty="0"/>
                        <a:t>SUID</a:t>
                      </a:r>
                    </a:p>
                  </a:txBody>
                  <a:tcPr anchor="ctr"/>
                </a:tc>
                <a:tc>
                  <a:txBody>
                    <a:bodyPr/>
                    <a:lstStyle/>
                    <a:p>
                      <a:pPr>
                        <a:buNone/>
                      </a:pPr>
                      <a:r>
                        <a:rPr lang="en-IN" sz="1400"/>
                        <a:t>4</a:t>
                      </a:r>
                    </a:p>
                  </a:txBody>
                  <a:tcPr anchor="ctr"/>
                </a:tc>
                <a:extLst>
                  <a:ext uri="{0D108BD9-81ED-4DB2-BD59-A6C34878D82A}">
                    <a16:rowId xmlns:a16="http://schemas.microsoft.com/office/drawing/2014/main" val="1709506910"/>
                  </a:ext>
                </a:extLst>
              </a:tr>
              <a:tr h="304800">
                <a:tc>
                  <a:txBody>
                    <a:bodyPr/>
                    <a:lstStyle/>
                    <a:p>
                      <a:pPr>
                        <a:buNone/>
                      </a:pPr>
                      <a:r>
                        <a:rPr lang="en-IN" sz="1400" dirty="0"/>
                        <a:t>SGID</a:t>
                      </a:r>
                    </a:p>
                  </a:txBody>
                  <a:tcPr anchor="ctr"/>
                </a:tc>
                <a:tc>
                  <a:txBody>
                    <a:bodyPr/>
                    <a:lstStyle/>
                    <a:p>
                      <a:pPr>
                        <a:buNone/>
                      </a:pPr>
                      <a:r>
                        <a:rPr lang="en-IN" sz="1400" dirty="0"/>
                        <a:t>2</a:t>
                      </a:r>
                    </a:p>
                  </a:txBody>
                  <a:tcPr anchor="ctr"/>
                </a:tc>
                <a:extLst>
                  <a:ext uri="{0D108BD9-81ED-4DB2-BD59-A6C34878D82A}">
                    <a16:rowId xmlns:a16="http://schemas.microsoft.com/office/drawing/2014/main" val="1543316832"/>
                  </a:ext>
                </a:extLst>
              </a:tr>
              <a:tr h="304800">
                <a:tc>
                  <a:txBody>
                    <a:bodyPr/>
                    <a:lstStyle/>
                    <a:p>
                      <a:pPr>
                        <a:buNone/>
                      </a:pPr>
                      <a:r>
                        <a:rPr lang="en-IN" sz="1400" dirty="0"/>
                        <a:t>Sticky</a:t>
                      </a:r>
                    </a:p>
                  </a:txBody>
                  <a:tcPr anchor="ctr"/>
                </a:tc>
                <a:tc>
                  <a:txBody>
                    <a:bodyPr/>
                    <a:lstStyle/>
                    <a:p>
                      <a:pPr>
                        <a:buNone/>
                      </a:pPr>
                      <a:r>
                        <a:rPr lang="en-IN" sz="1400" dirty="0"/>
                        <a:t>1</a:t>
                      </a:r>
                    </a:p>
                  </a:txBody>
                  <a:tcPr anchor="ctr"/>
                </a:tc>
                <a:extLst>
                  <a:ext uri="{0D108BD9-81ED-4DB2-BD59-A6C34878D82A}">
                    <a16:rowId xmlns:a16="http://schemas.microsoft.com/office/drawing/2014/main" val="2467598716"/>
                  </a:ext>
                </a:extLst>
              </a:tr>
            </a:tbl>
          </a:graphicData>
        </a:graphic>
      </p:graphicFrame>
      <p:sp>
        <p:nvSpPr>
          <p:cNvPr id="6" name="TextBox 5">
            <a:extLst>
              <a:ext uri="{FF2B5EF4-FFF2-40B4-BE49-F238E27FC236}">
                <a16:creationId xmlns:a16="http://schemas.microsoft.com/office/drawing/2014/main" id="{2DE10F06-6008-FF24-FC5A-F66D4A36FE7D}"/>
              </a:ext>
            </a:extLst>
          </p:cNvPr>
          <p:cNvSpPr txBox="1"/>
          <p:nvPr/>
        </p:nvSpPr>
        <p:spPr>
          <a:xfrm>
            <a:off x="1388962" y="177026"/>
            <a:ext cx="6366076" cy="553998"/>
          </a:xfrm>
          <a:prstGeom prst="rect">
            <a:avLst/>
          </a:prstGeom>
          <a:noFill/>
        </p:spPr>
        <p:txBody>
          <a:bodyPr wrap="square">
            <a:spAutoFit/>
          </a:bodyPr>
          <a:lstStyle/>
          <a:p>
            <a:pPr algn="ctr">
              <a:buNone/>
            </a:pPr>
            <a:r>
              <a:rPr lang="en-IN" sz="3000" b="1" dirty="0">
                <a:latin typeface="Times New Roman" panose="02020603050405020304" pitchFamily="18" charset="0"/>
                <a:cs typeface="Times New Roman" panose="02020603050405020304" pitchFamily="18" charset="0"/>
              </a:rPr>
              <a:t>🔐 Special Permission Binary Logic</a:t>
            </a:r>
          </a:p>
        </p:txBody>
      </p:sp>
    </p:spTree>
    <p:extLst>
      <p:ext uri="{BB962C8B-B14F-4D97-AF65-F5344CB8AC3E}">
        <p14:creationId xmlns:p14="http://schemas.microsoft.com/office/powerpoint/2010/main" val="401072930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8E742919-5F90-EA88-C9D6-DFB6E03BDD0F}"/>
              </a:ext>
            </a:extLst>
          </p:cNvPr>
          <p:cNvSpPr txBox="1"/>
          <p:nvPr/>
        </p:nvSpPr>
        <p:spPr>
          <a:xfrm>
            <a:off x="167812" y="2571750"/>
            <a:ext cx="8804738" cy="1692771"/>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 How It Works</a:t>
            </a:r>
          </a:p>
          <a:p>
            <a:r>
              <a:rPr lang="en-US" sz="2000" dirty="0">
                <a:latin typeface="Times New Roman" panose="02020603050405020304" pitchFamily="18" charset="0"/>
                <a:cs typeface="Times New Roman" panose="02020603050405020304" pitchFamily="18" charset="0"/>
              </a:rPr>
              <a:t>Linux assigns a default base permission when a file/directory is created:</a:t>
            </a:r>
          </a:p>
          <a:p>
            <a:pPr lvl="1"/>
            <a:r>
              <a:rPr lang="en-US" sz="2000" dirty="0">
                <a:latin typeface="Times New Roman" panose="02020603050405020304" pitchFamily="18" charset="0"/>
                <a:cs typeface="Times New Roman" panose="02020603050405020304" pitchFamily="18" charset="0"/>
              </a:rPr>
              <a:t>Files: 666 (read/write for user, group, others)</a:t>
            </a:r>
          </a:p>
          <a:p>
            <a:pPr lvl="1"/>
            <a:r>
              <a:rPr lang="en-US" sz="2000" dirty="0">
                <a:latin typeface="Times New Roman" panose="02020603050405020304" pitchFamily="18" charset="0"/>
                <a:cs typeface="Times New Roman" panose="02020603050405020304" pitchFamily="18" charset="0"/>
              </a:rPr>
              <a:t>Directories: 777 (read/write/execute for all) </a:t>
            </a:r>
          </a:p>
          <a:p>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umask</a:t>
            </a:r>
            <a:r>
              <a:rPr lang="en-US" sz="2000" dirty="0">
                <a:latin typeface="Times New Roman" panose="02020603050405020304" pitchFamily="18" charset="0"/>
                <a:cs typeface="Times New Roman" panose="02020603050405020304" pitchFamily="18" charset="0"/>
              </a:rPr>
              <a:t> subtracts (masks out) bits from these defaults.</a:t>
            </a:r>
          </a:p>
        </p:txBody>
      </p:sp>
      <p:sp>
        <p:nvSpPr>
          <p:cNvPr id="22" name="TextBox 21">
            <a:extLst>
              <a:ext uri="{FF2B5EF4-FFF2-40B4-BE49-F238E27FC236}">
                <a16:creationId xmlns:a16="http://schemas.microsoft.com/office/drawing/2014/main" id="{F7616320-EF52-2B34-66FA-C678FC68D1EB}"/>
              </a:ext>
            </a:extLst>
          </p:cNvPr>
          <p:cNvSpPr txBox="1"/>
          <p:nvPr/>
        </p:nvSpPr>
        <p:spPr>
          <a:xfrm>
            <a:off x="179242" y="585722"/>
            <a:ext cx="6971261" cy="1692771"/>
          </a:xfrm>
          <a:prstGeom prst="rect">
            <a:avLst/>
          </a:prstGeom>
          <a:noFill/>
        </p:spPr>
        <p:txBody>
          <a:bodyPr wrap="square">
            <a:spAutoFit/>
          </a:bodyPr>
          <a:lstStyle/>
          <a:p>
            <a:pPr>
              <a:buNone/>
            </a:pPr>
            <a:r>
              <a:rPr lang="en-US" sz="2400" dirty="0">
                <a:latin typeface="Times New Roman" panose="02020603050405020304" pitchFamily="18" charset="0"/>
                <a:cs typeface="Times New Roman" panose="02020603050405020304" pitchFamily="18" charset="0"/>
              </a:rPr>
              <a:t>What is </a:t>
            </a:r>
            <a:r>
              <a:rPr lang="en-US" sz="2400" dirty="0" err="1">
                <a:latin typeface="Times New Roman" panose="02020603050405020304" pitchFamily="18" charset="0"/>
                <a:cs typeface="Times New Roman" panose="02020603050405020304" pitchFamily="18" charset="0"/>
              </a:rPr>
              <a:t>umask</a:t>
            </a:r>
            <a:r>
              <a:rPr lang="en-US" sz="2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umask</a:t>
            </a:r>
            <a:r>
              <a:rPr lang="en-US" sz="2000" dirty="0">
                <a:latin typeface="Times New Roman" panose="02020603050405020304" pitchFamily="18" charset="0"/>
                <a:cs typeface="Times New Roman" panose="02020603050405020304" pitchFamily="18" charset="0"/>
              </a:rPr>
              <a:t> stands for user file-creation mode mask.</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defines default </a:t>
            </a:r>
            <a:r>
              <a:rPr lang="en-US" sz="2000">
                <a:latin typeface="Times New Roman" panose="02020603050405020304" pitchFamily="18" charset="0"/>
                <a:cs typeface="Times New Roman" panose="02020603050405020304" pitchFamily="18" charset="0"/>
              </a:rPr>
              <a:t>permissions when </a:t>
            </a:r>
            <a:r>
              <a:rPr lang="en-US" sz="2000" dirty="0">
                <a:latin typeface="Times New Roman" panose="02020603050405020304" pitchFamily="18" charset="0"/>
                <a:cs typeface="Times New Roman" panose="02020603050405020304" pitchFamily="18" charset="0"/>
              </a:rPr>
              <a:t>a new file or directory is created.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Every process has a </a:t>
            </a:r>
            <a:r>
              <a:rPr lang="en-US" sz="2000" dirty="0" err="1">
                <a:latin typeface="Times New Roman" panose="02020603050405020304" pitchFamily="18" charset="0"/>
                <a:cs typeface="Times New Roman" panose="02020603050405020304" pitchFamily="18" charset="0"/>
              </a:rPr>
              <a:t>umask</a:t>
            </a:r>
            <a:r>
              <a:rPr lang="en-US" sz="2000" dirty="0">
                <a:latin typeface="Times New Roman" panose="02020603050405020304" pitchFamily="18" charset="0"/>
                <a:cs typeface="Times New Roman" panose="02020603050405020304" pitchFamily="18" charset="0"/>
              </a:rPr>
              <a:t> value; child processes inherit it. </a:t>
            </a:r>
          </a:p>
        </p:txBody>
      </p:sp>
      <p:sp>
        <p:nvSpPr>
          <p:cNvPr id="24" name="TextBox 23">
            <a:extLst>
              <a:ext uri="{FF2B5EF4-FFF2-40B4-BE49-F238E27FC236}">
                <a16:creationId xmlns:a16="http://schemas.microsoft.com/office/drawing/2014/main" id="{4BC9125A-01B5-563E-B22B-F6DD7F54C938}"/>
              </a:ext>
            </a:extLst>
          </p:cNvPr>
          <p:cNvSpPr txBox="1"/>
          <p:nvPr/>
        </p:nvSpPr>
        <p:spPr>
          <a:xfrm>
            <a:off x="1227425" y="4357723"/>
            <a:ext cx="6685511" cy="400110"/>
          </a:xfrm>
          <a:prstGeom prst="rect">
            <a:avLst/>
          </a:prstGeom>
          <a:noFill/>
        </p:spPr>
        <p:txBody>
          <a:bodyPr wrap="square">
            <a:spAutoFit/>
          </a:bodyPr>
          <a:lstStyle/>
          <a:p>
            <a:pPr algn="ctr"/>
            <a:r>
              <a:rPr lang="en-US" sz="2000" dirty="0">
                <a:highlight>
                  <a:srgbClr val="FFFF00"/>
                </a:highlight>
                <a:latin typeface="Times New Roman" panose="02020603050405020304" pitchFamily="18" charset="0"/>
                <a:cs typeface="Times New Roman" panose="02020603050405020304" pitchFamily="18" charset="0"/>
              </a:rPr>
              <a:t>Effective Permissions = Default Permissions – </a:t>
            </a:r>
            <a:r>
              <a:rPr lang="en-US" sz="2000" dirty="0" err="1">
                <a:highlight>
                  <a:srgbClr val="FFFF00"/>
                </a:highlight>
                <a:latin typeface="Times New Roman" panose="02020603050405020304" pitchFamily="18" charset="0"/>
                <a:cs typeface="Times New Roman" panose="02020603050405020304" pitchFamily="18" charset="0"/>
              </a:rPr>
              <a:t>umask</a:t>
            </a:r>
            <a:endParaRPr lang="en-US" sz="2000" dirty="0">
              <a:highlight>
                <a:srgbClr val="FFFF00"/>
              </a:highlight>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06631D65-24F1-052D-6D53-24008400F528}"/>
              </a:ext>
            </a:extLst>
          </p:cNvPr>
          <p:cNvSpPr txBox="1"/>
          <p:nvPr/>
        </p:nvSpPr>
        <p:spPr>
          <a:xfrm>
            <a:off x="1989859" y="31724"/>
            <a:ext cx="5160644" cy="584775"/>
          </a:xfrm>
          <a:prstGeom prst="rect">
            <a:avLst/>
          </a:prstGeom>
          <a:noFill/>
        </p:spPr>
        <p:txBody>
          <a:bodyPr wrap="square">
            <a:spAutoFit/>
          </a:bodyPr>
          <a:lstStyle/>
          <a:p>
            <a:pPr algn="ctr"/>
            <a:r>
              <a:rPr lang="en-US" sz="3200" dirty="0" err="1">
                <a:latin typeface="Times New Roman" panose="02020603050405020304" pitchFamily="18" charset="0"/>
                <a:cs typeface="Times New Roman" panose="02020603050405020304" pitchFamily="18" charset="0"/>
              </a:rPr>
              <a:t>Umask</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60421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7F1E08A-8E07-F831-BF7A-7DD56DD3D51E}"/>
              </a:ext>
            </a:extLst>
          </p:cNvPr>
          <p:cNvGraphicFramePr>
            <a:graphicFrameLocks noGrp="1"/>
          </p:cNvGraphicFramePr>
          <p:nvPr>
            <p:extLst>
              <p:ext uri="{D42A27DB-BD31-4B8C-83A1-F6EECF244321}">
                <p14:modId xmlns:p14="http://schemas.microsoft.com/office/powerpoint/2010/main" val="79713306"/>
              </p:ext>
            </p:extLst>
          </p:nvPr>
        </p:nvGraphicFramePr>
        <p:xfrm>
          <a:off x="712788" y="411481"/>
          <a:ext cx="7718424" cy="3188967"/>
        </p:xfrm>
        <a:graphic>
          <a:graphicData uri="http://schemas.openxmlformats.org/drawingml/2006/table">
            <a:tbl>
              <a:tblPr/>
              <a:tblGrid>
                <a:gridCol w="1929606">
                  <a:extLst>
                    <a:ext uri="{9D8B030D-6E8A-4147-A177-3AD203B41FA5}">
                      <a16:colId xmlns:a16="http://schemas.microsoft.com/office/drawing/2014/main" val="2439934154"/>
                    </a:ext>
                  </a:extLst>
                </a:gridCol>
                <a:gridCol w="1929606">
                  <a:extLst>
                    <a:ext uri="{9D8B030D-6E8A-4147-A177-3AD203B41FA5}">
                      <a16:colId xmlns:a16="http://schemas.microsoft.com/office/drawing/2014/main" val="1787710786"/>
                    </a:ext>
                  </a:extLst>
                </a:gridCol>
                <a:gridCol w="1929606">
                  <a:extLst>
                    <a:ext uri="{9D8B030D-6E8A-4147-A177-3AD203B41FA5}">
                      <a16:colId xmlns:a16="http://schemas.microsoft.com/office/drawing/2014/main" val="1527218834"/>
                    </a:ext>
                  </a:extLst>
                </a:gridCol>
                <a:gridCol w="1929606">
                  <a:extLst>
                    <a:ext uri="{9D8B030D-6E8A-4147-A177-3AD203B41FA5}">
                      <a16:colId xmlns:a16="http://schemas.microsoft.com/office/drawing/2014/main" val="486301283"/>
                    </a:ext>
                  </a:extLst>
                </a:gridCol>
              </a:tblGrid>
              <a:tr h="379639">
                <a:tc>
                  <a:txBody>
                    <a:bodyPr/>
                    <a:lstStyle/>
                    <a:p>
                      <a:pPr>
                        <a:buNone/>
                      </a:pPr>
                      <a:r>
                        <a:rPr lang="en-US"/>
                        <a:t>umask</a:t>
                      </a:r>
                    </a:p>
                  </a:txBody>
                  <a:tcPr anchor="ctr">
                    <a:lnL>
                      <a:noFill/>
                    </a:lnL>
                    <a:lnR>
                      <a:noFill/>
                    </a:lnR>
                    <a:lnT>
                      <a:noFill/>
                    </a:lnT>
                    <a:lnB>
                      <a:noFill/>
                    </a:lnB>
                    <a:pattFill prst="pct80">
                      <a:fgClr>
                        <a:schemeClr val="accent1"/>
                      </a:fgClr>
                      <a:bgClr>
                        <a:schemeClr val="bg1"/>
                      </a:bgClr>
                    </a:pattFill>
                  </a:tcPr>
                </a:tc>
                <a:tc>
                  <a:txBody>
                    <a:bodyPr/>
                    <a:lstStyle/>
                    <a:p>
                      <a:pPr>
                        <a:buNone/>
                      </a:pPr>
                      <a:r>
                        <a:rPr lang="en-US" dirty="0"/>
                        <a:t>New File Perms</a:t>
                      </a:r>
                    </a:p>
                  </a:txBody>
                  <a:tcPr anchor="ctr">
                    <a:lnL>
                      <a:noFill/>
                    </a:lnL>
                    <a:lnR>
                      <a:noFill/>
                    </a:lnR>
                    <a:lnT>
                      <a:noFill/>
                    </a:lnT>
                    <a:lnB>
                      <a:noFill/>
                    </a:lnB>
                    <a:pattFill prst="pct80">
                      <a:fgClr>
                        <a:schemeClr val="accent1"/>
                      </a:fgClr>
                      <a:bgClr>
                        <a:schemeClr val="bg1"/>
                      </a:bgClr>
                    </a:pattFill>
                  </a:tcPr>
                </a:tc>
                <a:tc>
                  <a:txBody>
                    <a:bodyPr/>
                    <a:lstStyle/>
                    <a:p>
                      <a:pPr>
                        <a:buNone/>
                      </a:pPr>
                      <a:r>
                        <a:rPr lang="en-US" dirty="0"/>
                        <a:t>New Dir Perms</a:t>
                      </a:r>
                    </a:p>
                  </a:txBody>
                  <a:tcPr anchor="ctr">
                    <a:lnL>
                      <a:noFill/>
                    </a:lnL>
                    <a:lnR>
                      <a:noFill/>
                    </a:lnR>
                    <a:lnT>
                      <a:noFill/>
                    </a:lnT>
                    <a:lnB>
                      <a:noFill/>
                    </a:lnB>
                    <a:pattFill prst="pct80">
                      <a:fgClr>
                        <a:schemeClr val="accent1"/>
                      </a:fgClr>
                      <a:bgClr>
                        <a:schemeClr val="bg1"/>
                      </a:bgClr>
                    </a:pattFill>
                  </a:tcPr>
                </a:tc>
                <a:tc>
                  <a:txBody>
                    <a:bodyPr/>
                    <a:lstStyle/>
                    <a:p>
                      <a:pPr>
                        <a:buNone/>
                      </a:pPr>
                      <a:r>
                        <a:rPr lang="en-US"/>
                        <a:t>Meaning</a:t>
                      </a:r>
                    </a:p>
                  </a:txBody>
                  <a:tcPr anchor="ctr">
                    <a:lnL>
                      <a:noFill/>
                    </a:lnL>
                    <a:lnR>
                      <a:noFill/>
                    </a:lnR>
                    <a:lnT>
                      <a:noFill/>
                    </a:lnT>
                    <a:lnB>
                      <a:noFill/>
                    </a:lnB>
                    <a:pattFill prst="pct80">
                      <a:fgClr>
                        <a:schemeClr val="accent1"/>
                      </a:fgClr>
                      <a:bgClr>
                        <a:schemeClr val="bg1"/>
                      </a:bgClr>
                    </a:pattFill>
                  </a:tcPr>
                </a:tc>
                <a:extLst>
                  <a:ext uri="{0D108BD9-81ED-4DB2-BD59-A6C34878D82A}">
                    <a16:rowId xmlns:a16="http://schemas.microsoft.com/office/drawing/2014/main" val="3345349515"/>
                  </a:ext>
                </a:extLst>
              </a:tr>
              <a:tr h="645386">
                <a:tc>
                  <a:txBody>
                    <a:bodyPr/>
                    <a:lstStyle/>
                    <a:p>
                      <a:pPr>
                        <a:buNone/>
                      </a:pPr>
                      <a:r>
                        <a:rPr lang="en-US" dirty="0"/>
                        <a:t>000</a:t>
                      </a:r>
                    </a:p>
                  </a:txBody>
                  <a:tcPr anchor="ctr">
                    <a:lnL>
                      <a:noFill/>
                    </a:lnL>
                    <a:lnR>
                      <a:noFill/>
                    </a:lnR>
                    <a:lnT>
                      <a:noFill/>
                    </a:lnT>
                    <a:lnB>
                      <a:noFill/>
                    </a:lnB>
                    <a:pattFill prst="pct80">
                      <a:fgClr>
                        <a:schemeClr val="accent1"/>
                      </a:fgClr>
                      <a:bgClr>
                        <a:schemeClr val="bg1"/>
                      </a:bgClr>
                    </a:pattFill>
                  </a:tcPr>
                </a:tc>
                <a:tc>
                  <a:txBody>
                    <a:bodyPr/>
                    <a:lstStyle/>
                    <a:p>
                      <a:pPr>
                        <a:buNone/>
                      </a:pPr>
                      <a:r>
                        <a:rPr lang="en-US" dirty="0"/>
                        <a:t>666 – 000 = </a:t>
                      </a:r>
                      <a:r>
                        <a:rPr lang="en-US" b="1" dirty="0" err="1"/>
                        <a:t>rw-rw-rw</a:t>
                      </a:r>
                      <a:r>
                        <a:rPr lang="en-US" b="1" dirty="0"/>
                        <a:t>-</a:t>
                      </a:r>
                      <a:endParaRPr lang="en-US" dirty="0"/>
                    </a:p>
                  </a:txBody>
                  <a:tcPr anchor="ctr">
                    <a:lnL>
                      <a:noFill/>
                    </a:lnL>
                    <a:lnR>
                      <a:noFill/>
                    </a:lnR>
                    <a:lnT>
                      <a:noFill/>
                    </a:lnT>
                    <a:lnB>
                      <a:noFill/>
                    </a:lnB>
                    <a:pattFill prst="pct80">
                      <a:fgClr>
                        <a:schemeClr val="accent1"/>
                      </a:fgClr>
                      <a:bgClr>
                        <a:schemeClr val="bg1"/>
                      </a:bgClr>
                    </a:pattFill>
                  </a:tcPr>
                </a:tc>
                <a:tc>
                  <a:txBody>
                    <a:bodyPr/>
                    <a:lstStyle/>
                    <a:p>
                      <a:pPr>
                        <a:buNone/>
                      </a:pPr>
                      <a:r>
                        <a:rPr lang="en-US"/>
                        <a:t>777 – 000 = </a:t>
                      </a:r>
                      <a:r>
                        <a:rPr lang="en-US" b="1"/>
                        <a:t>rwx-rwx-rwx</a:t>
                      </a:r>
                      <a:endParaRPr lang="en-US"/>
                    </a:p>
                  </a:txBody>
                  <a:tcPr anchor="ctr">
                    <a:lnL>
                      <a:noFill/>
                    </a:lnL>
                    <a:lnR>
                      <a:noFill/>
                    </a:lnR>
                    <a:lnT>
                      <a:noFill/>
                    </a:lnT>
                    <a:lnB>
                      <a:noFill/>
                    </a:lnB>
                    <a:pattFill prst="pct80">
                      <a:fgClr>
                        <a:schemeClr val="accent1"/>
                      </a:fgClr>
                      <a:bgClr>
                        <a:schemeClr val="bg1"/>
                      </a:bgClr>
                    </a:pattFill>
                  </a:tcPr>
                </a:tc>
                <a:tc>
                  <a:txBody>
                    <a:bodyPr/>
                    <a:lstStyle/>
                    <a:p>
                      <a:pPr>
                        <a:buNone/>
                      </a:pPr>
                      <a:r>
                        <a:rPr lang="en-US"/>
                        <a:t>World-open (insecure)</a:t>
                      </a:r>
                    </a:p>
                  </a:txBody>
                  <a:tcPr anchor="ctr">
                    <a:lnL>
                      <a:noFill/>
                    </a:lnL>
                    <a:lnR>
                      <a:noFill/>
                    </a:lnR>
                    <a:lnT>
                      <a:noFill/>
                    </a:lnT>
                    <a:lnB>
                      <a:noFill/>
                    </a:lnB>
                    <a:pattFill prst="pct80">
                      <a:fgClr>
                        <a:schemeClr val="accent1"/>
                      </a:fgClr>
                      <a:bgClr>
                        <a:schemeClr val="bg1"/>
                      </a:bgClr>
                    </a:pattFill>
                  </a:tcPr>
                </a:tc>
                <a:extLst>
                  <a:ext uri="{0D108BD9-81ED-4DB2-BD59-A6C34878D82A}">
                    <a16:rowId xmlns:a16="http://schemas.microsoft.com/office/drawing/2014/main" val="3792198771"/>
                  </a:ext>
                </a:extLst>
              </a:tr>
              <a:tr h="379639">
                <a:tc>
                  <a:txBody>
                    <a:bodyPr/>
                    <a:lstStyle/>
                    <a:p>
                      <a:pPr>
                        <a:buNone/>
                      </a:pPr>
                      <a:r>
                        <a:rPr lang="en-US"/>
                        <a:t>022</a:t>
                      </a:r>
                    </a:p>
                  </a:txBody>
                  <a:tcPr anchor="ctr">
                    <a:lnL>
                      <a:noFill/>
                    </a:lnL>
                    <a:lnR>
                      <a:noFill/>
                    </a:lnR>
                    <a:lnT>
                      <a:noFill/>
                    </a:lnT>
                    <a:lnB>
                      <a:noFill/>
                    </a:lnB>
                    <a:pattFill prst="pct80">
                      <a:fgClr>
                        <a:schemeClr val="accent1"/>
                      </a:fgClr>
                      <a:bgClr>
                        <a:schemeClr val="bg1"/>
                      </a:bgClr>
                    </a:pattFill>
                  </a:tcPr>
                </a:tc>
                <a:tc>
                  <a:txBody>
                    <a:bodyPr/>
                    <a:lstStyle/>
                    <a:p>
                      <a:pPr>
                        <a:buNone/>
                      </a:pPr>
                      <a:r>
                        <a:rPr lang="en-US" dirty="0"/>
                        <a:t>666 – 022 = </a:t>
                      </a:r>
                      <a:r>
                        <a:rPr lang="en-US" b="1" dirty="0" err="1"/>
                        <a:t>rw</a:t>
                      </a:r>
                      <a:r>
                        <a:rPr lang="en-US" b="1" dirty="0"/>
                        <a:t>-r-r-</a:t>
                      </a:r>
                      <a:endParaRPr lang="en-US" dirty="0"/>
                    </a:p>
                  </a:txBody>
                  <a:tcPr anchor="ctr">
                    <a:lnL>
                      <a:noFill/>
                    </a:lnL>
                    <a:lnR>
                      <a:noFill/>
                    </a:lnR>
                    <a:lnT>
                      <a:noFill/>
                    </a:lnT>
                    <a:lnB>
                      <a:noFill/>
                    </a:lnB>
                    <a:pattFill prst="pct80">
                      <a:fgClr>
                        <a:schemeClr val="accent1"/>
                      </a:fgClr>
                      <a:bgClr>
                        <a:schemeClr val="bg1"/>
                      </a:bgClr>
                    </a:pattFill>
                  </a:tcPr>
                </a:tc>
                <a:tc>
                  <a:txBody>
                    <a:bodyPr/>
                    <a:lstStyle/>
                    <a:p>
                      <a:pPr>
                        <a:buNone/>
                      </a:pPr>
                      <a:r>
                        <a:rPr lang="en-US"/>
                        <a:t>777 – 022 = </a:t>
                      </a:r>
                      <a:r>
                        <a:rPr lang="en-US" b="1"/>
                        <a:t>rwx-r-r-</a:t>
                      </a:r>
                      <a:endParaRPr lang="en-US"/>
                    </a:p>
                  </a:txBody>
                  <a:tcPr anchor="ctr">
                    <a:lnL>
                      <a:noFill/>
                    </a:lnL>
                    <a:lnR>
                      <a:noFill/>
                    </a:lnR>
                    <a:lnT>
                      <a:noFill/>
                    </a:lnT>
                    <a:lnB>
                      <a:noFill/>
                    </a:lnB>
                    <a:pattFill prst="pct80">
                      <a:fgClr>
                        <a:schemeClr val="accent1"/>
                      </a:fgClr>
                      <a:bgClr>
                        <a:schemeClr val="bg1"/>
                      </a:bgClr>
                    </a:pattFill>
                  </a:tcPr>
                </a:tc>
                <a:tc>
                  <a:txBody>
                    <a:bodyPr/>
                    <a:lstStyle/>
                    <a:p>
                      <a:pPr>
                        <a:buNone/>
                      </a:pPr>
                      <a:r>
                        <a:rPr lang="en-US"/>
                        <a:t>Common default</a:t>
                      </a:r>
                    </a:p>
                  </a:txBody>
                  <a:tcPr anchor="ctr">
                    <a:lnL>
                      <a:noFill/>
                    </a:lnL>
                    <a:lnR>
                      <a:noFill/>
                    </a:lnR>
                    <a:lnT>
                      <a:noFill/>
                    </a:lnT>
                    <a:lnB>
                      <a:noFill/>
                    </a:lnB>
                    <a:pattFill prst="pct80">
                      <a:fgClr>
                        <a:schemeClr val="accent1"/>
                      </a:fgClr>
                      <a:bgClr>
                        <a:schemeClr val="bg1"/>
                      </a:bgClr>
                    </a:pattFill>
                  </a:tcPr>
                </a:tc>
                <a:extLst>
                  <a:ext uri="{0D108BD9-81ED-4DB2-BD59-A6C34878D82A}">
                    <a16:rowId xmlns:a16="http://schemas.microsoft.com/office/drawing/2014/main" val="989925289"/>
                  </a:ext>
                </a:extLst>
              </a:tr>
              <a:tr h="379639">
                <a:tc>
                  <a:txBody>
                    <a:bodyPr/>
                    <a:lstStyle/>
                    <a:p>
                      <a:pPr>
                        <a:buNone/>
                      </a:pPr>
                      <a:r>
                        <a:rPr lang="en-US"/>
                        <a:t>027</a:t>
                      </a:r>
                    </a:p>
                  </a:txBody>
                  <a:tcPr anchor="ctr">
                    <a:lnL>
                      <a:noFill/>
                    </a:lnL>
                    <a:lnR>
                      <a:noFill/>
                    </a:lnR>
                    <a:lnT>
                      <a:noFill/>
                    </a:lnT>
                    <a:lnB>
                      <a:noFill/>
                    </a:lnB>
                    <a:pattFill prst="pct80">
                      <a:fgClr>
                        <a:schemeClr val="accent1"/>
                      </a:fgClr>
                      <a:bgClr>
                        <a:schemeClr val="bg1"/>
                      </a:bgClr>
                    </a:pattFill>
                  </a:tcPr>
                </a:tc>
                <a:tc>
                  <a:txBody>
                    <a:bodyPr/>
                    <a:lstStyle/>
                    <a:p>
                      <a:pPr>
                        <a:buNone/>
                      </a:pPr>
                      <a:r>
                        <a:rPr lang="en-US"/>
                        <a:t>666 – 027 = </a:t>
                      </a:r>
                      <a:r>
                        <a:rPr lang="en-US" b="1"/>
                        <a:t>rw-r--</a:t>
                      </a:r>
                      <a:endParaRPr lang="en-US"/>
                    </a:p>
                  </a:txBody>
                  <a:tcPr anchor="ctr">
                    <a:lnL>
                      <a:noFill/>
                    </a:lnL>
                    <a:lnR>
                      <a:noFill/>
                    </a:lnR>
                    <a:lnT>
                      <a:noFill/>
                    </a:lnT>
                    <a:lnB>
                      <a:noFill/>
                    </a:lnB>
                    <a:pattFill prst="pct80">
                      <a:fgClr>
                        <a:schemeClr val="accent1"/>
                      </a:fgClr>
                      <a:bgClr>
                        <a:schemeClr val="bg1"/>
                      </a:bgClr>
                    </a:pattFill>
                  </a:tcPr>
                </a:tc>
                <a:tc>
                  <a:txBody>
                    <a:bodyPr/>
                    <a:lstStyle/>
                    <a:p>
                      <a:pPr>
                        <a:buNone/>
                      </a:pPr>
                      <a:r>
                        <a:rPr lang="en-US"/>
                        <a:t>777 – 027 = </a:t>
                      </a:r>
                      <a:r>
                        <a:rPr lang="en-US" b="1"/>
                        <a:t>rwx-r--</a:t>
                      </a:r>
                      <a:endParaRPr lang="en-US"/>
                    </a:p>
                  </a:txBody>
                  <a:tcPr anchor="ctr">
                    <a:lnL>
                      <a:noFill/>
                    </a:lnL>
                    <a:lnR>
                      <a:noFill/>
                    </a:lnR>
                    <a:lnT>
                      <a:noFill/>
                    </a:lnT>
                    <a:lnB>
                      <a:noFill/>
                    </a:lnB>
                    <a:pattFill prst="pct80">
                      <a:fgClr>
                        <a:schemeClr val="accent1"/>
                      </a:fgClr>
                      <a:bgClr>
                        <a:schemeClr val="bg1"/>
                      </a:bgClr>
                    </a:pattFill>
                  </a:tcPr>
                </a:tc>
                <a:tc>
                  <a:txBody>
                    <a:bodyPr/>
                    <a:lstStyle/>
                    <a:p>
                      <a:pPr>
                        <a:buNone/>
                      </a:pPr>
                      <a:r>
                        <a:rPr lang="en-US"/>
                        <a:t>Secure for group</a:t>
                      </a:r>
                    </a:p>
                  </a:txBody>
                  <a:tcPr anchor="ctr">
                    <a:lnL>
                      <a:noFill/>
                    </a:lnL>
                    <a:lnR>
                      <a:noFill/>
                    </a:lnR>
                    <a:lnT>
                      <a:noFill/>
                    </a:lnT>
                    <a:lnB>
                      <a:noFill/>
                    </a:lnB>
                    <a:pattFill prst="pct80">
                      <a:fgClr>
                        <a:schemeClr val="accent1"/>
                      </a:fgClr>
                      <a:bgClr>
                        <a:schemeClr val="bg1"/>
                      </a:bgClr>
                    </a:pattFill>
                  </a:tcPr>
                </a:tc>
                <a:extLst>
                  <a:ext uri="{0D108BD9-81ED-4DB2-BD59-A6C34878D82A}">
                    <a16:rowId xmlns:a16="http://schemas.microsoft.com/office/drawing/2014/main" val="2712285486"/>
                  </a:ext>
                </a:extLst>
              </a:tr>
              <a:tr h="379639">
                <a:tc>
                  <a:txBody>
                    <a:bodyPr/>
                    <a:lstStyle/>
                    <a:p>
                      <a:pPr>
                        <a:buNone/>
                      </a:pPr>
                      <a:r>
                        <a:rPr lang="en-US"/>
                        <a:t>077</a:t>
                      </a:r>
                    </a:p>
                  </a:txBody>
                  <a:tcPr anchor="ctr">
                    <a:lnL>
                      <a:noFill/>
                    </a:lnL>
                    <a:lnR>
                      <a:noFill/>
                    </a:lnR>
                    <a:lnT>
                      <a:noFill/>
                    </a:lnT>
                    <a:lnB>
                      <a:noFill/>
                    </a:lnB>
                    <a:pattFill prst="pct80">
                      <a:fgClr>
                        <a:schemeClr val="accent1"/>
                      </a:fgClr>
                      <a:bgClr>
                        <a:schemeClr val="bg1"/>
                      </a:bgClr>
                    </a:pattFill>
                  </a:tcPr>
                </a:tc>
                <a:tc>
                  <a:txBody>
                    <a:bodyPr/>
                    <a:lstStyle/>
                    <a:p>
                      <a:pPr>
                        <a:buNone/>
                      </a:pPr>
                      <a:r>
                        <a:rPr lang="en-US"/>
                        <a:t>666 – 077 = </a:t>
                      </a:r>
                      <a:r>
                        <a:rPr lang="en-US" b="1"/>
                        <a:t>rw---</a:t>
                      </a:r>
                      <a:endParaRPr lang="en-US"/>
                    </a:p>
                  </a:txBody>
                  <a:tcPr anchor="ctr">
                    <a:lnL>
                      <a:noFill/>
                    </a:lnL>
                    <a:lnR>
                      <a:noFill/>
                    </a:lnR>
                    <a:lnT>
                      <a:noFill/>
                    </a:lnT>
                    <a:lnB>
                      <a:noFill/>
                    </a:lnB>
                    <a:pattFill prst="pct80">
                      <a:fgClr>
                        <a:schemeClr val="accent1"/>
                      </a:fgClr>
                      <a:bgClr>
                        <a:schemeClr val="bg1"/>
                      </a:bgClr>
                    </a:pattFill>
                  </a:tcPr>
                </a:tc>
                <a:tc>
                  <a:txBody>
                    <a:bodyPr/>
                    <a:lstStyle/>
                    <a:p>
                      <a:pPr>
                        <a:buNone/>
                      </a:pPr>
                      <a:r>
                        <a:rPr lang="en-US"/>
                        <a:t>777 – 077 = </a:t>
                      </a:r>
                      <a:r>
                        <a:rPr lang="en-US" b="1"/>
                        <a:t>rwx---</a:t>
                      </a:r>
                      <a:endParaRPr lang="en-US"/>
                    </a:p>
                  </a:txBody>
                  <a:tcPr anchor="ctr">
                    <a:lnL>
                      <a:noFill/>
                    </a:lnL>
                    <a:lnR>
                      <a:noFill/>
                    </a:lnR>
                    <a:lnT>
                      <a:noFill/>
                    </a:lnT>
                    <a:lnB>
                      <a:noFill/>
                    </a:lnB>
                    <a:pattFill prst="pct80">
                      <a:fgClr>
                        <a:schemeClr val="accent1"/>
                      </a:fgClr>
                      <a:bgClr>
                        <a:schemeClr val="bg1"/>
                      </a:bgClr>
                    </a:pattFill>
                  </a:tcPr>
                </a:tc>
                <a:tc>
                  <a:txBody>
                    <a:bodyPr/>
                    <a:lstStyle/>
                    <a:p>
                      <a:pPr>
                        <a:buNone/>
                      </a:pPr>
                      <a:r>
                        <a:rPr lang="en-US"/>
                        <a:t>Only user access</a:t>
                      </a:r>
                    </a:p>
                  </a:txBody>
                  <a:tcPr anchor="ctr">
                    <a:lnL>
                      <a:noFill/>
                    </a:lnL>
                    <a:lnR>
                      <a:noFill/>
                    </a:lnR>
                    <a:lnT>
                      <a:noFill/>
                    </a:lnT>
                    <a:lnB>
                      <a:noFill/>
                    </a:lnB>
                    <a:pattFill prst="pct80">
                      <a:fgClr>
                        <a:schemeClr val="accent1"/>
                      </a:fgClr>
                      <a:bgClr>
                        <a:schemeClr val="bg1"/>
                      </a:bgClr>
                    </a:pattFill>
                  </a:tcPr>
                </a:tc>
                <a:extLst>
                  <a:ext uri="{0D108BD9-81ED-4DB2-BD59-A6C34878D82A}">
                    <a16:rowId xmlns:a16="http://schemas.microsoft.com/office/drawing/2014/main" val="1968868262"/>
                  </a:ext>
                </a:extLst>
              </a:tr>
              <a:tr h="645386">
                <a:tc>
                  <a:txBody>
                    <a:bodyPr/>
                    <a:lstStyle/>
                    <a:p>
                      <a:pPr>
                        <a:buNone/>
                      </a:pPr>
                      <a:r>
                        <a:rPr lang="en-US" dirty="0"/>
                        <a:t>002</a:t>
                      </a:r>
                    </a:p>
                  </a:txBody>
                  <a:tcPr anchor="ctr">
                    <a:lnL>
                      <a:noFill/>
                    </a:lnL>
                    <a:lnR>
                      <a:noFill/>
                    </a:lnR>
                    <a:lnT>
                      <a:noFill/>
                    </a:lnT>
                    <a:lnB>
                      <a:noFill/>
                    </a:lnB>
                    <a:pattFill prst="pct80">
                      <a:fgClr>
                        <a:schemeClr val="accent1"/>
                      </a:fgClr>
                      <a:bgClr>
                        <a:schemeClr val="bg1"/>
                      </a:bgClr>
                    </a:pattFill>
                  </a:tcPr>
                </a:tc>
                <a:tc>
                  <a:txBody>
                    <a:bodyPr/>
                    <a:lstStyle/>
                    <a:p>
                      <a:pPr>
                        <a:buNone/>
                      </a:pPr>
                      <a:r>
                        <a:rPr lang="en-US"/>
                        <a:t>666 – 002 = </a:t>
                      </a:r>
                      <a:r>
                        <a:rPr lang="en-US" b="1"/>
                        <a:t>rw-rw-r-</a:t>
                      </a:r>
                      <a:endParaRPr lang="en-US"/>
                    </a:p>
                  </a:txBody>
                  <a:tcPr anchor="ctr">
                    <a:lnL>
                      <a:noFill/>
                    </a:lnL>
                    <a:lnR>
                      <a:noFill/>
                    </a:lnR>
                    <a:lnT>
                      <a:noFill/>
                    </a:lnT>
                    <a:lnB>
                      <a:noFill/>
                    </a:lnB>
                    <a:pattFill prst="pct80">
                      <a:fgClr>
                        <a:schemeClr val="accent1"/>
                      </a:fgClr>
                      <a:bgClr>
                        <a:schemeClr val="bg1"/>
                      </a:bgClr>
                    </a:pattFill>
                  </a:tcPr>
                </a:tc>
                <a:tc>
                  <a:txBody>
                    <a:bodyPr/>
                    <a:lstStyle/>
                    <a:p>
                      <a:pPr>
                        <a:buNone/>
                      </a:pPr>
                      <a:r>
                        <a:rPr lang="en-US"/>
                        <a:t>777 – 002 = </a:t>
                      </a:r>
                      <a:r>
                        <a:rPr lang="en-US" b="1"/>
                        <a:t>rwx-rwx-r-</a:t>
                      </a:r>
                      <a:endParaRPr lang="en-US"/>
                    </a:p>
                  </a:txBody>
                  <a:tcPr anchor="ctr">
                    <a:lnL>
                      <a:noFill/>
                    </a:lnL>
                    <a:lnR>
                      <a:noFill/>
                    </a:lnR>
                    <a:lnT>
                      <a:noFill/>
                    </a:lnT>
                    <a:lnB>
                      <a:noFill/>
                    </a:lnB>
                    <a:pattFill prst="pct80">
                      <a:fgClr>
                        <a:schemeClr val="accent1"/>
                      </a:fgClr>
                      <a:bgClr>
                        <a:schemeClr val="bg1"/>
                      </a:bgClr>
                    </a:pattFill>
                  </a:tcPr>
                </a:tc>
                <a:tc>
                  <a:txBody>
                    <a:bodyPr/>
                    <a:lstStyle/>
                    <a:p>
                      <a:pPr>
                        <a:buNone/>
                      </a:pPr>
                      <a:r>
                        <a:rPr lang="en-US"/>
                        <a:t>Shared write group</a:t>
                      </a:r>
                    </a:p>
                  </a:txBody>
                  <a:tcPr anchor="ctr">
                    <a:lnL>
                      <a:noFill/>
                    </a:lnL>
                    <a:lnR>
                      <a:noFill/>
                    </a:lnR>
                    <a:lnT>
                      <a:noFill/>
                    </a:lnT>
                    <a:lnB>
                      <a:noFill/>
                    </a:lnB>
                    <a:pattFill prst="pct80">
                      <a:fgClr>
                        <a:schemeClr val="accent1"/>
                      </a:fgClr>
                      <a:bgClr>
                        <a:schemeClr val="bg1"/>
                      </a:bgClr>
                    </a:pattFill>
                  </a:tcPr>
                </a:tc>
                <a:extLst>
                  <a:ext uri="{0D108BD9-81ED-4DB2-BD59-A6C34878D82A}">
                    <a16:rowId xmlns:a16="http://schemas.microsoft.com/office/drawing/2014/main" val="3603758306"/>
                  </a:ext>
                </a:extLst>
              </a:tr>
              <a:tr h="379639">
                <a:tc>
                  <a:txBody>
                    <a:bodyPr/>
                    <a:lstStyle/>
                    <a:p>
                      <a:pPr>
                        <a:buNone/>
                      </a:pPr>
                      <a:endParaRPr lang="en-US" dirty="0"/>
                    </a:p>
                  </a:txBody>
                  <a:tcPr anchor="ctr">
                    <a:lnL>
                      <a:noFill/>
                    </a:lnL>
                    <a:lnR>
                      <a:noFill/>
                    </a:lnR>
                    <a:lnT>
                      <a:noFill/>
                    </a:lnT>
                    <a:lnB>
                      <a:noFill/>
                    </a:lnB>
                    <a:pattFill prst="pct80">
                      <a:fgClr>
                        <a:schemeClr val="accent1"/>
                      </a:fgClr>
                      <a:bgClr>
                        <a:schemeClr val="bg1"/>
                      </a:bgClr>
                    </a:pattFill>
                  </a:tcPr>
                </a:tc>
                <a:tc>
                  <a:txBody>
                    <a:bodyPr/>
                    <a:lstStyle/>
                    <a:p>
                      <a:pPr>
                        <a:buNone/>
                      </a:pPr>
                      <a:endParaRPr lang="en-US" dirty="0"/>
                    </a:p>
                  </a:txBody>
                  <a:tcPr anchor="ctr">
                    <a:lnL>
                      <a:noFill/>
                    </a:lnL>
                    <a:lnR>
                      <a:noFill/>
                    </a:lnR>
                    <a:lnT>
                      <a:noFill/>
                    </a:lnT>
                    <a:lnB>
                      <a:noFill/>
                    </a:lnB>
                    <a:pattFill prst="pct80">
                      <a:fgClr>
                        <a:schemeClr val="accent1"/>
                      </a:fgClr>
                      <a:bgClr>
                        <a:schemeClr val="bg1"/>
                      </a:bgClr>
                    </a:pattFill>
                  </a:tcPr>
                </a:tc>
                <a:tc>
                  <a:txBody>
                    <a:bodyPr/>
                    <a:lstStyle/>
                    <a:p>
                      <a:pPr>
                        <a:buNone/>
                      </a:pPr>
                      <a:endParaRPr lang="en-US" dirty="0"/>
                    </a:p>
                  </a:txBody>
                  <a:tcPr anchor="ctr">
                    <a:lnL>
                      <a:noFill/>
                    </a:lnL>
                    <a:lnR>
                      <a:noFill/>
                    </a:lnR>
                    <a:lnT>
                      <a:noFill/>
                    </a:lnT>
                    <a:lnB>
                      <a:noFill/>
                    </a:lnB>
                    <a:pattFill prst="pct80">
                      <a:fgClr>
                        <a:schemeClr val="accent1"/>
                      </a:fgClr>
                      <a:bgClr>
                        <a:schemeClr val="bg1"/>
                      </a:bgClr>
                    </a:pattFill>
                  </a:tcPr>
                </a:tc>
                <a:tc>
                  <a:txBody>
                    <a:bodyPr/>
                    <a:lstStyle/>
                    <a:p>
                      <a:pPr>
                        <a:buNone/>
                      </a:pPr>
                      <a:endParaRPr lang="en-US" dirty="0"/>
                    </a:p>
                  </a:txBody>
                  <a:tcPr anchor="ctr">
                    <a:lnL>
                      <a:noFill/>
                    </a:lnL>
                    <a:lnR>
                      <a:noFill/>
                    </a:lnR>
                    <a:lnT>
                      <a:noFill/>
                    </a:lnT>
                    <a:lnB>
                      <a:noFill/>
                    </a:lnB>
                    <a:pattFill prst="pct80">
                      <a:fgClr>
                        <a:schemeClr val="accent1"/>
                      </a:fgClr>
                      <a:bgClr>
                        <a:schemeClr val="bg1"/>
                      </a:bgClr>
                    </a:pattFill>
                  </a:tcPr>
                </a:tc>
                <a:extLst>
                  <a:ext uri="{0D108BD9-81ED-4DB2-BD59-A6C34878D82A}">
                    <a16:rowId xmlns:a16="http://schemas.microsoft.com/office/drawing/2014/main" val="2826926351"/>
                  </a:ext>
                </a:extLst>
              </a:tr>
            </a:tbl>
          </a:graphicData>
        </a:graphic>
      </p:graphicFrame>
      <p:sp>
        <p:nvSpPr>
          <p:cNvPr id="5" name="TextBox 4">
            <a:extLst>
              <a:ext uri="{FF2B5EF4-FFF2-40B4-BE49-F238E27FC236}">
                <a16:creationId xmlns:a16="http://schemas.microsoft.com/office/drawing/2014/main" id="{2E543707-7864-49EC-0D83-7C71C9E3C4B2}"/>
              </a:ext>
            </a:extLst>
          </p:cNvPr>
          <p:cNvSpPr txBox="1"/>
          <p:nvPr/>
        </p:nvSpPr>
        <p:spPr>
          <a:xfrm>
            <a:off x="1730086" y="4544586"/>
            <a:ext cx="5164282" cy="307777"/>
          </a:xfrm>
          <a:prstGeom prst="rect">
            <a:avLst/>
          </a:prstGeom>
          <a:noFill/>
        </p:spPr>
        <p:txBody>
          <a:bodyPr wrap="square">
            <a:spAutoFit/>
          </a:bodyPr>
          <a:lstStyle/>
          <a:p>
            <a:pPr algn="ctr"/>
            <a:r>
              <a:rPr lang="en-US" dirty="0" err="1">
                <a:highlight>
                  <a:srgbClr val="FFFF00"/>
                </a:highlight>
              </a:rPr>
              <a:t>umask</a:t>
            </a:r>
            <a:r>
              <a:rPr lang="en-US" dirty="0">
                <a:highlight>
                  <a:srgbClr val="FFFF00"/>
                </a:highlight>
              </a:rPr>
              <a:t> u=</a:t>
            </a:r>
            <a:r>
              <a:rPr lang="en-US" dirty="0" err="1">
                <a:highlight>
                  <a:srgbClr val="FFFF00"/>
                </a:highlight>
              </a:rPr>
              <a:t>rwx,g</a:t>
            </a:r>
            <a:r>
              <a:rPr lang="en-US" dirty="0">
                <a:highlight>
                  <a:srgbClr val="FFFF00"/>
                </a:highlight>
              </a:rPr>
              <a:t>=</a:t>
            </a:r>
            <a:r>
              <a:rPr lang="en-US" dirty="0" err="1">
                <a:highlight>
                  <a:srgbClr val="FFFF00"/>
                </a:highlight>
              </a:rPr>
              <a:t>rx,o</a:t>
            </a:r>
            <a:r>
              <a:rPr lang="en-US" dirty="0">
                <a:highlight>
                  <a:srgbClr val="FFFF00"/>
                </a:highlight>
              </a:rPr>
              <a:t>=</a:t>
            </a:r>
          </a:p>
        </p:txBody>
      </p:sp>
    </p:spTree>
    <p:extLst>
      <p:ext uri="{BB962C8B-B14F-4D97-AF65-F5344CB8AC3E}">
        <p14:creationId xmlns:p14="http://schemas.microsoft.com/office/powerpoint/2010/main" val="384689308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984DB-77F9-5C6D-D057-63BCB7EA6388}"/>
              </a:ext>
            </a:extLst>
          </p:cNvPr>
          <p:cNvSpPr>
            <a:spLocks noGrp="1"/>
          </p:cNvSpPr>
          <p:nvPr>
            <p:ph type="title"/>
          </p:nvPr>
        </p:nvSpPr>
        <p:spPr>
          <a:xfrm>
            <a:off x="720000" y="115841"/>
            <a:ext cx="7704000" cy="572700"/>
          </a:xfrm>
        </p:spPr>
        <p:style>
          <a:lnRef idx="2">
            <a:schemeClr val="accent1">
              <a:shade val="15000"/>
            </a:schemeClr>
          </a:lnRef>
          <a:fillRef idx="1">
            <a:schemeClr val="accent1"/>
          </a:fillRef>
          <a:effectRef idx="0">
            <a:schemeClr val="accent1"/>
          </a:effectRef>
          <a:fontRef idx="minor">
            <a:schemeClr val="lt1"/>
          </a:fontRef>
        </p:style>
        <p:txBody>
          <a:bodyPr/>
          <a:lstStyle/>
          <a:p>
            <a:pPr algn="ctr"/>
            <a:r>
              <a:rPr lang="en-IN" dirty="0">
                <a:latin typeface="Times New Roman" panose="02020603050405020304" pitchFamily="18" charset="0"/>
                <a:cs typeface="Times New Roman" panose="02020603050405020304" pitchFamily="18" charset="0"/>
              </a:rPr>
              <a:t>Access control list</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D687F6F-DBBB-22BC-4416-CDB441BC7CBD}"/>
              </a:ext>
            </a:extLst>
          </p:cNvPr>
          <p:cNvSpPr txBox="1"/>
          <p:nvPr/>
        </p:nvSpPr>
        <p:spPr>
          <a:xfrm>
            <a:off x="667512" y="2063918"/>
            <a:ext cx="7808976" cy="101566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000" dirty="0">
                <a:latin typeface="Times New Roman" panose="02020603050405020304" pitchFamily="18" charset="0"/>
                <a:cs typeface="Times New Roman" panose="02020603050405020304" pitchFamily="18" charset="0"/>
              </a:rPr>
              <a:t>Access control list provides an additional more flexible permission mechanism for file systems. ACL allows you to give permission for any user or group to any disc resource </a:t>
            </a:r>
          </a:p>
        </p:txBody>
      </p:sp>
    </p:spTree>
    <p:extLst>
      <p:ext uri="{BB962C8B-B14F-4D97-AF65-F5344CB8AC3E}">
        <p14:creationId xmlns:p14="http://schemas.microsoft.com/office/powerpoint/2010/main" val="185847804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B396193-60A7-A865-DC34-14454A6025BD}"/>
              </a:ext>
            </a:extLst>
          </p:cNvPr>
          <p:cNvSpPr txBox="1"/>
          <p:nvPr/>
        </p:nvSpPr>
        <p:spPr>
          <a:xfrm>
            <a:off x="528320" y="1199624"/>
            <a:ext cx="8615680" cy="4093428"/>
          </a:xfrm>
          <a:prstGeom prst="rect">
            <a:avLst/>
          </a:prstGeom>
          <a:noFill/>
        </p:spPr>
        <p:txBody>
          <a:bodyPr wrap="square">
            <a:spAutoFit/>
          </a:bodyPr>
          <a:lstStyle/>
          <a:p>
            <a:pPr lvl="1"/>
            <a:endParaRPr lang="en-IN" sz="2000" dirty="0">
              <a:latin typeface="Times New Roman" panose="02020603050405020304" pitchFamily="18" charset="0"/>
              <a:cs typeface="Times New Roman" panose="02020603050405020304" pitchFamily="18" charset="0"/>
            </a:endParaRPr>
          </a:p>
          <a:p>
            <a:pPr marL="2857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add permission for user</a:t>
            </a:r>
          </a:p>
          <a:p>
            <a:pPr lvl="1"/>
            <a:r>
              <a:rPr lang="en-IN" sz="2000" dirty="0">
                <a:latin typeface="Times New Roman" panose="02020603050405020304" pitchFamily="18" charset="0"/>
                <a:cs typeface="Times New Roman" panose="02020603050405020304" pitchFamily="18" charset="0"/>
              </a:rPr>
              <a:t>      </a:t>
            </a:r>
            <a:r>
              <a:rPr lang="en-IN" sz="2000" dirty="0">
                <a:highlight>
                  <a:srgbClr val="FFFF00"/>
                </a:highlight>
                <a:latin typeface="Times New Roman" panose="02020603050405020304" pitchFamily="18" charset="0"/>
                <a:cs typeface="Times New Roman" panose="02020603050405020304" pitchFamily="18" charset="0"/>
              </a:rPr>
              <a:t>#setfacl –m u:username:rwx /path/to/file</a:t>
            </a:r>
          </a:p>
          <a:p>
            <a:pPr lvl="1"/>
            <a:endParaRPr lang="en-IN" sz="2000" dirty="0">
              <a:highlight>
                <a:srgbClr val="FFFF00"/>
              </a:highlight>
              <a:latin typeface="Times New Roman" panose="02020603050405020304" pitchFamily="18" charset="0"/>
              <a:cs typeface="Times New Roman" panose="02020603050405020304" pitchFamily="18" charset="0"/>
            </a:endParaRPr>
          </a:p>
          <a:p>
            <a:pPr marL="2857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add permission for group</a:t>
            </a:r>
          </a:p>
          <a:p>
            <a:pPr lvl="1"/>
            <a:r>
              <a:rPr lang="en-IN" sz="2000" dirty="0">
                <a:latin typeface="Times New Roman" panose="02020603050405020304" pitchFamily="18" charset="0"/>
                <a:cs typeface="Times New Roman" panose="02020603050405020304" pitchFamily="18" charset="0"/>
              </a:rPr>
              <a:t>      </a:t>
            </a:r>
            <a:r>
              <a:rPr lang="en-IN" sz="2000" dirty="0">
                <a:highlight>
                  <a:srgbClr val="FFFF00"/>
                </a:highlight>
                <a:latin typeface="Times New Roman" panose="02020603050405020304" pitchFamily="18" charset="0"/>
                <a:cs typeface="Times New Roman" panose="02020603050405020304" pitchFamily="18" charset="0"/>
              </a:rPr>
              <a:t>#setfacl –m g:groupname:rwx /path/to/file </a:t>
            </a:r>
          </a:p>
          <a:p>
            <a:pPr lvl="1"/>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is used </a:t>
            </a:r>
            <a:r>
              <a:rPr lang="en-US" sz="2000" b="1" dirty="0">
                <a:latin typeface="Times New Roman" panose="02020603050405020304" pitchFamily="18" charset="0"/>
                <a:cs typeface="Times New Roman" panose="02020603050405020304" pitchFamily="18" charset="0"/>
              </a:rPr>
              <a:t>to give a specific group extra permissions</a:t>
            </a:r>
            <a:r>
              <a:rPr lang="en-US" sz="2000" dirty="0">
                <a:latin typeface="Times New Roman" panose="02020603050405020304" pitchFamily="18" charset="0"/>
                <a:cs typeface="Times New Roman" panose="02020603050405020304" pitchFamily="18" charset="0"/>
              </a:rPr>
              <a:t> (read, write, and execute) on a file or directory, </a:t>
            </a:r>
            <a:r>
              <a:rPr lang="en-US" sz="2000" b="1" dirty="0">
                <a:latin typeface="Times New Roman" panose="02020603050405020304" pitchFamily="18" charset="0"/>
                <a:cs typeface="Times New Roman" panose="02020603050405020304" pitchFamily="18" charset="0"/>
              </a:rPr>
              <a:t>without changing the original owner or group of the file</a:t>
            </a:r>
            <a:r>
              <a:rPr lang="en-US" sz="2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a:t>
            </a:r>
          </a:p>
          <a:p>
            <a:pPr lvl="1"/>
            <a:endParaRPr lang="en-IN" sz="2000" dirty="0">
              <a:latin typeface="Times New Roman" panose="02020603050405020304" pitchFamily="18" charset="0"/>
              <a:cs typeface="Times New Roman" panose="02020603050405020304" pitchFamily="18" charset="0"/>
            </a:endParaRPr>
          </a:p>
          <a:p>
            <a:pPr marL="2857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allow all files or directories to inherit ACL, entries from the directory it is written</a:t>
            </a:r>
          </a:p>
          <a:p>
            <a:pPr lvl="1"/>
            <a:r>
              <a:rPr lang="en-US" sz="2000" dirty="0">
                <a:highlight>
                  <a:srgbClr val="FFFF00"/>
                </a:highlight>
                <a:latin typeface="Times New Roman" panose="02020603050405020304" pitchFamily="18" charset="0"/>
                <a:cs typeface="Times New Roman" panose="02020603050405020304" pitchFamily="18" charset="0"/>
              </a:rPr>
              <a:t>      #setfacl -dm u:john:rwx /project/data</a:t>
            </a:r>
          </a:p>
          <a:p>
            <a:pPr lvl="1"/>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77640A8-4467-DCD6-BCE7-C26EA40CB964}"/>
              </a:ext>
            </a:extLst>
          </p:cNvPr>
          <p:cNvSpPr txBox="1"/>
          <p:nvPr/>
        </p:nvSpPr>
        <p:spPr>
          <a:xfrm>
            <a:off x="264160" y="257670"/>
            <a:ext cx="8615680" cy="55399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IN" sz="3000" dirty="0">
                <a:latin typeface="Times New Roman" panose="02020603050405020304" pitchFamily="18" charset="0"/>
                <a:cs typeface="Times New Roman" panose="02020603050405020304" pitchFamily="18" charset="0"/>
              </a:rPr>
              <a:t>Command to assign and remove ACL permissions </a:t>
            </a:r>
          </a:p>
        </p:txBody>
      </p:sp>
    </p:spTree>
    <p:extLst>
      <p:ext uri="{BB962C8B-B14F-4D97-AF65-F5344CB8AC3E}">
        <p14:creationId xmlns:p14="http://schemas.microsoft.com/office/powerpoint/2010/main" val="94186357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A209F-A43D-4377-C846-F315163CF55E}"/>
              </a:ext>
            </a:extLst>
          </p:cNvPr>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lstStyle/>
          <a:p>
            <a:pPr algn="ctr"/>
            <a:r>
              <a:rPr lang="en-IN" b="0" dirty="0">
                <a:latin typeface="Times New Roman" panose="02020603050405020304" pitchFamily="18" charset="0"/>
                <a:cs typeface="Times New Roman" panose="02020603050405020304" pitchFamily="18" charset="0"/>
              </a:rPr>
              <a:t>To remove a specific entry</a:t>
            </a:r>
            <a:endParaRPr lang="en-US" dirty="0"/>
          </a:p>
        </p:txBody>
      </p:sp>
      <p:sp>
        <p:nvSpPr>
          <p:cNvPr id="3" name="Title 1">
            <a:extLst>
              <a:ext uri="{FF2B5EF4-FFF2-40B4-BE49-F238E27FC236}">
                <a16:creationId xmlns:a16="http://schemas.microsoft.com/office/drawing/2014/main" id="{23659CB4-F739-D0D1-C7B1-BF02795AC6FC}"/>
              </a:ext>
            </a:extLst>
          </p:cNvPr>
          <p:cNvSpPr txBox="1">
            <a:spLocks/>
          </p:cNvSpPr>
          <p:nvPr/>
        </p:nvSpPr>
        <p:spPr>
          <a:xfrm>
            <a:off x="720000" y="3611602"/>
            <a:ext cx="4170680" cy="4535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IN" sz="2000" b="0" dirty="0">
                <a:highlight>
                  <a:srgbClr val="FFFF00"/>
                </a:highlight>
                <a:latin typeface="Times New Roman" panose="02020603050405020304" pitchFamily="18" charset="0"/>
                <a:cs typeface="Times New Roman" panose="02020603050405020304" pitchFamily="18" charset="0"/>
              </a:rPr>
              <a:t>#setfacl –b path/to/file ( for all users)</a:t>
            </a:r>
          </a:p>
        </p:txBody>
      </p:sp>
      <p:sp>
        <p:nvSpPr>
          <p:cNvPr id="5" name="TextBox 4">
            <a:extLst>
              <a:ext uri="{FF2B5EF4-FFF2-40B4-BE49-F238E27FC236}">
                <a16:creationId xmlns:a16="http://schemas.microsoft.com/office/drawing/2014/main" id="{BDEA01E0-024F-4409-E13C-7AA71D5DD992}"/>
              </a:ext>
            </a:extLst>
          </p:cNvPr>
          <p:cNvSpPr txBox="1"/>
          <p:nvPr/>
        </p:nvSpPr>
        <p:spPr>
          <a:xfrm>
            <a:off x="720000" y="1537898"/>
            <a:ext cx="5579200" cy="400110"/>
          </a:xfrm>
          <a:prstGeom prst="rect">
            <a:avLst/>
          </a:prstGeom>
          <a:noFill/>
        </p:spPr>
        <p:txBody>
          <a:bodyPr wrap="square">
            <a:spAutoFit/>
          </a:bodyPr>
          <a:lstStyle/>
          <a:p>
            <a:r>
              <a:rPr lang="en-IN" sz="2000" b="0" dirty="0">
                <a:highlight>
                  <a:srgbClr val="FFFF00"/>
                </a:highlight>
                <a:latin typeface="Times New Roman" panose="02020603050405020304" pitchFamily="18" charset="0"/>
                <a:cs typeface="Times New Roman" panose="02020603050405020304" pitchFamily="18" charset="0"/>
              </a:rPr>
              <a:t>#setfacl –x u:user /path/to /file (for specific users)</a:t>
            </a:r>
            <a:endParaRPr lang="en-US" sz="2000" dirty="0">
              <a:highlight>
                <a:srgbClr val="FFFF00"/>
              </a:highlight>
            </a:endParaRPr>
          </a:p>
        </p:txBody>
      </p:sp>
      <p:sp>
        <p:nvSpPr>
          <p:cNvPr id="7" name="TextBox 6">
            <a:extLst>
              <a:ext uri="{FF2B5EF4-FFF2-40B4-BE49-F238E27FC236}">
                <a16:creationId xmlns:a16="http://schemas.microsoft.com/office/drawing/2014/main" id="{FF347F62-C1B1-FCDC-61F3-8CDF8097F006}"/>
              </a:ext>
            </a:extLst>
          </p:cNvPr>
          <p:cNvSpPr txBox="1"/>
          <p:nvPr/>
        </p:nvSpPr>
        <p:spPr>
          <a:xfrm>
            <a:off x="1870075" y="2525812"/>
            <a:ext cx="5162550" cy="55399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IN" sz="3000" b="0" dirty="0">
                <a:latin typeface="Times New Roman" panose="02020603050405020304" pitchFamily="18" charset="0"/>
                <a:cs typeface="Times New Roman" panose="02020603050405020304" pitchFamily="18" charset="0"/>
              </a:rPr>
              <a:t>To remove all entries </a:t>
            </a:r>
            <a:endParaRPr lang="en-US" sz="3000" dirty="0"/>
          </a:p>
        </p:txBody>
      </p:sp>
    </p:spTree>
    <p:extLst>
      <p:ext uri="{BB962C8B-B14F-4D97-AF65-F5344CB8AC3E}">
        <p14:creationId xmlns:p14="http://schemas.microsoft.com/office/powerpoint/2010/main" val="71879326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A14E9-9CB0-4539-26FF-DCC73A9661B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Mounting a New Volume in Linux</a:t>
            </a:r>
          </a:p>
        </p:txBody>
      </p:sp>
      <p:sp>
        <p:nvSpPr>
          <p:cNvPr id="4" name="TextBox 3">
            <a:extLst>
              <a:ext uri="{FF2B5EF4-FFF2-40B4-BE49-F238E27FC236}">
                <a16:creationId xmlns:a16="http://schemas.microsoft.com/office/drawing/2014/main" id="{542F1131-3ED7-4060-903B-ACE17E1F87B4}"/>
              </a:ext>
            </a:extLst>
          </p:cNvPr>
          <p:cNvSpPr txBox="1"/>
          <p:nvPr/>
        </p:nvSpPr>
        <p:spPr>
          <a:xfrm>
            <a:off x="720000" y="1481804"/>
            <a:ext cx="8053610" cy="1787477"/>
          </a:xfrm>
          <a:prstGeom prst="rect">
            <a:avLst/>
          </a:prstGeom>
          <a:noFill/>
        </p:spPr>
        <p:txBody>
          <a:bodyPr wrap="square">
            <a:spAutoFit/>
          </a:bodyPr>
          <a:lstStyle/>
          <a:p>
            <a:pPr marL="342900" marR="0" indent="-342900">
              <a:lnSpc>
                <a:spcPct val="115000"/>
              </a:lnSpc>
              <a:spcBef>
                <a:spcPts val="2400"/>
              </a:spcBef>
              <a:buAutoNum type="arabicPeriod"/>
            </a:pPr>
            <a:r>
              <a:rPr lang="en-US" sz="2000" b="1" kern="0" dirty="0">
                <a:solidFill>
                  <a:schemeClr val="tx1"/>
                </a:solidFill>
                <a:effectLst/>
                <a:highlight>
                  <a:srgbClr val="FFFF00"/>
                </a:highlight>
                <a:latin typeface="Times New Roman" panose="02020603050405020304" pitchFamily="18" charset="0"/>
                <a:ea typeface="MS Gothic" panose="020B0609070205080204" pitchFamily="49" charset="-128"/>
                <a:cs typeface="Times New Roman" panose="02020603050405020304" pitchFamily="18" charset="0"/>
              </a:rPr>
              <a:t>Add the disk in V</a:t>
            </a:r>
            <a:r>
              <a:rPr lang="en-US" sz="2000" b="1" dirty="0">
                <a:solidFill>
                  <a:schemeClr val="tx1"/>
                </a:solidFill>
                <a:highlight>
                  <a:srgbClr val="FFFF00"/>
                </a:highlight>
                <a:latin typeface="Times New Roman" panose="02020603050405020304" pitchFamily="18" charset="0"/>
                <a:ea typeface="MS Gothic" panose="020B0609070205080204" pitchFamily="49" charset="-128"/>
                <a:cs typeface="Times New Roman" panose="02020603050405020304" pitchFamily="18" charset="0"/>
              </a:rPr>
              <a:t>M-</a:t>
            </a:r>
            <a:r>
              <a:rPr lang="en-US" sz="2000" b="1" kern="0" dirty="0">
                <a:solidFill>
                  <a:schemeClr val="tx1"/>
                </a:solidFill>
                <a:effectLst/>
                <a:highlight>
                  <a:srgbClr val="FFFF00"/>
                </a:highlight>
                <a:latin typeface="Times New Roman" panose="02020603050405020304" pitchFamily="18" charset="0"/>
                <a:ea typeface="MS Gothic" panose="020B0609070205080204" pitchFamily="49" charset="-128"/>
                <a:cs typeface="Times New Roman" panose="02020603050405020304" pitchFamily="18" charset="0"/>
              </a:rPr>
              <a:t>ware</a:t>
            </a:r>
          </a:p>
          <a:p>
            <a:pPr>
              <a:lnSpc>
                <a:spcPct val="115000"/>
              </a:lnSpc>
              <a:spcBef>
                <a:spcPts val="2400"/>
              </a:spcBef>
            </a:pPr>
            <a:r>
              <a:rPr lang="en-US" sz="2000" dirty="0">
                <a:solidFill>
                  <a:schemeClr val="tx1"/>
                </a:solidFill>
                <a:latin typeface="Times New Roman" panose="02020603050405020304" pitchFamily="18" charset="0"/>
                <a:cs typeface="Times New Roman" panose="02020603050405020304" pitchFamily="18" charset="0"/>
              </a:rPr>
              <a:t>Power off the VM → VMware Settings → Add → Hard Disk → SCSI → Create new virtual disk → 20 GB → Finish. This creates a virtual hard disk for Rocky Linux. Linux will later detect it as a block device.</a:t>
            </a:r>
          </a:p>
        </p:txBody>
      </p:sp>
    </p:spTree>
    <p:extLst>
      <p:ext uri="{BB962C8B-B14F-4D97-AF65-F5344CB8AC3E}">
        <p14:creationId xmlns:p14="http://schemas.microsoft.com/office/powerpoint/2010/main" val="174118477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65E48-CC7C-44CF-7DBE-6381E3F3D15A}"/>
              </a:ext>
            </a:extLst>
          </p:cNvPr>
          <p:cNvSpPr>
            <a:spLocks noGrp="1"/>
          </p:cNvSpPr>
          <p:nvPr>
            <p:ph type="title"/>
          </p:nvPr>
        </p:nvSpPr>
        <p:spPr>
          <a:xfrm>
            <a:off x="720000" y="1106952"/>
            <a:ext cx="7949438" cy="1464798"/>
          </a:xfrm>
        </p:spPr>
        <p:txBody>
          <a:bodyPr/>
          <a:lstStyle/>
          <a:p>
            <a:r>
              <a:rPr lang="en-US" sz="2000" b="0" dirty="0" err="1">
                <a:highlight>
                  <a:srgbClr val="67EFEC"/>
                </a:highlight>
                <a:latin typeface="Times New Roman" panose="02020603050405020304" pitchFamily="18" charset="0"/>
                <a:cs typeface="Times New Roman" panose="02020603050405020304" pitchFamily="18" charset="0"/>
              </a:rPr>
              <a:t>sudo</a:t>
            </a:r>
            <a:r>
              <a:rPr lang="en-US" sz="2000" b="0" dirty="0">
                <a:highlight>
                  <a:srgbClr val="67EFEC"/>
                </a:highlight>
                <a:latin typeface="Times New Roman" panose="02020603050405020304" pitchFamily="18" charset="0"/>
                <a:cs typeface="Times New Roman" panose="02020603050405020304" pitchFamily="18" charset="0"/>
              </a:rPr>
              <a:t> -</a:t>
            </a:r>
            <a:r>
              <a:rPr lang="en-US" sz="2000" b="0" dirty="0" err="1">
                <a:highlight>
                  <a:srgbClr val="67EFEC"/>
                </a:highlight>
                <a:latin typeface="Times New Roman" panose="02020603050405020304" pitchFamily="18" charset="0"/>
                <a:cs typeface="Times New Roman" panose="02020603050405020304" pitchFamily="18" charset="0"/>
              </a:rPr>
              <a:t>i</a:t>
            </a:r>
            <a:br>
              <a:rPr lang="en-US" sz="2000" b="0" dirty="0">
                <a:latin typeface="Times New Roman" panose="02020603050405020304" pitchFamily="18" charset="0"/>
                <a:cs typeface="Times New Roman" panose="02020603050405020304" pitchFamily="18" charset="0"/>
              </a:rPr>
            </a:br>
            <a:r>
              <a:rPr lang="en-US" sz="2000" b="0" dirty="0" err="1">
                <a:latin typeface="Times New Roman" panose="02020603050405020304" pitchFamily="18" charset="0"/>
                <a:cs typeface="Times New Roman" panose="02020603050405020304" pitchFamily="18" charset="0"/>
              </a:rPr>
              <a:t>sudo</a:t>
            </a:r>
            <a:r>
              <a:rPr lang="en-US" sz="2000" b="0" dirty="0">
                <a:latin typeface="Times New Roman" panose="02020603050405020304" pitchFamily="18" charset="0"/>
                <a:cs typeface="Times New Roman" panose="02020603050405020304" pitchFamily="18" charset="0"/>
              </a:rPr>
              <a:t> = </a:t>
            </a:r>
            <a:r>
              <a:rPr lang="en-US" sz="2000" b="0" dirty="0" err="1">
                <a:latin typeface="Times New Roman" panose="02020603050405020304" pitchFamily="18" charset="0"/>
                <a:cs typeface="Times New Roman" panose="02020603050405020304" pitchFamily="18" charset="0"/>
              </a:rPr>
              <a:t>SuperUser</a:t>
            </a:r>
            <a:r>
              <a:rPr lang="en-US" sz="2000" b="0" dirty="0">
                <a:latin typeface="Times New Roman" panose="02020603050405020304" pitchFamily="18" charset="0"/>
                <a:cs typeface="Times New Roman" panose="02020603050405020304" pitchFamily="18" charset="0"/>
              </a:rPr>
              <a:t> DO; -</a:t>
            </a:r>
            <a:r>
              <a:rPr lang="en-US" sz="2000" b="0" dirty="0" err="1">
                <a:latin typeface="Times New Roman" panose="02020603050405020304" pitchFamily="18" charset="0"/>
                <a:cs typeface="Times New Roman" panose="02020603050405020304" pitchFamily="18" charset="0"/>
              </a:rPr>
              <a:t>i</a:t>
            </a:r>
            <a:r>
              <a:rPr lang="en-US" sz="2000" b="0" dirty="0">
                <a:latin typeface="Times New Roman" panose="02020603050405020304" pitchFamily="18" charset="0"/>
                <a:cs typeface="Times New Roman" panose="02020603050405020304" pitchFamily="18" charset="0"/>
              </a:rPr>
              <a:t> = login shell. This opens a root administrator shell so storage commands can be performed without typing </a:t>
            </a:r>
            <a:r>
              <a:rPr lang="en-US" sz="2000" b="0" dirty="0" err="1">
                <a:latin typeface="Times New Roman" panose="02020603050405020304" pitchFamily="18" charset="0"/>
                <a:cs typeface="Times New Roman" panose="02020603050405020304" pitchFamily="18" charset="0"/>
              </a:rPr>
              <a:t>sudo</a:t>
            </a:r>
            <a:r>
              <a:rPr lang="en-US" sz="2000" b="0" dirty="0">
                <a:latin typeface="Times New Roman" panose="02020603050405020304" pitchFamily="18" charset="0"/>
                <a:cs typeface="Times New Roman" panose="02020603050405020304" pitchFamily="18" charset="0"/>
              </a:rPr>
              <a:t> every time.</a:t>
            </a:r>
            <a:br>
              <a:rPr lang="en-US" sz="2000" b="0" dirty="0">
                <a:latin typeface="Times New Roman" panose="02020603050405020304" pitchFamily="18" charset="0"/>
                <a:cs typeface="Times New Roman" panose="02020603050405020304" pitchFamily="18" charset="0"/>
              </a:rPr>
            </a:br>
            <a:endParaRPr lang="en-US" sz="2000" b="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9F0D03E-B5D2-20F3-464E-6E812AB699D1}"/>
              </a:ext>
            </a:extLst>
          </p:cNvPr>
          <p:cNvSpPr txBox="1"/>
          <p:nvPr/>
        </p:nvSpPr>
        <p:spPr>
          <a:xfrm>
            <a:off x="720000" y="359899"/>
            <a:ext cx="5162308"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2. </a:t>
            </a:r>
            <a:r>
              <a:rPr lang="en-US" sz="2000" dirty="0">
                <a:highlight>
                  <a:srgbClr val="FFFF00"/>
                </a:highlight>
                <a:latin typeface="Times New Roman" panose="02020603050405020304" pitchFamily="18" charset="0"/>
                <a:cs typeface="Times New Roman" panose="02020603050405020304" pitchFamily="18" charset="0"/>
              </a:rPr>
              <a:t>Become root</a:t>
            </a:r>
          </a:p>
        </p:txBody>
      </p:sp>
      <p:sp>
        <p:nvSpPr>
          <p:cNvPr id="6" name="TextBox 5">
            <a:extLst>
              <a:ext uri="{FF2B5EF4-FFF2-40B4-BE49-F238E27FC236}">
                <a16:creationId xmlns:a16="http://schemas.microsoft.com/office/drawing/2014/main" id="{CFE38E16-E452-7035-6E43-4C7A2451236F}"/>
              </a:ext>
            </a:extLst>
          </p:cNvPr>
          <p:cNvSpPr txBox="1"/>
          <p:nvPr/>
        </p:nvSpPr>
        <p:spPr>
          <a:xfrm>
            <a:off x="597281" y="2844609"/>
            <a:ext cx="7949437" cy="1938992"/>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3. </a:t>
            </a:r>
            <a:r>
              <a:rPr lang="en-US" sz="2000" dirty="0">
                <a:highlight>
                  <a:srgbClr val="FFFF00"/>
                </a:highlight>
                <a:latin typeface="Times New Roman" panose="02020603050405020304" pitchFamily="18" charset="0"/>
                <a:cs typeface="Times New Roman" panose="02020603050405020304" pitchFamily="18" charset="0"/>
              </a:rPr>
              <a:t>Find the new disk</a:t>
            </a:r>
          </a:p>
          <a:p>
            <a:br>
              <a:rPr lang="en-US" sz="2000" dirty="0">
                <a:latin typeface="Times New Roman" panose="02020603050405020304" pitchFamily="18" charset="0"/>
                <a:cs typeface="Times New Roman" panose="02020603050405020304" pitchFamily="18" charset="0"/>
              </a:rPr>
            </a:br>
            <a:r>
              <a:rPr lang="en-US" sz="2000" dirty="0" err="1">
                <a:highlight>
                  <a:srgbClr val="67EFEC"/>
                </a:highlight>
                <a:latin typeface="Times New Roman" panose="02020603050405020304" pitchFamily="18" charset="0"/>
                <a:cs typeface="Times New Roman" panose="02020603050405020304" pitchFamily="18" charset="0"/>
              </a:rPr>
              <a:t>lsblk</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lsblk</a:t>
            </a:r>
            <a:r>
              <a:rPr lang="en-US" sz="2000" dirty="0">
                <a:latin typeface="Times New Roman" panose="02020603050405020304" pitchFamily="18" charset="0"/>
                <a:cs typeface="Times New Roman" panose="02020603050405020304" pitchFamily="18" charset="0"/>
              </a:rPr>
              <a:t> = List Block Devices. Look for the new disk by its size; in our example it is /dev/</a:t>
            </a:r>
            <a:r>
              <a:rPr lang="en-US" sz="2000" dirty="0" err="1">
                <a:latin typeface="Times New Roman" panose="02020603050405020304" pitchFamily="18" charset="0"/>
                <a:cs typeface="Times New Roman" panose="02020603050405020304" pitchFamily="18" charset="0"/>
              </a:rPr>
              <a:t>sdb</a:t>
            </a:r>
            <a:r>
              <a:rPr lang="en-US" sz="2000" dirty="0">
                <a:latin typeface="Times New Roman" panose="02020603050405020304" pitchFamily="18" charset="0"/>
                <a:cs typeface="Times New Roman" panose="02020603050405020304" pitchFamily="18" charset="0"/>
              </a:rPr>
              <a:t>. Do not assume the name check your own output.</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517028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2FA87-87DE-2EE2-DA71-1136B7296BDB}"/>
              </a:ext>
            </a:extLst>
          </p:cNvPr>
          <p:cNvSpPr>
            <a:spLocks noGrp="1"/>
          </p:cNvSpPr>
          <p:nvPr>
            <p:ph type="title"/>
          </p:nvPr>
        </p:nvSpPr>
        <p:spPr>
          <a:xfrm>
            <a:off x="596900" y="445024"/>
            <a:ext cx="7827100" cy="1777475"/>
          </a:xfrm>
        </p:spPr>
        <p:txBody>
          <a:bodyPr/>
          <a:lstStyle/>
          <a:p>
            <a:r>
              <a:rPr lang="en-US" sz="2000" b="0" dirty="0">
                <a:latin typeface="Times New Roman" panose="02020603050405020304" pitchFamily="18" charset="0"/>
                <a:cs typeface="Times New Roman" panose="02020603050405020304" pitchFamily="18" charset="0"/>
              </a:rPr>
              <a:t>4. </a:t>
            </a:r>
            <a:r>
              <a:rPr lang="en-US" sz="2000" b="0" dirty="0">
                <a:highlight>
                  <a:srgbClr val="FFFF00"/>
                </a:highlight>
                <a:latin typeface="Times New Roman" panose="02020603050405020304" pitchFamily="18" charset="0"/>
                <a:cs typeface="Times New Roman" panose="02020603050405020304" pitchFamily="18" charset="0"/>
              </a:rPr>
              <a:t>Check filesystems</a:t>
            </a:r>
            <a:br>
              <a:rPr lang="en-US" sz="2000" b="0" dirty="0">
                <a:highlight>
                  <a:srgbClr val="FFFF00"/>
                </a:highlight>
                <a:latin typeface="Times New Roman" panose="02020603050405020304" pitchFamily="18" charset="0"/>
                <a:cs typeface="Times New Roman" panose="02020603050405020304" pitchFamily="18" charset="0"/>
              </a:rPr>
            </a:br>
            <a:br>
              <a:rPr lang="en-US" sz="2000" b="0" dirty="0">
                <a:latin typeface="Times New Roman" panose="02020603050405020304" pitchFamily="18" charset="0"/>
                <a:cs typeface="Times New Roman" panose="02020603050405020304" pitchFamily="18" charset="0"/>
              </a:rPr>
            </a:br>
            <a:r>
              <a:rPr lang="en-US" sz="2000" b="0" dirty="0" err="1">
                <a:highlight>
                  <a:srgbClr val="67EFEC"/>
                </a:highlight>
                <a:latin typeface="Times New Roman" panose="02020603050405020304" pitchFamily="18" charset="0"/>
                <a:cs typeface="Times New Roman" panose="02020603050405020304" pitchFamily="18" charset="0"/>
              </a:rPr>
              <a:t>lsblk</a:t>
            </a:r>
            <a:r>
              <a:rPr lang="en-US" sz="2000" b="0" dirty="0">
                <a:highlight>
                  <a:srgbClr val="67EFEC"/>
                </a:highlight>
                <a:latin typeface="Times New Roman" panose="02020603050405020304" pitchFamily="18" charset="0"/>
                <a:cs typeface="Times New Roman" panose="02020603050405020304" pitchFamily="18" charset="0"/>
              </a:rPr>
              <a:t> -f</a:t>
            </a:r>
            <a:br>
              <a:rPr lang="en-US" sz="2000" b="0" dirty="0">
                <a:latin typeface="Times New Roman" panose="02020603050405020304" pitchFamily="18" charset="0"/>
                <a:cs typeface="Times New Roman" panose="02020603050405020304" pitchFamily="18" charset="0"/>
              </a:rPr>
            </a:br>
            <a:r>
              <a:rPr lang="en-US" sz="2000" b="0" dirty="0">
                <a:latin typeface="Times New Roman" panose="02020603050405020304" pitchFamily="18" charset="0"/>
                <a:cs typeface="Times New Roman" panose="02020603050405020304" pitchFamily="18" charset="0"/>
              </a:rPr>
              <a:t>The -f option shows filesystem information such as FSTYPE and UUID. A blank FSTYPE on the new disk normally means it has no filesystem yet.</a:t>
            </a:r>
          </a:p>
        </p:txBody>
      </p:sp>
      <p:sp>
        <p:nvSpPr>
          <p:cNvPr id="3" name="Title 1">
            <a:extLst>
              <a:ext uri="{FF2B5EF4-FFF2-40B4-BE49-F238E27FC236}">
                <a16:creationId xmlns:a16="http://schemas.microsoft.com/office/drawing/2014/main" id="{FD4A5614-27F5-075C-BF5C-D23FF5B245BE}"/>
              </a:ext>
            </a:extLst>
          </p:cNvPr>
          <p:cNvSpPr txBox="1">
            <a:spLocks/>
          </p:cNvSpPr>
          <p:nvPr/>
        </p:nvSpPr>
        <p:spPr>
          <a:xfrm>
            <a:off x="596900" y="2571750"/>
            <a:ext cx="7704000" cy="18790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US" sz="2000">
                <a:latin typeface="Times New Roman" panose="02020603050405020304" pitchFamily="18" charset="0"/>
                <a:cs typeface="Times New Roman" panose="02020603050405020304" pitchFamily="18" charset="0"/>
              </a:rPr>
              <a:t>5. </a:t>
            </a:r>
            <a:r>
              <a:rPr lang="en-US" sz="2000">
                <a:highlight>
                  <a:srgbClr val="FFFF00"/>
                </a:highlight>
                <a:latin typeface="Times New Roman" panose="02020603050405020304" pitchFamily="18" charset="0"/>
                <a:cs typeface="Times New Roman" panose="02020603050405020304" pitchFamily="18" charset="0"/>
              </a:rPr>
              <a:t>Create a partition</a:t>
            </a:r>
            <a:br>
              <a:rPr lang="en-US" sz="2000">
                <a:highlight>
                  <a:srgbClr val="FFFF00"/>
                </a:highlight>
                <a:latin typeface="Times New Roman" panose="02020603050405020304" pitchFamily="18" charset="0"/>
                <a:cs typeface="Times New Roman" panose="02020603050405020304" pitchFamily="18" charset="0"/>
              </a:rPr>
            </a:br>
            <a:br>
              <a:rPr lang="en-US" sz="2000">
                <a:latin typeface="Times New Roman" panose="02020603050405020304" pitchFamily="18" charset="0"/>
                <a:cs typeface="Times New Roman" panose="02020603050405020304" pitchFamily="18" charset="0"/>
              </a:rPr>
            </a:br>
            <a:r>
              <a:rPr lang="en-US" sz="2000">
                <a:highlight>
                  <a:srgbClr val="67EFEC"/>
                </a:highlight>
                <a:latin typeface="Times New Roman" panose="02020603050405020304" pitchFamily="18" charset="0"/>
                <a:cs typeface="Times New Roman" panose="02020603050405020304" pitchFamily="18" charset="0"/>
              </a:rPr>
              <a:t>fdisk /dev/sdb</a:t>
            </a:r>
            <a:br>
              <a:rPr lang="en-US" sz="2000">
                <a:latin typeface="Times New Roman" panose="02020603050405020304" pitchFamily="18" charset="0"/>
                <a:cs typeface="Times New Roman" panose="02020603050405020304" pitchFamily="18" charset="0"/>
              </a:rPr>
            </a:br>
            <a:r>
              <a:rPr lang="en-US" sz="2000">
                <a:latin typeface="Times New Roman" panose="02020603050405020304" pitchFamily="18" charset="0"/>
                <a:cs typeface="Times New Roman" panose="02020603050405020304" pitchFamily="18" charset="0"/>
              </a:rPr>
              <a:t>Inside fdisk type: n → p → Enter → Enter → Enter → w. fdisk is a disk-partitioning utility; n creates a new partition and w writes the changes.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794384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9C61F5-9783-0612-5CA3-20076B51EC59}"/>
              </a:ext>
            </a:extLst>
          </p:cNvPr>
          <p:cNvSpPr txBox="1"/>
          <p:nvPr/>
        </p:nvSpPr>
        <p:spPr>
          <a:xfrm>
            <a:off x="720000" y="152400"/>
            <a:ext cx="7704000" cy="1607941"/>
          </a:xfrm>
          <a:prstGeom prst="rect">
            <a:avLst/>
          </a:prstGeom>
          <a:noFill/>
        </p:spPr>
        <p:txBody>
          <a:bodyPr wrap="square">
            <a:spAutoFit/>
          </a:bodyPr>
          <a:lstStyle/>
          <a:p>
            <a:pPr marL="0" marR="0">
              <a:lnSpc>
                <a:spcPct val="115000"/>
              </a:lnSpc>
              <a:spcBef>
                <a:spcPts val="2400"/>
              </a:spcBef>
              <a:buNone/>
            </a:pPr>
            <a:r>
              <a:rPr lang="en-US"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6. </a:t>
            </a:r>
            <a:r>
              <a:rPr lang="en-US" sz="2000" b="1" kern="0" dirty="0">
                <a:solidFill>
                  <a:schemeClr val="tx1"/>
                </a:solidFill>
                <a:effectLst/>
                <a:highlight>
                  <a:srgbClr val="FFFF00"/>
                </a:highlight>
                <a:latin typeface="Times New Roman" panose="02020603050405020304" pitchFamily="18" charset="0"/>
                <a:ea typeface="MS Gothic" panose="020B0609070205080204" pitchFamily="49" charset="-128"/>
                <a:cs typeface="Times New Roman" panose="02020603050405020304" pitchFamily="18" charset="0"/>
              </a:rPr>
              <a:t>Verify the partition</a:t>
            </a:r>
          </a:p>
          <a:p>
            <a:pPr marL="0" marR="0">
              <a:lnSpc>
                <a:spcPct val="115000"/>
              </a:lnSpc>
              <a:spcAft>
                <a:spcPts val="1000"/>
              </a:spcAft>
              <a:buNone/>
            </a:pPr>
            <a:r>
              <a:rPr lang="en-US" sz="2000" dirty="0" err="1">
                <a:solidFill>
                  <a:schemeClr val="tx1"/>
                </a:solidFill>
                <a:effectLst/>
                <a:highlight>
                  <a:srgbClr val="67EFEC"/>
                </a:highlight>
                <a:latin typeface="Times New Roman" panose="02020603050405020304" pitchFamily="18" charset="0"/>
                <a:ea typeface="MS Mincho" panose="02020609040205080304" pitchFamily="49" charset="-128"/>
                <a:cs typeface="Times New Roman" panose="02020603050405020304" pitchFamily="18" charset="0"/>
              </a:rPr>
              <a:t>lsblk</a:t>
            </a:r>
            <a:endParaRPr lang="en-US" sz="2000" dirty="0">
              <a:solidFill>
                <a:schemeClr val="tx1"/>
              </a:solidFill>
              <a:effectLst/>
              <a:highlight>
                <a:srgbClr val="67EFEC"/>
              </a:highligh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15000"/>
              </a:lnSpc>
              <a:spcAft>
                <a:spcPts val="1000"/>
              </a:spcAft>
              <a:buNone/>
            </a:pP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You should now see /dev/sdb1 below /dev/</a:t>
            </a:r>
            <a:r>
              <a:rPr lang="en-US" sz="20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sdb</a:t>
            </a: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/dev/</a:t>
            </a:r>
            <a:r>
              <a:rPr lang="en-US" sz="20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sdb</a:t>
            </a: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is the whole disk; /dev/sdb1 is its first partition.</a:t>
            </a:r>
          </a:p>
        </p:txBody>
      </p:sp>
      <p:sp>
        <p:nvSpPr>
          <p:cNvPr id="8" name="TextBox 7">
            <a:extLst>
              <a:ext uri="{FF2B5EF4-FFF2-40B4-BE49-F238E27FC236}">
                <a16:creationId xmlns:a16="http://schemas.microsoft.com/office/drawing/2014/main" id="{4C185C7A-62DD-E47D-A81A-83433328D384}"/>
              </a:ext>
            </a:extLst>
          </p:cNvPr>
          <p:cNvSpPr txBox="1"/>
          <p:nvPr/>
        </p:nvSpPr>
        <p:spPr>
          <a:xfrm>
            <a:off x="720000" y="2263186"/>
            <a:ext cx="7704000" cy="2090124"/>
          </a:xfrm>
          <a:prstGeom prst="rect">
            <a:avLst/>
          </a:prstGeom>
          <a:noFill/>
        </p:spPr>
        <p:txBody>
          <a:bodyPr wrap="square">
            <a:spAutoFit/>
          </a:bodyPr>
          <a:lstStyle/>
          <a:p>
            <a:pPr marL="0" marR="0">
              <a:lnSpc>
                <a:spcPct val="115000"/>
              </a:lnSpc>
              <a:spcBef>
                <a:spcPts val="2400"/>
              </a:spcBef>
              <a:buNone/>
            </a:pPr>
            <a:r>
              <a:rPr lang="en-US"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7. </a:t>
            </a:r>
            <a:r>
              <a:rPr lang="en-US" sz="2000" b="1" kern="0" dirty="0">
                <a:solidFill>
                  <a:schemeClr val="tx1"/>
                </a:solidFill>
                <a:effectLst/>
                <a:highlight>
                  <a:srgbClr val="FFFF00"/>
                </a:highlight>
                <a:latin typeface="Times New Roman" panose="02020603050405020304" pitchFamily="18" charset="0"/>
                <a:ea typeface="MS Gothic" panose="020B0609070205080204" pitchFamily="49" charset="-128"/>
                <a:cs typeface="Times New Roman" panose="02020603050405020304" pitchFamily="18" charset="0"/>
              </a:rPr>
              <a:t>Create an XFS filesystem</a:t>
            </a:r>
          </a:p>
          <a:p>
            <a:pPr marL="0" marR="0">
              <a:lnSpc>
                <a:spcPct val="115000"/>
              </a:lnSpc>
              <a:spcAft>
                <a:spcPts val="1000"/>
              </a:spcAft>
              <a:buNone/>
            </a:pPr>
            <a:r>
              <a:rPr lang="en-US" sz="2000" dirty="0" err="1">
                <a:solidFill>
                  <a:schemeClr val="tx1"/>
                </a:solidFill>
                <a:effectLst/>
                <a:highlight>
                  <a:srgbClr val="67EFEC"/>
                </a:highlight>
                <a:latin typeface="Times New Roman" panose="02020603050405020304" pitchFamily="18" charset="0"/>
                <a:ea typeface="MS Mincho" panose="02020609040205080304" pitchFamily="49" charset="-128"/>
                <a:cs typeface="Times New Roman" panose="02020603050405020304" pitchFamily="18" charset="0"/>
              </a:rPr>
              <a:t>mkfs.xfs</a:t>
            </a:r>
            <a:r>
              <a:rPr lang="en-US" sz="2000" dirty="0">
                <a:solidFill>
                  <a:schemeClr val="tx1"/>
                </a:solidFill>
                <a:effectLst/>
                <a:highlight>
                  <a:srgbClr val="67EFEC"/>
                </a:highlight>
                <a:latin typeface="Times New Roman" panose="02020603050405020304" pitchFamily="18" charset="0"/>
                <a:ea typeface="MS Mincho" panose="02020609040205080304" pitchFamily="49" charset="-128"/>
                <a:cs typeface="Times New Roman" panose="02020603050405020304" pitchFamily="18" charset="0"/>
              </a:rPr>
              <a:t> /dev/sdb1</a:t>
            </a:r>
          </a:p>
          <a:p>
            <a:pPr marL="0" marR="0">
              <a:lnSpc>
                <a:spcPct val="115000"/>
              </a:lnSpc>
              <a:spcAft>
                <a:spcPts val="1000"/>
              </a:spcAft>
              <a:buNone/>
            </a:pPr>
            <a:r>
              <a:rPr lang="en-US" sz="20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mkfs</a:t>
            </a: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 Make </a:t>
            </a:r>
            <a:r>
              <a:rPr lang="en-US" sz="20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FileSystem</a:t>
            </a: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20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xfs</a:t>
            </a: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 X File System. This puts a filesystem structure on the partition so Linux can store files. </a:t>
            </a:r>
          </a:p>
          <a:p>
            <a:pPr marL="0" marR="0">
              <a:lnSpc>
                <a:spcPct val="115000"/>
              </a:lnSpc>
              <a:spcAft>
                <a:spcPts val="1000"/>
              </a:spcAft>
              <a:buNone/>
            </a:pP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WARNING: formatting destroys existing data on the target.</a:t>
            </a:r>
          </a:p>
        </p:txBody>
      </p:sp>
    </p:spTree>
    <p:extLst>
      <p:ext uri="{BB962C8B-B14F-4D97-AF65-F5344CB8AC3E}">
        <p14:creationId xmlns:p14="http://schemas.microsoft.com/office/powerpoint/2010/main" val="46210938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C9D832F-07A3-ED69-28BF-16946AF8F875}"/>
              </a:ext>
            </a:extLst>
          </p:cNvPr>
          <p:cNvSpPr txBox="1"/>
          <p:nvPr/>
        </p:nvSpPr>
        <p:spPr>
          <a:xfrm>
            <a:off x="428624" y="423822"/>
            <a:ext cx="8207375" cy="3587970"/>
          </a:xfrm>
          <a:prstGeom prst="rect">
            <a:avLst/>
          </a:prstGeom>
          <a:noFill/>
        </p:spPr>
        <p:txBody>
          <a:bodyPr wrap="square">
            <a:spAutoFit/>
          </a:bodyPr>
          <a:lstStyle/>
          <a:p>
            <a:pPr marL="0" marR="0">
              <a:lnSpc>
                <a:spcPct val="115000"/>
              </a:lnSpc>
              <a:spcBef>
                <a:spcPts val="2400"/>
              </a:spcBef>
              <a:buNone/>
            </a:pPr>
            <a:r>
              <a:rPr lang="en-US"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8. </a:t>
            </a:r>
            <a:r>
              <a:rPr lang="en-US" sz="2000" b="1" kern="0" dirty="0">
                <a:solidFill>
                  <a:schemeClr val="tx1"/>
                </a:solidFill>
                <a:effectLst/>
                <a:highlight>
                  <a:srgbClr val="FFFF00"/>
                </a:highlight>
                <a:latin typeface="Times New Roman" panose="02020603050405020304" pitchFamily="18" charset="0"/>
                <a:ea typeface="MS Gothic" panose="020B0609070205080204" pitchFamily="49" charset="-128"/>
                <a:cs typeface="Times New Roman" panose="02020603050405020304" pitchFamily="18" charset="0"/>
              </a:rPr>
              <a:t>Verify the filesystem</a:t>
            </a:r>
          </a:p>
          <a:p>
            <a:pPr marL="0" marR="0">
              <a:lnSpc>
                <a:spcPct val="115000"/>
              </a:lnSpc>
              <a:spcAft>
                <a:spcPts val="1000"/>
              </a:spcAft>
              <a:buNone/>
            </a:pPr>
            <a:r>
              <a:rPr lang="en-US" sz="2000" dirty="0" err="1">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lsblk</a:t>
            </a: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 -f</a:t>
            </a:r>
          </a:p>
          <a:p>
            <a:pPr marL="0" marR="0">
              <a:lnSpc>
                <a:spcPct val="115000"/>
              </a:lnSpc>
              <a:spcAft>
                <a:spcPts val="1000"/>
              </a:spcAft>
              <a:buNone/>
            </a:pP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Confirm that /dev/sdb1 shows FSTYPE=</a:t>
            </a:r>
            <a:r>
              <a:rPr lang="en-US" sz="20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xfs</a:t>
            </a: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XFS is the default filesystem in RHEL 9 and is a common choice for Rocky Linux 9.</a:t>
            </a:r>
          </a:p>
          <a:p>
            <a:pPr marL="0" marR="0">
              <a:lnSpc>
                <a:spcPct val="115000"/>
              </a:lnSpc>
              <a:spcBef>
                <a:spcPts val="2400"/>
              </a:spcBef>
              <a:buNone/>
            </a:pPr>
            <a:r>
              <a:rPr lang="en-US"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9. </a:t>
            </a:r>
            <a:r>
              <a:rPr lang="en-US" sz="2000" b="1" kern="0" dirty="0">
                <a:solidFill>
                  <a:schemeClr val="tx1"/>
                </a:solidFill>
                <a:effectLst/>
                <a:highlight>
                  <a:srgbClr val="FFFF00"/>
                </a:highlight>
                <a:latin typeface="Times New Roman" panose="02020603050405020304" pitchFamily="18" charset="0"/>
                <a:ea typeface="MS Gothic" panose="020B0609070205080204" pitchFamily="49" charset="-128"/>
                <a:cs typeface="Times New Roman" panose="02020603050405020304" pitchFamily="18" charset="0"/>
              </a:rPr>
              <a:t>Create a mount point</a:t>
            </a:r>
          </a:p>
          <a:p>
            <a:pPr marL="0" marR="0">
              <a:lnSpc>
                <a:spcPct val="115000"/>
              </a:lnSpc>
              <a:spcAft>
                <a:spcPts val="1000"/>
              </a:spcAft>
              <a:buNone/>
            </a:pPr>
            <a:r>
              <a:rPr lang="en-US" sz="2000" dirty="0" err="1">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mkdir</a:t>
            </a: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 /data</a:t>
            </a:r>
          </a:p>
          <a:p>
            <a:pPr marL="0" marR="0">
              <a:lnSpc>
                <a:spcPct val="115000"/>
              </a:lnSpc>
              <a:spcAft>
                <a:spcPts val="1000"/>
              </a:spcAft>
              <a:buNone/>
            </a:pPr>
            <a:r>
              <a:rPr lang="en-US" sz="20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mkdir</a:t>
            </a: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 Make Directory. /data is the directory that will act as the mount point—the place where you will access the new storage.</a:t>
            </a:r>
          </a:p>
        </p:txBody>
      </p:sp>
    </p:spTree>
    <p:extLst>
      <p:ext uri="{BB962C8B-B14F-4D97-AF65-F5344CB8AC3E}">
        <p14:creationId xmlns:p14="http://schemas.microsoft.com/office/powerpoint/2010/main" val="299042718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E8170B6-DB64-BE61-B57D-1224C3C5BFD3}"/>
              </a:ext>
            </a:extLst>
          </p:cNvPr>
          <p:cNvSpPr txBox="1"/>
          <p:nvPr/>
        </p:nvSpPr>
        <p:spPr>
          <a:xfrm>
            <a:off x="466724" y="365461"/>
            <a:ext cx="8143875" cy="4070153"/>
          </a:xfrm>
          <a:prstGeom prst="rect">
            <a:avLst/>
          </a:prstGeom>
          <a:noFill/>
        </p:spPr>
        <p:txBody>
          <a:bodyPr wrap="square">
            <a:spAutoFit/>
          </a:bodyPr>
          <a:lstStyle/>
          <a:p>
            <a:pPr marL="0" marR="0">
              <a:lnSpc>
                <a:spcPct val="115000"/>
              </a:lnSpc>
              <a:spcBef>
                <a:spcPts val="2400"/>
              </a:spcBef>
              <a:buNone/>
            </a:pPr>
            <a:r>
              <a:rPr lang="en-US"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10. Mount the volume</a:t>
            </a:r>
          </a:p>
          <a:p>
            <a:pPr marL="0" marR="0">
              <a:lnSpc>
                <a:spcPct val="115000"/>
              </a:lnSpc>
              <a:spcAft>
                <a:spcPts val="1000"/>
              </a:spcAft>
              <a:buNone/>
            </a:pP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mount /dev/sdb1 /data</a:t>
            </a:r>
          </a:p>
          <a:p>
            <a:pPr marL="0" marR="0">
              <a:lnSpc>
                <a:spcPct val="115000"/>
              </a:lnSpc>
              <a:spcAft>
                <a:spcPts val="1000"/>
              </a:spcAft>
              <a:buNone/>
            </a:pP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mount attaches the filesystem to a directory. Here, files stored on /dev/sdb1 become accessible through /data.</a:t>
            </a:r>
          </a:p>
          <a:p>
            <a:pPr marL="0" marR="0">
              <a:lnSpc>
                <a:spcPct val="115000"/>
              </a:lnSpc>
              <a:spcBef>
                <a:spcPts val="2400"/>
              </a:spcBef>
              <a:buNone/>
            </a:pPr>
            <a:r>
              <a:rPr lang="en-US"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11. Verify the mount</a:t>
            </a:r>
          </a:p>
          <a:p>
            <a:pPr marL="0" marR="0">
              <a:lnSpc>
                <a:spcPct val="115000"/>
              </a:lnSpc>
              <a:spcAft>
                <a:spcPts val="1000"/>
              </a:spcAft>
              <a:buNone/>
            </a:pPr>
            <a:r>
              <a:rPr lang="en-US" sz="2000" dirty="0" err="1">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df</a:t>
            </a: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 -h</a:t>
            </a:r>
          </a:p>
          <a:p>
            <a:pPr marL="0" marR="0">
              <a:lnSpc>
                <a:spcPct val="115000"/>
              </a:lnSpc>
              <a:spcAft>
                <a:spcPts val="1000"/>
              </a:spcAft>
              <a:buNone/>
            </a:pPr>
            <a:r>
              <a:rPr lang="en-US" sz="2000" dirty="0" err="1">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findmnt</a:t>
            </a: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 /data</a:t>
            </a:r>
          </a:p>
          <a:p>
            <a:pPr marL="0" marR="0">
              <a:lnSpc>
                <a:spcPct val="115000"/>
              </a:lnSpc>
              <a:spcAft>
                <a:spcPts val="1000"/>
              </a:spcAft>
              <a:buNone/>
            </a:pPr>
            <a:r>
              <a:rPr lang="en-US" sz="2000" dirty="0" err="1">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df</a:t>
            </a: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 </a:t>
            </a: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Disk Free; </a:t>
            </a: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-h </a:t>
            </a: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human-readable. </a:t>
            </a:r>
            <a:r>
              <a:rPr lang="en-US" sz="2000" dirty="0" err="1">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findmnt</a:t>
            </a: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shows where the filesystem is mounted. You should see /dev/sdb1 mounted at /data.</a:t>
            </a:r>
          </a:p>
        </p:txBody>
      </p:sp>
    </p:spTree>
    <p:extLst>
      <p:ext uri="{BB962C8B-B14F-4D97-AF65-F5344CB8AC3E}">
        <p14:creationId xmlns:p14="http://schemas.microsoft.com/office/powerpoint/2010/main" val="406186217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C5A143D-AFB8-156B-B135-1CCB9CB6AEC0}"/>
              </a:ext>
            </a:extLst>
          </p:cNvPr>
          <p:cNvSpPr txBox="1"/>
          <p:nvPr/>
        </p:nvSpPr>
        <p:spPr>
          <a:xfrm>
            <a:off x="390524" y="631499"/>
            <a:ext cx="8499475" cy="4070153"/>
          </a:xfrm>
          <a:prstGeom prst="rect">
            <a:avLst/>
          </a:prstGeom>
          <a:noFill/>
        </p:spPr>
        <p:txBody>
          <a:bodyPr wrap="square">
            <a:spAutoFit/>
          </a:bodyPr>
          <a:lstStyle/>
          <a:p>
            <a:pPr marL="0" marR="0">
              <a:lnSpc>
                <a:spcPct val="115000"/>
              </a:lnSpc>
              <a:spcBef>
                <a:spcPts val="2400"/>
              </a:spcBef>
              <a:buNone/>
            </a:pPr>
            <a:r>
              <a:rPr lang="en-US"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12. Test the storage</a:t>
            </a:r>
          </a:p>
          <a:p>
            <a:pPr marL="0" marR="0">
              <a:lnSpc>
                <a:spcPct val="115000"/>
              </a:lnSpc>
              <a:spcAft>
                <a:spcPts val="1000"/>
              </a:spcAft>
              <a:buNone/>
            </a:pP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echo "Rocky Linux storage test" &gt; /data/test.txt</a:t>
            </a:r>
          </a:p>
          <a:p>
            <a:pPr marL="0" marR="0">
              <a:lnSpc>
                <a:spcPct val="115000"/>
              </a:lnSpc>
              <a:spcAft>
                <a:spcPts val="1000"/>
              </a:spcAft>
              <a:buNone/>
            </a:pP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cat /data/test.txt</a:t>
            </a:r>
          </a:p>
          <a:p>
            <a:pPr marL="0" marR="0">
              <a:lnSpc>
                <a:spcPct val="115000"/>
              </a:lnSpc>
              <a:spcAft>
                <a:spcPts val="1000"/>
              </a:spcAft>
              <a:buNone/>
            </a:pP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The first command creates a test file on the new volume; cat reads it back. If the text appears, the mounted storage is usable.</a:t>
            </a:r>
          </a:p>
          <a:p>
            <a:pPr marL="0" marR="0">
              <a:lnSpc>
                <a:spcPct val="115000"/>
              </a:lnSpc>
              <a:spcBef>
                <a:spcPts val="2400"/>
              </a:spcBef>
              <a:buNone/>
            </a:pPr>
            <a:r>
              <a:rPr lang="en-US"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13. Get the UUID</a:t>
            </a:r>
          </a:p>
          <a:p>
            <a:pPr marL="0" marR="0">
              <a:lnSpc>
                <a:spcPct val="115000"/>
              </a:lnSpc>
              <a:spcAft>
                <a:spcPts val="1000"/>
              </a:spcAft>
              <a:buNone/>
            </a:pPr>
            <a:r>
              <a:rPr lang="en-US" sz="2000" dirty="0" err="1">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lsblk</a:t>
            </a: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 -f</a:t>
            </a:r>
          </a:p>
          <a:p>
            <a:pPr marL="0" marR="0">
              <a:lnSpc>
                <a:spcPct val="115000"/>
              </a:lnSpc>
              <a:spcAft>
                <a:spcPts val="1000"/>
              </a:spcAft>
              <a:buNone/>
            </a:pP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UUID = Universally Unique Identifier. Copy the UUID shown for /dev/sdb1; use your own UUID, not an example UUID.</a:t>
            </a:r>
          </a:p>
        </p:txBody>
      </p:sp>
    </p:spTree>
    <p:extLst>
      <p:ext uri="{BB962C8B-B14F-4D97-AF65-F5344CB8AC3E}">
        <p14:creationId xmlns:p14="http://schemas.microsoft.com/office/powerpoint/2010/main" val="417624204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37F8F9-CE11-2C83-4205-65D1E915E286}"/>
              </a:ext>
            </a:extLst>
          </p:cNvPr>
          <p:cNvSpPr txBox="1"/>
          <p:nvPr/>
        </p:nvSpPr>
        <p:spPr>
          <a:xfrm>
            <a:off x="419100" y="74184"/>
            <a:ext cx="8372475" cy="4708981"/>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14. </a:t>
            </a:r>
            <a:r>
              <a:rPr lang="en-US" sz="2000" dirty="0">
                <a:highlight>
                  <a:srgbClr val="FFFF00"/>
                </a:highlight>
                <a:latin typeface="Times New Roman" panose="02020603050405020304" pitchFamily="18" charset="0"/>
                <a:cs typeface="Times New Roman" panose="02020603050405020304" pitchFamily="18" charset="0"/>
              </a:rPr>
              <a:t>Configure permanent mounting</a:t>
            </a:r>
          </a:p>
          <a:p>
            <a:endParaRPr lang="en-US" sz="2000" dirty="0">
              <a:highlight>
                <a:srgbClr val="FFFF00"/>
              </a:highlight>
              <a:latin typeface="Times New Roman" panose="02020603050405020304" pitchFamily="18" charset="0"/>
              <a:cs typeface="Times New Roman" panose="02020603050405020304" pitchFamily="18" charset="0"/>
            </a:endParaRPr>
          </a:p>
          <a:p>
            <a:r>
              <a:rPr lang="en-US" sz="2000" dirty="0">
                <a:highlight>
                  <a:srgbClr val="00FFFF"/>
                </a:highlight>
                <a:latin typeface="Times New Roman" panose="02020603050405020304" pitchFamily="18" charset="0"/>
                <a:cs typeface="Times New Roman" panose="02020603050405020304" pitchFamily="18" charset="0"/>
              </a:rPr>
              <a:t>vi /</a:t>
            </a:r>
            <a:r>
              <a:rPr lang="en-US" sz="2000" dirty="0" err="1">
                <a:highlight>
                  <a:srgbClr val="00FFFF"/>
                </a:highlight>
                <a:latin typeface="Times New Roman" panose="02020603050405020304" pitchFamily="18" charset="0"/>
                <a:cs typeface="Times New Roman" panose="02020603050405020304" pitchFamily="18" charset="0"/>
              </a:rPr>
              <a:t>etc</a:t>
            </a:r>
            <a:r>
              <a:rPr lang="en-US" sz="2000" dirty="0">
                <a:highlight>
                  <a:srgbClr val="00FFFF"/>
                </a:highlight>
                <a:latin typeface="Times New Roman" panose="02020603050405020304" pitchFamily="18" charset="0"/>
                <a:cs typeface="Times New Roman" panose="02020603050405020304" pitchFamily="18" charset="0"/>
              </a:rPr>
              <a:t>/</a:t>
            </a:r>
            <a:r>
              <a:rPr lang="en-US" sz="2000" dirty="0" err="1">
                <a:highlight>
                  <a:srgbClr val="00FFFF"/>
                </a:highlight>
                <a:latin typeface="Times New Roman" panose="02020603050405020304" pitchFamily="18" charset="0"/>
                <a:cs typeface="Times New Roman" panose="02020603050405020304" pitchFamily="18" charset="0"/>
              </a:rPr>
              <a:t>fstab</a:t>
            </a:r>
            <a:endParaRPr lang="en-US" sz="2000" dirty="0">
              <a:highlight>
                <a:srgbClr val="00FFFF"/>
              </a:highlight>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Add: UUID=YOUR-UUID /data </a:t>
            </a:r>
            <a:r>
              <a:rPr lang="en-US" sz="2000" dirty="0" err="1">
                <a:latin typeface="Times New Roman" panose="02020603050405020304" pitchFamily="18" charset="0"/>
                <a:cs typeface="Times New Roman" panose="02020603050405020304" pitchFamily="18" charset="0"/>
              </a:rPr>
              <a:t>xfs</a:t>
            </a:r>
            <a:r>
              <a:rPr lang="en-US" sz="2000" dirty="0">
                <a:latin typeface="Times New Roman" panose="02020603050405020304" pitchFamily="18" charset="0"/>
                <a:cs typeface="Times New Roman" panose="02020603050405020304" pitchFamily="18" charset="0"/>
              </a:rPr>
              <a:t> defaults 0 0</a:t>
            </a:r>
          </a:p>
          <a:p>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fstab</a:t>
            </a:r>
            <a:r>
              <a:rPr lang="en-US" sz="2000" dirty="0">
                <a:latin typeface="Times New Roman" panose="02020603050405020304" pitchFamily="18" charset="0"/>
                <a:cs typeface="Times New Roman" panose="02020603050405020304" pitchFamily="18" charset="0"/>
              </a:rPr>
              <a:t> controls persistent mounts. The fields identify the filesystem, mount point, filesystem type, options, backup field, and check-order field.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15. </a:t>
            </a:r>
            <a:r>
              <a:rPr lang="en-US" sz="2000" dirty="0">
                <a:highlight>
                  <a:srgbClr val="FFFF00"/>
                </a:highlight>
                <a:latin typeface="Times New Roman" panose="02020603050405020304" pitchFamily="18" charset="0"/>
                <a:cs typeface="Times New Roman" panose="02020603050405020304" pitchFamily="18" charset="0"/>
              </a:rPr>
              <a:t>Reload and test </a:t>
            </a:r>
            <a:r>
              <a:rPr lang="en-US" sz="2000" dirty="0" err="1">
                <a:highlight>
                  <a:srgbClr val="FFFF00"/>
                </a:highlight>
                <a:latin typeface="Times New Roman" panose="02020603050405020304" pitchFamily="18" charset="0"/>
                <a:cs typeface="Times New Roman" panose="02020603050405020304" pitchFamily="18" charset="0"/>
              </a:rPr>
              <a:t>fstab</a:t>
            </a:r>
            <a:endParaRPr lang="en-US" sz="2000" dirty="0">
              <a:highlight>
                <a:srgbClr val="FFFF00"/>
              </a:highlight>
              <a:latin typeface="Times New Roman" panose="02020603050405020304" pitchFamily="18" charset="0"/>
              <a:cs typeface="Times New Roman" panose="02020603050405020304" pitchFamily="18" charset="0"/>
            </a:endParaRPr>
          </a:p>
          <a:p>
            <a:endParaRPr lang="en-US" sz="2000" dirty="0">
              <a:highlight>
                <a:srgbClr val="FFFF00"/>
              </a:highlight>
              <a:latin typeface="Times New Roman" panose="02020603050405020304" pitchFamily="18" charset="0"/>
              <a:cs typeface="Times New Roman" panose="02020603050405020304" pitchFamily="18" charset="0"/>
            </a:endParaRPr>
          </a:p>
          <a:p>
            <a:r>
              <a:rPr lang="en-US" sz="2000" dirty="0" err="1">
                <a:highlight>
                  <a:srgbClr val="00FFFF"/>
                </a:highlight>
                <a:latin typeface="Times New Roman" panose="02020603050405020304" pitchFamily="18" charset="0"/>
                <a:cs typeface="Times New Roman" panose="02020603050405020304" pitchFamily="18" charset="0"/>
              </a:rPr>
              <a:t>systemctl</a:t>
            </a:r>
            <a:r>
              <a:rPr lang="en-US" sz="2000" dirty="0">
                <a:highlight>
                  <a:srgbClr val="00FFFF"/>
                </a:highlight>
                <a:latin typeface="Times New Roman" panose="02020603050405020304" pitchFamily="18" charset="0"/>
                <a:cs typeface="Times New Roman" panose="02020603050405020304" pitchFamily="18" charset="0"/>
              </a:rPr>
              <a:t> daemon-reload</a:t>
            </a:r>
          </a:p>
          <a:p>
            <a:r>
              <a:rPr lang="en-US" sz="2000" dirty="0">
                <a:highlight>
                  <a:srgbClr val="00FFFF"/>
                </a:highlight>
                <a:latin typeface="Times New Roman" panose="02020603050405020304" pitchFamily="18" charset="0"/>
                <a:cs typeface="Times New Roman" panose="02020603050405020304" pitchFamily="18" charset="0"/>
              </a:rPr>
              <a:t>mount -a</a:t>
            </a:r>
          </a:p>
          <a:p>
            <a:r>
              <a:rPr lang="en-US" sz="2000" dirty="0" err="1">
                <a:highlight>
                  <a:srgbClr val="00FFFF"/>
                </a:highlight>
                <a:latin typeface="Times New Roman" panose="02020603050405020304" pitchFamily="18" charset="0"/>
                <a:cs typeface="Times New Roman" panose="02020603050405020304" pitchFamily="18" charset="0"/>
              </a:rPr>
              <a:t>findmnt</a:t>
            </a:r>
            <a:r>
              <a:rPr lang="en-US" sz="2000" dirty="0">
                <a:highlight>
                  <a:srgbClr val="00FFFF"/>
                </a:highlight>
                <a:latin typeface="Times New Roman" panose="02020603050405020304" pitchFamily="18" charset="0"/>
                <a:cs typeface="Times New Roman" panose="02020603050405020304" pitchFamily="18" charset="0"/>
              </a:rPr>
              <a:t> /data</a:t>
            </a:r>
          </a:p>
          <a:p>
            <a:r>
              <a:rPr lang="en-US" sz="2000" dirty="0" err="1">
                <a:latin typeface="Times New Roman" panose="02020603050405020304" pitchFamily="18" charset="0"/>
                <a:cs typeface="Times New Roman" panose="02020603050405020304" pitchFamily="18" charset="0"/>
              </a:rPr>
              <a:t>systemctl</a:t>
            </a:r>
            <a:r>
              <a:rPr lang="en-US" sz="2000" dirty="0">
                <a:latin typeface="Times New Roman" panose="02020603050405020304" pitchFamily="18" charset="0"/>
                <a:cs typeface="Times New Roman" panose="02020603050405020304" pitchFamily="18" charset="0"/>
              </a:rPr>
              <a:t> manages </a:t>
            </a:r>
            <a:r>
              <a:rPr lang="en-US" sz="2000" dirty="0" err="1">
                <a:latin typeface="Times New Roman" panose="02020603050405020304" pitchFamily="18" charset="0"/>
                <a:cs typeface="Times New Roman" panose="02020603050405020304" pitchFamily="18" charset="0"/>
              </a:rPr>
              <a:t>systemd</a:t>
            </a:r>
            <a:r>
              <a:rPr lang="en-US" sz="2000" dirty="0">
                <a:latin typeface="Times New Roman" panose="02020603050405020304" pitchFamily="18" charset="0"/>
                <a:cs typeface="Times New Roman" panose="02020603050405020304" pitchFamily="18" charset="0"/>
              </a:rPr>
              <a:t>; daemon-reload makes </a:t>
            </a:r>
            <a:r>
              <a:rPr lang="en-US" sz="2000" dirty="0" err="1">
                <a:latin typeface="Times New Roman" panose="02020603050405020304" pitchFamily="18" charset="0"/>
                <a:cs typeface="Times New Roman" panose="02020603050405020304" pitchFamily="18" charset="0"/>
              </a:rPr>
              <a:t>systemd</a:t>
            </a:r>
            <a:r>
              <a:rPr lang="en-US" sz="2000" dirty="0">
                <a:latin typeface="Times New Roman" panose="02020603050405020304" pitchFamily="18" charset="0"/>
                <a:cs typeface="Times New Roman" panose="02020603050405020304" pitchFamily="18" charset="0"/>
              </a:rPr>
              <a:t> reread configuration. mount -a attempts the filesystem mounts listed in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fstab</a:t>
            </a:r>
            <a:r>
              <a:rPr lang="en-US" sz="2000" dirty="0">
                <a:latin typeface="Times New Roman" panose="02020603050405020304" pitchFamily="18" charset="0"/>
                <a:cs typeface="Times New Roman" panose="02020603050405020304" pitchFamily="18" charset="0"/>
              </a:rPr>
              <a:t>. If there is no error, verify with </a:t>
            </a:r>
            <a:r>
              <a:rPr lang="en-US" sz="2000" dirty="0" err="1">
                <a:latin typeface="Times New Roman" panose="02020603050405020304" pitchFamily="18" charset="0"/>
                <a:cs typeface="Times New Roman" panose="02020603050405020304" pitchFamily="18" charset="0"/>
              </a:rPr>
              <a:t>findmnt</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2564053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12C2EE-A09F-000A-38DB-140F74A7D8C3}"/>
              </a:ext>
            </a:extLst>
          </p:cNvPr>
          <p:cNvSpPr txBox="1"/>
          <p:nvPr/>
        </p:nvSpPr>
        <p:spPr>
          <a:xfrm>
            <a:off x="708024" y="246850"/>
            <a:ext cx="7686675" cy="3941913"/>
          </a:xfrm>
          <a:prstGeom prst="rect">
            <a:avLst/>
          </a:prstGeom>
          <a:noFill/>
        </p:spPr>
        <p:txBody>
          <a:bodyPr wrap="square">
            <a:spAutoFit/>
          </a:bodyPr>
          <a:lstStyle/>
          <a:p>
            <a:pPr marL="0" marR="0">
              <a:lnSpc>
                <a:spcPct val="115000"/>
              </a:lnSpc>
              <a:spcBef>
                <a:spcPts val="2400"/>
              </a:spcBef>
              <a:buNone/>
            </a:pPr>
            <a:r>
              <a:rPr lang="en-US"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16. </a:t>
            </a:r>
            <a:r>
              <a:rPr lang="en-US" sz="2000" b="1" kern="0" dirty="0">
                <a:solidFill>
                  <a:schemeClr val="tx1"/>
                </a:solidFill>
                <a:effectLst/>
                <a:highlight>
                  <a:srgbClr val="FFFF00"/>
                </a:highlight>
                <a:latin typeface="Times New Roman" panose="02020603050405020304" pitchFamily="18" charset="0"/>
                <a:ea typeface="MS Gothic" panose="020B0609070205080204" pitchFamily="49" charset="-128"/>
                <a:cs typeface="Times New Roman" panose="02020603050405020304" pitchFamily="18" charset="0"/>
              </a:rPr>
              <a:t>Reboot and verify</a:t>
            </a:r>
          </a:p>
          <a:p>
            <a:pPr marL="0" marR="0">
              <a:lnSpc>
                <a:spcPct val="115000"/>
              </a:lnSpc>
              <a:spcAft>
                <a:spcPts val="1000"/>
              </a:spcAft>
              <a:buNone/>
            </a:pP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reboot</a:t>
            </a:r>
          </a:p>
          <a:p>
            <a:pPr marL="0" marR="0">
              <a:lnSpc>
                <a:spcPct val="115000"/>
              </a:lnSpc>
              <a:spcAft>
                <a:spcPts val="1000"/>
              </a:spcAft>
              <a:buNone/>
            </a:pP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After Rocky Linux starts, run: </a:t>
            </a:r>
            <a:r>
              <a:rPr lang="en-US" sz="20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lsblk</a:t>
            </a: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20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df</a:t>
            </a: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-h, and </a:t>
            </a:r>
            <a:r>
              <a:rPr lang="en-US" sz="20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findmnt</a:t>
            </a: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/data. If /data is mounted after reboot, the volume is persistent.</a:t>
            </a:r>
          </a:p>
          <a:p>
            <a:pPr marL="0" marR="0">
              <a:lnSpc>
                <a:spcPct val="115000"/>
              </a:lnSpc>
              <a:spcBef>
                <a:spcPts val="2400"/>
              </a:spcBef>
              <a:buNone/>
            </a:pPr>
            <a:r>
              <a:rPr lang="en-US" sz="2000" b="1" kern="0" dirty="0">
                <a:solidFill>
                  <a:schemeClr val="tx1"/>
                </a:solidFill>
                <a:effectLst/>
                <a:highlight>
                  <a:srgbClr val="FFFF00"/>
                </a:highlight>
                <a:latin typeface="Times New Roman" panose="02020603050405020304" pitchFamily="18" charset="0"/>
                <a:ea typeface="MS Gothic" panose="020B0609070205080204" pitchFamily="49" charset="-128"/>
                <a:cs typeface="Times New Roman" panose="02020603050405020304" pitchFamily="18" charset="0"/>
              </a:rPr>
              <a:t>Quick Memory Formula</a:t>
            </a:r>
          </a:p>
          <a:p>
            <a:pPr marL="0" marR="0">
              <a:lnSpc>
                <a:spcPct val="115000"/>
              </a:lnSpc>
              <a:spcAft>
                <a:spcPts val="1000"/>
              </a:spcAft>
              <a:buNone/>
            </a:pP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Find → Partition → Format → Create folder → Mount → Verify → Make permanent</a:t>
            </a:r>
          </a:p>
          <a:p>
            <a:pPr marL="0" marR="0">
              <a:lnSpc>
                <a:spcPct val="115000"/>
              </a:lnSpc>
              <a:spcAft>
                <a:spcPts val="1000"/>
              </a:spcAft>
              <a:buNone/>
            </a:pPr>
            <a:r>
              <a:rPr lang="en-US" sz="20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Commands to remember: </a:t>
            </a:r>
            <a:r>
              <a:rPr lang="en-US" sz="2000" dirty="0" err="1">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lsblk</a:t>
            </a: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 → </a:t>
            </a:r>
            <a:r>
              <a:rPr lang="en-US" sz="2000" dirty="0" err="1">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fdisk</a:t>
            </a: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 → </a:t>
            </a:r>
            <a:r>
              <a:rPr lang="en-US" sz="2000" dirty="0" err="1">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mkfs.xfs</a:t>
            </a: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 → </a:t>
            </a:r>
            <a:r>
              <a:rPr lang="en-US" sz="2000" dirty="0" err="1">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mkdir</a:t>
            </a: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 → mount → </a:t>
            </a:r>
            <a:r>
              <a:rPr lang="en-US" sz="2000" dirty="0" err="1">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df</a:t>
            </a: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 -h/</a:t>
            </a:r>
            <a:r>
              <a:rPr lang="en-US" sz="2000" dirty="0" err="1">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findmnt</a:t>
            </a: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 → /</a:t>
            </a:r>
            <a:r>
              <a:rPr lang="en-US" sz="2000" dirty="0" err="1">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etc</a:t>
            </a:r>
            <a:r>
              <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a:t>
            </a:r>
            <a:r>
              <a:rPr lang="en-US" sz="2000" dirty="0" err="1">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rPr>
              <a:t>fstab</a:t>
            </a:r>
            <a:endParaRPr lang="en-US" sz="2000" dirty="0">
              <a:solidFill>
                <a:schemeClr val="tx1"/>
              </a:solidFill>
              <a:effectLst/>
              <a:highlight>
                <a:srgbClr val="00FFFF"/>
              </a:highligh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20822355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0DF90-A28E-E8E4-52BB-B01C49370283}"/>
              </a:ext>
            </a:extLst>
          </p:cNvPr>
          <p:cNvSpPr>
            <a:spLocks noGrp="1"/>
          </p:cNvSpPr>
          <p:nvPr>
            <p:ph type="title"/>
          </p:nvPr>
        </p:nvSpPr>
        <p:spPr>
          <a:xfrm>
            <a:off x="713225" y="445025"/>
            <a:ext cx="7717500" cy="572700"/>
          </a:xfrm>
        </p:spPr>
        <p:txBody>
          <a:bodyPr wrap="square" anchor="ctr">
            <a:normAutofit/>
          </a:bodyPr>
          <a:lstStyle/>
          <a:p>
            <a:pPr>
              <a:lnSpc>
                <a:spcPct val="90000"/>
              </a:lnSpc>
            </a:pPr>
            <a:r>
              <a:rPr lang="en-US" sz="1400"/>
              <a:t>🔧 Basic Network Commands</a:t>
            </a:r>
            <a:br>
              <a:rPr lang="en-US" sz="1400"/>
            </a:br>
            <a:endParaRPr lang="en-US" sz="1400"/>
          </a:p>
        </p:txBody>
      </p:sp>
      <p:graphicFrame>
        <p:nvGraphicFramePr>
          <p:cNvPr id="3" name="Table 2">
            <a:extLst>
              <a:ext uri="{FF2B5EF4-FFF2-40B4-BE49-F238E27FC236}">
                <a16:creationId xmlns:a16="http://schemas.microsoft.com/office/drawing/2014/main" id="{80F38377-53C5-D6DD-6589-7FAF2ABD9773}"/>
              </a:ext>
            </a:extLst>
          </p:cNvPr>
          <p:cNvGraphicFramePr>
            <a:graphicFrameLocks noGrp="1"/>
          </p:cNvGraphicFramePr>
          <p:nvPr>
            <p:extLst>
              <p:ext uri="{D42A27DB-BD31-4B8C-83A1-F6EECF244321}">
                <p14:modId xmlns:p14="http://schemas.microsoft.com/office/powerpoint/2010/main" val="3596031278"/>
              </p:ext>
            </p:extLst>
          </p:nvPr>
        </p:nvGraphicFramePr>
        <p:xfrm>
          <a:off x="1311938" y="1309210"/>
          <a:ext cx="6520074" cy="2633102"/>
        </p:xfrm>
        <a:graphic>
          <a:graphicData uri="http://schemas.openxmlformats.org/drawingml/2006/table">
            <a:tbl>
              <a:tblPr>
                <a:tableStyleId>{08FB837D-C827-4EFA-A057-4D05807E0F7C}</a:tableStyleId>
              </a:tblPr>
              <a:tblGrid>
                <a:gridCol w="2423935">
                  <a:extLst>
                    <a:ext uri="{9D8B030D-6E8A-4147-A177-3AD203B41FA5}">
                      <a16:colId xmlns:a16="http://schemas.microsoft.com/office/drawing/2014/main" val="3895357208"/>
                    </a:ext>
                  </a:extLst>
                </a:gridCol>
                <a:gridCol w="4096139">
                  <a:extLst>
                    <a:ext uri="{9D8B030D-6E8A-4147-A177-3AD203B41FA5}">
                      <a16:colId xmlns:a16="http://schemas.microsoft.com/office/drawing/2014/main" val="3524886259"/>
                    </a:ext>
                  </a:extLst>
                </a:gridCol>
              </a:tblGrid>
              <a:tr h="290847">
                <a:tc>
                  <a:txBody>
                    <a:bodyPr/>
                    <a:lstStyle/>
                    <a:p>
                      <a:pPr algn="l" fontAlgn="ctr">
                        <a:buNone/>
                      </a:pPr>
                      <a:r>
                        <a:rPr lang="en-US" sz="1300" b="1" u="none" strike="noStrike" dirty="0">
                          <a:effectLst/>
                        </a:rPr>
                        <a:t>Task</a:t>
                      </a:r>
                      <a:endParaRPr lang="en-US" sz="1300" b="0" i="0" u="none" strike="noStrike" dirty="0">
                        <a:effectLst/>
                        <a:latin typeface="Arial" panose="020B0604020202020204" pitchFamily="34" charset="0"/>
                      </a:endParaRPr>
                    </a:p>
                  </a:txBody>
                  <a:tcPr marL="66101" marR="66101" marT="33051" marB="33051" anchor="ctr"/>
                </a:tc>
                <a:tc>
                  <a:txBody>
                    <a:bodyPr/>
                    <a:lstStyle/>
                    <a:p>
                      <a:pPr algn="l" fontAlgn="ctr">
                        <a:buNone/>
                      </a:pPr>
                      <a:r>
                        <a:rPr lang="en-US" sz="1300" b="1" u="none" strike="noStrike">
                          <a:effectLst/>
                        </a:rPr>
                        <a:t>Command</a:t>
                      </a:r>
                      <a:endParaRPr lang="en-US" sz="1300" b="0" i="0" u="none" strike="noStrike">
                        <a:effectLst/>
                        <a:latin typeface="Arial" panose="020B0604020202020204" pitchFamily="34" charset="0"/>
                      </a:endParaRPr>
                    </a:p>
                  </a:txBody>
                  <a:tcPr marL="66101" marR="66101" marT="33051" marB="33051" anchor="ctr"/>
                </a:tc>
                <a:extLst>
                  <a:ext uri="{0D108BD9-81ED-4DB2-BD59-A6C34878D82A}">
                    <a16:rowId xmlns:a16="http://schemas.microsoft.com/office/drawing/2014/main" val="2312540105"/>
                  </a:ext>
                </a:extLst>
              </a:tr>
              <a:tr h="290847">
                <a:tc>
                  <a:txBody>
                    <a:bodyPr/>
                    <a:lstStyle/>
                    <a:p>
                      <a:pPr algn="l" fontAlgn="ctr">
                        <a:buNone/>
                      </a:pPr>
                      <a:r>
                        <a:rPr lang="en-US" sz="1300" b="0" u="none" strike="noStrike">
                          <a:effectLst/>
                        </a:rPr>
                        <a:t>Show IP address info</a:t>
                      </a:r>
                      <a:endParaRPr lang="en-US" sz="1300" b="0" i="0" u="none" strike="noStrike">
                        <a:effectLst/>
                        <a:latin typeface="Arial" panose="020B0604020202020204" pitchFamily="34" charset="0"/>
                      </a:endParaRPr>
                    </a:p>
                  </a:txBody>
                  <a:tcPr marL="66101" marR="66101" marT="33051" marB="33051" anchor="ctr"/>
                </a:tc>
                <a:tc>
                  <a:txBody>
                    <a:bodyPr/>
                    <a:lstStyle/>
                    <a:p>
                      <a:pPr algn="l" fontAlgn="ctr">
                        <a:buNone/>
                      </a:pPr>
                      <a:r>
                        <a:rPr lang="en-US" sz="1300" b="0" u="none" strike="noStrike" dirty="0" err="1">
                          <a:effectLst/>
                        </a:rPr>
                        <a:t>ip</a:t>
                      </a:r>
                      <a:r>
                        <a:rPr lang="en-US" sz="1300" b="0" u="none" strike="noStrike" dirty="0">
                          <a:effectLst/>
                        </a:rPr>
                        <a:t> a / </a:t>
                      </a:r>
                      <a:r>
                        <a:rPr lang="en-US" sz="1300" b="0" u="none" strike="noStrike" dirty="0" err="1">
                          <a:effectLst/>
                        </a:rPr>
                        <a:t>ip</a:t>
                      </a:r>
                      <a:r>
                        <a:rPr lang="en-US" sz="1300" b="0" u="none" strike="noStrike" dirty="0">
                          <a:effectLst/>
                        </a:rPr>
                        <a:t> </a:t>
                      </a:r>
                      <a:r>
                        <a:rPr lang="en-US" sz="1300" b="0" u="none" strike="noStrike" dirty="0" err="1">
                          <a:effectLst/>
                        </a:rPr>
                        <a:t>addr</a:t>
                      </a:r>
                      <a:endParaRPr lang="en-US" sz="1300" b="0" i="0" u="none" strike="noStrike" dirty="0">
                        <a:effectLst/>
                        <a:latin typeface="Arial" panose="020B0604020202020204" pitchFamily="34" charset="0"/>
                      </a:endParaRPr>
                    </a:p>
                  </a:txBody>
                  <a:tcPr marL="66101" marR="66101" marT="33051" marB="33051" anchor="ctr"/>
                </a:tc>
                <a:extLst>
                  <a:ext uri="{0D108BD9-81ED-4DB2-BD59-A6C34878D82A}">
                    <a16:rowId xmlns:a16="http://schemas.microsoft.com/office/drawing/2014/main" val="3715690801"/>
                  </a:ext>
                </a:extLst>
              </a:tr>
              <a:tr h="290847">
                <a:tc>
                  <a:txBody>
                    <a:bodyPr/>
                    <a:lstStyle/>
                    <a:p>
                      <a:pPr algn="l" fontAlgn="ctr">
                        <a:buNone/>
                      </a:pPr>
                      <a:r>
                        <a:rPr lang="en-US" sz="1300" b="0" u="none" strike="noStrike">
                          <a:effectLst/>
                        </a:rPr>
                        <a:t>Show network interfaces status</a:t>
                      </a:r>
                      <a:endParaRPr lang="en-US" sz="1300" b="0" i="0" u="none" strike="noStrike">
                        <a:effectLst/>
                        <a:latin typeface="Arial" panose="020B0604020202020204" pitchFamily="34" charset="0"/>
                      </a:endParaRPr>
                    </a:p>
                  </a:txBody>
                  <a:tcPr marL="66101" marR="66101" marT="33051" marB="33051" anchor="ctr"/>
                </a:tc>
                <a:tc>
                  <a:txBody>
                    <a:bodyPr/>
                    <a:lstStyle/>
                    <a:p>
                      <a:pPr algn="l" fontAlgn="ctr">
                        <a:buNone/>
                      </a:pPr>
                      <a:r>
                        <a:rPr lang="en-US" sz="1300" b="0" u="none" strike="noStrike">
                          <a:effectLst/>
                        </a:rPr>
                        <a:t>nmcli device status</a:t>
                      </a:r>
                      <a:endParaRPr lang="en-US" sz="1300" b="0" i="0" u="none" strike="noStrike">
                        <a:effectLst/>
                        <a:latin typeface="Arial" panose="020B0604020202020204" pitchFamily="34" charset="0"/>
                      </a:endParaRPr>
                    </a:p>
                  </a:txBody>
                  <a:tcPr marL="66101" marR="66101" marT="33051" marB="33051" anchor="ctr"/>
                </a:tc>
                <a:extLst>
                  <a:ext uri="{0D108BD9-81ED-4DB2-BD59-A6C34878D82A}">
                    <a16:rowId xmlns:a16="http://schemas.microsoft.com/office/drawing/2014/main" val="200428221"/>
                  </a:ext>
                </a:extLst>
              </a:tr>
              <a:tr h="290847">
                <a:tc>
                  <a:txBody>
                    <a:bodyPr/>
                    <a:lstStyle/>
                    <a:p>
                      <a:pPr algn="l" fontAlgn="ctr">
                        <a:buNone/>
                      </a:pPr>
                      <a:r>
                        <a:rPr lang="en-US" sz="1300" b="0" u="none" strike="noStrike" dirty="0">
                          <a:effectLst/>
                        </a:rPr>
                        <a:t>Bring interface </a:t>
                      </a:r>
                      <a:r>
                        <a:rPr lang="en-US" sz="1300" b="1" u="none" strike="noStrike" dirty="0">
                          <a:effectLst/>
                        </a:rPr>
                        <a:t>up</a:t>
                      </a:r>
                      <a:endParaRPr lang="en-US" sz="1300" b="0" i="0" u="none" strike="noStrike" dirty="0">
                        <a:effectLst/>
                        <a:latin typeface="Arial" panose="020B0604020202020204" pitchFamily="34" charset="0"/>
                      </a:endParaRPr>
                    </a:p>
                  </a:txBody>
                  <a:tcPr marL="66101" marR="66101" marT="33051" marB="33051" anchor="ctr"/>
                </a:tc>
                <a:tc>
                  <a:txBody>
                    <a:bodyPr/>
                    <a:lstStyle/>
                    <a:p>
                      <a:pPr algn="l" fontAlgn="ctr">
                        <a:buNone/>
                      </a:pPr>
                      <a:r>
                        <a:rPr lang="en-US" sz="1300" b="0" u="none" strike="noStrike">
                          <a:effectLst/>
                        </a:rPr>
                        <a:t>nmcli device connect eth0</a:t>
                      </a:r>
                      <a:endParaRPr lang="en-US" sz="1300" b="0" i="0" u="none" strike="noStrike">
                        <a:effectLst/>
                        <a:latin typeface="Arial" panose="020B0604020202020204" pitchFamily="34" charset="0"/>
                      </a:endParaRPr>
                    </a:p>
                  </a:txBody>
                  <a:tcPr marL="66101" marR="66101" marT="33051" marB="33051" anchor="ctr"/>
                </a:tc>
                <a:extLst>
                  <a:ext uri="{0D108BD9-81ED-4DB2-BD59-A6C34878D82A}">
                    <a16:rowId xmlns:a16="http://schemas.microsoft.com/office/drawing/2014/main" val="1999497040"/>
                  </a:ext>
                </a:extLst>
              </a:tr>
              <a:tr h="290847">
                <a:tc>
                  <a:txBody>
                    <a:bodyPr/>
                    <a:lstStyle/>
                    <a:p>
                      <a:pPr algn="l" fontAlgn="ctr">
                        <a:buNone/>
                      </a:pPr>
                      <a:r>
                        <a:rPr lang="en-US" sz="1300" b="0" u="none" strike="noStrike" dirty="0">
                          <a:effectLst/>
                        </a:rPr>
                        <a:t>Bring interface </a:t>
                      </a:r>
                      <a:r>
                        <a:rPr lang="en-US" sz="1300" b="1" u="none" strike="noStrike" dirty="0">
                          <a:effectLst/>
                        </a:rPr>
                        <a:t>down</a:t>
                      </a:r>
                      <a:endParaRPr lang="en-US" sz="1300" b="0" i="0" u="none" strike="noStrike" dirty="0">
                        <a:effectLst/>
                        <a:latin typeface="Arial" panose="020B0604020202020204" pitchFamily="34" charset="0"/>
                      </a:endParaRPr>
                    </a:p>
                  </a:txBody>
                  <a:tcPr marL="66101" marR="66101" marT="33051" marB="33051" anchor="ctr"/>
                </a:tc>
                <a:tc>
                  <a:txBody>
                    <a:bodyPr/>
                    <a:lstStyle/>
                    <a:p>
                      <a:pPr algn="l" fontAlgn="ctr">
                        <a:buNone/>
                      </a:pPr>
                      <a:r>
                        <a:rPr lang="en-US" sz="1300" b="0" u="none" strike="noStrike" dirty="0" err="1">
                          <a:effectLst/>
                        </a:rPr>
                        <a:t>nmcli</a:t>
                      </a:r>
                      <a:r>
                        <a:rPr lang="en-US" sz="1300" b="0" u="none" strike="noStrike" dirty="0">
                          <a:effectLst/>
                        </a:rPr>
                        <a:t> device disconnect eth0</a:t>
                      </a:r>
                      <a:endParaRPr lang="en-US" sz="1300" b="0" i="0" u="none" strike="noStrike" dirty="0">
                        <a:effectLst/>
                        <a:latin typeface="Arial" panose="020B0604020202020204" pitchFamily="34" charset="0"/>
                      </a:endParaRPr>
                    </a:p>
                  </a:txBody>
                  <a:tcPr marL="66101" marR="66101" marT="33051" marB="33051" anchor="ctr"/>
                </a:tc>
                <a:extLst>
                  <a:ext uri="{0D108BD9-81ED-4DB2-BD59-A6C34878D82A}">
                    <a16:rowId xmlns:a16="http://schemas.microsoft.com/office/drawing/2014/main" val="120996500"/>
                  </a:ext>
                </a:extLst>
              </a:tr>
              <a:tr h="306326">
                <a:tc>
                  <a:txBody>
                    <a:bodyPr/>
                    <a:lstStyle/>
                    <a:p>
                      <a:pPr algn="l" fontAlgn="ctr">
                        <a:buNone/>
                      </a:pPr>
                      <a:r>
                        <a:rPr lang="en-US" sz="1300" b="0" u="none" strike="noStrike" dirty="0">
                          <a:effectLst/>
                        </a:rPr>
                        <a:t>Set static IP</a:t>
                      </a:r>
                      <a:endParaRPr lang="en-US" sz="1300" b="0" i="0" u="none" strike="noStrike" dirty="0">
                        <a:effectLst/>
                        <a:latin typeface="Arial" panose="020B0604020202020204" pitchFamily="34" charset="0"/>
                      </a:endParaRPr>
                    </a:p>
                  </a:txBody>
                  <a:tcPr marL="66101" marR="66101" marT="33051" marB="33051" anchor="ctr"/>
                </a:tc>
                <a:tc>
                  <a:txBody>
                    <a:bodyPr/>
                    <a:lstStyle/>
                    <a:p>
                      <a:pPr algn="l" fontAlgn="ctr">
                        <a:buNone/>
                      </a:pPr>
                      <a:r>
                        <a:rPr lang="en-US" sz="1300" b="0" u="none" strike="noStrike" dirty="0" err="1">
                          <a:effectLst/>
                        </a:rPr>
                        <a:t>nmcli</a:t>
                      </a:r>
                      <a:r>
                        <a:rPr lang="en-US" sz="1300" b="0" u="none" strike="noStrike" dirty="0">
                          <a:effectLst/>
                        </a:rPr>
                        <a:t> con mod eth0 ipv4.addresses 192.168.1.100/24</a:t>
                      </a:r>
                      <a:endParaRPr lang="en-US" sz="1300" b="0" i="0" u="none" strike="noStrike" dirty="0">
                        <a:effectLst/>
                        <a:latin typeface="Arial" panose="020B0604020202020204" pitchFamily="34" charset="0"/>
                      </a:endParaRPr>
                    </a:p>
                  </a:txBody>
                  <a:tcPr marL="66101" marR="66101" marT="33051" marB="33051" anchor="ctr"/>
                </a:tc>
                <a:extLst>
                  <a:ext uri="{0D108BD9-81ED-4DB2-BD59-A6C34878D82A}">
                    <a16:rowId xmlns:a16="http://schemas.microsoft.com/office/drawing/2014/main" val="2324419347"/>
                  </a:ext>
                </a:extLst>
              </a:tr>
              <a:tr h="290847">
                <a:tc>
                  <a:txBody>
                    <a:bodyPr/>
                    <a:lstStyle/>
                    <a:p>
                      <a:pPr algn="l" fontAlgn="ctr">
                        <a:buNone/>
                      </a:pPr>
                      <a:r>
                        <a:rPr lang="en-US" sz="1300" b="0" u="none" strike="noStrike">
                          <a:effectLst/>
                        </a:rPr>
                        <a:t>Set gateway</a:t>
                      </a:r>
                      <a:endParaRPr lang="en-US" sz="1300" b="0" i="0" u="none" strike="noStrike">
                        <a:effectLst/>
                        <a:latin typeface="Arial" panose="020B0604020202020204" pitchFamily="34" charset="0"/>
                      </a:endParaRPr>
                    </a:p>
                  </a:txBody>
                  <a:tcPr marL="66101" marR="66101" marT="33051" marB="33051" anchor="ctr"/>
                </a:tc>
                <a:tc>
                  <a:txBody>
                    <a:bodyPr/>
                    <a:lstStyle/>
                    <a:p>
                      <a:pPr algn="l" fontAlgn="ctr">
                        <a:buNone/>
                      </a:pPr>
                      <a:r>
                        <a:rPr lang="en-US" sz="1300" b="0" u="none" strike="noStrike" dirty="0" err="1">
                          <a:effectLst/>
                        </a:rPr>
                        <a:t>nmcli</a:t>
                      </a:r>
                      <a:r>
                        <a:rPr lang="en-US" sz="1300" b="0" u="none" strike="noStrike" dirty="0">
                          <a:effectLst/>
                        </a:rPr>
                        <a:t> con mod eth0 ipv4.gateway 192.168.1.1</a:t>
                      </a:r>
                      <a:endParaRPr lang="en-US" sz="1300" b="0" i="0" u="none" strike="noStrike" dirty="0">
                        <a:effectLst/>
                        <a:latin typeface="Arial" panose="020B0604020202020204" pitchFamily="34" charset="0"/>
                      </a:endParaRPr>
                    </a:p>
                  </a:txBody>
                  <a:tcPr marL="66101" marR="66101" marT="33051" marB="33051" anchor="ctr"/>
                </a:tc>
                <a:extLst>
                  <a:ext uri="{0D108BD9-81ED-4DB2-BD59-A6C34878D82A}">
                    <a16:rowId xmlns:a16="http://schemas.microsoft.com/office/drawing/2014/main" val="1038000809"/>
                  </a:ext>
                </a:extLst>
              </a:tr>
              <a:tr h="290847">
                <a:tc>
                  <a:txBody>
                    <a:bodyPr/>
                    <a:lstStyle/>
                    <a:p>
                      <a:pPr algn="l" fontAlgn="ctr">
                        <a:buNone/>
                      </a:pPr>
                      <a:r>
                        <a:rPr lang="en-US" sz="1300" b="0" u="none" strike="noStrike" dirty="0">
                          <a:effectLst/>
                        </a:rPr>
                        <a:t>Set DNS</a:t>
                      </a:r>
                      <a:endParaRPr lang="en-US" sz="1300" b="0" i="0" u="none" strike="noStrike" dirty="0">
                        <a:effectLst/>
                        <a:latin typeface="Arial" panose="020B0604020202020204" pitchFamily="34" charset="0"/>
                      </a:endParaRPr>
                    </a:p>
                  </a:txBody>
                  <a:tcPr marL="66101" marR="66101" marT="33051" marB="33051" anchor="ctr"/>
                </a:tc>
                <a:tc>
                  <a:txBody>
                    <a:bodyPr/>
                    <a:lstStyle/>
                    <a:p>
                      <a:pPr algn="l" fontAlgn="ctr">
                        <a:buNone/>
                      </a:pPr>
                      <a:r>
                        <a:rPr lang="da-DK" sz="1300" b="0" u="none" strike="noStrike" dirty="0">
                          <a:effectLst/>
                        </a:rPr>
                        <a:t>nmcli con mod eth0 ipv4.dns 8.8.8.8</a:t>
                      </a:r>
                    </a:p>
                  </a:txBody>
                  <a:tcPr marL="66101" marR="66101" marT="33051" marB="33051" anchor="ctr"/>
                </a:tc>
                <a:extLst>
                  <a:ext uri="{0D108BD9-81ED-4DB2-BD59-A6C34878D82A}">
                    <a16:rowId xmlns:a16="http://schemas.microsoft.com/office/drawing/2014/main" val="4166326264"/>
                  </a:ext>
                </a:extLst>
              </a:tr>
              <a:tr h="290847">
                <a:tc>
                  <a:txBody>
                    <a:bodyPr/>
                    <a:lstStyle/>
                    <a:p>
                      <a:pPr algn="l" fontAlgn="ctr">
                        <a:buNone/>
                      </a:pPr>
                      <a:r>
                        <a:rPr lang="en-US" sz="1300" b="0" i="0" u="none" strike="noStrike" dirty="0">
                          <a:effectLst/>
                          <a:latin typeface="Arial" panose="020B0604020202020204" pitchFamily="34" charset="0"/>
                        </a:rPr>
                        <a:t>Set DHCP</a:t>
                      </a:r>
                    </a:p>
                  </a:txBody>
                  <a:tcPr marL="66101" marR="66101" marT="33051" marB="33051" anchor="ct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da-DK" sz="1300" b="0" u="none" strike="noStrike" dirty="0">
                          <a:effectLst/>
                        </a:rPr>
                        <a:t>nmcli con mod eth0 ipv4.method auto</a:t>
                      </a:r>
                    </a:p>
                  </a:txBody>
                  <a:tcPr marL="66101" marR="66101" marT="33051" marB="33051" anchor="ctr"/>
                </a:tc>
                <a:extLst>
                  <a:ext uri="{0D108BD9-81ED-4DB2-BD59-A6C34878D82A}">
                    <a16:rowId xmlns:a16="http://schemas.microsoft.com/office/drawing/2014/main" val="829293235"/>
                  </a:ext>
                </a:extLst>
              </a:tr>
            </a:tbl>
          </a:graphicData>
        </a:graphic>
      </p:graphicFrame>
    </p:spTree>
    <p:extLst>
      <p:ext uri="{BB962C8B-B14F-4D97-AF65-F5344CB8AC3E}">
        <p14:creationId xmlns:p14="http://schemas.microsoft.com/office/powerpoint/2010/main" val="218662351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22BD8-36DE-B661-B112-97B9119E051E}"/>
              </a:ext>
            </a:extLst>
          </p:cNvPr>
          <p:cNvSpPr>
            <a:spLocks noGrp="1"/>
          </p:cNvSpPr>
          <p:nvPr>
            <p:ph type="title"/>
          </p:nvPr>
        </p:nvSpPr>
        <p:spPr/>
        <p:txBody>
          <a:bodyPr/>
          <a:lstStyle/>
          <a:p>
            <a:r>
              <a:rPr lang="en-US" dirty="0"/>
              <a:t>📡 Network Status &amp; Info</a:t>
            </a:r>
            <a:br>
              <a:rPr lang="en-US" dirty="0"/>
            </a:br>
            <a:endParaRPr lang="en-US" dirty="0"/>
          </a:p>
        </p:txBody>
      </p:sp>
      <p:graphicFrame>
        <p:nvGraphicFramePr>
          <p:cNvPr id="3" name="Table 2">
            <a:extLst>
              <a:ext uri="{FF2B5EF4-FFF2-40B4-BE49-F238E27FC236}">
                <a16:creationId xmlns:a16="http://schemas.microsoft.com/office/drawing/2014/main" id="{9BE27BF2-7B21-C631-F29E-FE55A191B360}"/>
              </a:ext>
            </a:extLst>
          </p:cNvPr>
          <p:cNvGraphicFramePr>
            <a:graphicFrameLocks noGrp="1"/>
          </p:cNvGraphicFramePr>
          <p:nvPr>
            <p:extLst>
              <p:ext uri="{D42A27DB-BD31-4B8C-83A1-F6EECF244321}">
                <p14:modId xmlns:p14="http://schemas.microsoft.com/office/powerpoint/2010/main" val="1435611819"/>
              </p:ext>
            </p:extLst>
          </p:nvPr>
        </p:nvGraphicFramePr>
        <p:xfrm>
          <a:off x="705576" y="1379347"/>
          <a:ext cx="6780530" cy="2987040"/>
        </p:xfrm>
        <a:graphic>
          <a:graphicData uri="http://schemas.openxmlformats.org/drawingml/2006/table">
            <a:tbl>
              <a:tblPr/>
              <a:tblGrid>
                <a:gridCol w="3859212">
                  <a:extLst>
                    <a:ext uri="{9D8B030D-6E8A-4147-A177-3AD203B41FA5}">
                      <a16:colId xmlns:a16="http://schemas.microsoft.com/office/drawing/2014/main" val="4114216073"/>
                    </a:ext>
                  </a:extLst>
                </a:gridCol>
                <a:gridCol w="2921318">
                  <a:extLst>
                    <a:ext uri="{9D8B030D-6E8A-4147-A177-3AD203B41FA5}">
                      <a16:colId xmlns:a16="http://schemas.microsoft.com/office/drawing/2014/main" val="3029433230"/>
                    </a:ext>
                  </a:extLst>
                </a:gridCol>
              </a:tblGrid>
              <a:tr h="304800">
                <a:tc>
                  <a:txBody>
                    <a:bodyPr/>
                    <a:lstStyle/>
                    <a:p>
                      <a:r>
                        <a:rPr lang="en-US" sz="1400" b="1"/>
                        <a:t>Task</a:t>
                      </a:r>
                      <a:endParaRPr lang="en-US" sz="1400"/>
                    </a:p>
                  </a:txBody>
                  <a:tcPr anchor="ctr">
                    <a:lnL>
                      <a:noFill/>
                    </a:lnL>
                    <a:lnR>
                      <a:noFill/>
                    </a:lnR>
                    <a:lnT>
                      <a:noFill/>
                    </a:lnT>
                    <a:lnB>
                      <a:noFill/>
                    </a:lnB>
                    <a:noFill/>
                  </a:tcPr>
                </a:tc>
                <a:tc>
                  <a:txBody>
                    <a:bodyPr/>
                    <a:lstStyle/>
                    <a:p>
                      <a:r>
                        <a:rPr lang="en-US" sz="1400" b="1"/>
                        <a:t>Command</a:t>
                      </a:r>
                      <a:endParaRPr lang="en-US" sz="1400"/>
                    </a:p>
                  </a:txBody>
                  <a:tcPr anchor="ctr">
                    <a:lnL>
                      <a:noFill/>
                    </a:lnL>
                    <a:lnR>
                      <a:noFill/>
                    </a:lnR>
                    <a:lnT>
                      <a:noFill/>
                    </a:lnT>
                    <a:lnB>
                      <a:noFill/>
                    </a:lnB>
                    <a:noFill/>
                  </a:tcPr>
                </a:tc>
                <a:extLst>
                  <a:ext uri="{0D108BD9-81ED-4DB2-BD59-A6C34878D82A}">
                    <a16:rowId xmlns:a16="http://schemas.microsoft.com/office/drawing/2014/main" val="3286556532"/>
                  </a:ext>
                </a:extLst>
              </a:tr>
              <a:tr h="304800">
                <a:tc>
                  <a:txBody>
                    <a:bodyPr/>
                    <a:lstStyle/>
                    <a:p>
                      <a:r>
                        <a:rPr lang="en-US" sz="1400"/>
                        <a:t>Show all connections</a:t>
                      </a:r>
                    </a:p>
                  </a:txBody>
                  <a:tcPr anchor="ctr">
                    <a:lnL>
                      <a:noFill/>
                    </a:lnL>
                    <a:lnR>
                      <a:noFill/>
                    </a:lnR>
                    <a:lnT>
                      <a:noFill/>
                    </a:lnT>
                    <a:lnB>
                      <a:noFill/>
                    </a:lnB>
                    <a:noFill/>
                  </a:tcPr>
                </a:tc>
                <a:tc>
                  <a:txBody>
                    <a:bodyPr/>
                    <a:lstStyle/>
                    <a:p>
                      <a:r>
                        <a:rPr lang="en-US" sz="1400" dirty="0" err="1">
                          <a:solidFill>
                            <a:srgbClr val="FF0000"/>
                          </a:solidFill>
                        </a:rPr>
                        <a:t>nmcli</a:t>
                      </a:r>
                      <a:r>
                        <a:rPr lang="en-US" sz="1400" dirty="0">
                          <a:solidFill>
                            <a:srgbClr val="FF0000"/>
                          </a:solidFill>
                        </a:rPr>
                        <a:t> connection show</a:t>
                      </a:r>
                    </a:p>
                  </a:txBody>
                  <a:tcPr anchor="ctr">
                    <a:lnL>
                      <a:noFill/>
                    </a:lnL>
                    <a:lnR>
                      <a:noFill/>
                    </a:lnR>
                    <a:lnT>
                      <a:noFill/>
                    </a:lnT>
                    <a:lnB>
                      <a:noFill/>
                    </a:lnB>
                    <a:noFill/>
                  </a:tcPr>
                </a:tc>
                <a:extLst>
                  <a:ext uri="{0D108BD9-81ED-4DB2-BD59-A6C34878D82A}">
                    <a16:rowId xmlns:a16="http://schemas.microsoft.com/office/drawing/2014/main" val="1494249610"/>
                  </a:ext>
                </a:extLst>
              </a:tr>
              <a:tr h="304800">
                <a:tc>
                  <a:txBody>
                    <a:bodyPr/>
                    <a:lstStyle/>
                    <a:p>
                      <a:r>
                        <a:rPr lang="en-US" sz="1400"/>
                        <a:t>Show details of a connection</a:t>
                      </a:r>
                    </a:p>
                  </a:txBody>
                  <a:tcPr anchor="ctr">
                    <a:lnL>
                      <a:noFill/>
                    </a:lnL>
                    <a:lnR>
                      <a:noFill/>
                    </a:lnR>
                    <a:lnT>
                      <a:noFill/>
                    </a:lnT>
                    <a:lnB>
                      <a:noFill/>
                    </a:lnB>
                    <a:noFill/>
                  </a:tcPr>
                </a:tc>
                <a:tc>
                  <a:txBody>
                    <a:bodyPr/>
                    <a:lstStyle/>
                    <a:p>
                      <a:r>
                        <a:rPr lang="en-US" sz="1400" dirty="0" err="1">
                          <a:solidFill>
                            <a:srgbClr val="FF0000"/>
                          </a:solidFill>
                        </a:rPr>
                        <a:t>nmcli</a:t>
                      </a:r>
                      <a:r>
                        <a:rPr lang="en-US" sz="1400" dirty="0">
                          <a:solidFill>
                            <a:srgbClr val="FF0000"/>
                          </a:solidFill>
                        </a:rPr>
                        <a:t> connection show eth0</a:t>
                      </a:r>
                    </a:p>
                  </a:txBody>
                  <a:tcPr anchor="ctr">
                    <a:lnL>
                      <a:noFill/>
                    </a:lnL>
                    <a:lnR>
                      <a:noFill/>
                    </a:lnR>
                    <a:lnT>
                      <a:noFill/>
                    </a:lnT>
                    <a:lnB>
                      <a:noFill/>
                    </a:lnB>
                    <a:noFill/>
                  </a:tcPr>
                </a:tc>
                <a:extLst>
                  <a:ext uri="{0D108BD9-81ED-4DB2-BD59-A6C34878D82A}">
                    <a16:rowId xmlns:a16="http://schemas.microsoft.com/office/drawing/2014/main" val="742706959"/>
                  </a:ext>
                </a:extLst>
              </a:tr>
              <a:tr h="304800">
                <a:tc>
                  <a:txBody>
                    <a:bodyPr/>
                    <a:lstStyle/>
                    <a:p>
                      <a:r>
                        <a:rPr lang="en-US" sz="1400" dirty="0"/>
                        <a:t>Ping a remote host</a:t>
                      </a:r>
                    </a:p>
                  </a:txBody>
                  <a:tcPr anchor="ctr">
                    <a:lnL>
                      <a:noFill/>
                    </a:lnL>
                    <a:lnR>
                      <a:noFill/>
                    </a:lnR>
                    <a:lnT>
                      <a:noFill/>
                    </a:lnT>
                    <a:lnB>
                      <a:noFill/>
                    </a:lnB>
                    <a:noFill/>
                  </a:tcPr>
                </a:tc>
                <a:tc>
                  <a:txBody>
                    <a:bodyPr/>
                    <a:lstStyle/>
                    <a:p>
                      <a:r>
                        <a:rPr lang="en-US" sz="1400" dirty="0">
                          <a:solidFill>
                            <a:srgbClr val="FF0000"/>
                          </a:solidFill>
                        </a:rPr>
                        <a:t>ping google.com</a:t>
                      </a:r>
                    </a:p>
                  </a:txBody>
                  <a:tcPr anchor="ctr">
                    <a:lnL>
                      <a:noFill/>
                    </a:lnL>
                    <a:lnR>
                      <a:noFill/>
                    </a:lnR>
                    <a:lnT>
                      <a:noFill/>
                    </a:lnT>
                    <a:lnB>
                      <a:noFill/>
                    </a:lnB>
                    <a:noFill/>
                  </a:tcPr>
                </a:tc>
                <a:extLst>
                  <a:ext uri="{0D108BD9-81ED-4DB2-BD59-A6C34878D82A}">
                    <a16:rowId xmlns:a16="http://schemas.microsoft.com/office/drawing/2014/main" val="183109666"/>
                  </a:ext>
                </a:extLst>
              </a:tr>
              <a:tr h="304800">
                <a:tc>
                  <a:txBody>
                    <a:bodyPr/>
                    <a:lstStyle/>
                    <a:p>
                      <a:r>
                        <a:rPr lang="en-US" sz="1400" dirty="0"/>
                        <a:t>Delete a connection profile</a:t>
                      </a:r>
                    </a:p>
                  </a:txBody>
                  <a:tcPr anchor="ctr">
                    <a:lnL>
                      <a:noFill/>
                    </a:lnL>
                    <a:lnR>
                      <a:noFill/>
                    </a:lnR>
                    <a:lnT>
                      <a:noFill/>
                    </a:lnT>
                    <a:lnB>
                      <a:noFill/>
                    </a:lnB>
                    <a:noFill/>
                  </a:tcPr>
                </a:tc>
                <a:tc>
                  <a:txBody>
                    <a:bodyPr/>
                    <a:lstStyle/>
                    <a:p>
                      <a:r>
                        <a:rPr lang="en-US" sz="1400" dirty="0" err="1">
                          <a:solidFill>
                            <a:srgbClr val="FF0000"/>
                          </a:solidFill>
                        </a:rPr>
                        <a:t>nmcli</a:t>
                      </a:r>
                      <a:r>
                        <a:rPr lang="en-US" sz="1400" dirty="0">
                          <a:solidFill>
                            <a:srgbClr val="FF0000"/>
                          </a:solidFill>
                        </a:rPr>
                        <a:t> connection delete </a:t>
                      </a:r>
                      <a:r>
                        <a:rPr lang="en-US" sz="1400" dirty="0">
                          <a:solidFill>
                            <a:srgbClr val="92D050"/>
                          </a:solidFill>
                        </a:rPr>
                        <a:t>&lt;ens160&gt;</a:t>
                      </a:r>
                    </a:p>
                  </a:txBody>
                  <a:tcPr anchor="ctr">
                    <a:lnL>
                      <a:noFill/>
                    </a:lnL>
                    <a:lnR>
                      <a:noFill/>
                    </a:lnR>
                    <a:lnT>
                      <a:noFill/>
                    </a:lnT>
                    <a:lnB>
                      <a:noFill/>
                    </a:lnB>
                    <a:noFill/>
                  </a:tcPr>
                </a:tc>
                <a:extLst>
                  <a:ext uri="{0D108BD9-81ED-4DB2-BD59-A6C34878D82A}">
                    <a16:rowId xmlns:a16="http://schemas.microsoft.com/office/drawing/2014/main" val="1878177055"/>
                  </a:ext>
                </a:extLst>
              </a:tr>
              <a:tr h="3048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t>Create a connection profile</a:t>
                      </a:r>
                    </a:p>
                    <a:p>
                      <a:endParaRPr lang="en-US" sz="1400" dirty="0"/>
                    </a:p>
                  </a:txBody>
                  <a:tcPr anchor="ctr">
                    <a:lnL>
                      <a:noFill/>
                    </a:lnL>
                    <a:lnR>
                      <a:noFill/>
                    </a:lnR>
                    <a:lnT>
                      <a:noFill/>
                    </a:lnT>
                    <a:lnB>
                      <a:noFill/>
                    </a:lnB>
                    <a:noFill/>
                  </a:tcPr>
                </a:tc>
                <a:tc>
                  <a:txBody>
                    <a:bodyPr/>
                    <a:lstStyle/>
                    <a:p>
                      <a:r>
                        <a:rPr lang="en-US" sz="1400" dirty="0" err="1">
                          <a:solidFill>
                            <a:srgbClr val="FF0000"/>
                          </a:solidFill>
                        </a:rPr>
                        <a:t>nmcli</a:t>
                      </a:r>
                      <a:r>
                        <a:rPr lang="en-US" sz="1400" dirty="0">
                          <a:solidFill>
                            <a:srgbClr val="FF0000"/>
                          </a:solidFill>
                        </a:rPr>
                        <a:t> connection add type ethernet </a:t>
                      </a:r>
                      <a:r>
                        <a:rPr lang="en-US" sz="1400" dirty="0" err="1">
                          <a:solidFill>
                            <a:srgbClr val="FF0000"/>
                          </a:solidFill>
                        </a:rPr>
                        <a:t>ifname</a:t>
                      </a:r>
                      <a:r>
                        <a:rPr lang="en-US" sz="1400" dirty="0">
                          <a:solidFill>
                            <a:srgbClr val="FF0000"/>
                          </a:solidFill>
                        </a:rPr>
                        <a:t> </a:t>
                      </a:r>
                      <a:r>
                        <a:rPr lang="en-US" sz="1400" dirty="0">
                          <a:solidFill>
                            <a:srgbClr val="92D050"/>
                          </a:solidFill>
                        </a:rPr>
                        <a:t>&lt;ens160&gt; </a:t>
                      </a:r>
                      <a:r>
                        <a:rPr lang="en-US" sz="1400" dirty="0">
                          <a:solidFill>
                            <a:srgbClr val="FF0000"/>
                          </a:solidFill>
                        </a:rPr>
                        <a:t>con-name </a:t>
                      </a:r>
                      <a:r>
                        <a:rPr lang="en-US" sz="1400" dirty="0">
                          <a:solidFill>
                            <a:srgbClr val="92D050"/>
                          </a:solidFill>
                        </a:rPr>
                        <a:t>&lt;ens160&gt; </a:t>
                      </a:r>
                      <a:r>
                        <a:rPr lang="en-US" sz="1400" dirty="0">
                          <a:solidFill>
                            <a:srgbClr val="FF0000"/>
                          </a:solidFill>
                        </a:rPr>
                        <a:t>ipv4.method auto ipv6.method ignore</a:t>
                      </a:r>
                    </a:p>
                    <a:p>
                      <a:endParaRPr lang="en-US" sz="1400" dirty="0">
                        <a:solidFill>
                          <a:srgbClr val="FF0000"/>
                        </a:solidFill>
                      </a:endParaRPr>
                    </a:p>
                  </a:txBody>
                  <a:tcPr anchor="ctr">
                    <a:lnL>
                      <a:noFill/>
                    </a:lnL>
                    <a:lnR>
                      <a:noFill/>
                    </a:lnR>
                    <a:lnT>
                      <a:noFill/>
                    </a:lnT>
                    <a:lnB>
                      <a:noFill/>
                    </a:lnB>
                    <a:noFill/>
                  </a:tcPr>
                </a:tc>
                <a:extLst>
                  <a:ext uri="{0D108BD9-81ED-4DB2-BD59-A6C34878D82A}">
                    <a16:rowId xmlns:a16="http://schemas.microsoft.com/office/drawing/2014/main" val="3245540080"/>
                  </a:ext>
                </a:extLst>
              </a:tr>
              <a:tr h="304800">
                <a:tc>
                  <a:txBody>
                    <a:bodyPr/>
                    <a:lstStyle/>
                    <a:p>
                      <a:endParaRPr lang="en-US" sz="1400" dirty="0"/>
                    </a:p>
                  </a:txBody>
                  <a:tcPr anchor="ctr">
                    <a:lnL>
                      <a:noFill/>
                    </a:lnL>
                    <a:lnR>
                      <a:noFill/>
                    </a:lnR>
                    <a:lnT>
                      <a:noFill/>
                    </a:lnT>
                    <a:lnB>
                      <a:noFill/>
                    </a:lnB>
                    <a:noFill/>
                  </a:tcPr>
                </a:tc>
                <a:tc>
                  <a:txBody>
                    <a:bodyPr/>
                    <a:lstStyle/>
                    <a:p>
                      <a:endParaRPr lang="en-US" sz="1400" dirty="0"/>
                    </a:p>
                  </a:txBody>
                  <a:tcPr anchor="ctr">
                    <a:lnL>
                      <a:noFill/>
                    </a:lnL>
                    <a:lnR>
                      <a:noFill/>
                    </a:lnR>
                    <a:lnT>
                      <a:noFill/>
                    </a:lnT>
                    <a:lnB>
                      <a:noFill/>
                    </a:lnB>
                    <a:noFill/>
                  </a:tcPr>
                </a:tc>
                <a:extLst>
                  <a:ext uri="{0D108BD9-81ED-4DB2-BD59-A6C34878D82A}">
                    <a16:rowId xmlns:a16="http://schemas.microsoft.com/office/drawing/2014/main" val="1916968695"/>
                  </a:ext>
                </a:extLst>
              </a:tr>
            </a:tbl>
          </a:graphicData>
        </a:graphic>
      </p:graphicFrame>
    </p:spTree>
    <p:extLst>
      <p:ext uri="{BB962C8B-B14F-4D97-AF65-F5344CB8AC3E}">
        <p14:creationId xmlns:p14="http://schemas.microsoft.com/office/powerpoint/2010/main" val="99688780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3C56B-5058-5187-6AB1-1098C4EA6815}"/>
              </a:ext>
            </a:extLst>
          </p:cNvPr>
          <p:cNvSpPr>
            <a:spLocks noGrp="1"/>
          </p:cNvSpPr>
          <p:nvPr>
            <p:ph type="title"/>
          </p:nvPr>
        </p:nvSpPr>
        <p:spPr/>
        <p:txBody>
          <a:bodyPr/>
          <a:lstStyle/>
          <a:p>
            <a:r>
              <a:rPr lang="en-US" dirty="0"/>
              <a:t>🛠️ Network Manager Service</a:t>
            </a:r>
            <a:br>
              <a:rPr lang="en-US" dirty="0"/>
            </a:br>
            <a:endParaRPr lang="en-US" dirty="0"/>
          </a:p>
        </p:txBody>
      </p:sp>
      <p:graphicFrame>
        <p:nvGraphicFramePr>
          <p:cNvPr id="3" name="Table 2">
            <a:extLst>
              <a:ext uri="{FF2B5EF4-FFF2-40B4-BE49-F238E27FC236}">
                <a16:creationId xmlns:a16="http://schemas.microsoft.com/office/drawing/2014/main" id="{B2814A27-659D-F6CE-6825-96185184B332}"/>
              </a:ext>
            </a:extLst>
          </p:cNvPr>
          <p:cNvGraphicFramePr>
            <a:graphicFrameLocks noGrp="1"/>
          </p:cNvGraphicFramePr>
          <p:nvPr/>
        </p:nvGraphicFramePr>
        <p:xfrm>
          <a:off x="712788" y="2251075"/>
          <a:ext cx="7718424" cy="1219200"/>
        </p:xfrm>
        <a:graphic>
          <a:graphicData uri="http://schemas.openxmlformats.org/drawingml/2006/table">
            <a:tbl>
              <a:tblPr/>
              <a:tblGrid>
                <a:gridCol w="3859212">
                  <a:extLst>
                    <a:ext uri="{9D8B030D-6E8A-4147-A177-3AD203B41FA5}">
                      <a16:colId xmlns:a16="http://schemas.microsoft.com/office/drawing/2014/main" val="2924692358"/>
                    </a:ext>
                  </a:extLst>
                </a:gridCol>
                <a:gridCol w="3859212">
                  <a:extLst>
                    <a:ext uri="{9D8B030D-6E8A-4147-A177-3AD203B41FA5}">
                      <a16:colId xmlns:a16="http://schemas.microsoft.com/office/drawing/2014/main" val="567854009"/>
                    </a:ext>
                  </a:extLst>
                </a:gridCol>
              </a:tblGrid>
              <a:tr h="304800">
                <a:tc>
                  <a:txBody>
                    <a:bodyPr/>
                    <a:lstStyle/>
                    <a:p>
                      <a:r>
                        <a:rPr lang="en-US" sz="1400" b="1"/>
                        <a:t>Task</a:t>
                      </a:r>
                      <a:endParaRPr lang="en-US" sz="1400"/>
                    </a:p>
                  </a:txBody>
                  <a:tcPr anchor="ctr">
                    <a:lnL>
                      <a:noFill/>
                    </a:lnL>
                    <a:lnR>
                      <a:noFill/>
                    </a:lnR>
                    <a:lnT>
                      <a:noFill/>
                    </a:lnT>
                    <a:lnB>
                      <a:noFill/>
                    </a:lnB>
                    <a:noFill/>
                  </a:tcPr>
                </a:tc>
                <a:tc>
                  <a:txBody>
                    <a:bodyPr/>
                    <a:lstStyle/>
                    <a:p>
                      <a:r>
                        <a:rPr lang="en-US" sz="1400" b="1"/>
                        <a:t>Command</a:t>
                      </a:r>
                      <a:endParaRPr lang="en-US" sz="1400"/>
                    </a:p>
                  </a:txBody>
                  <a:tcPr anchor="ctr">
                    <a:lnL>
                      <a:noFill/>
                    </a:lnL>
                    <a:lnR>
                      <a:noFill/>
                    </a:lnR>
                    <a:lnT>
                      <a:noFill/>
                    </a:lnT>
                    <a:lnB>
                      <a:noFill/>
                    </a:lnB>
                    <a:noFill/>
                  </a:tcPr>
                </a:tc>
                <a:extLst>
                  <a:ext uri="{0D108BD9-81ED-4DB2-BD59-A6C34878D82A}">
                    <a16:rowId xmlns:a16="http://schemas.microsoft.com/office/drawing/2014/main" val="2146651632"/>
                  </a:ext>
                </a:extLst>
              </a:tr>
              <a:tr h="304800">
                <a:tc>
                  <a:txBody>
                    <a:bodyPr/>
                    <a:lstStyle/>
                    <a:p>
                      <a:r>
                        <a:rPr lang="en-US" sz="1400"/>
                        <a:t>Restart NetworkManager</a:t>
                      </a:r>
                    </a:p>
                  </a:txBody>
                  <a:tcPr anchor="ctr">
                    <a:lnL>
                      <a:noFill/>
                    </a:lnL>
                    <a:lnR>
                      <a:noFill/>
                    </a:lnR>
                    <a:lnT>
                      <a:noFill/>
                    </a:lnT>
                    <a:lnB>
                      <a:noFill/>
                    </a:lnB>
                    <a:noFill/>
                  </a:tcPr>
                </a:tc>
                <a:tc>
                  <a:txBody>
                    <a:bodyPr/>
                    <a:lstStyle/>
                    <a:p>
                      <a:r>
                        <a:rPr lang="en-US" sz="1400" dirty="0" err="1"/>
                        <a:t>systemctl</a:t>
                      </a:r>
                      <a:r>
                        <a:rPr lang="en-US" sz="1400" dirty="0"/>
                        <a:t> restart </a:t>
                      </a:r>
                      <a:r>
                        <a:rPr lang="en-US" sz="1400" dirty="0" err="1"/>
                        <a:t>NetworkManager</a:t>
                      </a:r>
                      <a:endParaRPr lang="en-US" sz="1400" dirty="0"/>
                    </a:p>
                  </a:txBody>
                  <a:tcPr anchor="ctr">
                    <a:lnL>
                      <a:noFill/>
                    </a:lnL>
                    <a:lnR>
                      <a:noFill/>
                    </a:lnR>
                    <a:lnT>
                      <a:noFill/>
                    </a:lnT>
                    <a:lnB>
                      <a:noFill/>
                    </a:lnB>
                    <a:noFill/>
                  </a:tcPr>
                </a:tc>
                <a:extLst>
                  <a:ext uri="{0D108BD9-81ED-4DB2-BD59-A6C34878D82A}">
                    <a16:rowId xmlns:a16="http://schemas.microsoft.com/office/drawing/2014/main" val="381337197"/>
                  </a:ext>
                </a:extLst>
              </a:tr>
              <a:tr h="304800">
                <a:tc>
                  <a:txBody>
                    <a:bodyPr/>
                    <a:lstStyle/>
                    <a:p>
                      <a:r>
                        <a:rPr lang="en-US" sz="1400"/>
                        <a:t>Check status</a:t>
                      </a:r>
                    </a:p>
                  </a:txBody>
                  <a:tcPr anchor="ctr">
                    <a:lnL>
                      <a:noFill/>
                    </a:lnL>
                    <a:lnR>
                      <a:noFill/>
                    </a:lnR>
                    <a:lnT>
                      <a:noFill/>
                    </a:lnT>
                    <a:lnB>
                      <a:noFill/>
                    </a:lnB>
                    <a:noFill/>
                  </a:tcPr>
                </a:tc>
                <a:tc>
                  <a:txBody>
                    <a:bodyPr/>
                    <a:lstStyle/>
                    <a:p>
                      <a:r>
                        <a:rPr lang="en-US" sz="1400" dirty="0" err="1"/>
                        <a:t>systemctl</a:t>
                      </a:r>
                      <a:r>
                        <a:rPr lang="en-US" sz="1400" dirty="0"/>
                        <a:t> status </a:t>
                      </a:r>
                      <a:r>
                        <a:rPr lang="en-US" sz="1400" dirty="0" err="1"/>
                        <a:t>NetworkManager</a:t>
                      </a:r>
                      <a:endParaRPr lang="en-US" sz="1400" dirty="0"/>
                    </a:p>
                  </a:txBody>
                  <a:tcPr anchor="ctr">
                    <a:lnL>
                      <a:noFill/>
                    </a:lnL>
                    <a:lnR>
                      <a:noFill/>
                    </a:lnR>
                    <a:lnT>
                      <a:noFill/>
                    </a:lnT>
                    <a:lnB>
                      <a:noFill/>
                    </a:lnB>
                    <a:noFill/>
                  </a:tcPr>
                </a:tc>
                <a:extLst>
                  <a:ext uri="{0D108BD9-81ED-4DB2-BD59-A6C34878D82A}">
                    <a16:rowId xmlns:a16="http://schemas.microsoft.com/office/drawing/2014/main" val="2301892297"/>
                  </a:ext>
                </a:extLst>
              </a:tr>
              <a:tr h="304800">
                <a:tc>
                  <a:txBody>
                    <a:bodyPr/>
                    <a:lstStyle/>
                    <a:p>
                      <a:r>
                        <a:rPr lang="en-US" sz="1400"/>
                        <a:t>Enable at boot</a:t>
                      </a:r>
                    </a:p>
                  </a:txBody>
                  <a:tcPr anchor="ctr">
                    <a:lnL>
                      <a:noFill/>
                    </a:lnL>
                    <a:lnR>
                      <a:noFill/>
                    </a:lnR>
                    <a:lnT>
                      <a:noFill/>
                    </a:lnT>
                    <a:lnB>
                      <a:noFill/>
                    </a:lnB>
                    <a:noFill/>
                  </a:tcPr>
                </a:tc>
                <a:tc>
                  <a:txBody>
                    <a:bodyPr/>
                    <a:lstStyle/>
                    <a:p>
                      <a:r>
                        <a:rPr lang="en-US" sz="1400" dirty="0" err="1"/>
                        <a:t>systemctl</a:t>
                      </a:r>
                      <a:r>
                        <a:rPr lang="en-US" sz="1400" dirty="0"/>
                        <a:t> enable </a:t>
                      </a:r>
                      <a:r>
                        <a:rPr lang="en-US" sz="1400" dirty="0" err="1"/>
                        <a:t>NetworkManager</a:t>
                      </a:r>
                      <a:endParaRPr lang="en-US" sz="1400" dirty="0"/>
                    </a:p>
                  </a:txBody>
                  <a:tcPr anchor="ctr">
                    <a:lnL>
                      <a:noFill/>
                    </a:lnL>
                    <a:lnR>
                      <a:noFill/>
                    </a:lnR>
                    <a:lnT>
                      <a:noFill/>
                    </a:lnT>
                    <a:lnB>
                      <a:noFill/>
                    </a:lnB>
                    <a:noFill/>
                  </a:tcPr>
                </a:tc>
                <a:extLst>
                  <a:ext uri="{0D108BD9-81ED-4DB2-BD59-A6C34878D82A}">
                    <a16:rowId xmlns:a16="http://schemas.microsoft.com/office/drawing/2014/main" val="3439859401"/>
                  </a:ext>
                </a:extLst>
              </a:tr>
            </a:tbl>
          </a:graphicData>
        </a:graphic>
      </p:graphicFrame>
    </p:spTree>
    <p:extLst>
      <p:ext uri="{BB962C8B-B14F-4D97-AF65-F5344CB8AC3E}">
        <p14:creationId xmlns:p14="http://schemas.microsoft.com/office/powerpoint/2010/main" val="163804786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78515-AE6F-0971-4B57-59CDBA5460DF}"/>
              </a:ext>
            </a:extLst>
          </p:cNvPr>
          <p:cNvSpPr>
            <a:spLocks noGrp="1"/>
          </p:cNvSpPr>
          <p:nvPr>
            <p:ph type="title"/>
          </p:nvPr>
        </p:nvSpPr>
        <p:spPr/>
        <p:txBody>
          <a:bodyPr/>
          <a:lstStyle/>
          <a:p>
            <a:r>
              <a:rPr lang="en-US" dirty="0"/>
              <a:t>🌐 </a:t>
            </a:r>
            <a:r>
              <a:rPr lang="en-US" dirty="0" err="1"/>
              <a:t>Firewalld</a:t>
            </a:r>
            <a:r>
              <a:rPr lang="en-US" dirty="0"/>
              <a:t> Commands</a:t>
            </a:r>
            <a:br>
              <a:rPr lang="en-US" dirty="0"/>
            </a:br>
            <a:endParaRPr lang="en-US" dirty="0"/>
          </a:p>
        </p:txBody>
      </p:sp>
      <p:graphicFrame>
        <p:nvGraphicFramePr>
          <p:cNvPr id="3" name="Table 2">
            <a:extLst>
              <a:ext uri="{FF2B5EF4-FFF2-40B4-BE49-F238E27FC236}">
                <a16:creationId xmlns:a16="http://schemas.microsoft.com/office/drawing/2014/main" id="{DD0E4E39-BDA5-E5ED-1330-AD46EBAB7B95}"/>
              </a:ext>
            </a:extLst>
          </p:cNvPr>
          <p:cNvGraphicFramePr>
            <a:graphicFrameLocks noGrp="1"/>
          </p:cNvGraphicFramePr>
          <p:nvPr/>
        </p:nvGraphicFramePr>
        <p:xfrm>
          <a:off x="712788" y="1946275"/>
          <a:ext cx="7718424" cy="1828800"/>
        </p:xfrm>
        <a:graphic>
          <a:graphicData uri="http://schemas.openxmlformats.org/drawingml/2006/table">
            <a:tbl>
              <a:tblPr/>
              <a:tblGrid>
                <a:gridCol w="3859212">
                  <a:extLst>
                    <a:ext uri="{9D8B030D-6E8A-4147-A177-3AD203B41FA5}">
                      <a16:colId xmlns:a16="http://schemas.microsoft.com/office/drawing/2014/main" val="3955744169"/>
                    </a:ext>
                  </a:extLst>
                </a:gridCol>
                <a:gridCol w="3859212">
                  <a:extLst>
                    <a:ext uri="{9D8B030D-6E8A-4147-A177-3AD203B41FA5}">
                      <a16:colId xmlns:a16="http://schemas.microsoft.com/office/drawing/2014/main" val="1232130504"/>
                    </a:ext>
                  </a:extLst>
                </a:gridCol>
              </a:tblGrid>
              <a:tr h="304800">
                <a:tc>
                  <a:txBody>
                    <a:bodyPr/>
                    <a:lstStyle/>
                    <a:p>
                      <a:r>
                        <a:rPr lang="en-US" sz="1400" b="1"/>
                        <a:t>Task</a:t>
                      </a:r>
                      <a:endParaRPr lang="en-US" sz="1400"/>
                    </a:p>
                  </a:txBody>
                  <a:tcPr anchor="ctr">
                    <a:lnL>
                      <a:noFill/>
                    </a:lnL>
                    <a:lnR>
                      <a:noFill/>
                    </a:lnR>
                    <a:lnT>
                      <a:noFill/>
                    </a:lnT>
                    <a:lnB>
                      <a:noFill/>
                    </a:lnB>
                    <a:noFill/>
                  </a:tcPr>
                </a:tc>
                <a:tc>
                  <a:txBody>
                    <a:bodyPr/>
                    <a:lstStyle/>
                    <a:p>
                      <a:r>
                        <a:rPr lang="en-US" sz="1400" b="1"/>
                        <a:t>Command</a:t>
                      </a:r>
                      <a:endParaRPr lang="en-US" sz="1400"/>
                    </a:p>
                  </a:txBody>
                  <a:tcPr anchor="ctr">
                    <a:lnL>
                      <a:noFill/>
                    </a:lnL>
                    <a:lnR>
                      <a:noFill/>
                    </a:lnR>
                    <a:lnT>
                      <a:noFill/>
                    </a:lnT>
                    <a:lnB>
                      <a:noFill/>
                    </a:lnB>
                    <a:noFill/>
                  </a:tcPr>
                </a:tc>
                <a:extLst>
                  <a:ext uri="{0D108BD9-81ED-4DB2-BD59-A6C34878D82A}">
                    <a16:rowId xmlns:a16="http://schemas.microsoft.com/office/drawing/2014/main" val="784724315"/>
                  </a:ext>
                </a:extLst>
              </a:tr>
              <a:tr h="304800">
                <a:tc>
                  <a:txBody>
                    <a:bodyPr/>
                    <a:lstStyle/>
                    <a:p>
                      <a:r>
                        <a:rPr lang="en-US" sz="1400"/>
                        <a:t>Check firewall status</a:t>
                      </a:r>
                    </a:p>
                  </a:txBody>
                  <a:tcPr anchor="ctr">
                    <a:lnL>
                      <a:noFill/>
                    </a:lnL>
                    <a:lnR>
                      <a:noFill/>
                    </a:lnR>
                    <a:lnT>
                      <a:noFill/>
                    </a:lnT>
                    <a:lnB>
                      <a:noFill/>
                    </a:lnB>
                    <a:noFill/>
                  </a:tcPr>
                </a:tc>
                <a:tc>
                  <a:txBody>
                    <a:bodyPr/>
                    <a:lstStyle/>
                    <a:p>
                      <a:r>
                        <a:rPr lang="en-US" sz="1400" dirty="0"/>
                        <a:t>firewall-</a:t>
                      </a:r>
                      <a:r>
                        <a:rPr lang="en-US" sz="1400" dirty="0" err="1"/>
                        <a:t>cmd</a:t>
                      </a:r>
                      <a:r>
                        <a:rPr lang="en-US" sz="1400" dirty="0"/>
                        <a:t> --state</a:t>
                      </a:r>
                    </a:p>
                  </a:txBody>
                  <a:tcPr anchor="ctr">
                    <a:lnL>
                      <a:noFill/>
                    </a:lnL>
                    <a:lnR>
                      <a:noFill/>
                    </a:lnR>
                    <a:lnT>
                      <a:noFill/>
                    </a:lnT>
                    <a:lnB>
                      <a:noFill/>
                    </a:lnB>
                    <a:noFill/>
                  </a:tcPr>
                </a:tc>
                <a:extLst>
                  <a:ext uri="{0D108BD9-81ED-4DB2-BD59-A6C34878D82A}">
                    <a16:rowId xmlns:a16="http://schemas.microsoft.com/office/drawing/2014/main" val="2048217773"/>
                  </a:ext>
                </a:extLst>
              </a:tr>
              <a:tr h="304800">
                <a:tc>
                  <a:txBody>
                    <a:bodyPr/>
                    <a:lstStyle/>
                    <a:p>
                      <a:r>
                        <a:rPr lang="en-US" sz="1400"/>
                        <a:t>View allowed ports/services</a:t>
                      </a:r>
                    </a:p>
                  </a:txBody>
                  <a:tcPr anchor="ctr">
                    <a:lnL>
                      <a:noFill/>
                    </a:lnL>
                    <a:lnR>
                      <a:noFill/>
                    </a:lnR>
                    <a:lnT>
                      <a:noFill/>
                    </a:lnT>
                    <a:lnB>
                      <a:noFill/>
                    </a:lnB>
                    <a:noFill/>
                  </a:tcPr>
                </a:tc>
                <a:tc>
                  <a:txBody>
                    <a:bodyPr/>
                    <a:lstStyle/>
                    <a:p>
                      <a:r>
                        <a:rPr lang="en-US" sz="1400" dirty="0"/>
                        <a:t>firewall-</a:t>
                      </a:r>
                      <a:r>
                        <a:rPr lang="en-US" sz="1400" dirty="0" err="1"/>
                        <a:t>cmd</a:t>
                      </a:r>
                      <a:r>
                        <a:rPr lang="en-US" sz="1400" dirty="0"/>
                        <a:t> --list-all</a:t>
                      </a:r>
                    </a:p>
                  </a:txBody>
                  <a:tcPr anchor="ctr">
                    <a:lnL>
                      <a:noFill/>
                    </a:lnL>
                    <a:lnR>
                      <a:noFill/>
                    </a:lnR>
                    <a:lnT>
                      <a:noFill/>
                    </a:lnT>
                    <a:lnB>
                      <a:noFill/>
                    </a:lnB>
                    <a:noFill/>
                  </a:tcPr>
                </a:tc>
                <a:extLst>
                  <a:ext uri="{0D108BD9-81ED-4DB2-BD59-A6C34878D82A}">
                    <a16:rowId xmlns:a16="http://schemas.microsoft.com/office/drawing/2014/main" val="3783471609"/>
                  </a:ext>
                </a:extLst>
              </a:tr>
              <a:tr h="304800">
                <a:tc>
                  <a:txBody>
                    <a:bodyPr/>
                    <a:lstStyle/>
                    <a:p>
                      <a:r>
                        <a:rPr lang="en-US" sz="1400"/>
                        <a:t>Open a port (e.g. 80/tcp)</a:t>
                      </a:r>
                    </a:p>
                  </a:txBody>
                  <a:tcPr anchor="ctr">
                    <a:lnL>
                      <a:noFill/>
                    </a:lnL>
                    <a:lnR>
                      <a:noFill/>
                    </a:lnR>
                    <a:lnT>
                      <a:noFill/>
                    </a:lnT>
                    <a:lnB>
                      <a:noFill/>
                    </a:lnB>
                    <a:noFill/>
                  </a:tcPr>
                </a:tc>
                <a:tc>
                  <a:txBody>
                    <a:bodyPr/>
                    <a:lstStyle/>
                    <a:p>
                      <a:r>
                        <a:rPr lang="en-US" sz="1400" dirty="0"/>
                        <a:t>firewall-</a:t>
                      </a:r>
                      <a:r>
                        <a:rPr lang="en-US" sz="1400" dirty="0" err="1"/>
                        <a:t>cmd</a:t>
                      </a:r>
                      <a:r>
                        <a:rPr lang="en-US" sz="1400" dirty="0"/>
                        <a:t> --add-port=80/</a:t>
                      </a:r>
                      <a:r>
                        <a:rPr lang="en-US" sz="1400" dirty="0" err="1"/>
                        <a:t>tcp</a:t>
                      </a:r>
                      <a:r>
                        <a:rPr lang="en-US" sz="1400" dirty="0"/>
                        <a:t> --permanent</a:t>
                      </a:r>
                    </a:p>
                  </a:txBody>
                  <a:tcPr anchor="ctr">
                    <a:lnL>
                      <a:noFill/>
                    </a:lnL>
                    <a:lnR>
                      <a:noFill/>
                    </a:lnR>
                    <a:lnT>
                      <a:noFill/>
                    </a:lnT>
                    <a:lnB>
                      <a:noFill/>
                    </a:lnB>
                    <a:noFill/>
                  </a:tcPr>
                </a:tc>
                <a:extLst>
                  <a:ext uri="{0D108BD9-81ED-4DB2-BD59-A6C34878D82A}">
                    <a16:rowId xmlns:a16="http://schemas.microsoft.com/office/drawing/2014/main" val="1350460035"/>
                  </a:ext>
                </a:extLst>
              </a:tr>
              <a:tr h="304800">
                <a:tc>
                  <a:txBody>
                    <a:bodyPr/>
                    <a:lstStyle/>
                    <a:p>
                      <a:r>
                        <a:rPr lang="en-US" sz="1400"/>
                        <a:t>Allow a service (e.g. HTTP)</a:t>
                      </a:r>
                    </a:p>
                  </a:txBody>
                  <a:tcPr anchor="ctr">
                    <a:lnL>
                      <a:noFill/>
                    </a:lnL>
                    <a:lnR>
                      <a:noFill/>
                    </a:lnR>
                    <a:lnT>
                      <a:noFill/>
                    </a:lnT>
                    <a:lnB>
                      <a:noFill/>
                    </a:lnB>
                    <a:noFill/>
                  </a:tcPr>
                </a:tc>
                <a:tc>
                  <a:txBody>
                    <a:bodyPr/>
                    <a:lstStyle/>
                    <a:p>
                      <a:r>
                        <a:rPr lang="en-US" sz="1400"/>
                        <a:t>firewall-cmd --add-service=http --permanent</a:t>
                      </a:r>
                    </a:p>
                  </a:txBody>
                  <a:tcPr anchor="ctr">
                    <a:lnL>
                      <a:noFill/>
                    </a:lnL>
                    <a:lnR>
                      <a:noFill/>
                    </a:lnR>
                    <a:lnT>
                      <a:noFill/>
                    </a:lnT>
                    <a:lnB>
                      <a:noFill/>
                    </a:lnB>
                    <a:noFill/>
                  </a:tcPr>
                </a:tc>
                <a:extLst>
                  <a:ext uri="{0D108BD9-81ED-4DB2-BD59-A6C34878D82A}">
                    <a16:rowId xmlns:a16="http://schemas.microsoft.com/office/drawing/2014/main" val="984555188"/>
                  </a:ext>
                </a:extLst>
              </a:tr>
              <a:tr h="304800">
                <a:tc>
                  <a:txBody>
                    <a:bodyPr/>
                    <a:lstStyle/>
                    <a:p>
                      <a:r>
                        <a:rPr lang="en-US" sz="1400"/>
                        <a:t>Apply firewall changes</a:t>
                      </a:r>
                    </a:p>
                  </a:txBody>
                  <a:tcPr anchor="ctr">
                    <a:lnL>
                      <a:noFill/>
                    </a:lnL>
                    <a:lnR>
                      <a:noFill/>
                    </a:lnR>
                    <a:lnT>
                      <a:noFill/>
                    </a:lnT>
                    <a:lnB>
                      <a:noFill/>
                    </a:lnB>
                    <a:noFill/>
                  </a:tcPr>
                </a:tc>
                <a:tc>
                  <a:txBody>
                    <a:bodyPr/>
                    <a:lstStyle/>
                    <a:p>
                      <a:r>
                        <a:rPr lang="en-US" sz="1400" dirty="0"/>
                        <a:t>firewall-</a:t>
                      </a:r>
                      <a:r>
                        <a:rPr lang="en-US" sz="1400" dirty="0" err="1"/>
                        <a:t>cmd</a:t>
                      </a:r>
                      <a:r>
                        <a:rPr lang="en-US" sz="1400" dirty="0"/>
                        <a:t> --reload</a:t>
                      </a:r>
                    </a:p>
                  </a:txBody>
                  <a:tcPr anchor="ctr">
                    <a:lnL>
                      <a:noFill/>
                    </a:lnL>
                    <a:lnR>
                      <a:noFill/>
                    </a:lnR>
                    <a:lnT>
                      <a:noFill/>
                    </a:lnT>
                    <a:lnB>
                      <a:noFill/>
                    </a:lnB>
                    <a:noFill/>
                  </a:tcPr>
                </a:tc>
                <a:extLst>
                  <a:ext uri="{0D108BD9-81ED-4DB2-BD59-A6C34878D82A}">
                    <a16:rowId xmlns:a16="http://schemas.microsoft.com/office/drawing/2014/main" val="1158837386"/>
                  </a:ext>
                </a:extLst>
              </a:tr>
            </a:tbl>
          </a:graphicData>
        </a:graphic>
      </p:graphicFrame>
    </p:spTree>
    <p:extLst>
      <p:ext uri="{BB962C8B-B14F-4D97-AF65-F5344CB8AC3E}">
        <p14:creationId xmlns:p14="http://schemas.microsoft.com/office/powerpoint/2010/main" val="370511005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A66A5-92C1-2B83-5708-E1D69647176D}"/>
              </a:ext>
            </a:extLst>
          </p:cNvPr>
          <p:cNvSpPr>
            <a:spLocks noGrp="1"/>
          </p:cNvSpPr>
          <p:nvPr>
            <p:ph type="title"/>
          </p:nvPr>
        </p:nvSpPr>
        <p:spPr/>
        <p:txBody>
          <a:bodyPr/>
          <a:lstStyle/>
          <a:p>
            <a:r>
              <a:rPr lang="en-US" dirty="0"/>
              <a:t>🧠 Useful Tools</a:t>
            </a:r>
            <a:br>
              <a:rPr lang="en-US" dirty="0"/>
            </a:br>
            <a:endParaRPr lang="en-US" dirty="0"/>
          </a:p>
        </p:txBody>
      </p:sp>
      <p:graphicFrame>
        <p:nvGraphicFramePr>
          <p:cNvPr id="3" name="Table 2">
            <a:extLst>
              <a:ext uri="{FF2B5EF4-FFF2-40B4-BE49-F238E27FC236}">
                <a16:creationId xmlns:a16="http://schemas.microsoft.com/office/drawing/2014/main" id="{150BE9F7-4DD3-477B-C86F-F55F6BD82364}"/>
              </a:ext>
            </a:extLst>
          </p:cNvPr>
          <p:cNvGraphicFramePr>
            <a:graphicFrameLocks noGrp="1"/>
          </p:cNvGraphicFramePr>
          <p:nvPr/>
        </p:nvGraphicFramePr>
        <p:xfrm>
          <a:off x="712788" y="2098675"/>
          <a:ext cx="7718424" cy="1524000"/>
        </p:xfrm>
        <a:graphic>
          <a:graphicData uri="http://schemas.openxmlformats.org/drawingml/2006/table">
            <a:tbl>
              <a:tblPr/>
              <a:tblGrid>
                <a:gridCol w="3859212">
                  <a:extLst>
                    <a:ext uri="{9D8B030D-6E8A-4147-A177-3AD203B41FA5}">
                      <a16:colId xmlns:a16="http://schemas.microsoft.com/office/drawing/2014/main" val="3893514571"/>
                    </a:ext>
                  </a:extLst>
                </a:gridCol>
                <a:gridCol w="3859212">
                  <a:extLst>
                    <a:ext uri="{9D8B030D-6E8A-4147-A177-3AD203B41FA5}">
                      <a16:colId xmlns:a16="http://schemas.microsoft.com/office/drawing/2014/main" val="3320348825"/>
                    </a:ext>
                  </a:extLst>
                </a:gridCol>
              </a:tblGrid>
              <a:tr h="304800">
                <a:tc>
                  <a:txBody>
                    <a:bodyPr/>
                    <a:lstStyle/>
                    <a:p>
                      <a:r>
                        <a:rPr lang="en-US" sz="1400" b="1"/>
                        <a:t>Tool</a:t>
                      </a:r>
                      <a:endParaRPr lang="en-US" sz="1400"/>
                    </a:p>
                  </a:txBody>
                  <a:tcPr anchor="ctr">
                    <a:lnL>
                      <a:noFill/>
                    </a:lnL>
                    <a:lnR>
                      <a:noFill/>
                    </a:lnR>
                    <a:lnT>
                      <a:noFill/>
                    </a:lnT>
                    <a:lnB>
                      <a:noFill/>
                    </a:lnB>
                    <a:noFill/>
                  </a:tcPr>
                </a:tc>
                <a:tc>
                  <a:txBody>
                    <a:bodyPr/>
                    <a:lstStyle/>
                    <a:p>
                      <a:r>
                        <a:rPr lang="en-US" sz="1400" b="1"/>
                        <a:t>Purpose</a:t>
                      </a:r>
                      <a:endParaRPr lang="en-US" sz="1400"/>
                    </a:p>
                  </a:txBody>
                  <a:tcPr anchor="ctr">
                    <a:lnL>
                      <a:noFill/>
                    </a:lnL>
                    <a:lnR>
                      <a:noFill/>
                    </a:lnR>
                    <a:lnT>
                      <a:noFill/>
                    </a:lnT>
                    <a:lnB>
                      <a:noFill/>
                    </a:lnB>
                    <a:noFill/>
                  </a:tcPr>
                </a:tc>
                <a:extLst>
                  <a:ext uri="{0D108BD9-81ED-4DB2-BD59-A6C34878D82A}">
                    <a16:rowId xmlns:a16="http://schemas.microsoft.com/office/drawing/2014/main" val="1739583832"/>
                  </a:ext>
                </a:extLst>
              </a:tr>
              <a:tr h="304800">
                <a:tc>
                  <a:txBody>
                    <a:bodyPr/>
                    <a:lstStyle/>
                    <a:p>
                      <a:r>
                        <a:rPr lang="en-US" sz="1400" dirty="0" err="1"/>
                        <a:t>nmtui</a:t>
                      </a:r>
                      <a:endParaRPr lang="en-US" sz="1400" dirty="0"/>
                    </a:p>
                  </a:txBody>
                  <a:tcPr anchor="ctr">
                    <a:lnL>
                      <a:noFill/>
                    </a:lnL>
                    <a:lnR>
                      <a:noFill/>
                    </a:lnR>
                    <a:lnT>
                      <a:noFill/>
                    </a:lnT>
                    <a:lnB>
                      <a:noFill/>
                    </a:lnB>
                    <a:noFill/>
                  </a:tcPr>
                </a:tc>
                <a:tc>
                  <a:txBody>
                    <a:bodyPr/>
                    <a:lstStyle/>
                    <a:p>
                      <a:r>
                        <a:rPr lang="en-US" sz="1400"/>
                        <a:t>Text-based UI for network settings</a:t>
                      </a:r>
                    </a:p>
                  </a:txBody>
                  <a:tcPr anchor="ctr">
                    <a:lnL>
                      <a:noFill/>
                    </a:lnL>
                    <a:lnR>
                      <a:noFill/>
                    </a:lnR>
                    <a:lnT>
                      <a:noFill/>
                    </a:lnT>
                    <a:lnB>
                      <a:noFill/>
                    </a:lnB>
                    <a:noFill/>
                  </a:tcPr>
                </a:tc>
                <a:extLst>
                  <a:ext uri="{0D108BD9-81ED-4DB2-BD59-A6C34878D82A}">
                    <a16:rowId xmlns:a16="http://schemas.microsoft.com/office/drawing/2014/main" val="2496203242"/>
                  </a:ext>
                </a:extLst>
              </a:tr>
              <a:tr h="304800">
                <a:tc>
                  <a:txBody>
                    <a:bodyPr/>
                    <a:lstStyle/>
                    <a:p>
                      <a:r>
                        <a:rPr lang="en-US" sz="1400" dirty="0"/>
                        <a:t>ss -</a:t>
                      </a:r>
                      <a:r>
                        <a:rPr lang="en-US" sz="1400" dirty="0" err="1"/>
                        <a:t>tuln</a:t>
                      </a:r>
                      <a:endParaRPr lang="en-US" sz="1400" dirty="0"/>
                    </a:p>
                  </a:txBody>
                  <a:tcPr anchor="ctr">
                    <a:lnL>
                      <a:noFill/>
                    </a:lnL>
                    <a:lnR>
                      <a:noFill/>
                    </a:lnR>
                    <a:lnT>
                      <a:noFill/>
                    </a:lnT>
                    <a:lnB>
                      <a:noFill/>
                    </a:lnB>
                    <a:noFill/>
                  </a:tcPr>
                </a:tc>
                <a:tc>
                  <a:txBody>
                    <a:bodyPr/>
                    <a:lstStyle/>
                    <a:p>
                      <a:r>
                        <a:rPr lang="en-US" sz="1400" dirty="0"/>
                        <a:t>Show open/listening ports</a:t>
                      </a:r>
                    </a:p>
                  </a:txBody>
                  <a:tcPr anchor="ctr">
                    <a:lnL>
                      <a:noFill/>
                    </a:lnL>
                    <a:lnR>
                      <a:noFill/>
                    </a:lnR>
                    <a:lnT>
                      <a:noFill/>
                    </a:lnT>
                    <a:lnB>
                      <a:noFill/>
                    </a:lnB>
                    <a:noFill/>
                  </a:tcPr>
                </a:tc>
                <a:extLst>
                  <a:ext uri="{0D108BD9-81ED-4DB2-BD59-A6C34878D82A}">
                    <a16:rowId xmlns:a16="http://schemas.microsoft.com/office/drawing/2014/main" val="2619199613"/>
                  </a:ext>
                </a:extLst>
              </a:tr>
              <a:tr h="304800">
                <a:tc>
                  <a:txBody>
                    <a:bodyPr/>
                    <a:lstStyle/>
                    <a:p>
                      <a:r>
                        <a:rPr lang="en-US" sz="1400" dirty="0" err="1"/>
                        <a:t>ethtool</a:t>
                      </a:r>
                      <a:r>
                        <a:rPr lang="en-US" sz="1400" dirty="0"/>
                        <a:t> eth0</a:t>
                      </a:r>
                    </a:p>
                  </a:txBody>
                  <a:tcPr anchor="ctr">
                    <a:lnL>
                      <a:noFill/>
                    </a:lnL>
                    <a:lnR>
                      <a:noFill/>
                    </a:lnR>
                    <a:lnT>
                      <a:noFill/>
                    </a:lnT>
                    <a:lnB>
                      <a:noFill/>
                    </a:lnB>
                    <a:noFill/>
                  </a:tcPr>
                </a:tc>
                <a:tc>
                  <a:txBody>
                    <a:bodyPr/>
                    <a:lstStyle/>
                    <a:p>
                      <a:r>
                        <a:rPr lang="en-US" sz="1400"/>
                        <a:t>Get interface hardware info</a:t>
                      </a:r>
                    </a:p>
                  </a:txBody>
                  <a:tcPr anchor="ctr">
                    <a:lnL>
                      <a:noFill/>
                    </a:lnL>
                    <a:lnR>
                      <a:noFill/>
                    </a:lnR>
                    <a:lnT>
                      <a:noFill/>
                    </a:lnT>
                    <a:lnB>
                      <a:noFill/>
                    </a:lnB>
                    <a:noFill/>
                  </a:tcPr>
                </a:tc>
                <a:extLst>
                  <a:ext uri="{0D108BD9-81ED-4DB2-BD59-A6C34878D82A}">
                    <a16:rowId xmlns:a16="http://schemas.microsoft.com/office/drawing/2014/main" val="2013684160"/>
                  </a:ext>
                </a:extLst>
              </a:tr>
              <a:tr h="304800">
                <a:tc>
                  <a:txBody>
                    <a:bodyPr/>
                    <a:lstStyle/>
                    <a:p>
                      <a:r>
                        <a:rPr lang="en-US" sz="1400" dirty="0" err="1"/>
                        <a:t>tcpdump</a:t>
                      </a:r>
                      <a:endParaRPr lang="en-US" sz="1400" dirty="0"/>
                    </a:p>
                  </a:txBody>
                  <a:tcPr anchor="ctr">
                    <a:lnL>
                      <a:noFill/>
                    </a:lnL>
                    <a:lnR>
                      <a:noFill/>
                    </a:lnR>
                    <a:lnT>
                      <a:noFill/>
                    </a:lnT>
                    <a:lnB>
                      <a:noFill/>
                    </a:lnB>
                    <a:noFill/>
                  </a:tcPr>
                </a:tc>
                <a:tc>
                  <a:txBody>
                    <a:bodyPr/>
                    <a:lstStyle/>
                    <a:p>
                      <a:r>
                        <a:rPr lang="en-US" sz="1400" dirty="0"/>
                        <a:t>Capture and analyze network packets</a:t>
                      </a:r>
                    </a:p>
                  </a:txBody>
                  <a:tcPr anchor="ctr">
                    <a:lnL>
                      <a:noFill/>
                    </a:lnL>
                    <a:lnR>
                      <a:noFill/>
                    </a:lnR>
                    <a:lnT>
                      <a:noFill/>
                    </a:lnT>
                    <a:lnB>
                      <a:noFill/>
                    </a:lnB>
                    <a:noFill/>
                  </a:tcPr>
                </a:tc>
                <a:extLst>
                  <a:ext uri="{0D108BD9-81ED-4DB2-BD59-A6C34878D82A}">
                    <a16:rowId xmlns:a16="http://schemas.microsoft.com/office/drawing/2014/main" val="1188318371"/>
                  </a:ext>
                </a:extLst>
              </a:tr>
            </a:tbl>
          </a:graphicData>
        </a:graphic>
      </p:graphicFrame>
    </p:spTree>
    <p:extLst>
      <p:ext uri="{BB962C8B-B14F-4D97-AF65-F5344CB8AC3E}">
        <p14:creationId xmlns:p14="http://schemas.microsoft.com/office/powerpoint/2010/main" val="254676987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a:extLst>
              <a:ext uri="{FF2B5EF4-FFF2-40B4-BE49-F238E27FC236}">
                <a16:creationId xmlns:a16="http://schemas.microsoft.com/office/drawing/2014/main" id="{29F1D0A3-4517-63A5-4976-BA0AF96FA51D}"/>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200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0DA9D81-5CA0-7B12-AEC4-AE8FB13B86C9}"/>
              </a:ext>
            </a:extLst>
          </p:cNvPr>
          <p:cNvSpPr txBox="1"/>
          <p:nvPr/>
        </p:nvSpPr>
        <p:spPr>
          <a:xfrm>
            <a:off x="141684" y="1473344"/>
            <a:ext cx="8860631" cy="1367490"/>
          </a:xfrm>
          <a:prstGeom prst="rect">
            <a:avLst/>
          </a:prstGeom>
          <a:noFill/>
        </p:spPr>
        <p:txBody>
          <a:bodyPr wrap="square">
            <a:spAutoFit/>
          </a:bodyPr>
          <a:lstStyle/>
          <a:p>
            <a:pPr algn="l" rtl="0" fontAlgn="base">
              <a:lnSpc>
                <a:spcPts val="3226"/>
              </a:lnSpc>
              <a:spcBef>
                <a:spcPts val="1610"/>
              </a:spcBef>
              <a:spcAft>
                <a:spcPts val="1610"/>
              </a:spcAft>
              <a:buNone/>
            </a:pPr>
            <a:r>
              <a:rPr lang="en-US" sz="2000" b="1" i="0" dirty="0">
                <a:solidFill>
                  <a:srgbClr val="0F4761"/>
                </a:solidFill>
                <a:effectLst/>
                <a:latin typeface="Times New Roman" panose="02020603050405020304" pitchFamily="18" charset="0"/>
                <a:cs typeface="Times New Roman" panose="02020603050405020304" pitchFamily="18" charset="0"/>
              </a:rPr>
              <a:t>Step 1</a:t>
            </a:r>
            <a:endParaRPr lang="en-US" sz="2000" b="0" i="0" dirty="0">
              <a:solidFill>
                <a:srgbClr val="0F4761"/>
              </a:solidFill>
              <a:effectLst/>
              <a:latin typeface="Times New Roman" panose="02020603050405020304" pitchFamily="18" charset="0"/>
              <a:cs typeface="Times New Roman" panose="02020603050405020304" pitchFamily="18" charset="0"/>
            </a:endParaRPr>
          </a:p>
          <a:p>
            <a:pPr fontAlgn="base">
              <a:lnSpc>
                <a:spcPts val="1657"/>
              </a:lnSpc>
            </a:pPr>
            <a:r>
              <a:rPr lang="en-US" sz="2000" dirty="0">
                <a:latin typeface="Times New Roman" panose="02020603050405020304" pitchFamily="18" charset="0"/>
                <a:cs typeface="Times New Roman" panose="02020603050405020304" pitchFamily="18" charset="0"/>
              </a:rPr>
              <a:t>sudo </a:t>
            </a:r>
            <a:r>
              <a:rPr lang="en-US" sz="2000" dirty="0" err="1">
                <a:latin typeface="Times New Roman" panose="02020603050405020304" pitchFamily="18" charset="0"/>
                <a:cs typeface="Times New Roman" panose="02020603050405020304" pitchFamily="18" charset="0"/>
              </a:rPr>
              <a:t>nmcli</a:t>
            </a:r>
            <a:r>
              <a:rPr lang="en-US" sz="2000" dirty="0">
                <a:latin typeface="Times New Roman" panose="02020603050405020304" pitchFamily="18" charset="0"/>
                <a:cs typeface="Times New Roman" panose="02020603050405020304" pitchFamily="18" charset="0"/>
              </a:rPr>
              <a:t> con add type ethernet </a:t>
            </a:r>
            <a:r>
              <a:rPr lang="en-US" sz="2000" dirty="0" err="1">
                <a:latin typeface="Times New Roman" panose="02020603050405020304" pitchFamily="18" charset="0"/>
                <a:cs typeface="Times New Roman" panose="02020603050405020304" pitchFamily="18" charset="0"/>
              </a:rPr>
              <a:t>ifname</a:t>
            </a:r>
            <a:r>
              <a:rPr lang="en-US" sz="2000" dirty="0">
                <a:latin typeface="Times New Roman" panose="02020603050405020304" pitchFamily="18" charset="0"/>
                <a:cs typeface="Times New Roman" panose="02020603050405020304" pitchFamily="18" charset="0"/>
              </a:rPr>
              <a:t> ens192 con-name ens192 ipv4.method auto </a:t>
            </a:r>
            <a:r>
              <a:rPr lang="en-US" sz="2000" dirty="0" err="1">
                <a:latin typeface="Times New Roman" panose="02020603050405020304" pitchFamily="18" charset="0"/>
                <a:cs typeface="Times New Roman" panose="02020603050405020304" pitchFamily="18" charset="0"/>
              </a:rPr>
              <a:t>autoconnect</a:t>
            </a:r>
            <a:r>
              <a:rPr lang="en-US" sz="2000" dirty="0">
                <a:latin typeface="Times New Roman" panose="02020603050405020304" pitchFamily="18" charset="0"/>
                <a:cs typeface="Times New Roman" panose="02020603050405020304" pitchFamily="18" charset="0"/>
              </a:rPr>
              <a:t> yes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81D725F0-EB62-D63A-F2F1-76FB4EB91D66}"/>
              </a:ext>
            </a:extLst>
          </p:cNvPr>
          <p:cNvSpPr txBox="1"/>
          <p:nvPr/>
        </p:nvSpPr>
        <p:spPr>
          <a:xfrm>
            <a:off x="1215033" y="601389"/>
            <a:ext cx="7018734" cy="400110"/>
          </a:xfrm>
          <a:prstGeom prst="rect">
            <a:avLst/>
          </a:prstGeom>
          <a:noFill/>
        </p:spPr>
        <p:txBody>
          <a:bodyPr wrap="square">
            <a:spAutoFit/>
          </a:bodyPr>
          <a:lstStyle/>
          <a:p>
            <a:r>
              <a:rPr lang="en-US" sz="2000" b="1" i="0" dirty="0">
                <a:solidFill>
                  <a:srgbClr val="0F4761"/>
                </a:solidFill>
                <a:effectLst/>
                <a:latin typeface="Times New Roman" panose="02020603050405020304" pitchFamily="18" charset="0"/>
                <a:cs typeface="Times New Roman" panose="02020603050405020304" pitchFamily="18" charset="0"/>
              </a:rPr>
              <a:t>Create a correct DHCP connection using the REAL interface</a:t>
            </a:r>
            <a:r>
              <a:rPr lang="en-US" sz="2000" b="0" i="0" dirty="0">
                <a:solidFill>
                  <a:srgbClr val="0F4761"/>
                </a:solidFill>
                <a:effectLst/>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74DB57B-7EBC-659B-6B3E-C99594C06EB3}"/>
              </a:ext>
            </a:extLst>
          </p:cNvPr>
          <p:cNvSpPr txBox="1"/>
          <p:nvPr/>
        </p:nvSpPr>
        <p:spPr>
          <a:xfrm>
            <a:off x="141684" y="3361724"/>
            <a:ext cx="8565356" cy="1149482"/>
          </a:xfrm>
          <a:prstGeom prst="rect">
            <a:avLst/>
          </a:prstGeom>
          <a:noFill/>
        </p:spPr>
        <p:txBody>
          <a:bodyPr wrap="square">
            <a:spAutoFit/>
          </a:bodyPr>
          <a:lstStyle/>
          <a:p>
            <a:pPr algn="l" rtl="0" fontAlgn="base">
              <a:lnSpc>
                <a:spcPts val="3226"/>
              </a:lnSpc>
              <a:spcBef>
                <a:spcPts val="1610"/>
              </a:spcBef>
              <a:spcAft>
                <a:spcPts val="1610"/>
              </a:spcAft>
              <a:buNone/>
            </a:pPr>
            <a:r>
              <a:rPr lang="en-US" sz="2000" b="1" i="0" dirty="0">
                <a:solidFill>
                  <a:srgbClr val="0F4761"/>
                </a:solidFill>
                <a:effectLst/>
                <a:latin typeface="Times New Roman" panose="02020603050405020304" pitchFamily="18" charset="0"/>
                <a:cs typeface="Times New Roman" panose="02020603050405020304" pitchFamily="18" charset="0"/>
              </a:rPr>
              <a:t>Step 2</a:t>
            </a:r>
            <a:endParaRPr lang="en-US" sz="2000" b="0" i="0" dirty="0">
              <a:solidFill>
                <a:srgbClr val="0F4761"/>
              </a:solidFill>
              <a:effectLst/>
              <a:latin typeface="Times New Roman" panose="02020603050405020304" pitchFamily="18" charset="0"/>
              <a:cs typeface="Times New Roman" panose="02020603050405020304" pitchFamily="18" charset="0"/>
            </a:endParaRPr>
          </a:p>
          <a:p>
            <a:pPr algn="l" rtl="0" fontAlgn="base">
              <a:lnSpc>
                <a:spcPts val="1657"/>
              </a:lnSpc>
              <a:buNone/>
            </a:pPr>
            <a:r>
              <a:rPr lang="en-US" sz="2000" b="0" i="0" dirty="0">
                <a:solidFill>
                  <a:srgbClr val="000000"/>
                </a:solidFill>
                <a:effectLst/>
                <a:latin typeface="Times New Roman" panose="02020603050405020304" pitchFamily="18" charset="0"/>
                <a:cs typeface="Times New Roman" panose="02020603050405020304" pitchFamily="18" charset="0"/>
              </a:rPr>
              <a:t>sudo </a:t>
            </a:r>
            <a:r>
              <a:rPr lang="en-US" sz="2000" b="0" i="0" dirty="0" err="1">
                <a:solidFill>
                  <a:srgbClr val="000000"/>
                </a:solidFill>
                <a:effectLst/>
                <a:latin typeface="Times New Roman" panose="02020603050405020304" pitchFamily="18" charset="0"/>
                <a:cs typeface="Times New Roman" panose="02020603050405020304" pitchFamily="18" charset="0"/>
              </a:rPr>
              <a:t>nmcli</a:t>
            </a:r>
            <a:r>
              <a:rPr lang="en-US" sz="2000" b="0" i="0" dirty="0">
                <a:solidFill>
                  <a:srgbClr val="000000"/>
                </a:solidFill>
                <a:effectLst/>
                <a:latin typeface="Times New Roman" panose="02020603050405020304" pitchFamily="18" charset="0"/>
                <a:cs typeface="Times New Roman" panose="02020603050405020304" pitchFamily="18" charset="0"/>
              </a:rPr>
              <a:t> con up ens192 </a:t>
            </a:r>
            <a:br>
              <a:rPr lang="en-US" sz="2000" b="0" i="0" dirty="0">
                <a:solidFill>
                  <a:srgbClr val="000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p>
        </p:txBody>
      </p:sp>
      <p:sp>
        <p:nvSpPr>
          <p:cNvPr id="11" name="TextBox 10">
            <a:extLst>
              <a:ext uri="{FF2B5EF4-FFF2-40B4-BE49-F238E27FC236}">
                <a16:creationId xmlns:a16="http://schemas.microsoft.com/office/drawing/2014/main" id="{A401878D-AA5E-FBB4-70FF-E8C8E1FC53B9}"/>
              </a:ext>
            </a:extLst>
          </p:cNvPr>
          <p:cNvSpPr txBox="1"/>
          <p:nvPr/>
        </p:nvSpPr>
        <p:spPr>
          <a:xfrm>
            <a:off x="1831182" y="2795885"/>
            <a:ext cx="5176836" cy="400110"/>
          </a:xfrm>
          <a:prstGeom prst="rect">
            <a:avLst/>
          </a:prstGeom>
          <a:noFill/>
        </p:spPr>
        <p:txBody>
          <a:bodyPr wrap="square">
            <a:spAutoFit/>
          </a:bodyPr>
          <a:lstStyle/>
          <a:p>
            <a:pPr algn="ctr"/>
            <a:r>
              <a:rPr lang="en-US" sz="2000" b="1" i="0" dirty="0">
                <a:solidFill>
                  <a:srgbClr val="0F4761"/>
                </a:solidFill>
                <a:effectLst/>
                <a:latin typeface="Times New Roman" panose="02020603050405020304" pitchFamily="18" charset="0"/>
                <a:cs typeface="Times New Roman" panose="02020603050405020304" pitchFamily="18" charset="0"/>
              </a:rPr>
              <a:t>Bring the connection up</a:t>
            </a:r>
            <a:r>
              <a:rPr lang="en-US" sz="2000" b="0" i="0" dirty="0">
                <a:solidFill>
                  <a:srgbClr val="0F4761"/>
                </a:solidFill>
                <a:effectLst/>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599500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A0E00-C144-855A-A37C-7E79653232BF}"/>
              </a:ext>
            </a:extLst>
          </p:cNvPr>
          <p:cNvSpPr>
            <a:spLocks noGrp="1"/>
          </p:cNvSpPr>
          <p:nvPr>
            <p:ph type="title"/>
          </p:nvPr>
        </p:nvSpPr>
        <p:spPr>
          <a:xfrm>
            <a:off x="1269025" y="352819"/>
            <a:ext cx="6605950" cy="572700"/>
          </a:xfrm>
        </p:spPr>
        <p:txBody>
          <a:bodyPr/>
          <a:lstStyle/>
          <a:p>
            <a:r>
              <a:rPr lang="en-US" dirty="0"/>
              <a:t>What Is a Package Management</a:t>
            </a:r>
          </a:p>
        </p:txBody>
      </p:sp>
      <p:sp>
        <p:nvSpPr>
          <p:cNvPr id="4" name="TextBox 3">
            <a:extLst>
              <a:ext uri="{FF2B5EF4-FFF2-40B4-BE49-F238E27FC236}">
                <a16:creationId xmlns:a16="http://schemas.microsoft.com/office/drawing/2014/main" id="{4A2E7357-8ED4-8454-BB25-EEB01A3EF2F5}"/>
              </a:ext>
            </a:extLst>
          </p:cNvPr>
          <p:cNvSpPr txBox="1"/>
          <p:nvPr/>
        </p:nvSpPr>
        <p:spPr>
          <a:xfrm>
            <a:off x="720000" y="1017725"/>
            <a:ext cx="8424000" cy="3772956"/>
          </a:xfrm>
          <a:prstGeom prst="rect">
            <a:avLst/>
          </a:prstGeom>
          <a:noFill/>
        </p:spPr>
        <p:txBody>
          <a:bodyPr wrap="square">
            <a:spAutoFit/>
          </a:bodyPr>
          <a:lstStyle/>
          <a:p>
            <a:pPr>
              <a:lnSpc>
                <a:spcPct val="150000"/>
              </a:lnSpc>
            </a:pPr>
            <a:r>
              <a:rPr lang="en-US" sz="1800" dirty="0">
                <a:latin typeface="Lato" panose="020F0502020204030203" pitchFamily="34" charset="0"/>
                <a:cs typeface="Lato" panose="020F0502020204030203" pitchFamily="34" charset="0"/>
              </a:rPr>
              <a:t>A </a:t>
            </a:r>
            <a:r>
              <a:rPr lang="en-US" sz="1800" b="1" dirty="0">
                <a:latin typeface="Lato" panose="020F0502020204030203" pitchFamily="34" charset="0"/>
                <a:cs typeface="Lato" panose="020F0502020204030203" pitchFamily="34" charset="0"/>
              </a:rPr>
              <a:t>package management</a:t>
            </a:r>
            <a:r>
              <a:rPr lang="en-US" sz="1800" dirty="0">
                <a:latin typeface="Lato" panose="020F0502020204030203" pitchFamily="34" charset="0"/>
                <a:cs typeface="Lato" panose="020F0502020204030203" pitchFamily="34" charset="0"/>
              </a:rPr>
              <a:t> is a </a:t>
            </a:r>
            <a:r>
              <a:rPr lang="en-US" sz="1800" b="1" dirty="0">
                <a:latin typeface="Lato" panose="020F0502020204030203" pitchFamily="34" charset="0"/>
                <a:cs typeface="Lato" panose="020F0502020204030203" pitchFamily="34" charset="0"/>
              </a:rPr>
              <a:t>software management system</a:t>
            </a:r>
            <a:r>
              <a:rPr lang="en-US" sz="1800" dirty="0">
                <a:latin typeface="Lato" panose="020F0502020204030203" pitchFamily="34" charset="0"/>
                <a:cs typeface="Lato" panose="020F0502020204030203" pitchFamily="34" charset="0"/>
              </a:rPr>
              <a:t> used in Linux to:</a:t>
            </a:r>
          </a:p>
          <a:p>
            <a:pPr>
              <a:lnSpc>
                <a:spcPct val="150000"/>
              </a:lnSpc>
              <a:buFont typeface="+mj-lt"/>
              <a:buAutoNum type="arabicPeriod"/>
            </a:pPr>
            <a:r>
              <a:rPr lang="en-US" sz="1800" b="1" dirty="0">
                <a:latin typeface="Lato" panose="020F0502020204030203" pitchFamily="34" charset="0"/>
                <a:cs typeface="Lato" panose="020F0502020204030203" pitchFamily="34" charset="0"/>
              </a:rPr>
              <a:t>Install</a:t>
            </a:r>
            <a:r>
              <a:rPr lang="en-US" sz="1800" dirty="0">
                <a:latin typeface="Lato" panose="020F0502020204030203" pitchFamily="34" charset="0"/>
                <a:cs typeface="Lato" panose="020F0502020204030203" pitchFamily="34" charset="0"/>
              </a:rPr>
              <a:t> software</a:t>
            </a:r>
          </a:p>
          <a:p>
            <a:pPr>
              <a:lnSpc>
                <a:spcPct val="150000"/>
              </a:lnSpc>
              <a:buFont typeface="+mj-lt"/>
              <a:buAutoNum type="arabicPeriod"/>
            </a:pPr>
            <a:r>
              <a:rPr lang="en-US" sz="1800" b="1" dirty="0">
                <a:latin typeface="Lato" panose="020F0502020204030203" pitchFamily="34" charset="0"/>
                <a:cs typeface="Lato" panose="020F0502020204030203" pitchFamily="34" charset="0"/>
              </a:rPr>
              <a:t>Update</a:t>
            </a:r>
            <a:r>
              <a:rPr lang="en-US" sz="1800" dirty="0">
                <a:latin typeface="Lato" panose="020F0502020204030203" pitchFamily="34" charset="0"/>
                <a:cs typeface="Lato" panose="020F0502020204030203" pitchFamily="34" charset="0"/>
              </a:rPr>
              <a:t> software</a:t>
            </a:r>
          </a:p>
          <a:p>
            <a:pPr>
              <a:lnSpc>
                <a:spcPct val="150000"/>
              </a:lnSpc>
              <a:buFont typeface="+mj-lt"/>
              <a:buAutoNum type="arabicPeriod"/>
            </a:pPr>
            <a:r>
              <a:rPr lang="en-US" sz="1800" b="1" dirty="0">
                <a:latin typeface="Lato" panose="020F0502020204030203" pitchFamily="34" charset="0"/>
                <a:cs typeface="Lato" panose="020F0502020204030203" pitchFamily="34" charset="0"/>
              </a:rPr>
              <a:t>Remove</a:t>
            </a:r>
            <a:r>
              <a:rPr lang="en-US" sz="1800" dirty="0">
                <a:latin typeface="Lato" panose="020F0502020204030203" pitchFamily="34" charset="0"/>
                <a:cs typeface="Lato" panose="020F0502020204030203" pitchFamily="34" charset="0"/>
              </a:rPr>
              <a:t> software</a:t>
            </a:r>
          </a:p>
          <a:p>
            <a:pPr>
              <a:lnSpc>
                <a:spcPct val="150000"/>
              </a:lnSpc>
              <a:buFont typeface="+mj-lt"/>
              <a:buAutoNum type="arabicPeriod"/>
            </a:pPr>
            <a:r>
              <a:rPr lang="en-US" sz="1800" b="1" dirty="0">
                <a:latin typeface="Lato" panose="020F0502020204030203" pitchFamily="34" charset="0"/>
                <a:cs typeface="Lato" panose="020F0502020204030203" pitchFamily="34" charset="0"/>
              </a:rPr>
              <a:t>Automatically manage dependencies</a:t>
            </a:r>
            <a:r>
              <a:rPr lang="en-US" sz="1800" dirty="0">
                <a:latin typeface="Lato" panose="020F0502020204030203" pitchFamily="34" charset="0"/>
                <a:cs typeface="Lato" panose="020F0502020204030203" pitchFamily="34" charset="0"/>
              </a:rPr>
              <a:t> (other required libraries)</a:t>
            </a:r>
          </a:p>
          <a:p>
            <a:pPr>
              <a:lnSpc>
                <a:spcPct val="150000"/>
              </a:lnSpc>
              <a:buFont typeface="+mj-lt"/>
              <a:buAutoNum type="arabicPeriod"/>
            </a:pPr>
            <a:r>
              <a:rPr lang="en-US" sz="1800" b="1" dirty="0">
                <a:latin typeface="Lato" panose="020F0502020204030203" pitchFamily="34" charset="0"/>
                <a:cs typeface="Lato" panose="020F0502020204030203" pitchFamily="34" charset="0"/>
              </a:rPr>
              <a:t>Connect to software repositories</a:t>
            </a:r>
            <a:r>
              <a:rPr lang="en-US" sz="1800" dirty="0">
                <a:latin typeface="Lato" panose="020F0502020204030203" pitchFamily="34" charset="0"/>
                <a:cs typeface="Lato" panose="020F0502020204030203" pitchFamily="34" charset="0"/>
              </a:rPr>
              <a:t> (online servers that store packages)</a:t>
            </a:r>
          </a:p>
          <a:p>
            <a:pPr>
              <a:lnSpc>
                <a:spcPct val="150000"/>
              </a:lnSpc>
              <a:buFont typeface="+mj-lt"/>
              <a:buAutoNum type="arabicPeriod"/>
            </a:pPr>
            <a:endParaRPr lang="en-US" sz="1800" dirty="0">
              <a:latin typeface="Lato" panose="020F0502020204030203" pitchFamily="34" charset="0"/>
              <a:cs typeface="Lato" panose="020F0502020204030203" pitchFamily="34" charset="0"/>
            </a:endParaRPr>
          </a:p>
          <a:p>
            <a:pPr>
              <a:lnSpc>
                <a:spcPct val="150000"/>
              </a:lnSpc>
            </a:pPr>
            <a:r>
              <a:rPr lang="en-US" sz="1800" dirty="0">
                <a:latin typeface="Lato" panose="020F0502020204030203" pitchFamily="34" charset="0"/>
                <a:cs typeface="Lato" panose="020F0502020204030203" pitchFamily="34" charset="0"/>
              </a:rPr>
              <a:t>Think of it as the Linux equivalent of a </a:t>
            </a:r>
            <a:r>
              <a:rPr lang="en-US" sz="1800" b="1" dirty="0">
                <a:latin typeface="Lato" panose="020F0502020204030203" pitchFamily="34" charset="0"/>
                <a:cs typeface="Lato" panose="020F0502020204030203" pitchFamily="34" charset="0"/>
              </a:rPr>
              <a:t>Play Store backend but</a:t>
            </a:r>
            <a:r>
              <a:rPr lang="en-US" sz="1800" dirty="0">
                <a:latin typeface="Lato" panose="020F0502020204030203" pitchFamily="34" charset="0"/>
                <a:cs typeface="Lato" panose="020F0502020204030203" pitchFamily="34" charset="0"/>
              </a:rPr>
              <a:t> </a:t>
            </a:r>
            <a:r>
              <a:rPr lang="en-US" sz="1800" b="1" dirty="0">
                <a:latin typeface="Lato" panose="020F0502020204030203" pitchFamily="34" charset="0"/>
                <a:cs typeface="Lato" panose="020F0502020204030203" pitchFamily="34" charset="0"/>
              </a:rPr>
              <a:t>fully controlled by the operating system</a:t>
            </a:r>
            <a:r>
              <a:rPr lang="en-US" sz="1800" dirty="0">
                <a:latin typeface="Lato" panose="020F0502020204030203" pitchFamily="34" charset="0"/>
                <a:cs typeface="Lato" panose="020F0502020204030203" pitchFamily="34" charset="0"/>
              </a:rPr>
              <a:t> and not a third-party service.</a:t>
            </a:r>
          </a:p>
        </p:txBody>
      </p:sp>
    </p:spTree>
    <p:extLst>
      <p:ext uri="{BB962C8B-B14F-4D97-AF65-F5344CB8AC3E}">
        <p14:creationId xmlns:p14="http://schemas.microsoft.com/office/powerpoint/2010/main" val="108097838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What is Package Manager in Linux? [Types, Functions &amp; Usage] - LinuxSimply">
            <a:extLst>
              <a:ext uri="{FF2B5EF4-FFF2-40B4-BE49-F238E27FC236}">
                <a16:creationId xmlns:a16="http://schemas.microsoft.com/office/drawing/2014/main" id="{8E795D44-A3FC-A76F-41F3-8DDDF342E5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407310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Linux Package Management. we explore the Linux package management… | by  Heshan | Medium">
            <a:extLst>
              <a:ext uri="{FF2B5EF4-FFF2-40B4-BE49-F238E27FC236}">
                <a16:creationId xmlns:a16="http://schemas.microsoft.com/office/drawing/2014/main" id="{04790C0B-0B11-FF86-E10D-55E937DBD0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29827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2EC8C-816C-FB20-1CDD-D5E1AA98EB34}"/>
              </a:ext>
            </a:extLst>
          </p:cNvPr>
          <p:cNvSpPr>
            <a:spLocks noGrp="1"/>
          </p:cNvSpPr>
          <p:nvPr>
            <p:ph type="title"/>
          </p:nvPr>
        </p:nvSpPr>
        <p:spPr>
          <a:xfrm>
            <a:off x="2347550" y="457725"/>
            <a:ext cx="4448900" cy="572700"/>
          </a:xfrm>
        </p:spPr>
        <p:txBody>
          <a:bodyPr/>
          <a:lstStyle/>
          <a:p>
            <a:r>
              <a:rPr lang="en-US" dirty="0"/>
              <a:t>What Is a Repository?</a:t>
            </a:r>
          </a:p>
        </p:txBody>
      </p:sp>
      <p:sp>
        <p:nvSpPr>
          <p:cNvPr id="4" name="TextBox 3">
            <a:extLst>
              <a:ext uri="{FF2B5EF4-FFF2-40B4-BE49-F238E27FC236}">
                <a16:creationId xmlns:a16="http://schemas.microsoft.com/office/drawing/2014/main" id="{3EF8D5B9-C8E8-D6C9-EFC1-AE3F462C19F3}"/>
              </a:ext>
            </a:extLst>
          </p:cNvPr>
          <p:cNvSpPr txBox="1"/>
          <p:nvPr/>
        </p:nvSpPr>
        <p:spPr>
          <a:xfrm>
            <a:off x="1028700" y="1030425"/>
            <a:ext cx="7975599" cy="3924536"/>
          </a:xfrm>
          <a:prstGeom prst="rect">
            <a:avLst/>
          </a:prstGeom>
          <a:noFill/>
        </p:spPr>
        <p:txBody>
          <a:bodyPr wrap="square">
            <a:spAutoFit/>
          </a:bodyPr>
          <a:lstStyle/>
          <a:p>
            <a:pPr>
              <a:lnSpc>
                <a:spcPct val="150000"/>
              </a:lnSpc>
            </a:pPr>
            <a:r>
              <a:rPr lang="en-US" dirty="0">
                <a:latin typeface="Lato" panose="020F0502020204030203" pitchFamily="34" charset="0"/>
                <a:cs typeface="Lato" panose="020F0502020204030203" pitchFamily="34" charset="0"/>
              </a:rPr>
              <a:t>A </a:t>
            </a:r>
            <a:r>
              <a:rPr lang="en-US" b="1" dirty="0">
                <a:latin typeface="Lato" panose="020F0502020204030203" pitchFamily="34" charset="0"/>
                <a:cs typeface="Lato" panose="020F0502020204030203" pitchFamily="34" charset="0"/>
              </a:rPr>
              <a:t>repository</a:t>
            </a:r>
            <a:r>
              <a:rPr lang="en-US" dirty="0">
                <a:latin typeface="Lato" panose="020F0502020204030203" pitchFamily="34" charset="0"/>
                <a:cs typeface="Lato" panose="020F0502020204030203" pitchFamily="34" charset="0"/>
              </a:rPr>
              <a:t> (repo) in Linux is a </a:t>
            </a:r>
            <a:r>
              <a:rPr lang="en-US" b="1" dirty="0">
                <a:latin typeface="Lato" panose="020F0502020204030203" pitchFamily="34" charset="0"/>
                <a:cs typeface="Lato" panose="020F0502020204030203" pitchFamily="34" charset="0"/>
              </a:rPr>
              <a:t>central server or storage location</a:t>
            </a:r>
            <a:r>
              <a:rPr lang="en-US" dirty="0">
                <a:latin typeface="Lato" panose="020F0502020204030203" pitchFamily="34" charset="0"/>
                <a:cs typeface="Lato" panose="020F0502020204030203" pitchFamily="34" charset="0"/>
              </a:rPr>
              <a:t> where software packages are stored, maintained, and distributed.</a:t>
            </a:r>
          </a:p>
          <a:p>
            <a:pPr>
              <a:lnSpc>
                <a:spcPct val="150000"/>
              </a:lnSpc>
            </a:pPr>
            <a:endParaRPr lang="en-US" dirty="0">
              <a:latin typeface="Lato" panose="020F0502020204030203" pitchFamily="34" charset="0"/>
              <a:cs typeface="Lato" panose="020F0502020204030203" pitchFamily="34" charset="0"/>
            </a:endParaRPr>
          </a:p>
          <a:p>
            <a:pPr>
              <a:lnSpc>
                <a:spcPct val="150000"/>
              </a:lnSpc>
            </a:pPr>
            <a:r>
              <a:rPr lang="en-US" b="1" dirty="0">
                <a:latin typeface="Lato" panose="020F0502020204030203" pitchFamily="34" charset="0"/>
                <a:cs typeface="Lato" panose="020F0502020204030203" pitchFamily="34" charset="0"/>
              </a:rPr>
              <a:t>Key Points</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It contains </a:t>
            </a:r>
            <a:r>
              <a:rPr lang="en-US" b="1" dirty="0">
                <a:latin typeface="Lato" panose="020F0502020204030203" pitchFamily="34" charset="0"/>
                <a:cs typeface="Lato" panose="020F0502020204030203" pitchFamily="34" charset="0"/>
              </a:rPr>
              <a:t>packages</a:t>
            </a:r>
            <a:r>
              <a:rPr lang="en-US" dirty="0">
                <a:latin typeface="Lato" panose="020F0502020204030203" pitchFamily="34" charset="0"/>
                <a:cs typeface="Lato" panose="020F0502020204030203" pitchFamily="34" charset="0"/>
              </a:rPr>
              <a:t>, metadata, and update files.</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Your package manager (APT, DNF, etc.) connects to it to download apps.</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Repositories are usually cryptographically signed for security.</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They ensure you get </a:t>
            </a:r>
            <a:r>
              <a:rPr lang="en-US" b="1" dirty="0">
                <a:latin typeface="Lato" panose="020F0502020204030203" pitchFamily="34" charset="0"/>
                <a:cs typeface="Lato" panose="020F0502020204030203" pitchFamily="34" charset="0"/>
              </a:rPr>
              <a:t>trusted, tested, and verified</a:t>
            </a:r>
            <a:r>
              <a:rPr lang="en-US" dirty="0">
                <a:latin typeface="Lato" panose="020F0502020204030203" pitchFamily="34" charset="0"/>
                <a:cs typeface="Lato" panose="020F0502020204030203" pitchFamily="34" charset="0"/>
              </a:rPr>
              <a:t> software.</a:t>
            </a:r>
          </a:p>
          <a:p>
            <a:pPr>
              <a:lnSpc>
                <a:spcPct val="150000"/>
              </a:lnSpc>
            </a:pPr>
            <a:r>
              <a:rPr lang="en-US" b="1" dirty="0">
                <a:latin typeface="Lato" panose="020F0502020204030203" pitchFamily="34" charset="0"/>
                <a:cs typeface="Lato" panose="020F0502020204030203" pitchFamily="34" charset="0"/>
              </a:rPr>
              <a:t>Examples</a:t>
            </a:r>
          </a:p>
          <a:p>
            <a:pPr>
              <a:lnSpc>
                <a:spcPct val="150000"/>
              </a:lnSpc>
            </a:pPr>
            <a:r>
              <a:rPr lang="en-US" dirty="0">
                <a:latin typeface="Lato" panose="020F0502020204030203" pitchFamily="34" charset="0"/>
                <a:cs typeface="Lato" panose="020F0502020204030203" pitchFamily="34" charset="0"/>
              </a:rPr>
              <a:t>Ubuntu repo, Fedora repo, Rocky Linux </a:t>
            </a:r>
            <a:r>
              <a:rPr lang="en-US" dirty="0" err="1">
                <a:latin typeface="Lato" panose="020F0502020204030203" pitchFamily="34" charset="0"/>
                <a:cs typeface="Lato" panose="020F0502020204030203" pitchFamily="34" charset="0"/>
              </a:rPr>
              <a:t>BaseOS</a:t>
            </a:r>
            <a:r>
              <a:rPr lang="en-US" dirty="0">
                <a:latin typeface="Lato" panose="020F0502020204030203" pitchFamily="34" charset="0"/>
                <a:cs typeface="Lato" panose="020F0502020204030203" pitchFamily="34" charset="0"/>
              </a:rPr>
              <a:t> + </a:t>
            </a:r>
            <a:r>
              <a:rPr lang="en-US" dirty="0" err="1">
                <a:latin typeface="Lato" panose="020F0502020204030203" pitchFamily="34" charset="0"/>
                <a:cs typeface="Lato" panose="020F0502020204030203" pitchFamily="34" charset="0"/>
              </a:rPr>
              <a:t>AppStream</a:t>
            </a:r>
            <a:r>
              <a:rPr lang="en-US" dirty="0">
                <a:latin typeface="Lato" panose="020F0502020204030203" pitchFamily="34" charset="0"/>
                <a:cs typeface="Lato" panose="020F0502020204030203" pitchFamily="34" charset="0"/>
              </a:rPr>
              <a:t> repos, </a:t>
            </a:r>
            <a:r>
              <a:rPr lang="en-US" dirty="0" err="1">
                <a:latin typeface="Lato" panose="020F0502020204030203" pitchFamily="34" charset="0"/>
                <a:cs typeface="Lato" panose="020F0502020204030203" pitchFamily="34" charset="0"/>
              </a:rPr>
              <a:t>Flathub</a:t>
            </a:r>
            <a:r>
              <a:rPr lang="en-US" dirty="0">
                <a:latin typeface="Lato" panose="020F0502020204030203" pitchFamily="34" charset="0"/>
                <a:cs typeface="Lato" panose="020F0502020204030203" pitchFamily="34" charset="0"/>
              </a:rPr>
              <a:t> (for </a:t>
            </a:r>
            <a:r>
              <a:rPr lang="en-US" dirty="0" err="1">
                <a:latin typeface="Lato" panose="020F0502020204030203" pitchFamily="34" charset="0"/>
                <a:cs typeface="Lato" panose="020F0502020204030203" pitchFamily="34" charset="0"/>
              </a:rPr>
              <a:t>Flatpak</a:t>
            </a:r>
            <a:r>
              <a:rPr lang="en-US" dirty="0">
                <a:latin typeface="Lato" panose="020F0502020204030203" pitchFamily="34" charset="0"/>
                <a:cs typeface="Lato" panose="020F0502020204030203" pitchFamily="34" charset="0"/>
              </a:rPr>
              <a:t>), Snap Store repo</a:t>
            </a:r>
          </a:p>
          <a:p>
            <a:pPr>
              <a:lnSpc>
                <a:spcPct val="150000"/>
              </a:lnSpc>
            </a:pPr>
            <a:endParaRPr lang="en-US" dirty="0">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88353922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7D1BF-5583-FEF2-61A1-FC641E94F3EE}"/>
              </a:ext>
            </a:extLst>
          </p:cNvPr>
          <p:cNvSpPr>
            <a:spLocks noGrp="1"/>
          </p:cNvSpPr>
          <p:nvPr>
            <p:ph type="title"/>
          </p:nvPr>
        </p:nvSpPr>
        <p:spPr>
          <a:xfrm>
            <a:off x="1985600" y="343425"/>
            <a:ext cx="5172800" cy="572700"/>
          </a:xfrm>
        </p:spPr>
        <p:txBody>
          <a:bodyPr/>
          <a:lstStyle/>
          <a:p>
            <a:r>
              <a:rPr lang="en-US" dirty="0"/>
              <a:t>What Are Dependencies?</a:t>
            </a:r>
          </a:p>
        </p:txBody>
      </p:sp>
      <p:sp>
        <p:nvSpPr>
          <p:cNvPr id="4" name="TextBox 3">
            <a:extLst>
              <a:ext uri="{FF2B5EF4-FFF2-40B4-BE49-F238E27FC236}">
                <a16:creationId xmlns:a16="http://schemas.microsoft.com/office/drawing/2014/main" id="{03772619-224B-7638-D978-0CB9860473AE}"/>
              </a:ext>
            </a:extLst>
          </p:cNvPr>
          <p:cNvSpPr txBox="1"/>
          <p:nvPr/>
        </p:nvSpPr>
        <p:spPr>
          <a:xfrm>
            <a:off x="1239837" y="1094230"/>
            <a:ext cx="6664325" cy="2955040"/>
          </a:xfrm>
          <a:prstGeom prst="rect">
            <a:avLst/>
          </a:prstGeom>
          <a:noFill/>
        </p:spPr>
        <p:txBody>
          <a:bodyPr wrap="square">
            <a:spAutoFit/>
          </a:bodyPr>
          <a:lstStyle/>
          <a:p>
            <a:pPr>
              <a:lnSpc>
                <a:spcPct val="150000"/>
              </a:lnSpc>
            </a:pPr>
            <a:r>
              <a:rPr lang="en-US" dirty="0">
                <a:latin typeface="Lato" panose="020F0502020204030203" pitchFamily="34" charset="0"/>
                <a:cs typeface="Lato" panose="020F0502020204030203" pitchFamily="34" charset="0"/>
              </a:rPr>
              <a:t>A </a:t>
            </a:r>
            <a:r>
              <a:rPr lang="en-US" b="1" dirty="0">
                <a:latin typeface="Lato" panose="020F0502020204030203" pitchFamily="34" charset="0"/>
                <a:cs typeface="Lato" panose="020F0502020204030203" pitchFamily="34" charset="0"/>
              </a:rPr>
              <a:t>dependency</a:t>
            </a:r>
            <a:r>
              <a:rPr lang="en-US" dirty="0">
                <a:latin typeface="Lato" panose="020F0502020204030203" pitchFamily="34" charset="0"/>
                <a:cs typeface="Lato" panose="020F0502020204030203" pitchFamily="34" charset="0"/>
              </a:rPr>
              <a:t> is a </a:t>
            </a:r>
            <a:r>
              <a:rPr lang="en-US" b="1" dirty="0">
                <a:latin typeface="Lato" panose="020F0502020204030203" pitchFamily="34" charset="0"/>
                <a:cs typeface="Lato" panose="020F0502020204030203" pitchFamily="34" charset="0"/>
              </a:rPr>
              <a:t>software component or library required by another application to work</a:t>
            </a:r>
            <a:r>
              <a:rPr lang="en-US" dirty="0">
                <a:latin typeface="Lato" panose="020F0502020204030203" pitchFamily="34" charset="0"/>
                <a:cs typeface="Lato" panose="020F0502020204030203" pitchFamily="34" charset="0"/>
              </a:rPr>
              <a:t>.</a:t>
            </a:r>
          </a:p>
          <a:p>
            <a:pPr>
              <a:lnSpc>
                <a:spcPct val="150000"/>
              </a:lnSpc>
            </a:pPr>
            <a:r>
              <a:rPr lang="en-US" b="1" dirty="0">
                <a:latin typeface="Lato" panose="020F0502020204030203" pitchFamily="34" charset="0"/>
                <a:cs typeface="Lato" panose="020F0502020204030203" pitchFamily="34" charset="0"/>
              </a:rPr>
              <a:t>Example</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VLC requires:</a:t>
            </a:r>
          </a:p>
          <a:p>
            <a:pPr marL="742950" lvl="1" indent="-285750">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Audio libraries</a:t>
            </a:r>
          </a:p>
          <a:p>
            <a:pPr marL="742950" lvl="1" indent="-285750">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Video codecs</a:t>
            </a:r>
          </a:p>
          <a:p>
            <a:pPr marL="742950" lvl="1" indent="-285750">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GUI libraries (Qt)</a:t>
            </a:r>
          </a:p>
          <a:p>
            <a:pPr>
              <a:lnSpc>
                <a:spcPct val="150000"/>
              </a:lnSpc>
            </a:pPr>
            <a:r>
              <a:rPr lang="en-US" dirty="0">
                <a:latin typeface="Lato" panose="020F0502020204030203" pitchFamily="34" charset="0"/>
                <a:cs typeface="Lato" panose="020F0502020204030203" pitchFamily="34" charset="0"/>
              </a:rPr>
              <a:t>If any of these are missing, VLC cannot run.</a:t>
            </a:r>
            <a:br>
              <a:rPr lang="en-US" dirty="0">
                <a:latin typeface="Lato" panose="020F0502020204030203" pitchFamily="34" charset="0"/>
                <a:cs typeface="Lato" panose="020F0502020204030203" pitchFamily="34" charset="0"/>
              </a:rPr>
            </a:br>
            <a:r>
              <a:rPr lang="en-US" dirty="0">
                <a:latin typeface="Lato" panose="020F0502020204030203" pitchFamily="34" charset="0"/>
                <a:cs typeface="Lato" panose="020F0502020204030203" pitchFamily="34" charset="0"/>
              </a:rPr>
              <a:t>The package manager automatically installs these dependencies for you.</a:t>
            </a:r>
          </a:p>
        </p:txBody>
      </p:sp>
    </p:spTree>
    <p:extLst>
      <p:ext uri="{BB962C8B-B14F-4D97-AF65-F5344CB8AC3E}">
        <p14:creationId xmlns:p14="http://schemas.microsoft.com/office/powerpoint/2010/main" val="113340706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B521A-EDF0-14BE-2762-1310ECC831ED}"/>
              </a:ext>
            </a:extLst>
          </p:cNvPr>
          <p:cNvSpPr>
            <a:spLocks noGrp="1"/>
          </p:cNvSpPr>
          <p:nvPr>
            <p:ph type="title"/>
          </p:nvPr>
        </p:nvSpPr>
        <p:spPr>
          <a:xfrm>
            <a:off x="2582500" y="419625"/>
            <a:ext cx="3979000" cy="572700"/>
          </a:xfrm>
        </p:spPr>
        <p:txBody>
          <a:bodyPr/>
          <a:lstStyle/>
          <a:p>
            <a:r>
              <a:rPr lang="en-US" dirty="0"/>
              <a:t>What Is Metadata?</a:t>
            </a:r>
          </a:p>
        </p:txBody>
      </p:sp>
      <p:sp>
        <p:nvSpPr>
          <p:cNvPr id="4" name="TextBox 3">
            <a:extLst>
              <a:ext uri="{FF2B5EF4-FFF2-40B4-BE49-F238E27FC236}">
                <a16:creationId xmlns:a16="http://schemas.microsoft.com/office/drawing/2014/main" id="{6BBFA223-0960-0AAB-7EA2-9DC4B5808E91}"/>
              </a:ext>
            </a:extLst>
          </p:cNvPr>
          <p:cNvSpPr txBox="1"/>
          <p:nvPr/>
        </p:nvSpPr>
        <p:spPr>
          <a:xfrm>
            <a:off x="977900" y="992325"/>
            <a:ext cx="7861299" cy="692882"/>
          </a:xfrm>
          <a:prstGeom prst="rect">
            <a:avLst/>
          </a:prstGeom>
          <a:noFill/>
        </p:spPr>
        <p:txBody>
          <a:bodyPr wrap="square">
            <a:spAutoFit/>
          </a:bodyPr>
          <a:lstStyle/>
          <a:p>
            <a:pPr>
              <a:lnSpc>
                <a:spcPct val="150000"/>
              </a:lnSpc>
            </a:pPr>
            <a:r>
              <a:rPr lang="en-US" b="1" dirty="0">
                <a:latin typeface="Lato" panose="020F0502020204030203" pitchFamily="34" charset="0"/>
                <a:cs typeface="Lato" panose="020F0502020204030203" pitchFamily="34" charset="0"/>
              </a:rPr>
              <a:t>Metadata</a:t>
            </a:r>
            <a:r>
              <a:rPr lang="en-US" dirty="0">
                <a:latin typeface="Lato" panose="020F0502020204030203" pitchFamily="34" charset="0"/>
                <a:cs typeface="Lato" panose="020F0502020204030203" pitchFamily="34" charset="0"/>
              </a:rPr>
              <a:t> is </a:t>
            </a:r>
            <a:r>
              <a:rPr lang="en-US" b="1" dirty="0">
                <a:latin typeface="Lato" panose="020F0502020204030203" pitchFamily="34" charset="0"/>
                <a:cs typeface="Lato" panose="020F0502020204030203" pitchFamily="34" charset="0"/>
              </a:rPr>
              <a:t>data about the package</a:t>
            </a:r>
            <a:r>
              <a:rPr lang="en-US" dirty="0">
                <a:latin typeface="Lato" panose="020F0502020204030203" pitchFamily="34" charset="0"/>
                <a:cs typeface="Lato" panose="020F0502020204030203" pitchFamily="34" charset="0"/>
              </a:rPr>
              <a:t>.</a:t>
            </a:r>
            <a:br>
              <a:rPr lang="en-US" dirty="0">
                <a:latin typeface="Lato" panose="020F0502020204030203" pitchFamily="34" charset="0"/>
                <a:cs typeface="Lato" panose="020F0502020204030203" pitchFamily="34" charset="0"/>
              </a:rPr>
            </a:br>
            <a:r>
              <a:rPr lang="en-US" dirty="0">
                <a:latin typeface="Lato" panose="020F0502020204030203" pitchFamily="34" charset="0"/>
                <a:cs typeface="Lato" panose="020F0502020204030203" pitchFamily="34" charset="0"/>
              </a:rPr>
              <a:t>It does not contain the software itself but provides information used by the package manager.</a:t>
            </a:r>
          </a:p>
        </p:txBody>
      </p:sp>
      <p:sp>
        <p:nvSpPr>
          <p:cNvPr id="6" name="TextBox 5">
            <a:extLst>
              <a:ext uri="{FF2B5EF4-FFF2-40B4-BE49-F238E27FC236}">
                <a16:creationId xmlns:a16="http://schemas.microsoft.com/office/drawing/2014/main" id="{4C01E259-A5DA-5774-1588-808FF124C50E}"/>
              </a:ext>
            </a:extLst>
          </p:cNvPr>
          <p:cNvSpPr txBox="1"/>
          <p:nvPr/>
        </p:nvSpPr>
        <p:spPr>
          <a:xfrm>
            <a:off x="4864100" y="1791171"/>
            <a:ext cx="3302000" cy="1667123"/>
          </a:xfrm>
          <a:prstGeom prst="rect">
            <a:avLst/>
          </a:prstGeom>
          <a:noFill/>
        </p:spPr>
        <p:txBody>
          <a:bodyPr wrap="square">
            <a:spAutoFit/>
          </a:bodyPr>
          <a:lstStyle/>
          <a:p>
            <a:pPr>
              <a:lnSpc>
                <a:spcPct val="150000"/>
              </a:lnSpc>
            </a:pPr>
            <a:r>
              <a:rPr lang="en-US" b="1" dirty="0">
                <a:latin typeface="Lato" panose="020F0502020204030203" pitchFamily="34" charset="0"/>
                <a:cs typeface="Lato" panose="020F0502020204030203" pitchFamily="34" charset="0"/>
              </a:rPr>
              <a:t>Metadata helps the package manager:</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Resolve dependencies</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Verify integrity</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Perform upgrades</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Search for packages</a:t>
            </a:r>
            <a:endParaRPr lang="en-US" dirty="0"/>
          </a:p>
        </p:txBody>
      </p:sp>
      <p:sp>
        <p:nvSpPr>
          <p:cNvPr id="8" name="TextBox 7">
            <a:extLst>
              <a:ext uri="{FF2B5EF4-FFF2-40B4-BE49-F238E27FC236}">
                <a16:creationId xmlns:a16="http://schemas.microsoft.com/office/drawing/2014/main" id="{4CCA2DF2-467B-7C55-5D2F-BF039703D067}"/>
              </a:ext>
            </a:extLst>
          </p:cNvPr>
          <p:cNvSpPr txBox="1"/>
          <p:nvPr/>
        </p:nvSpPr>
        <p:spPr>
          <a:xfrm>
            <a:off x="977900" y="1768835"/>
            <a:ext cx="2844800" cy="2955040"/>
          </a:xfrm>
          <a:prstGeom prst="rect">
            <a:avLst/>
          </a:prstGeom>
          <a:noFill/>
        </p:spPr>
        <p:txBody>
          <a:bodyPr wrap="square">
            <a:spAutoFit/>
          </a:bodyPr>
          <a:lstStyle/>
          <a:p>
            <a:pPr>
              <a:lnSpc>
                <a:spcPct val="150000"/>
              </a:lnSpc>
            </a:pPr>
            <a:r>
              <a:rPr lang="en-US" b="1" dirty="0">
                <a:latin typeface="Lato" panose="020F0502020204030203" pitchFamily="34" charset="0"/>
                <a:cs typeface="Lato" panose="020F0502020204030203" pitchFamily="34" charset="0"/>
              </a:rPr>
              <a:t>Metadata Includes</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Package name</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Version</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Dependencies</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Description</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Maintainer information</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Size</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Checksums/signatures</a:t>
            </a:r>
          </a:p>
          <a:p>
            <a:pPr>
              <a:lnSpc>
                <a:spcPct val="150000"/>
              </a:lnSpc>
              <a:buFont typeface="Arial" panose="020B0604020202020204" pitchFamily="34" charset="0"/>
              <a:buChar char="•"/>
            </a:pPr>
            <a:r>
              <a:rPr lang="en-US" dirty="0">
                <a:latin typeface="Lato" panose="020F0502020204030203" pitchFamily="34" charset="0"/>
                <a:cs typeface="Lato" panose="020F0502020204030203" pitchFamily="34" charset="0"/>
              </a:rPr>
              <a:t>Architecture (x86_64, ARM, etc.)</a:t>
            </a:r>
          </a:p>
        </p:txBody>
      </p:sp>
    </p:spTree>
    <p:extLst>
      <p:ext uri="{BB962C8B-B14F-4D97-AF65-F5344CB8AC3E}">
        <p14:creationId xmlns:p14="http://schemas.microsoft.com/office/powerpoint/2010/main" val="260179388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BA48A-DB6D-E416-DE1E-85688F3F9488}"/>
              </a:ext>
            </a:extLst>
          </p:cNvPr>
          <p:cNvSpPr>
            <a:spLocks noGrp="1"/>
          </p:cNvSpPr>
          <p:nvPr>
            <p:ph type="title"/>
          </p:nvPr>
        </p:nvSpPr>
        <p:spPr>
          <a:xfrm>
            <a:off x="2595200" y="419625"/>
            <a:ext cx="3953600" cy="572700"/>
          </a:xfrm>
        </p:spPr>
        <p:txBody>
          <a:bodyPr/>
          <a:lstStyle/>
          <a:p>
            <a:r>
              <a:rPr lang="en-US" dirty="0"/>
              <a:t>What Is a Package?</a:t>
            </a:r>
          </a:p>
        </p:txBody>
      </p:sp>
      <p:sp>
        <p:nvSpPr>
          <p:cNvPr id="4" name="TextBox 3">
            <a:extLst>
              <a:ext uri="{FF2B5EF4-FFF2-40B4-BE49-F238E27FC236}">
                <a16:creationId xmlns:a16="http://schemas.microsoft.com/office/drawing/2014/main" id="{E6DBAEBA-8587-C405-08D8-C587CC90F9A6}"/>
              </a:ext>
            </a:extLst>
          </p:cNvPr>
          <p:cNvSpPr txBox="1"/>
          <p:nvPr/>
        </p:nvSpPr>
        <p:spPr>
          <a:xfrm>
            <a:off x="1108075" y="1650881"/>
            <a:ext cx="3717925" cy="1985544"/>
          </a:xfrm>
          <a:prstGeom prst="rect">
            <a:avLst/>
          </a:prstGeom>
          <a:noFill/>
        </p:spPr>
        <p:txBody>
          <a:bodyPr wrap="square">
            <a:spAutoFit/>
          </a:bodyPr>
          <a:lstStyle/>
          <a:p>
            <a:pPr>
              <a:lnSpc>
                <a:spcPct val="150000"/>
              </a:lnSpc>
            </a:pPr>
            <a:r>
              <a:rPr lang="en-US" dirty="0">
                <a:latin typeface="Lato" panose="020F0502020204030203" pitchFamily="34" charset="0"/>
                <a:cs typeface="Lato" panose="020F0502020204030203" pitchFamily="34" charset="0"/>
              </a:rPr>
              <a:t>A </a:t>
            </a:r>
            <a:r>
              <a:rPr lang="en-US" b="1" dirty="0">
                <a:latin typeface="Lato" panose="020F0502020204030203" pitchFamily="34" charset="0"/>
                <a:cs typeface="Lato" panose="020F0502020204030203" pitchFamily="34" charset="0"/>
              </a:rPr>
              <a:t>package</a:t>
            </a:r>
            <a:r>
              <a:rPr lang="en-US" dirty="0">
                <a:latin typeface="Lato" panose="020F0502020204030203" pitchFamily="34" charset="0"/>
                <a:cs typeface="Lato" panose="020F0502020204030203" pitchFamily="34" charset="0"/>
              </a:rPr>
              <a:t> is a </a:t>
            </a:r>
            <a:r>
              <a:rPr lang="en-US" b="1" dirty="0">
                <a:latin typeface="Lato" panose="020F0502020204030203" pitchFamily="34" charset="0"/>
                <a:cs typeface="Lato" panose="020F0502020204030203" pitchFamily="34" charset="0"/>
              </a:rPr>
              <a:t>bundle of files</a:t>
            </a:r>
            <a:r>
              <a:rPr lang="en-US" dirty="0">
                <a:latin typeface="Lato" panose="020F0502020204030203" pitchFamily="34" charset="0"/>
                <a:cs typeface="Lato" panose="020F0502020204030203" pitchFamily="34" charset="0"/>
              </a:rPr>
              <a:t> that contains:</a:t>
            </a:r>
          </a:p>
          <a:p>
            <a:pPr>
              <a:lnSpc>
                <a:spcPct val="150000"/>
              </a:lnSpc>
              <a:buFont typeface="+mj-lt"/>
              <a:buAutoNum type="arabicPeriod"/>
            </a:pPr>
            <a:r>
              <a:rPr lang="en-US" dirty="0">
                <a:latin typeface="Lato" panose="020F0502020204030203" pitchFamily="34" charset="0"/>
                <a:cs typeface="Lato" panose="020F0502020204030203" pitchFamily="34" charset="0"/>
              </a:rPr>
              <a:t>The actual software</a:t>
            </a:r>
          </a:p>
          <a:p>
            <a:pPr>
              <a:lnSpc>
                <a:spcPct val="150000"/>
              </a:lnSpc>
              <a:buFont typeface="+mj-lt"/>
              <a:buAutoNum type="arabicPeriod"/>
            </a:pPr>
            <a:r>
              <a:rPr lang="en-US" dirty="0">
                <a:latin typeface="Lato" panose="020F0502020204030203" pitchFamily="34" charset="0"/>
                <a:cs typeface="Lato" panose="020F0502020204030203" pitchFamily="34" charset="0"/>
              </a:rPr>
              <a:t>Supporting configuration files</a:t>
            </a:r>
          </a:p>
          <a:p>
            <a:pPr>
              <a:lnSpc>
                <a:spcPct val="150000"/>
              </a:lnSpc>
              <a:buFont typeface="+mj-lt"/>
              <a:buAutoNum type="arabicPeriod"/>
            </a:pPr>
            <a:r>
              <a:rPr lang="en-US" dirty="0">
                <a:latin typeface="Lato" panose="020F0502020204030203" pitchFamily="34" charset="0"/>
                <a:cs typeface="Lato" panose="020F0502020204030203" pitchFamily="34" charset="0"/>
              </a:rPr>
              <a:t>Metadata</a:t>
            </a:r>
          </a:p>
          <a:p>
            <a:pPr>
              <a:lnSpc>
                <a:spcPct val="150000"/>
              </a:lnSpc>
              <a:buFont typeface="+mj-lt"/>
              <a:buAutoNum type="arabicPeriod"/>
            </a:pPr>
            <a:r>
              <a:rPr lang="en-US" dirty="0">
                <a:latin typeface="Lato" panose="020F0502020204030203" pitchFamily="34" charset="0"/>
                <a:cs typeface="Lato" panose="020F0502020204030203" pitchFamily="34" charset="0"/>
              </a:rPr>
              <a:t>Dependency information</a:t>
            </a:r>
          </a:p>
          <a:p>
            <a:pPr>
              <a:lnSpc>
                <a:spcPct val="150000"/>
              </a:lnSpc>
              <a:buFont typeface="+mj-lt"/>
              <a:buAutoNum type="arabicPeriod"/>
            </a:pPr>
            <a:r>
              <a:rPr lang="en-US" dirty="0">
                <a:latin typeface="Lato" panose="020F0502020204030203" pitchFamily="34" charset="0"/>
                <a:cs typeface="Lato" panose="020F0502020204030203" pitchFamily="34" charset="0"/>
              </a:rPr>
              <a:t>Scripts for installation/uninstallation</a:t>
            </a:r>
          </a:p>
        </p:txBody>
      </p:sp>
      <p:sp>
        <p:nvSpPr>
          <p:cNvPr id="6" name="TextBox 5">
            <a:extLst>
              <a:ext uri="{FF2B5EF4-FFF2-40B4-BE49-F238E27FC236}">
                <a16:creationId xmlns:a16="http://schemas.microsoft.com/office/drawing/2014/main" id="{EC97FF1E-EB8D-FD2A-5179-8DE1C5040709}"/>
              </a:ext>
            </a:extLst>
          </p:cNvPr>
          <p:cNvSpPr txBox="1"/>
          <p:nvPr/>
        </p:nvSpPr>
        <p:spPr>
          <a:xfrm>
            <a:off x="5537200" y="1650881"/>
            <a:ext cx="2717800" cy="2308709"/>
          </a:xfrm>
          <a:prstGeom prst="rect">
            <a:avLst/>
          </a:prstGeom>
          <a:noFill/>
        </p:spPr>
        <p:txBody>
          <a:bodyPr wrap="square">
            <a:spAutoFit/>
          </a:bodyPr>
          <a:lstStyle/>
          <a:p>
            <a:pPr>
              <a:lnSpc>
                <a:spcPct val="150000"/>
              </a:lnSpc>
            </a:pPr>
            <a:r>
              <a:rPr lang="en-US" b="1" dirty="0">
                <a:latin typeface="Lato" panose="020F0502020204030203" pitchFamily="34" charset="0"/>
                <a:cs typeface="Lato" panose="020F0502020204030203" pitchFamily="34" charset="0"/>
              </a:rPr>
              <a:t>Linux Package Formats</a:t>
            </a:r>
          </a:p>
          <a:p>
            <a:pPr>
              <a:lnSpc>
                <a:spcPct val="150000"/>
              </a:lnSpc>
              <a:buFont typeface="Arial" panose="020B0604020202020204" pitchFamily="34" charset="0"/>
              <a:buChar char="•"/>
            </a:pPr>
            <a:r>
              <a:rPr lang="en-US" b="1" dirty="0">
                <a:latin typeface="Lato" panose="020F0502020204030203" pitchFamily="34" charset="0"/>
                <a:cs typeface="Lato" panose="020F0502020204030203" pitchFamily="34" charset="0"/>
              </a:rPr>
              <a:t>.deb</a:t>
            </a:r>
            <a:r>
              <a:rPr lang="en-US" dirty="0">
                <a:latin typeface="Lato" panose="020F0502020204030203" pitchFamily="34" charset="0"/>
                <a:cs typeface="Lato" panose="020F0502020204030203" pitchFamily="34" charset="0"/>
              </a:rPr>
              <a:t> (Debian, Ubuntu)</a:t>
            </a:r>
          </a:p>
          <a:p>
            <a:pPr>
              <a:lnSpc>
                <a:spcPct val="150000"/>
              </a:lnSpc>
              <a:buFont typeface="Arial" panose="020B0604020202020204" pitchFamily="34" charset="0"/>
              <a:buChar char="•"/>
            </a:pPr>
            <a:r>
              <a:rPr lang="en-US" b="1" dirty="0">
                <a:latin typeface="Lato" panose="020F0502020204030203" pitchFamily="34" charset="0"/>
                <a:cs typeface="Lato" panose="020F0502020204030203" pitchFamily="34" charset="0"/>
              </a:rPr>
              <a:t>.rpm</a:t>
            </a:r>
            <a:r>
              <a:rPr lang="en-US" dirty="0">
                <a:latin typeface="Lato" panose="020F0502020204030203" pitchFamily="34" charset="0"/>
                <a:cs typeface="Lato" panose="020F0502020204030203" pitchFamily="34" charset="0"/>
              </a:rPr>
              <a:t> (Fedora, Rocky, RHEL)</a:t>
            </a:r>
          </a:p>
          <a:p>
            <a:pPr>
              <a:lnSpc>
                <a:spcPct val="150000"/>
              </a:lnSpc>
              <a:buFont typeface="Arial" panose="020B0604020202020204" pitchFamily="34" charset="0"/>
              <a:buChar char="•"/>
            </a:pPr>
            <a:r>
              <a:rPr lang="en-US" b="1" dirty="0">
                <a:latin typeface="Lato" panose="020F0502020204030203" pitchFamily="34" charset="0"/>
                <a:cs typeface="Lato" panose="020F0502020204030203" pitchFamily="34" charset="0"/>
              </a:rPr>
              <a:t>.</a:t>
            </a:r>
            <a:r>
              <a:rPr lang="en-US" b="1" dirty="0" err="1">
                <a:latin typeface="Lato" panose="020F0502020204030203" pitchFamily="34" charset="0"/>
                <a:cs typeface="Lato" panose="020F0502020204030203" pitchFamily="34" charset="0"/>
              </a:rPr>
              <a:t>pkg.tar.zst</a:t>
            </a:r>
            <a:r>
              <a:rPr lang="en-US" dirty="0">
                <a:latin typeface="Lato" panose="020F0502020204030203" pitchFamily="34" charset="0"/>
                <a:cs typeface="Lato" panose="020F0502020204030203" pitchFamily="34" charset="0"/>
              </a:rPr>
              <a:t> (Arch)</a:t>
            </a:r>
          </a:p>
          <a:p>
            <a:pPr>
              <a:lnSpc>
                <a:spcPct val="150000"/>
              </a:lnSpc>
              <a:buFont typeface="Arial" panose="020B0604020202020204" pitchFamily="34" charset="0"/>
              <a:buChar char="•"/>
            </a:pPr>
            <a:r>
              <a:rPr lang="en-US" b="1" dirty="0" err="1">
                <a:latin typeface="Lato" panose="020F0502020204030203" pitchFamily="34" charset="0"/>
                <a:cs typeface="Lato" panose="020F0502020204030203" pitchFamily="34" charset="0"/>
              </a:rPr>
              <a:t>Flatpak</a:t>
            </a:r>
            <a:r>
              <a:rPr lang="en-US" dirty="0">
                <a:latin typeface="Lato" panose="020F0502020204030203" pitchFamily="34" charset="0"/>
                <a:cs typeface="Lato" panose="020F0502020204030203" pitchFamily="34" charset="0"/>
              </a:rPr>
              <a:t> bundle</a:t>
            </a:r>
          </a:p>
          <a:p>
            <a:pPr>
              <a:lnSpc>
                <a:spcPct val="150000"/>
              </a:lnSpc>
              <a:buFont typeface="Arial" panose="020B0604020202020204" pitchFamily="34" charset="0"/>
              <a:buChar char="•"/>
            </a:pPr>
            <a:r>
              <a:rPr lang="en-US" b="1" dirty="0">
                <a:latin typeface="Lato" panose="020F0502020204030203" pitchFamily="34" charset="0"/>
                <a:cs typeface="Lato" panose="020F0502020204030203" pitchFamily="34" charset="0"/>
              </a:rPr>
              <a:t>Snap</a:t>
            </a:r>
            <a:r>
              <a:rPr lang="en-US" dirty="0">
                <a:latin typeface="Lato" panose="020F0502020204030203" pitchFamily="34" charset="0"/>
                <a:cs typeface="Lato" panose="020F0502020204030203" pitchFamily="34" charset="0"/>
              </a:rPr>
              <a:t> package</a:t>
            </a:r>
          </a:p>
          <a:p>
            <a:pPr>
              <a:lnSpc>
                <a:spcPct val="150000"/>
              </a:lnSpc>
              <a:buFont typeface="Arial" panose="020B0604020202020204" pitchFamily="34" charset="0"/>
              <a:buChar char="•"/>
            </a:pPr>
            <a:r>
              <a:rPr lang="en-US" b="1" dirty="0" err="1">
                <a:latin typeface="Lato" panose="020F0502020204030203" pitchFamily="34" charset="0"/>
                <a:cs typeface="Lato" panose="020F0502020204030203" pitchFamily="34" charset="0"/>
              </a:rPr>
              <a:t>AppImage</a:t>
            </a:r>
            <a:r>
              <a:rPr lang="en-US" dirty="0">
                <a:latin typeface="Lato" panose="020F0502020204030203" pitchFamily="34" charset="0"/>
                <a:cs typeface="Lato" panose="020F0502020204030203" pitchFamily="34" charset="0"/>
              </a:rPr>
              <a:t> file (portable)</a:t>
            </a:r>
          </a:p>
        </p:txBody>
      </p:sp>
    </p:spTree>
    <p:extLst>
      <p:ext uri="{BB962C8B-B14F-4D97-AF65-F5344CB8AC3E}">
        <p14:creationId xmlns:p14="http://schemas.microsoft.com/office/powerpoint/2010/main" val="281227150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nux Package Management Systems: A Comprehensive Comparison | by  ThamizhElango Natarajan | Medium">
            <a:extLst>
              <a:ext uri="{FF2B5EF4-FFF2-40B4-BE49-F238E27FC236}">
                <a16:creationId xmlns:a16="http://schemas.microsoft.com/office/drawing/2014/main" id="{7B076455-9A30-6D2C-298C-A0CF872880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382040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15F4E-8028-4C53-AC29-16E4DB05D368}"/>
            </a:ext>
          </a:extLst>
        </p:cNvPr>
        <p:cNvGrpSpPr/>
        <p:nvPr/>
      </p:nvGrpSpPr>
      <p:grpSpPr>
        <a:xfrm>
          <a:off x="0" y="0"/>
          <a:ext cx="0" cy="0"/>
          <a:chOff x="0" y="0"/>
          <a:chExt cx="0" cy="0"/>
        </a:xfrm>
      </p:grpSpPr>
      <p:sp>
        <p:nvSpPr>
          <p:cNvPr id="9" name="Rectangle 1">
            <a:extLst>
              <a:ext uri="{FF2B5EF4-FFF2-40B4-BE49-F238E27FC236}">
                <a16:creationId xmlns:a16="http://schemas.microsoft.com/office/drawing/2014/main" id="{49D2F4C6-2577-C402-F658-DFB6C73438FA}"/>
              </a:ext>
            </a:extLst>
          </p:cNvPr>
          <p:cNvSpPr>
            <a:spLocks noChangeArrowheads="1"/>
          </p:cNvSpPr>
          <p:nvPr/>
        </p:nvSpPr>
        <p:spPr bwMode="auto">
          <a:xfrm>
            <a:off x="1286485" y="339325"/>
            <a:ext cx="6571030" cy="369332"/>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r>
              <a:rPr lang="en-US" sz="1800" dirty="0"/>
              <a:t>1. Native Package Managers (Default “Stores” for Each Distro)</a:t>
            </a:r>
          </a:p>
        </p:txBody>
      </p:sp>
      <p:graphicFrame>
        <p:nvGraphicFramePr>
          <p:cNvPr id="4" name="Table 3">
            <a:extLst>
              <a:ext uri="{FF2B5EF4-FFF2-40B4-BE49-F238E27FC236}">
                <a16:creationId xmlns:a16="http://schemas.microsoft.com/office/drawing/2014/main" id="{623A0DE5-6073-081F-BB35-34187DBE2F86}"/>
              </a:ext>
            </a:extLst>
          </p:cNvPr>
          <p:cNvGraphicFramePr>
            <a:graphicFrameLocks noGrp="1"/>
          </p:cNvGraphicFramePr>
          <p:nvPr>
            <p:extLst>
              <p:ext uri="{D42A27DB-BD31-4B8C-83A1-F6EECF244321}">
                <p14:modId xmlns:p14="http://schemas.microsoft.com/office/powerpoint/2010/main" val="3114111752"/>
              </p:ext>
            </p:extLst>
          </p:nvPr>
        </p:nvGraphicFramePr>
        <p:xfrm>
          <a:off x="712788" y="1511432"/>
          <a:ext cx="7542212" cy="2926080"/>
        </p:xfrm>
        <a:graphic>
          <a:graphicData uri="http://schemas.openxmlformats.org/drawingml/2006/table">
            <a:tbl>
              <a:tblPr>
                <a:tableStyleId>{685F56EB-3500-4227-9112-0BD7F699A0AF}</a:tableStyleId>
              </a:tblPr>
              <a:tblGrid>
                <a:gridCol w="1885553">
                  <a:extLst>
                    <a:ext uri="{9D8B030D-6E8A-4147-A177-3AD203B41FA5}">
                      <a16:colId xmlns:a16="http://schemas.microsoft.com/office/drawing/2014/main" val="4010939372"/>
                    </a:ext>
                  </a:extLst>
                </a:gridCol>
                <a:gridCol w="1885553">
                  <a:extLst>
                    <a:ext uri="{9D8B030D-6E8A-4147-A177-3AD203B41FA5}">
                      <a16:colId xmlns:a16="http://schemas.microsoft.com/office/drawing/2014/main" val="3560837678"/>
                    </a:ext>
                  </a:extLst>
                </a:gridCol>
                <a:gridCol w="1228596">
                  <a:extLst>
                    <a:ext uri="{9D8B030D-6E8A-4147-A177-3AD203B41FA5}">
                      <a16:colId xmlns:a16="http://schemas.microsoft.com/office/drawing/2014/main" val="1543250151"/>
                    </a:ext>
                  </a:extLst>
                </a:gridCol>
                <a:gridCol w="2542510">
                  <a:extLst>
                    <a:ext uri="{9D8B030D-6E8A-4147-A177-3AD203B41FA5}">
                      <a16:colId xmlns:a16="http://schemas.microsoft.com/office/drawing/2014/main" val="1133368500"/>
                    </a:ext>
                  </a:extLst>
                </a:gridCol>
              </a:tblGrid>
              <a:tr h="0">
                <a:tc>
                  <a:txBody>
                    <a:bodyPr/>
                    <a:lstStyle/>
                    <a:p>
                      <a:pPr algn="ctr"/>
                      <a:r>
                        <a:rPr lang="en-US" sz="1600" b="1"/>
                        <a:t>Linux Distribution</a:t>
                      </a:r>
                    </a:p>
                  </a:txBody>
                  <a:tcPr anchor="ctr">
                    <a:solidFill>
                      <a:schemeClr val="accent2"/>
                    </a:solidFill>
                  </a:tcPr>
                </a:tc>
                <a:tc>
                  <a:txBody>
                    <a:bodyPr/>
                    <a:lstStyle/>
                    <a:p>
                      <a:pPr algn="ctr"/>
                      <a:r>
                        <a:rPr lang="en-US" sz="1600" b="1" dirty="0"/>
                        <a:t>Package Manager</a:t>
                      </a:r>
                    </a:p>
                  </a:txBody>
                  <a:tcPr anchor="ctr">
                    <a:solidFill>
                      <a:schemeClr val="accent2"/>
                    </a:solidFill>
                  </a:tcPr>
                </a:tc>
                <a:tc>
                  <a:txBody>
                    <a:bodyPr/>
                    <a:lstStyle/>
                    <a:p>
                      <a:pPr algn="ctr"/>
                      <a:r>
                        <a:rPr lang="en-US" sz="1600" b="1" dirty="0"/>
                        <a:t>Command Example</a:t>
                      </a:r>
                    </a:p>
                  </a:txBody>
                  <a:tcPr anchor="ctr">
                    <a:solidFill>
                      <a:schemeClr val="accent2"/>
                    </a:solidFill>
                  </a:tcPr>
                </a:tc>
                <a:tc>
                  <a:txBody>
                    <a:bodyPr/>
                    <a:lstStyle/>
                    <a:p>
                      <a:pPr algn="ctr"/>
                      <a:r>
                        <a:rPr lang="en-US" sz="1600" b="1" dirty="0"/>
                        <a:t>GUI Store Available?</a:t>
                      </a:r>
                    </a:p>
                  </a:txBody>
                  <a:tcPr anchor="ctr">
                    <a:solidFill>
                      <a:schemeClr val="accent2"/>
                    </a:solidFill>
                  </a:tcPr>
                </a:tc>
                <a:extLst>
                  <a:ext uri="{0D108BD9-81ED-4DB2-BD59-A6C34878D82A}">
                    <a16:rowId xmlns:a16="http://schemas.microsoft.com/office/drawing/2014/main" val="1254246839"/>
                  </a:ext>
                </a:extLst>
              </a:tr>
              <a:tr h="0">
                <a:tc>
                  <a:txBody>
                    <a:bodyPr/>
                    <a:lstStyle/>
                    <a:p>
                      <a:r>
                        <a:rPr lang="en-US" sz="1400" b="1" dirty="0"/>
                        <a:t>Ubuntu / Debian</a:t>
                      </a:r>
                    </a:p>
                  </a:txBody>
                  <a:tcPr anchor="ctr"/>
                </a:tc>
                <a:tc>
                  <a:txBody>
                    <a:bodyPr/>
                    <a:lstStyle/>
                    <a:p>
                      <a:r>
                        <a:rPr lang="en-US" b="1" dirty="0"/>
                        <a:t>APT</a:t>
                      </a:r>
                      <a:endParaRPr lang="en-US" dirty="0"/>
                    </a:p>
                  </a:txBody>
                  <a:tcPr anchor="ctr"/>
                </a:tc>
                <a:tc>
                  <a:txBody>
                    <a:bodyPr/>
                    <a:lstStyle/>
                    <a:p>
                      <a:r>
                        <a:rPr lang="en-US" dirty="0"/>
                        <a:t>apt install</a:t>
                      </a:r>
                    </a:p>
                  </a:txBody>
                  <a:tcPr anchor="ctr"/>
                </a:tc>
                <a:tc>
                  <a:txBody>
                    <a:bodyPr/>
                    <a:lstStyle/>
                    <a:p>
                      <a:r>
                        <a:rPr lang="en-US" dirty="0"/>
                        <a:t>Yes: Ubuntu Software Center</a:t>
                      </a:r>
                    </a:p>
                  </a:txBody>
                  <a:tcPr anchor="ctr"/>
                </a:tc>
                <a:extLst>
                  <a:ext uri="{0D108BD9-81ED-4DB2-BD59-A6C34878D82A}">
                    <a16:rowId xmlns:a16="http://schemas.microsoft.com/office/drawing/2014/main" val="1200444837"/>
                  </a:ext>
                </a:extLst>
              </a:tr>
              <a:tr h="0">
                <a:tc>
                  <a:txBody>
                    <a:bodyPr/>
                    <a:lstStyle/>
                    <a:p>
                      <a:r>
                        <a:rPr lang="en-US" sz="1400" b="1"/>
                        <a:t>Fedora / RHEL / Rocky / Alma</a:t>
                      </a:r>
                    </a:p>
                  </a:txBody>
                  <a:tcPr anchor="ctr"/>
                </a:tc>
                <a:tc>
                  <a:txBody>
                    <a:bodyPr/>
                    <a:lstStyle/>
                    <a:p>
                      <a:r>
                        <a:rPr lang="en-US" b="1" dirty="0"/>
                        <a:t>DNF</a:t>
                      </a:r>
                      <a:endParaRPr lang="en-US" dirty="0"/>
                    </a:p>
                  </a:txBody>
                  <a:tcPr anchor="ctr"/>
                </a:tc>
                <a:tc>
                  <a:txBody>
                    <a:bodyPr/>
                    <a:lstStyle/>
                    <a:p>
                      <a:r>
                        <a:rPr lang="en-US" dirty="0" err="1"/>
                        <a:t>dnf</a:t>
                      </a:r>
                      <a:r>
                        <a:rPr lang="en-US" dirty="0"/>
                        <a:t> install</a:t>
                      </a:r>
                    </a:p>
                  </a:txBody>
                  <a:tcPr anchor="ctr"/>
                </a:tc>
                <a:tc>
                  <a:txBody>
                    <a:bodyPr/>
                    <a:lstStyle/>
                    <a:p>
                      <a:r>
                        <a:rPr lang="en-US" dirty="0"/>
                        <a:t>Yes: GNOME Software</a:t>
                      </a:r>
                    </a:p>
                  </a:txBody>
                  <a:tcPr anchor="ctr"/>
                </a:tc>
                <a:extLst>
                  <a:ext uri="{0D108BD9-81ED-4DB2-BD59-A6C34878D82A}">
                    <a16:rowId xmlns:a16="http://schemas.microsoft.com/office/drawing/2014/main" val="2179980179"/>
                  </a:ext>
                </a:extLst>
              </a:tr>
              <a:tr h="0">
                <a:tc>
                  <a:txBody>
                    <a:bodyPr/>
                    <a:lstStyle/>
                    <a:p>
                      <a:r>
                        <a:rPr lang="en-US" sz="1400" b="1"/>
                        <a:t>CentOS (older)</a:t>
                      </a:r>
                    </a:p>
                  </a:txBody>
                  <a:tcPr anchor="ctr"/>
                </a:tc>
                <a:tc>
                  <a:txBody>
                    <a:bodyPr/>
                    <a:lstStyle/>
                    <a:p>
                      <a:r>
                        <a:rPr lang="en-US" b="1"/>
                        <a:t>YUM</a:t>
                      </a:r>
                      <a:endParaRPr lang="en-US"/>
                    </a:p>
                  </a:txBody>
                  <a:tcPr anchor="ctr"/>
                </a:tc>
                <a:tc>
                  <a:txBody>
                    <a:bodyPr/>
                    <a:lstStyle/>
                    <a:p>
                      <a:r>
                        <a:rPr lang="en-US" dirty="0"/>
                        <a:t>yum install</a:t>
                      </a:r>
                    </a:p>
                  </a:txBody>
                  <a:tcPr anchor="ctr"/>
                </a:tc>
                <a:tc>
                  <a:txBody>
                    <a:bodyPr/>
                    <a:lstStyle/>
                    <a:p>
                      <a:r>
                        <a:rPr lang="en-US" dirty="0"/>
                        <a:t>Partially</a:t>
                      </a:r>
                    </a:p>
                  </a:txBody>
                  <a:tcPr anchor="ctr"/>
                </a:tc>
                <a:extLst>
                  <a:ext uri="{0D108BD9-81ED-4DB2-BD59-A6C34878D82A}">
                    <a16:rowId xmlns:a16="http://schemas.microsoft.com/office/drawing/2014/main" val="923626939"/>
                  </a:ext>
                </a:extLst>
              </a:tr>
              <a:tr h="0">
                <a:tc>
                  <a:txBody>
                    <a:bodyPr/>
                    <a:lstStyle/>
                    <a:p>
                      <a:r>
                        <a:rPr lang="en-US" sz="1400" b="1"/>
                        <a:t>Arch Linux</a:t>
                      </a:r>
                    </a:p>
                  </a:txBody>
                  <a:tcPr anchor="ctr"/>
                </a:tc>
                <a:tc>
                  <a:txBody>
                    <a:bodyPr/>
                    <a:lstStyle/>
                    <a:p>
                      <a:r>
                        <a:rPr lang="en-US" b="1"/>
                        <a:t>Pacman</a:t>
                      </a:r>
                      <a:endParaRPr lang="en-US"/>
                    </a:p>
                  </a:txBody>
                  <a:tcPr anchor="ctr"/>
                </a:tc>
                <a:tc>
                  <a:txBody>
                    <a:bodyPr/>
                    <a:lstStyle/>
                    <a:p>
                      <a:r>
                        <a:rPr lang="en-US" dirty="0" err="1"/>
                        <a:t>pacman</a:t>
                      </a:r>
                      <a:r>
                        <a:rPr lang="en-US" dirty="0"/>
                        <a:t> -S</a:t>
                      </a:r>
                    </a:p>
                  </a:txBody>
                  <a:tcPr anchor="ctr"/>
                </a:tc>
                <a:tc>
                  <a:txBody>
                    <a:bodyPr/>
                    <a:lstStyle/>
                    <a:p>
                      <a:r>
                        <a:rPr lang="en-US" dirty="0"/>
                        <a:t>Yes (</a:t>
                      </a:r>
                      <a:r>
                        <a:rPr lang="en-US" dirty="0" err="1"/>
                        <a:t>Manjaro</a:t>
                      </a:r>
                      <a:r>
                        <a:rPr lang="en-US" dirty="0"/>
                        <a:t> has </a:t>
                      </a:r>
                      <a:r>
                        <a:rPr lang="en-US" dirty="0" err="1"/>
                        <a:t>Pamac</a:t>
                      </a:r>
                      <a:r>
                        <a:rPr lang="en-US" dirty="0"/>
                        <a:t>)</a:t>
                      </a:r>
                    </a:p>
                  </a:txBody>
                  <a:tcPr anchor="ctr"/>
                </a:tc>
                <a:extLst>
                  <a:ext uri="{0D108BD9-81ED-4DB2-BD59-A6C34878D82A}">
                    <a16:rowId xmlns:a16="http://schemas.microsoft.com/office/drawing/2014/main" val="14198526"/>
                  </a:ext>
                </a:extLst>
              </a:tr>
              <a:tr h="0">
                <a:tc>
                  <a:txBody>
                    <a:bodyPr/>
                    <a:lstStyle/>
                    <a:p>
                      <a:r>
                        <a:rPr lang="en-US" sz="1400" b="1"/>
                        <a:t>openSUSE</a:t>
                      </a:r>
                    </a:p>
                  </a:txBody>
                  <a:tcPr anchor="ctr"/>
                </a:tc>
                <a:tc>
                  <a:txBody>
                    <a:bodyPr/>
                    <a:lstStyle/>
                    <a:p>
                      <a:r>
                        <a:rPr lang="en-US" b="1" dirty="0" err="1"/>
                        <a:t>Zypper</a:t>
                      </a:r>
                      <a:endParaRPr lang="en-US" dirty="0"/>
                    </a:p>
                  </a:txBody>
                  <a:tcPr anchor="ctr"/>
                </a:tc>
                <a:tc>
                  <a:txBody>
                    <a:bodyPr/>
                    <a:lstStyle/>
                    <a:p>
                      <a:r>
                        <a:rPr lang="en-US" dirty="0" err="1"/>
                        <a:t>zypper</a:t>
                      </a:r>
                      <a:r>
                        <a:rPr lang="en-US" dirty="0"/>
                        <a:t> install</a:t>
                      </a:r>
                    </a:p>
                  </a:txBody>
                  <a:tcPr anchor="ctr"/>
                </a:tc>
                <a:tc>
                  <a:txBody>
                    <a:bodyPr/>
                    <a:lstStyle/>
                    <a:p>
                      <a:r>
                        <a:rPr lang="en-US" dirty="0"/>
                        <a:t>Yes: </a:t>
                      </a:r>
                      <a:r>
                        <a:rPr lang="en-US" dirty="0" err="1"/>
                        <a:t>YaST</a:t>
                      </a:r>
                      <a:r>
                        <a:rPr lang="en-US" dirty="0"/>
                        <a:t> Software</a:t>
                      </a:r>
                    </a:p>
                  </a:txBody>
                  <a:tcPr anchor="ctr"/>
                </a:tc>
                <a:extLst>
                  <a:ext uri="{0D108BD9-81ED-4DB2-BD59-A6C34878D82A}">
                    <a16:rowId xmlns:a16="http://schemas.microsoft.com/office/drawing/2014/main" val="1516699275"/>
                  </a:ext>
                </a:extLst>
              </a:tr>
              <a:tr h="0">
                <a:tc>
                  <a:txBody>
                    <a:bodyPr/>
                    <a:lstStyle/>
                    <a:p>
                      <a:r>
                        <a:rPr lang="en-US" sz="1400" b="1"/>
                        <a:t>Gentoo</a:t>
                      </a:r>
                    </a:p>
                  </a:txBody>
                  <a:tcPr anchor="ctr"/>
                </a:tc>
                <a:tc>
                  <a:txBody>
                    <a:bodyPr/>
                    <a:lstStyle/>
                    <a:p>
                      <a:r>
                        <a:rPr lang="en-US" b="1" dirty="0"/>
                        <a:t>Portage</a:t>
                      </a:r>
                      <a:endParaRPr lang="en-US" dirty="0"/>
                    </a:p>
                  </a:txBody>
                  <a:tcPr anchor="ctr"/>
                </a:tc>
                <a:tc>
                  <a:txBody>
                    <a:bodyPr/>
                    <a:lstStyle/>
                    <a:p>
                      <a:r>
                        <a:rPr lang="en-US" dirty="0"/>
                        <a:t>emerge pkg</a:t>
                      </a:r>
                    </a:p>
                  </a:txBody>
                  <a:tcPr anchor="ctr"/>
                </a:tc>
                <a:tc>
                  <a:txBody>
                    <a:bodyPr/>
                    <a:lstStyle/>
                    <a:p>
                      <a:r>
                        <a:rPr lang="en-US" dirty="0"/>
                        <a:t>No default GUI</a:t>
                      </a:r>
                    </a:p>
                  </a:txBody>
                  <a:tcPr anchor="ctr"/>
                </a:tc>
                <a:extLst>
                  <a:ext uri="{0D108BD9-81ED-4DB2-BD59-A6C34878D82A}">
                    <a16:rowId xmlns:a16="http://schemas.microsoft.com/office/drawing/2014/main" val="3529733269"/>
                  </a:ext>
                </a:extLst>
              </a:tr>
              <a:tr h="0">
                <a:tc>
                  <a:txBody>
                    <a:bodyPr/>
                    <a:lstStyle/>
                    <a:p>
                      <a:r>
                        <a:rPr lang="en-US" sz="1400" b="1" dirty="0"/>
                        <a:t>Void Linux</a:t>
                      </a:r>
                    </a:p>
                  </a:txBody>
                  <a:tcPr anchor="ctr"/>
                </a:tc>
                <a:tc>
                  <a:txBody>
                    <a:bodyPr/>
                    <a:lstStyle/>
                    <a:p>
                      <a:r>
                        <a:rPr lang="en-US" b="1"/>
                        <a:t>XBPS</a:t>
                      </a:r>
                      <a:endParaRPr lang="en-US"/>
                    </a:p>
                  </a:txBody>
                  <a:tcPr anchor="ctr"/>
                </a:tc>
                <a:tc>
                  <a:txBody>
                    <a:bodyPr/>
                    <a:lstStyle/>
                    <a:p>
                      <a:r>
                        <a:rPr lang="en-US" dirty="0" err="1"/>
                        <a:t>xbps</a:t>
                      </a:r>
                      <a:r>
                        <a:rPr lang="en-US" dirty="0"/>
                        <a:t>-install</a:t>
                      </a:r>
                    </a:p>
                  </a:txBody>
                  <a:tcPr anchor="ctr"/>
                </a:tc>
                <a:tc>
                  <a:txBody>
                    <a:bodyPr/>
                    <a:lstStyle/>
                    <a:p>
                      <a:r>
                        <a:rPr lang="en-US" dirty="0"/>
                        <a:t>No default GUI</a:t>
                      </a:r>
                    </a:p>
                  </a:txBody>
                  <a:tcPr anchor="ctr"/>
                </a:tc>
                <a:extLst>
                  <a:ext uri="{0D108BD9-81ED-4DB2-BD59-A6C34878D82A}">
                    <a16:rowId xmlns:a16="http://schemas.microsoft.com/office/drawing/2014/main" val="156624267"/>
                  </a:ext>
                </a:extLst>
              </a:tr>
            </a:tbl>
          </a:graphicData>
        </a:graphic>
      </p:graphicFrame>
      <p:sp>
        <p:nvSpPr>
          <p:cNvPr id="3" name="TextBox 2">
            <a:extLst>
              <a:ext uri="{FF2B5EF4-FFF2-40B4-BE49-F238E27FC236}">
                <a16:creationId xmlns:a16="http://schemas.microsoft.com/office/drawing/2014/main" id="{4051A8B3-D1AA-9997-DC27-3ED7CAFAA482}"/>
              </a:ext>
            </a:extLst>
          </p:cNvPr>
          <p:cNvSpPr txBox="1"/>
          <p:nvPr/>
        </p:nvSpPr>
        <p:spPr>
          <a:xfrm>
            <a:off x="1487487" y="844183"/>
            <a:ext cx="6169026" cy="523220"/>
          </a:xfrm>
          <a:prstGeom prst="rect">
            <a:avLst/>
          </a:prstGeom>
          <a:noFill/>
        </p:spPr>
        <p:txBody>
          <a:bodyPr wrap="square">
            <a:spAutoFit/>
          </a:bodyPr>
          <a:lstStyle/>
          <a:p>
            <a:r>
              <a:rPr lang="en-US" dirty="0"/>
              <a:t>These are </a:t>
            </a:r>
            <a:r>
              <a:rPr lang="en-US" b="1" dirty="0"/>
              <a:t>official repositories</a:t>
            </a:r>
            <a:r>
              <a:rPr lang="en-US" dirty="0"/>
              <a:t> maintained by each Linux distribution.</a:t>
            </a:r>
            <a:br>
              <a:rPr lang="en-US" dirty="0"/>
            </a:br>
            <a:r>
              <a:rPr lang="en-US" dirty="0"/>
              <a:t>Each one acts like a “store” for installing, updating, and removing software.</a:t>
            </a:r>
          </a:p>
        </p:txBody>
      </p:sp>
    </p:spTree>
    <p:extLst>
      <p:ext uri="{BB962C8B-B14F-4D97-AF65-F5344CB8AC3E}">
        <p14:creationId xmlns:p14="http://schemas.microsoft.com/office/powerpoint/2010/main" val="393022809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ED4C6-0354-AAAE-B641-A74FE11EDB5D}"/>
            </a:ext>
          </a:extLst>
        </p:cNvPr>
        <p:cNvGrpSpPr/>
        <p:nvPr/>
      </p:nvGrpSpPr>
      <p:grpSpPr>
        <a:xfrm>
          <a:off x="0" y="0"/>
          <a:ext cx="0" cy="0"/>
          <a:chOff x="0" y="0"/>
          <a:chExt cx="0" cy="0"/>
        </a:xfrm>
      </p:grpSpPr>
      <p:sp>
        <p:nvSpPr>
          <p:cNvPr id="9" name="Rectangle 1">
            <a:extLst>
              <a:ext uri="{FF2B5EF4-FFF2-40B4-BE49-F238E27FC236}">
                <a16:creationId xmlns:a16="http://schemas.microsoft.com/office/drawing/2014/main" id="{22A92721-3F6B-DA51-2117-77BEE7E70E05}"/>
              </a:ext>
            </a:extLst>
          </p:cNvPr>
          <p:cNvSpPr>
            <a:spLocks noChangeArrowheads="1"/>
          </p:cNvSpPr>
          <p:nvPr/>
        </p:nvSpPr>
        <p:spPr bwMode="auto">
          <a:xfrm>
            <a:off x="1645558" y="339325"/>
            <a:ext cx="5852884" cy="369332"/>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r>
              <a:rPr lang="en-US" sz="1800" dirty="0"/>
              <a:t>2. Universal App Stores (Work Across All Linux Distros)</a:t>
            </a:r>
            <a:endParaRPr lang="en-US" dirty="0"/>
          </a:p>
        </p:txBody>
      </p:sp>
      <p:sp>
        <p:nvSpPr>
          <p:cNvPr id="3" name="TextBox 2">
            <a:extLst>
              <a:ext uri="{FF2B5EF4-FFF2-40B4-BE49-F238E27FC236}">
                <a16:creationId xmlns:a16="http://schemas.microsoft.com/office/drawing/2014/main" id="{E67B8956-8F95-4612-4125-B5A7E10A3220}"/>
              </a:ext>
            </a:extLst>
          </p:cNvPr>
          <p:cNvSpPr txBox="1"/>
          <p:nvPr/>
        </p:nvSpPr>
        <p:spPr>
          <a:xfrm>
            <a:off x="1487487" y="844183"/>
            <a:ext cx="6169026" cy="738664"/>
          </a:xfrm>
          <a:prstGeom prst="rect">
            <a:avLst/>
          </a:prstGeom>
          <a:noFill/>
        </p:spPr>
        <p:txBody>
          <a:bodyPr wrap="square">
            <a:spAutoFit/>
          </a:bodyPr>
          <a:lstStyle/>
          <a:p>
            <a:r>
              <a:rPr lang="en-US" dirty="0"/>
              <a:t>These are </a:t>
            </a:r>
            <a:r>
              <a:rPr lang="en-US" b="1" dirty="0"/>
              <a:t>Unofficial repositories</a:t>
            </a:r>
            <a:r>
              <a:rPr lang="en-US" dirty="0"/>
              <a:t> maintained by the Linux Community. The best part is that it is Cross-Distro.</a:t>
            </a:r>
            <a:br>
              <a:rPr lang="en-US" dirty="0"/>
            </a:br>
            <a:r>
              <a:rPr lang="en-US" dirty="0"/>
              <a:t>Each one acts like a “store” for installing, updating, and removing software.</a:t>
            </a:r>
          </a:p>
        </p:txBody>
      </p:sp>
      <p:sp>
        <p:nvSpPr>
          <p:cNvPr id="5" name="TextBox 4">
            <a:extLst>
              <a:ext uri="{FF2B5EF4-FFF2-40B4-BE49-F238E27FC236}">
                <a16:creationId xmlns:a16="http://schemas.microsoft.com/office/drawing/2014/main" id="{B617B6F6-9AFB-EE8D-BA41-4345A2AC46F5}"/>
              </a:ext>
            </a:extLst>
          </p:cNvPr>
          <p:cNvSpPr txBox="1"/>
          <p:nvPr/>
        </p:nvSpPr>
        <p:spPr>
          <a:xfrm>
            <a:off x="6329311" y="1778655"/>
            <a:ext cx="1102300" cy="375552"/>
          </a:xfrm>
          <a:prstGeom prst="rect">
            <a:avLst/>
          </a:prstGeom>
          <a:noFill/>
        </p:spPr>
        <p:txBody>
          <a:bodyPr wrap="square">
            <a:spAutoFit/>
          </a:bodyPr>
          <a:lstStyle/>
          <a:p>
            <a:pPr>
              <a:lnSpc>
                <a:spcPct val="150000"/>
              </a:lnSpc>
            </a:pPr>
            <a:r>
              <a:rPr lang="en-US" dirty="0"/>
              <a:t>Snap Store</a:t>
            </a:r>
          </a:p>
        </p:txBody>
      </p:sp>
      <p:pic>
        <p:nvPicPr>
          <p:cNvPr id="2050" name="Picture 2" descr="Install Apps on Linux using the Snap Store | by Vinojan Veerapathirathasan  | Medium">
            <a:extLst>
              <a:ext uri="{FF2B5EF4-FFF2-40B4-BE49-F238E27FC236}">
                <a16:creationId xmlns:a16="http://schemas.microsoft.com/office/drawing/2014/main" id="{6A74EC11-C362-B5E9-9924-6664E461BD4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770" b="27564"/>
          <a:stretch/>
        </p:blipFill>
        <p:spPr bwMode="auto">
          <a:xfrm>
            <a:off x="1487487" y="1692506"/>
            <a:ext cx="2194552" cy="73152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8D45F21D-929E-DDD4-DA8A-D69BB3F214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707" y="2456143"/>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26A88B41-AE4F-1D0F-7012-8C6B559875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9672" y="3310618"/>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Flathub's New Logo Feels like a Flawless Fit - OMG! Linux">
            <a:extLst>
              <a:ext uri="{FF2B5EF4-FFF2-40B4-BE49-F238E27FC236}">
                <a16:creationId xmlns:a16="http://schemas.microsoft.com/office/drawing/2014/main" id="{10B4A833-CB81-BB52-7D10-788895646DC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8599" t="26651" r="17809" b="30244"/>
          <a:stretch/>
        </p:blipFill>
        <p:spPr bwMode="auto">
          <a:xfrm>
            <a:off x="1978725" y="3378684"/>
            <a:ext cx="2568152" cy="9144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F1E03D0-BFB1-83FB-DC9A-B8474060F1A4}"/>
              </a:ext>
            </a:extLst>
          </p:cNvPr>
          <p:cNvSpPr txBox="1"/>
          <p:nvPr/>
        </p:nvSpPr>
        <p:spPr>
          <a:xfrm>
            <a:off x="6329311" y="3460332"/>
            <a:ext cx="1811964" cy="375552"/>
          </a:xfrm>
          <a:prstGeom prst="rect">
            <a:avLst/>
          </a:prstGeom>
          <a:noFill/>
        </p:spPr>
        <p:txBody>
          <a:bodyPr wrap="square">
            <a:spAutoFit/>
          </a:bodyPr>
          <a:lstStyle/>
          <a:p>
            <a:pPr>
              <a:lnSpc>
                <a:spcPct val="150000"/>
              </a:lnSpc>
            </a:pPr>
            <a:r>
              <a:rPr lang="en-US" dirty="0" err="1"/>
              <a:t>Flatpak</a:t>
            </a:r>
            <a:r>
              <a:rPr lang="en-US" dirty="0"/>
              <a:t> + </a:t>
            </a:r>
            <a:r>
              <a:rPr lang="en-US" dirty="0" err="1"/>
              <a:t>Flathub</a:t>
            </a:r>
            <a:endParaRPr lang="en-US" dirty="0"/>
          </a:p>
        </p:txBody>
      </p:sp>
      <p:sp>
        <p:nvSpPr>
          <p:cNvPr id="10" name="TextBox 9">
            <a:extLst>
              <a:ext uri="{FF2B5EF4-FFF2-40B4-BE49-F238E27FC236}">
                <a16:creationId xmlns:a16="http://schemas.microsoft.com/office/drawing/2014/main" id="{21DCFD91-A16B-30EA-BB42-AE3972A2CF10}"/>
              </a:ext>
            </a:extLst>
          </p:cNvPr>
          <p:cNvSpPr txBox="1"/>
          <p:nvPr/>
        </p:nvSpPr>
        <p:spPr>
          <a:xfrm>
            <a:off x="6320895" y="2537791"/>
            <a:ext cx="1317625" cy="375552"/>
          </a:xfrm>
          <a:prstGeom prst="rect">
            <a:avLst/>
          </a:prstGeom>
          <a:noFill/>
        </p:spPr>
        <p:txBody>
          <a:bodyPr wrap="square">
            <a:spAutoFit/>
          </a:bodyPr>
          <a:lstStyle/>
          <a:p>
            <a:pPr>
              <a:lnSpc>
                <a:spcPct val="150000"/>
              </a:lnSpc>
            </a:pPr>
            <a:r>
              <a:rPr lang="en-US" dirty="0" err="1"/>
              <a:t>AppImageHub</a:t>
            </a:r>
            <a:endParaRPr lang="en-US" dirty="0"/>
          </a:p>
        </p:txBody>
      </p:sp>
    </p:spTree>
    <p:extLst>
      <p:ext uri="{BB962C8B-B14F-4D97-AF65-F5344CB8AC3E}">
        <p14:creationId xmlns:p14="http://schemas.microsoft.com/office/powerpoint/2010/main" val="161695431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A4A2026C-6476-8049-E478-98A8EACB6B43}"/>
              </a:ext>
            </a:extLst>
          </p:cNvPr>
          <p:cNvGrpSpPr/>
          <p:nvPr/>
        </p:nvGrpSpPr>
        <p:grpSpPr>
          <a:xfrm>
            <a:off x="1087269" y="2804340"/>
            <a:ext cx="3657600" cy="2286000"/>
            <a:chOff x="1087269" y="2804340"/>
            <a:chExt cx="3657600" cy="2286000"/>
          </a:xfrm>
        </p:grpSpPr>
        <p:sp>
          <p:nvSpPr>
            <p:cNvPr id="16" name="Rectangle 15">
              <a:extLst>
                <a:ext uri="{FF2B5EF4-FFF2-40B4-BE49-F238E27FC236}">
                  <a16:creationId xmlns:a16="http://schemas.microsoft.com/office/drawing/2014/main" id="{04708388-66F3-76F8-B93B-44EA4E9B4404}"/>
                </a:ext>
              </a:extLst>
            </p:cNvPr>
            <p:cNvSpPr/>
            <p:nvPr/>
          </p:nvSpPr>
          <p:spPr>
            <a:xfrm>
              <a:off x="1087269" y="2804340"/>
              <a:ext cx="3657600" cy="228600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pic>
          <p:nvPicPr>
            <p:cNvPr id="6" name="Picture 4">
              <a:extLst>
                <a:ext uri="{FF2B5EF4-FFF2-40B4-BE49-F238E27FC236}">
                  <a16:creationId xmlns:a16="http://schemas.microsoft.com/office/drawing/2014/main" id="{A6A16862-F81C-38F3-A378-1F0F1B16B6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2201" y="280434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34DAA59-D95D-FE13-8CB9-1A6D588B7522}"/>
                </a:ext>
              </a:extLst>
            </p:cNvPr>
            <p:cNvSpPr txBox="1"/>
            <p:nvPr/>
          </p:nvSpPr>
          <p:spPr>
            <a:xfrm>
              <a:off x="1151564" y="3792287"/>
              <a:ext cx="3495675" cy="954107"/>
            </a:xfrm>
            <a:prstGeom prst="rect">
              <a:avLst/>
            </a:prstGeom>
            <a:noFill/>
          </p:spPr>
          <p:txBody>
            <a:bodyPr wrap="square">
              <a:spAutoFit/>
            </a:bodyPr>
            <a:lstStyle/>
            <a:p>
              <a:r>
                <a:rPr lang="en-US" b="1" dirty="0" err="1"/>
                <a:t>Flatpak</a:t>
              </a:r>
              <a:r>
                <a:rPr lang="en-US" b="1" dirty="0"/>
                <a:t> + </a:t>
              </a:r>
              <a:r>
                <a:rPr lang="en-US" b="1" dirty="0" err="1"/>
                <a:t>Flathub</a:t>
              </a:r>
              <a:endParaRPr lang="en-US" b="1" dirty="0"/>
            </a:p>
            <a:p>
              <a:pPr>
                <a:buFont typeface="Arial" panose="020B0604020202020204" pitchFamily="34" charset="0"/>
                <a:buChar char="•"/>
              </a:pPr>
              <a:r>
                <a:rPr lang="en-US" dirty="0"/>
                <a:t>Most popular universal Linux app store</a:t>
              </a:r>
            </a:p>
            <a:p>
              <a:pPr>
                <a:buFont typeface="Arial" panose="020B0604020202020204" pitchFamily="34" charset="0"/>
                <a:buChar char="•"/>
              </a:pPr>
              <a:r>
                <a:rPr lang="en-US" dirty="0"/>
                <a:t>Works on almost all distros</a:t>
              </a:r>
            </a:p>
            <a:p>
              <a:pPr>
                <a:buFont typeface="Arial" panose="020B0604020202020204" pitchFamily="34" charset="0"/>
                <a:buChar char="•"/>
              </a:pPr>
              <a:r>
                <a:rPr lang="en-US" dirty="0"/>
                <a:t>GUI: GNOME Software / KDE Discover</a:t>
              </a:r>
            </a:p>
          </p:txBody>
        </p:sp>
      </p:grpSp>
      <p:grpSp>
        <p:nvGrpSpPr>
          <p:cNvPr id="20" name="Group 19">
            <a:extLst>
              <a:ext uri="{FF2B5EF4-FFF2-40B4-BE49-F238E27FC236}">
                <a16:creationId xmlns:a16="http://schemas.microsoft.com/office/drawing/2014/main" id="{80434F1D-D9E3-AFD9-4F59-9FD1E24FC5F2}"/>
              </a:ext>
            </a:extLst>
          </p:cNvPr>
          <p:cNvGrpSpPr/>
          <p:nvPr/>
        </p:nvGrpSpPr>
        <p:grpSpPr>
          <a:xfrm>
            <a:off x="5100527" y="1432740"/>
            <a:ext cx="3657600" cy="2286000"/>
            <a:chOff x="5016500" y="1265411"/>
            <a:chExt cx="3657600" cy="2286000"/>
          </a:xfrm>
        </p:grpSpPr>
        <p:sp>
          <p:nvSpPr>
            <p:cNvPr id="17" name="Rectangle 16">
              <a:extLst>
                <a:ext uri="{FF2B5EF4-FFF2-40B4-BE49-F238E27FC236}">
                  <a16:creationId xmlns:a16="http://schemas.microsoft.com/office/drawing/2014/main" id="{84237350-0A3D-FDD9-3D23-B9A644D3094D}"/>
                </a:ext>
              </a:extLst>
            </p:cNvPr>
            <p:cNvSpPr/>
            <p:nvPr/>
          </p:nvSpPr>
          <p:spPr>
            <a:xfrm>
              <a:off x="5016500" y="1265411"/>
              <a:ext cx="3657600" cy="22860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pic>
          <p:nvPicPr>
            <p:cNvPr id="7" name="Picture 8">
              <a:extLst>
                <a:ext uri="{FF2B5EF4-FFF2-40B4-BE49-F238E27FC236}">
                  <a16:creationId xmlns:a16="http://schemas.microsoft.com/office/drawing/2014/main" id="{3408E1B6-8F81-EFE9-C706-87A75301FC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6741" y="1448865"/>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AA67A9B7-FB4E-E0CB-E301-86F814FA1736}"/>
                </a:ext>
              </a:extLst>
            </p:cNvPr>
            <p:cNvSpPr txBox="1"/>
            <p:nvPr/>
          </p:nvSpPr>
          <p:spPr>
            <a:xfrm>
              <a:off x="5259105" y="2434963"/>
              <a:ext cx="3009671" cy="954107"/>
            </a:xfrm>
            <a:prstGeom prst="rect">
              <a:avLst/>
            </a:prstGeom>
            <a:noFill/>
          </p:spPr>
          <p:txBody>
            <a:bodyPr wrap="square">
              <a:spAutoFit/>
            </a:bodyPr>
            <a:lstStyle/>
            <a:p>
              <a:r>
                <a:rPr lang="en-US" b="1" dirty="0" err="1"/>
                <a:t>AppImageHub</a:t>
              </a:r>
              <a:endParaRPr lang="en-US" b="1" dirty="0"/>
            </a:p>
            <a:p>
              <a:pPr>
                <a:buFont typeface="Arial" panose="020B0604020202020204" pitchFamily="34" charset="0"/>
                <a:buChar char="•"/>
              </a:pPr>
              <a:r>
                <a:rPr lang="en-US" dirty="0"/>
                <a:t>Portable apps (no install needed)</a:t>
              </a:r>
            </a:p>
            <a:p>
              <a:pPr>
                <a:buFont typeface="Arial" panose="020B0604020202020204" pitchFamily="34" charset="0"/>
                <a:buChar char="•"/>
              </a:pPr>
              <a:r>
                <a:rPr lang="en-US" dirty="0"/>
                <a:t>Works on all distros</a:t>
              </a:r>
            </a:p>
            <a:p>
              <a:pPr>
                <a:buFont typeface="Arial" panose="020B0604020202020204" pitchFamily="34" charset="0"/>
                <a:buChar char="•"/>
              </a:pPr>
              <a:r>
                <a:rPr lang="en-US" dirty="0"/>
                <a:t>No central command-line installer</a:t>
              </a:r>
            </a:p>
          </p:txBody>
        </p:sp>
      </p:grpSp>
      <p:grpSp>
        <p:nvGrpSpPr>
          <p:cNvPr id="19" name="Group 18">
            <a:extLst>
              <a:ext uri="{FF2B5EF4-FFF2-40B4-BE49-F238E27FC236}">
                <a16:creationId xmlns:a16="http://schemas.microsoft.com/office/drawing/2014/main" id="{D7FA5F0E-2801-1056-01E7-64313E6F7258}"/>
              </a:ext>
            </a:extLst>
          </p:cNvPr>
          <p:cNvGrpSpPr/>
          <p:nvPr/>
        </p:nvGrpSpPr>
        <p:grpSpPr>
          <a:xfrm>
            <a:off x="1087269" y="408563"/>
            <a:ext cx="3657600" cy="2286000"/>
            <a:chOff x="1087270" y="325981"/>
            <a:chExt cx="3657600" cy="2286000"/>
          </a:xfrm>
        </p:grpSpPr>
        <p:sp>
          <p:nvSpPr>
            <p:cNvPr id="15" name="Rectangle 14">
              <a:extLst>
                <a:ext uri="{FF2B5EF4-FFF2-40B4-BE49-F238E27FC236}">
                  <a16:creationId xmlns:a16="http://schemas.microsoft.com/office/drawing/2014/main" id="{04A87876-E401-8225-C7AC-7B0A12810FAD}"/>
                </a:ext>
              </a:extLst>
            </p:cNvPr>
            <p:cNvSpPr/>
            <p:nvPr/>
          </p:nvSpPr>
          <p:spPr>
            <a:xfrm>
              <a:off x="1087270" y="325981"/>
              <a:ext cx="3657600" cy="228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8417E1DB-4CEB-3F75-E1BC-72088FC48309}"/>
                </a:ext>
              </a:extLst>
            </p:cNvPr>
            <p:cNvSpPr txBox="1"/>
            <p:nvPr/>
          </p:nvSpPr>
          <p:spPr>
            <a:xfrm>
              <a:off x="1303228" y="1265412"/>
              <a:ext cx="2740025" cy="1169551"/>
            </a:xfrm>
            <a:prstGeom prst="rect">
              <a:avLst/>
            </a:prstGeom>
            <a:noFill/>
          </p:spPr>
          <p:txBody>
            <a:bodyPr wrap="square">
              <a:spAutoFit/>
            </a:bodyPr>
            <a:lstStyle/>
            <a:p>
              <a:r>
                <a:rPr lang="en-US" b="1" dirty="0"/>
                <a:t>Snap Store</a:t>
              </a:r>
            </a:p>
            <a:p>
              <a:pPr>
                <a:buFont typeface="Arial" panose="020B0604020202020204" pitchFamily="34" charset="0"/>
                <a:buChar char="•"/>
              </a:pPr>
              <a:r>
                <a:rPr lang="en-US" dirty="0"/>
                <a:t>Created by Canonical (Ubuntu)</a:t>
              </a:r>
            </a:p>
            <a:p>
              <a:pPr>
                <a:buFont typeface="Arial" panose="020B0604020202020204" pitchFamily="34" charset="0"/>
                <a:buChar char="•"/>
              </a:pPr>
              <a:r>
                <a:rPr lang="en-US" dirty="0"/>
                <a:t>Works on all distros</a:t>
              </a:r>
            </a:p>
            <a:p>
              <a:pPr>
                <a:buFont typeface="Arial" panose="020B0604020202020204" pitchFamily="34" charset="0"/>
                <a:buChar char="•"/>
              </a:pPr>
              <a:r>
                <a:rPr lang="en-US" dirty="0"/>
                <a:t>Commands: snap install</a:t>
              </a:r>
            </a:p>
            <a:p>
              <a:pPr>
                <a:buFont typeface="Arial" panose="020B0604020202020204" pitchFamily="34" charset="0"/>
                <a:buChar char="•"/>
              </a:pPr>
              <a:r>
                <a:rPr lang="en-US" dirty="0"/>
                <a:t>GUI: Snap Store App</a:t>
              </a:r>
            </a:p>
          </p:txBody>
        </p:sp>
        <p:pic>
          <p:nvPicPr>
            <p:cNvPr id="14" name="Picture 2" descr="Install Apps on Linux using the Snap Store | by Vinojan Veerapathirathasan  | Medium">
              <a:extLst>
                <a:ext uri="{FF2B5EF4-FFF2-40B4-BE49-F238E27FC236}">
                  <a16:creationId xmlns:a16="http://schemas.microsoft.com/office/drawing/2014/main" id="{A02F67DB-9CB8-B270-9948-8D0AAD37ABF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5770" b="27564"/>
            <a:stretch/>
          </p:blipFill>
          <p:spPr bwMode="auto">
            <a:xfrm>
              <a:off x="1802125" y="338681"/>
              <a:ext cx="2194552" cy="73152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5876911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2A75F-9705-221A-7378-A79C347F0D2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6B0CE43-F5EB-61BD-EBE4-92D2E806704D}"/>
              </a:ext>
            </a:extLst>
          </p:cNvPr>
          <p:cNvSpPr txBox="1"/>
          <p:nvPr/>
        </p:nvSpPr>
        <p:spPr>
          <a:xfrm>
            <a:off x="0" y="902942"/>
            <a:ext cx="9169400" cy="3816429"/>
          </a:xfrm>
          <a:prstGeom prst="rect">
            <a:avLst/>
          </a:prstGeom>
          <a:noFill/>
        </p:spPr>
        <p:txBody>
          <a:bodyPr wrap="square">
            <a:spAutoFit/>
          </a:bodyPr>
          <a:lstStyle/>
          <a:p>
            <a:r>
              <a:rPr lang="en-IN" sz="2200" i="1" dirty="0">
                <a:latin typeface="Times New Roman" panose="02020603050405020304" pitchFamily="18" charset="0"/>
                <a:cs typeface="Times New Roman" panose="02020603050405020304" pitchFamily="18" charset="0"/>
              </a:rPr>
              <a:t>Package which is available in RHEL Family having the package extension .rpm</a:t>
            </a:r>
          </a:p>
          <a:p>
            <a:r>
              <a:rPr lang="en-IN" sz="2000" dirty="0">
                <a:highlight>
                  <a:srgbClr val="FFFF00"/>
                </a:highlight>
                <a:latin typeface="Times New Roman" panose="02020603050405020304" pitchFamily="18" charset="0"/>
                <a:cs typeface="Times New Roman" panose="02020603050405020304" pitchFamily="18" charset="0"/>
              </a:rPr>
              <a:t>Package Management can be done by two way</a:t>
            </a:r>
          </a:p>
          <a:p>
            <a:r>
              <a:rPr lang="en-IN" sz="2000" dirty="0">
                <a:latin typeface="Times New Roman" panose="02020603050405020304" pitchFamily="18" charset="0"/>
                <a:cs typeface="Times New Roman" panose="02020603050405020304" pitchFamily="18" charset="0"/>
              </a:rPr>
              <a:t>                    Using rpm --Use to install single package which does not</a:t>
            </a:r>
          </a:p>
          <a:p>
            <a:r>
              <a:rPr lang="en-IN" sz="2000" dirty="0">
                <a:latin typeface="Times New Roman" panose="02020603050405020304" pitchFamily="18" charset="0"/>
                <a:cs typeface="Times New Roman" panose="02020603050405020304" pitchFamily="18" charset="0"/>
              </a:rPr>
              <a:t>                    have dependencies. </a:t>
            </a:r>
          </a:p>
          <a:p>
            <a:r>
              <a:rPr lang="en-IN" sz="2000" dirty="0">
                <a:latin typeface="Times New Roman" panose="02020603050405020304" pitchFamily="18" charset="0"/>
                <a:cs typeface="Times New Roman" panose="02020603050405020304" pitchFamily="18" charset="0"/>
              </a:rPr>
              <a:t>                    Using yum --Using this it install all the required dependencies </a:t>
            </a:r>
          </a:p>
          <a:p>
            <a:r>
              <a:rPr lang="en-IN" sz="2000" dirty="0">
                <a:latin typeface="Times New Roman" panose="02020603050405020304" pitchFamily="18" charset="0"/>
                <a:cs typeface="Times New Roman" panose="02020603050405020304" pitchFamily="18" charset="0"/>
              </a:rPr>
              <a:t>                    automatically</a:t>
            </a:r>
          </a:p>
          <a:p>
            <a:r>
              <a:rPr lang="en-IN" sz="2000" dirty="0">
                <a:highlight>
                  <a:srgbClr val="FFFF00"/>
                </a:highlight>
                <a:latin typeface="Times New Roman" panose="02020603050405020304" pitchFamily="18" charset="0"/>
                <a:cs typeface="Times New Roman" panose="02020603050405020304" pitchFamily="18" charset="0"/>
              </a:rPr>
              <a:t>RPM Package Manager</a:t>
            </a:r>
          </a:p>
          <a:p>
            <a:r>
              <a:rPr lang="en-IN" sz="2000" dirty="0">
                <a:latin typeface="Times New Roman" panose="02020603050405020304" pitchFamily="18" charset="0"/>
                <a:cs typeface="Times New Roman" panose="02020603050405020304" pitchFamily="18" charset="0"/>
              </a:rPr>
              <a:t>      The RPM Package Manager, originally developed by Red Hat, provides a standard way to package software for distribution. Managing software in the form of RPM packages is much simpler than working with software that has simply been extracted into a file system from an archive</a:t>
            </a:r>
          </a:p>
          <a:p>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D5FF0FC-2EAF-15CA-56DD-DA6A72F80F4A}"/>
              </a:ext>
            </a:extLst>
          </p:cNvPr>
          <p:cNvSpPr txBox="1"/>
          <p:nvPr/>
        </p:nvSpPr>
        <p:spPr>
          <a:xfrm>
            <a:off x="1938814" y="223217"/>
            <a:ext cx="5166360" cy="55399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a:spAutoFit/>
          </a:bodyPr>
          <a:lstStyle/>
          <a:p>
            <a:pPr algn="ctr"/>
            <a:r>
              <a:rPr lang="en-IN" sz="3000" dirty="0">
                <a:latin typeface="Times New Roman" panose="02020603050405020304" pitchFamily="18" charset="0"/>
                <a:cs typeface="Times New Roman" panose="02020603050405020304" pitchFamily="18" charset="0"/>
              </a:rPr>
              <a:t>Package Management</a:t>
            </a:r>
          </a:p>
        </p:txBody>
      </p:sp>
      <p:sp>
        <p:nvSpPr>
          <p:cNvPr id="2" name="L-Shape 1">
            <a:extLst>
              <a:ext uri="{FF2B5EF4-FFF2-40B4-BE49-F238E27FC236}">
                <a16:creationId xmlns:a16="http://schemas.microsoft.com/office/drawing/2014/main" id="{DAF4C2EF-A99E-6A75-BF0F-CF79065C92D1}"/>
              </a:ext>
            </a:extLst>
          </p:cNvPr>
          <p:cNvSpPr/>
          <p:nvPr/>
        </p:nvSpPr>
        <p:spPr>
          <a:xfrm rot="13346175">
            <a:off x="890469" y="1769772"/>
            <a:ext cx="200644" cy="182378"/>
          </a:xfrm>
          <a:prstGeom prst="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Shape 2">
            <a:extLst>
              <a:ext uri="{FF2B5EF4-FFF2-40B4-BE49-F238E27FC236}">
                <a16:creationId xmlns:a16="http://schemas.microsoft.com/office/drawing/2014/main" id="{86560969-5EEB-F6E5-C370-5A9423CC750D}"/>
              </a:ext>
            </a:extLst>
          </p:cNvPr>
          <p:cNvSpPr/>
          <p:nvPr/>
        </p:nvSpPr>
        <p:spPr>
          <a:xfrm rot="13346175">
            <a:off x="890470" y="2237617"/>
            <a:ext cx="200644" cy="182378"/>
          </a:xfrm>
          <a:prstGeom prst="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569787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440872C-996B-6781-0188-7A896A01B426}"/>
              </a:ext>
            </a:extLst>
          </p:cNvPr>
          <p:cNvSpPr txBox="1"/>
          <p:nvPr/>
        </p:nvSpPr>
        <p:spPr>
          <a:xfrm>
            <a:off x="1156682" y="1602254"/>
            <a:ext cx="7526337" cy="19389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sz="2000" dirty="0">
                <a:highlight>
                  <a:srgbClr val="00FFFF"/>
                </a:highlight>
                <a:latin typeface="Times New Roman" panose="02020603050405020304" pitchFamily="18" charset="0"/>
                <a:cs typeface="Times New Roman" panose="02020603050405020304" pitchFamily="18" charset="0"/>
              </a:rPr>
              <a:t>#which yum</a:t>
            </a:r>
          </a:p>
          <a:p>
            <a:r>
              <a:rPr lang="en-IN" sz="2000" dirty="0">
                <a:latin typeface="Times New Roman" panose="02020603050405020304" pitchFamily="18" charset="0"/>
                <a:cs typeface="Times New Roman" panose="02020603050405020304" pitchFamily="18" charset="0"/>
              </a:rPr>
              <a:t>Results</a:t>
            </a:r>
          </a:p>
          <a:p>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usr</a:t>
            </a:r>
            <a:r>
              <a:rPr lang="en-IN" sz="2000" dirty="0">
                <a:latin typeface="Times New Roman" panose="02020603050405020304" pitchFamily="18" charset="0"/>
                <a:cs typeface="Times New Roman" panose="02020603050405020304" pitchFamily="18" charset="0"/>
              </a:rPr>
              <a:t>/bin/yum</a:t>
            </a:r>
          </a:p>
          <a:p>
            <a:endParaRPr lang="en-IN" sz="2000" dirty="0">
              <a:latin typeface="Times New Roman" panose="02020603050405020304" pitchFamily="18" charset="0"/>
              <a:cs typeface="Times New Roman" panose="02020603050405020304" pitchFamily="18" charset="0"/>
            </a:endParaRPr>
          </a:p>
          <a:p>
            <a:r>
              <a:rPr lang="en-IN" sz="2000" dirty="0">
                <a:highlight>
                  <a:srgbClr val="00FFFF"/>
                </a:highlight>
                <a:latin typeface="Times New Roman" panose="02020603050405020304" pitchFamily="18" charset="0"/>
                <a:cs typeface="Times New Roman" panose="02020603050405020304" pitchFamily="18" charset="0"/>
              </a:rPr>
              <a:t>ls –</a:t>
            </a:r>
            <a:r>
              <a:rPr lang="en-IN" sz="2000" dirty="0" err="1">
                <a:highlight>
                  <a:srgbClr val="00FFFF"/>
                </a:highlight>
                <a:latin typeface="Times New Roman" panose="02020603050405020304" pitchFamily="18" charset="0"/>
                <a:cs typeface="Times New Roman" panose="02020603050405020304" pitchFamily="18" charset="0"/>
              </a:rPr>
              <a:t>ld</a:t>
            </a:r>
            <a:r>
              <a:rPr lang="en-IN" sz="2000" dirty="0">
                <a:highlight>
                  <a:srgbClr val="00FFFF"/>
                </a:highlight>
                <a:latin typeface="Times New Roman" panose="02020603050405020304" pitchFamily="18" charset="0"/>
                <a:cs typeface="Times New Roman" panose="02020603050405020304" pitchFamily="18" charset="0"/>
              </a:rPr>
              <a:t> /</a:t>
            </a:r>
            <a:r>
              <a:rPr lang="en-IN" sz="2000" dirty="0" err="1">
                <a:highlight>
                  <a:srgbClr val="00FFFF"/>
                </a:highlight>
                <a:latin typeface="Times New Roman" panose="02020603050405020304" pitchFamily="18" charset="0"/>
                <a:cs typeface="Times New Roman" panose="02020603050405020304" pitchFamily="18" charset="0"/>
              </a:rPr>
              <a:t>usr</a:t>
            </a:r>
            <a:r>
              <a:rPr lang="en-IN" sz="2000" dirty="0">
                <a:highlight>
                  <a:srgbClr val="00FFFF"/>
                </a:highlight>
                <a:latin typeface="Times New Roman" panose="02020603050405020304" pitchFamily="18" charset="0"/>
                <a:cs typeface="Times New Roman" panose="02020603050405020304" pitchFamily="18" charset="0"/>
              </a:rPr>
              <a:t>/bin/yum</a:t>
            </a:r>
          </a:p>
          <a:p>
            <a:r>
              <a:rPr lang="en-IN" sz="2000" dirty="0" err="1">
                <a:latin typeface="Times New Roman" panose="02020603050405020304" pitchFamily="18" charset="0"/>
                <a:cs typeface="Times New Roman" panose="02020603050405020304" pitchFamily="18" charset="0"/>
              </a:rPr>
              <a:t>rwxrwxrwx</a:t>
            </a:r>
            <a:r>
              <a:rPr lang="en-IN" sz="2000" dirty="0">
                <a:latin typeface="Times New Roman" panose="02020603050405020304" pitchFamily="18" charset="0"/>
                <a:cs typeface="Times New Roman" panose="02020603050405020304" pitchFamily="18" charset="0"/>
              </a:rPr>
              <a:t>. 1 root </a:t>
            </a:r>
            <a:r>
              <a:rPr lang="en-IN" sz="2000" dirty="0" err="1">
                <a:latin typeface="Times New Roman" panose="02020603050405020304" pitchFamily="18" charset="0"/>
                <a:cs typeface="Times New Roman" panose="02020603050405020304" pitchFamily="18" charset="0"/>
              </a:rPr>
              <a:t>root</a:t>
            </a:r>
            <a:r>
              <a:rPr lang="en-IN" sz="2000" dirty="0">
                <a:latin typeface="Times New Roman" panose="02020603050405020304" pitchFamily="18" charset="0"/>
                <a:cs typeface="Times New Roman" panose="02020603050405020304" pitchFamily="18" charset="0"/>
              </a:rPr>
              <a:t> 5 Aug  6  2024 /</a:t>
            </a:r>
            <a:r>
              <a:rPr lang="en-IN" sz="2000" dirty="0" err="1">
                <a:latin typeface="Times New Roman" panose="02020603050405020304" pitchFamily="18" charset="0"/>
                <a:cs typeface="Times New Roman" panose="02020603050405020304" pitchFamily="18" charset="0"/>
              </a:rPr>
              <a:t>usr</a:t>
            </a:r>
            <a:r>
              <a:rPr lang="en-IN" sz="2000" dirty="0">
                <a:latin typeface="Times New Roman" panose="02020603050405020304" pitchFamily="18" charset="0"/>
                <a:cs typeface="Times New Roman" panose="02020603050405020304" pitchFamily="18" charset="0"/>
              </a:rPr>
              <a:t>/bin/yum -&gt; </a:t>
            </a:r>
            <a:r>
              <a:rPr lang="en-IN" sz="2000" dirty="0">
                <a:solidFill>
                  <a:srgbClr val="FF0000"/>
                </a:solidFill>
                <a:highlight>
                  <a:srgbClr val="00FFFF"/>
                </a:highlight>
                <a:latin typeface="Times New Roman" panose="02020603050405020304" pitchFamily="18" charset="0"/>
                <a:cs typeface="Times New Roman" panose="02020603050405020304" pitchFamily="18" charset="0"/>
              </a:rPr>
              <a:t>dnf-3</a:t>
            </a:r>
          </a:p>
        </p:txBody>
      </p:sp>
      <p:sp>
        <p:nvSpPr>
          <p:cNvPr id="7" name="Rectangle 1">
            <a:extLst>
              <a:ext uri="{FF2B5EF4-FFF2-40B4-BE49-F238E27FC236}">
                <a16:creationId xmlns:a16="http://schemas.microsoft.com/office/drawing/2014/main" id="{A6D88EF7-3D7D-C58A-D9B1-0D27ABE54E4D}"/>
              </a:ext>
            </a:extLst>
          </p:cNvPr>
          <p:cNvSpPr>
            <a:spLocks noChangeArrowheads="1"/>
          </p:cNvSpPr>
          <p:nvPr/>
        </p:nvSpPr>
        <p:spPr bwMode="auto">
          <a:xfrm>
            <a:off x="3781559" y="373632"/>
            <a:ext cx="2276585" cy="553998"/>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3000" b="1" dirty="0">
                <a:solidFill>
                  <a:schemeClr val="tx1"/>
                </a:solidFill>
                <a:latin typeface="Times New Roman" panose="02020603050405020304" pitchFamily="18" charset="0"/>
                <a:cs typeface="Times New Roman" panose="02020603050405020304" pitchFamily="18" charset="0"/>
              </a:rPr>
              <a:t>y</a:t>
            </a:r>
            <a:r>
              <a:rPr kumimoji="0" lang="en-US" altLang="en-US" sz="3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um and </a:t>
            </a:r>
            <a:r>
              <a:rPr kumimoji="0" lang="en-US" altLang="en-US" sz="3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dnf</a:t>
            </a: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588704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1266F887-D444-45BB-4BA6-417A7C71F025}"/>
              </a:ext>
            </a:extLst>
          </p:cNvPr>
          <p:cNvSpPr>
            <a:spLocks noChangeArrowheads="1"/>
          </p:cNvSpPr>
          <p:nvPr/>
        </p:nvSpPr>
        <p:spPr bwMode="auto">
          <a:xfrm>
            <a:off x="437749" y="371147"/>
            <a:ext cx="8268501" cy="4401205"/>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Dependency Resolution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dnf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modern dependency resolver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libsolv</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handles complex         dependencies better.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yum can sometimes get stuck or require manual resolution in edge cases.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dnf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more efficient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especially for operations involving many packages.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uses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less memory and CPU</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compared to yum.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Package Management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dnf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supports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delta RPMs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better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history and rollback</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cleanup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unused dependencies.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yum lacks several of these features or does them less efficiently.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646446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B0FF8FEC-085A-56E0-B70A-0C96978105C9}"/>
              </a:ext>
            </a:extLst>
          </p:cNvPr>
          <p:cNvSpPr>
            <a:spLocks noChangeArrowheads="1"/>
          </p:cNvSpPr>
          <p:nvPr/>
        </p:nvSpPr>
        <p:spPr bwMode="auto">
          <a:xfrm>
            <a:off x="440266" y="1140589"/>
            <a:ext cx="8263467" cy="2862322"/>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Command Compatibility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RHEL 8+, typing yum actually runs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dnf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under the hood.</a:t>
            </a:r>
          </a:p>
          <a:p>
            <a:pPr marL="457200" lvl="1" eaLnBrk="0" fontAlgn="base" hangingPunct="0">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yum install nginx → actually runs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dnf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install nginx.</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Extensibility and Maintenance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dnf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more modular and easier to extend.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It's written in Python 3 (yum was Python 2), so it's more maintainable going forward.</a:t>
            </a:r>
          </a:p>
        </p:txBody>
      </p:sp>
    </p:spTree>
    <p:extLst>
      <p:ext uri="{BB962C8B-B14F-4D97-AF65-F5344CB8AC3E}">
        <p14:creationId xmlns:p14="http://schemas.microsoft.com/office/powerpoint/2010/main" val="327060338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D08B66C-73CD-1657-4D16-7F6F7712FFDC}"/>
              </a:ext>
            </a:extLst>
          </p:cNvPr>
          <p:cNvSpPr>
            <a:spLocks noChangeArrowheads="1"/>
          </p:cNvSpPr>
          <p:nvPr/>
        </p:nvSpPr>
        <p:spPr bwMode="auto">
          <a:xfrm>
            <a:off x="0" y="265083"/>
            <a:ext cx="184731" cy="40011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sz="2000">
              <a:latin typeface="Times New Roman" panose="02020603050405020304" pitchFamily="18" charset="0"/>
              <a:cs typeface="Times New Roman" panose="02020603050405020304" pitchFamily="18" charset="0"/>
            </a:endParaRPr>
          </a:p>
        </p:txBody>
      </p:sp>
      <p:sp>
        <p:nvSpPr>
          <p:cNvPr id="5" name="Rectangle 3">
            <a:extLst>
              <a:ext uri="{FF2B5EF4-FFF2-40B4-BE49-F238E27FC236}">
                <a16:creationId xmlns:a16="http://schemas.microsoft.com/office/drawing/2014/main" id="{28B6056B-3AFB-BDCD-FCA2-82136DE092C0}"/>
              </a:ext>
            </a:extLst>
          </p:cNvPr>
          <p:cNvSpPr>
            <a:spLocks noChangeArrowheads="1"/>
          </p:cNvSpPr>
          <p:nvPr/>
        </p:nvSpPr>
        <p:spPr bwMode="auto">
          <a:xfrm>
            <a:off x="784515" y="632758"/>
            <a:ext cx="7574969" cy="1938992"/>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One Should You 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RHEL 8 and newer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dnf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It's the default and modern replacement.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older RHEL versions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RHEL 7 or 6): You’ll still use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yum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dnf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may not be available or supported.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Rectangle 4">
            <a:extLst>
              <a:ext uri="{FF2B5EF4-FFF2-40B4-BE49-F238E27FC236}">
                <a16:creationId xmlns:a16="http://schemas.microsoft.com/office/drawing/2014/main" id="{F6AAC1D0-4ECE-1458-18EE-848250DF6B11}"/>
              </a:ext>
            </a:extLst>
          </p:cNvPr>
          <p:cNvSpPr>
            <a:spLocks noChangeArrowheads="1"/>
          </p:cNvSpPr>
          <p:nvPr/>
        </p:nvSpPr>
        <p:spPr bwMode="auto">
          <a:xfrm>
            <a:off x="0" y="738158"/>
            <a:ext cx="184731" cy="40011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568675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61696FE-EDDC-2355-D6B8-559BA4E0A47B}"/>
              </a:ext>
            </a:extLst>
          </p:cNvPr>
          <p:cNvGraphicFramePr>
            <a:graphicFrameLocks noGrp="1"/>
          </p:cNvGraphicFramePr>
          <p:nvPr>
            <p:extLst>
              <p:ext uri="{D42A27DB-BD31-4B8C-83A1-F6EECF244321}">
                <p14:modId xmlns:p14="http://schemas.microsoft.com/office/powerpoint/2010/main" val="3335344710"/>
              </p:ext>
            </p:extLst>
          </p:nvPr>
        </p:nvGraphicFramePr>
        <p:xfrm>
          <a:off x="712788" y="1931035"/>
          <a:ext cx="7718425" cy="1859280"/>
        </p:xfrm>
        <a:graphic>
          <a:graphicData uri="http://schemas.openxmlformats.org/drawingml/2006/table">
            <a:tbl>
              <a:tblPr>
                <a:tableStyleId>{3C2FFA5D-87B4-456A-9821-1D502468CF0F}</a:tableStyleId>
              </a:tblPr>
              <a:tblGrid>
                <a:gridCol w="1543685">
                  <a:extLst>
                    <a:ext uri="{9D8B030D-6E8A-4147-A177-3AD203B41FA5}">
                      <a16:colId xmlns:a16="http://schemas.microsoft.com/office/drawing/2014/main" val="95721138"/>
                    </a:ext>
                  </a:extLst>
                </a:gridCol>
                <a:gridCol w="1543685">
                  <a:extLst>
                    <a:ext uri="{9D8B030D-6E8A-4147-A177-3AD203B41FA5}">
                      <a16:colId xmlns:a16="http://schemas.microsoft.com/office/drawing/2014/main" val="3985074783"/>
                    </a:ext>
                  </a:extLst>
                </a:gridCol>
                <a:gridCol w="1543685">
                  <a:extLst>
                    <a:ext uri="{9D8B030D-6E8A-4147-A177-3AD203B41FA5}">
                      <a16:colId xmlns:a16="http://schemas.microsoft.com/office/drawing/2014/main" val="3641325458"/>
                    </a:ext>
                  </a:extLst>
                </a:gridCol>
                <a:gridCol w="1543685">
                  <a:extLst>
                    <a:ext uri="{9D8B030D-6E8A-4147-A177-3AD203B41FA5}">
                      <a16:colId xmlns:a16="http://schemas.microsoft.com/office/drawing/2014/main" val="234584725"/>
                    </a:ext>
                  </a:extLst>
                </a:gridCol>
                <a:gridCol w="1543685">
                  <a:extLst>
                    <a:ext uri="{9D8B030D-6E8A-4147-A177-3AD203B41FA5}">
                      <a16:colId xmlns:a16="http://schemas.microsoft.com/office/drawing/2014/main" val="3834533756"/>
                    </a:ext>
                  </a:extLst>
                </a:gridCol>
              </a:tblGrid>
              <a:tr h="0">
                <a:tc>
                  <a:txBody>
                    <a:bodyPr/>
                    <a:lstStyle/>
                    <a:p>
                      <a:r>
                        <a:rPr lang="en-US"/>
                        <a:t>Tool</a:t>
                      </a:r>
                    </a:p>
                  </a:txBody>
                  <a:tcPr anchor="ctr"/>
                </a:tc>
                <a:tc>
                  <a:txBody>
                    <a:bodyPr/>
                    <a:lstStyle/>
                    <a:p>
                      <a:r>
                        <a:rPr lang="en-US"/>
                        <a:t>Who is it?</a:t>
                      </a:r>
                    </a:p>
                  </a:txBody>
                  <a:tcPr anchor="ctr"/>
                </a:tc>
                <a:tc>
                  <a:txBody>
                    <a:bodyPr/>
                    <a:lstStyle/>
                    <a:p>
                      <a:r>
                        <a:rPr lang="en-US"/>
                        <a:t>Handles Dependencies?</a:t>
                      </a:r>
                    </a:p>
                  </a:txBody>
                  <a:tcPr anchor="ctr"/>
                </a:tc>
                <a:tc>
                  <a:txBody>
                    <a:bodyPr/>
                    <a:lstStyle/>
                    <a:p>
                      <a:r>
                        <a:rPr lang="en-US"/>
                        <a:t>Smart?</a:t>
                      </a:r>
                    </a:p>
                  </a:txBody>
                  <a:tcPr anchor="ctr"/>
                </a:tc>
                <a:tc>
                  <a:txBody>
                    <a:bodyPr/>
                    <a:lstStyle/>
                    <a:p>
                      <a:r>
                        <a:rPr lang="en-US"/>
                        <a:t>Used in?</a:t>
                      </a:r>
                    </a:p>
                  </a:txBody>
                  <a:tcPr anchor="ctr"/>
                </a:tc>
                <a:extLst>
                  <a:ext uri="{0D108BD9-81ED-4DB2-BD59-A6C34878D82A}">
                    <a16:rowId xmlns:a16="http://schemas.microsoft.com/office/drawing/2014/main" val="1157073553"/>
                  </a:ext>
                </a:extLst>
              </a:tr>
              <a:tr h="0">
                <a:tc>
                  <a:txBody>
                    <a:bodyPr/>
                    <a:lstStyle/>
                    <a:p>
                      <a:r>
                        <a:rPr lang="en-US" b="1" dirty="0"/>
                        <a:t>RPM</a:t>
                      </a:r>
                      <a:endParaRPr lang="en-US" dirty="0"/>
                    </a:p>
                  </a:txBody>
                  <a:tcPr anchor="ctr"/>
                </a:tc>
                <a:tc>
                  <a:txBody>
                    <a:bodyPr/>
                    <a:lstStyle/>
                    <a:p>
                      <a:r>
                        <a:rPr lang="en-US"/>
                        <a:t>Manual Guy</a:t>
                      </a:r>
                    </a:p>
                  </a:txBody>
                  <a:tcPr anchor="ctr"/>
                </a:tc>
                <a:tc>
                  <a:txBody>
                    <a:bodyPr/>
                    <a:lstStyle/>
                    <a:p>
                      <a:r>
                        <a:rPr lang="en-US" dirty="0"/>
                        <a:t>❌ No</a:t>
                      </a:r>
                    </a:p>
                  </a:txBody>
                  <a:tcPr anchor="ctr"/>
                </a:tc>
                <a:tc>
                  <a:txBody>
                    <a:bodyPr/>
                    <a:lstStyle/>
                    <a:p>
                      <a:r>
                        <a:rPr lang="en-US"/>
                        <a:t>😐 Average</a:t>
                      </a:r>
                    </a:p>
                  </a:txBody>
                  <a:tcPr anchor="ctr"/>
                </a:tc>
                <a:tc>
                  <a:txBody>
                    <a:bodyPr/>
                    <a:lstStyle/>
                    <a:p>
                      <a:r>
                        <a:rPr lang="en-US"/>
                        <a:t>All Red Hat-based systems</a:t>
                      </a:r>
                    </a:p>
                  </a:txBody>
                  <a:tcPr anchor="ctr"/>
                </a:tc>
                <a:extLst>
                  <a:ext uri="{0D108BD9-81ED-4DB2-BD59-A6C34878D82A}">
                    <a16:rowId xmlns:a16="http://schemas.microsoft.com/office/drawing/2014/main" val="149738665"/>
                  </a:ext>
                </a:extLst>
              </a:tr>
              <a:tr h="0">
                <a:tc>
                  <a:txBody>
                    <a:bodyPr/>
                    <a:lstStyle/>
                    <a:p>
                      <a:r>
                        <a:rPr lang="en-US" b="1" dirty="0"/>
                        <a:t>YUM</a:t>
                      </a:r>
                      <a:endParaRPr lang="en-US" dirty="0"/>
                    </a:p>
                  </a:txBody>
                  <a:tcPr anchor="ctr"/>
                </a:tc>
                <a:tc>
                  <a:txBody>
                    <a:bodyPr/>
                    <a:lstStyle/>
                    <a:p>
                      <a:r>
                        <a:rPr lang="en-US"/>
                        <a:t>Old Helper</a:t>
                      </a:r>
                    </a:p>
                  </a:txBody>
                  <a:tcPr anchor="ctr"/>
                </a:tc>
                <a:tc>
                  <a:txBody>
                    <a:bodyPr/>
                    <a:lstStyle/>
                    <a:p>
                      <a:r>
                        <a:rPr lang="en-US"/>
                        <a:t>✅ Yes</a:t>
                      </a:r>
                    </a:p>
                  </a:txBody>
                  <a:tcPr anchor="ctr"/>
                </a:tc>
                <a:tc>
                  <a:txBody>
                    <a:bodyPr/>
                    <a:lstStyle/>
                    <a:p>
                      <a:r>
                        <a:rPr lang="en-US"/>
                        <a:t>🙂 Good</a:t>
                      </a:r>
                    </a:p>
                  </a:txBody>
                  <a:tcPr anchor="ctr"/>
                </a:tc>
                <a:tc>
                  <a:txBody>
                    <a:bodyPr/>
                    <a:lstStyle/>
                    <a:p>
                      <a:r>
                        <a:rPr lang="en-US" dirty="0"/>
                        <a:t>RHEL 6/7</a:t>
                      </a:r>
                    </a:p>
                  </a:txBody>
                  <a:tcPr anchor="ctr"/>
                </a:tc>
                <a:extLst>
                  <a:ext uri="{0D108BD9-81ED-4DB2-BD59-A6C34878D82A}">
                    <a16:rowId xmlns:a16="http://schemas.microsoft.com/office/drawing/2014/main" val="1719497665"/>
                  </a:ext>
                </a:extLst>
              </a:tr>
              <a:tr h="0">
                <a:tc>
                  <a:txBody>
                    <a:bodyPr/>
                    <a:lstStyle/>
                    <a:p>
                      <a:r>
                        <a:rPr lang="en-US" b="1" dirty="0"/>
                        <a:t>DNF</a:t>
                      </a:r>
                      <a:endParaRPr lang="en-US" dirty="0"/>
                    </a:p>
                  </a:txBody>
                  <a:tcPr anchor="ctr"/>
                </a:tc>
                <a:tc>
                  <a:txBody>
                    <a:bodyPr/>
                    <a:lstStyle/>
                    <a:p>
                      <a:r>
                        <a:rPr lang="en-US"/>
                        <a:t>New Helper</a:t>
                      </a:r>
                    </a:p>
                  </a:txBody>
                  <a:tcPr anchor="ctr"/>
                </a:tc>
                <a:tc>
                  <a:txBody>
                    <a:bodyPr/>
                    <a:lstStyle/>
                    <a:p>
                      <a:r>
                        <a:rPr lang="en-US"/>
                        <a:t>✅ Yes</a:t>
                      </a:r>
                    </a:p>
                  </a:txBody>
                  <a:tcPr anchor="ctr"/>
                </a:tc>
                <a:tc>
                  <a:txBody>
                    <a:bodyPr/>
                    <a:lstStyle/>
                    <a:p>
                      <a:r>
                        <a:rPr lang="en-US"/>
                        <a:t>😎 Great</a:t>
                      </a:r>
                    </a:p>
                  </a:txBody>
                  <a:tcPr anchor="ctr"/>
                </a:tc>
                <a:tc>
                  <a:txBody>
                    <a:bodyPr/>
                    <a:lstStyle/>
                    <a:p>
                      <a:r>
                        <a:rPr lang="en-US" dirty="0"/>
                        <a:t>RHEL 8/9, Fedora</a:t>
                      </a:r>
                    </a:p>
                  </a:txBody>
                  <a:tcPr anchor="ctr"/>
                </a:tc>
                <a:extLst>
                  <a:ext uri="{0D108BD9-81ED-4DB2-BD59-A6C34878D82A}">
                    <a16:rowId xmlns:a16="http://schemas.microsoft.com/office/drawing/2014/main" val="275743994"/>
                  </a:ext>
                </a:extLst>
              </a:tr>
            </a:tbl>
          </a:graphicData>
        </a:graphic>
      </p:graphicFrame>
      <p:sp>
        <p:nvSpPr>
          <p:cNvPr id="4" name="Rectangle 3">
            <a:extLst>
              <a:ext uri="{FF2B5EF4-FFF2-40B4-BE49-F238E27FC236}">
                <a16:creationId xmlns:a16="http://schemas.microsoft.com/office/drawing/2014/main" id="{FCE1FDDB-756F-C7ED-F0F8-D54BF062655C}"/>
              </a:ext>
            </a:extLst>
          </p:cNvPr>
          <p:cNvSpPr>
            <a:spLocks noChangeArrowheads="1"/>
          </p:cNvSpPr>
          <p:nvPr/>
        </p:nvSpPr>
        <p:spPr bwMode="auto">
          <a:xfrm>
            <a:off x="784515" y="679823"/>
            <a:ext cx="7574969" cy="400110"/>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Difference b/w RPM, YUM, DNF</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085973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76DE7-3171-E486-99FB-4B9CC64A012F}"/>
              </a:ext>
            </a:extLst>
          </p:cNvPr>
          <p:cNvSpPr>
            <a:spLocks noGrp="1"/>
          </p:cNvSpPr>
          <p:nvPr>
            <p:ph type="title"/>
          </p:nvPr>
        </p:nvSpPr>
        <p:spPr>
          <a:xfrm>
            <a:off x="583934" y="787188"/>
            <a:ext cx="7976131" cy="572700"/>
          </a:xfrm>
        </p:spPr>
        <p:txBody>
          <a:bodyPr/>
          <a:lstStyle/>
          <a:p>
            <a:r>
              <a:rPr lang="en-US" dirty="0"/>
              <a:t>Basic Package Management Commands</a:t>
            </a:r>
          </a:p>
        </p:txBody>
      </p:sp>
      <p:sp>
        <p:nvSpPr>
          <p:cNvPr id="4" name="TextBox 3">
            <a:extLst>
              <a:ext uri="{FF2B5EF4-FFF2-40B4-BE49-F238E27FC236}">
                <a16:creationId xmlns:a16="http://schemas.microsoft.com/office/drawing/2014/main" id="{D3D9D17D-0740-CF09-0D7F-3A98AB98ED80}"/>
              </a:ext>
            </a:extLst>
          </p:cNvPr>
          <p:cNvSpPr txBox="1"/>
          <p:nvPr/>
        </p:nvSpPr>
        <p:spPr>
          <a:xfrm>
            <a:off x="720000" y="1749557"/>
            <a:ext cx="8218727" cy="1021883"/>
          </a:xfrm>
          <a:prstGeom prst="rect">
            <a:avLst/>
          </a:prstGeom>
          <a:noFill/>
        </p:spPr>
        <p:txBody>
          <a:bodyPr wrap="square">
            <a:spAutoFit/>
          </a:bodyPr>
          <a:lstStyle/>
          <a:p>
            <a:pPr>
              <a:lnSpc>
                <a:spcPct val="150000"/>
              </a:lnSpc>
            </a:pPr>
            <a:r>
              <a:rPr lang="en-US" dirty="0">
                <a:latin typeface="Lato" panose="020F0502020204030203" pitchFamily="34" charset="0"/>
                <a:cs typeface="Lato" panose="020F0502020204030203" pitchFamily="34" charset="0"/>
              </a:rPr>
              <a:t>Red Hat Family</a:t>
            </a:r>
          </a:p>
          <a:p>
            <a:pPr>
              <a:lnSpc>
                <a:spcPct val="150000"/>
              </a:lnSpc>
            </a:pPr>
            <a:r>
              <a:rPr lang="en-US" dirty="0">
                <a:highlight>
                  <a:srgbClr val="FFFF00"/>
                </a:highlight>
                <a:latin typeface="Lato" panose="020F0502020204030203" pitchFamily="34" charset="0"/>
                <a:cs typeface="Lato" panose="020F0502020204030203" pitchFamily="34" charset="0"/>
              </a:rPr>
              <a:t>sudo </a:t>
            </a:r>
            <a:r>
              <a:rPr lang="en-US" dirty="0" err="1">
                <a:highlight>
                  <a:srgbClr val="FFFF00"/>
                </a:highlight>
                <a:latin typeface="Lato" panose="020F0502020204030203" pitchFamily="34" charset="0"/>
                <a:cs typeface="Lato" panose="020F0502020204030203" pitchFamily="34" charset="0"/>
              </a:rPr>
              <a:t>dnf</a:t>
            </a:r>
            <a:r>
              <a:rPr lang="en-US" dirty="0">
                <a:highlight>
                  <a:srgbClr val="FFFF00"/>
                </a:highlight>
                <a:latin typeface="Lato" panose="020F0502020204030203" pitchFamily="34" charset="0"/>
                <a:cs typeface="Lato" panose="020F0502020204030203" pitchFamily="34" charset="0"/>
              </a:rPr>
              <a:t> update </a:t>
            </a:r>
            <a:r>
              <a:rPr lang="en-US" dirty="0">
                <a:latin typeface="Lato" panose="020F0502020204030203" pitchFamily="34" charset="0"/>
                <a:cs typeface="Lato" panose="020F0502020204030203" pitchFamily="34" charset="0"/>
              </a:rPr>
              <a:t># Updates all packages and dependencies that are already installed</a:t>
            </a:r>
          </a:p>
          <a:p>
            <a:pPr>
              <a:lnSpc>
                <a:spcPct val="150000"/>
              </a:lnSpc>
            </a:pPr>
            <a:r>
              <a:rPr lang="en-US" dirty="0">
                <a:highlight>
                  <a:srgbClr val="FFFF00"/>
                </a:highlight>
              </a:rPr>
              <a:t>sudo </a:t>
            </a:r>
            <a:r>
              <a:rPr lang="en-US" dirty="0" err="1">
                <a:highlight>
                  <a:srgbClr val="FFFF00"/>
                </a:highlight>
              </a:rPr>
              <a:t>dnf</a:t>
            </a:r>
            <a:r>
              <a:rPr lang="en-US" dirty="0">
                <a:highlight>
                  <a:srgbClr val="FFFF00"/>
                </a:highlight>
              </a:rPr>
              <a:t> install </a:t>
            </a:r>
            <a:r>
              <a:rPr lang="en-US" dirty="0" err="1">
                <a:highlight>
                  <a:srgbClr val="FFFF00"/>
                </a:highlight>
              </a:rPr>
              <a:t>epel</a:t>
            </a:r>
            <a:r>
              <a:rPr lang="en-US" dirty="0">
                <a:highlight>
                  <a:srgbClr val="FFFF00"/>
                </a:highlight>
              </a:rPr>
              <a:t>-release </a:t>
            </a:r>
            <a:r>
              <a:rPr lang="en-US" dirty="0"/>
              <a:t># It will install the extra packages that are not available in the official repo</a:t>
            </a:r>
          </a:p>
        </p:txBody>
      </p:sp>
      <p:sp>
        <p:nvSpPr>
          <p:cNvPr id="8" name="TextBox 7">
            <a:extLst>
              <a:ext uri="{FF2B5EF4-FFF2-40B4-BE49-F238E27FC236}">
                <a16:creationId xmlns:a16="http://schemas.microsoft.com/office/drawing/2014/main" id="{E0BEF894-C737-9E87-B473-A9BC56CA7D65}"/>
              </a:ext>
            </a:extLst>
          </p:cNvPr>
          <p:cNvSpPr txBox="1"/>
          <p:nvPr/>
        </p:nvSpPr>
        <p:spPr>
          <a:xfrm>
            <a:off x="719999" y="2984308"/>
            <a:ext cx="8218727" cy="692882"/>
          </a:xfrm>
          <a:prstGeom prst="rect">
            <a:avLst/>
          </a:prstGeom>
          <a:noFill/>
        </p:spPr>
        <p:txBody>
          <a:bodyPr wrap="square">
            <a:spAutoFit/>
          </a:bodyPr>
          <a:lstStyle/>
          <a:p>
            <a:pPr>
              <a:lnSpc>
                <a:spcPct val="150000"/>
              </a:lnSpc>
            </a:pPr>
            <a:r>
              <a:rPr lang="en-US" dirty="0">
                <a:latin typeface="Lato" panose="020F0502020204030203" pitchFamily="34" charset="0"/>
                <a:cs typeface="Lato" panose="020F0502020204030203" pitchFamily="34" charset="0"/>
              </a:rPr>
              <a:t>Debian Family</a:t>
            </a:r>
          </a:p>
          <a:p>
            <a:pPr>
              <a:lnSpc>
                <a:spcPct val="150000"/>
              </a:lnSpc>
            </a:pPr>
            <a:r>
              <a:rPr lang="en-US" dirty="0">
                <a:highlight>
                  <a:srgbClr val="FFFF00"/>
                </a:highlight>
                <a:latin typeface="Lato" panose="020F0502020204030203" pitchFamily="34" charset="0"/>
                <a:cs typeface="Lato" panose="020F0502020204030203" pitchFamily="34" charset="0"/>
              </a:rPr>
              <a:t>sudo apt update </a:t>
            </a:r>
            <a:r>
              <a:rPr lang="en-US" dirty="0">
                <a:latin typeface="Lato" panose="020F0502020204030203" pitchFamily="34" charset="0"/>
                <a:cs typeface="Lato" panose="020F0502020204030203" pitchFamily="34" charset="0"/>
              </a:rPr>
              <a:t># Updates all packages and dependencies that are already installed</a:t>
            </a:r>
          </a:p>
        </p:txBody>
      </p:sp>
    </p:spTree>
    <p:extLst>
      <p:ext uri="{BB962C8B-B14F-4D97-AF65-F5344CB8AC3E}">
        <p14:creationId xmlns:p14="http://schemas.microsoft.com/office/powerpoint/2010/main" val="359314969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DED4E5CB-4153-23EE-704C-A3A2BEBDA272}"/>
              </a:ext>
            </a:extLst>
          </p:cNvPr>
          <p:cNvSpPr>
            <a:spLocks noChangeArrowheads="1"/>
          </p:cNvSpPr>
          <p:nvPr/>
        </p:nvSpPr>
        <p:spPr bwMode="auto">
          <a:xfrm>
            <a:off x="880874" y="371793"/>
            <a:ext cx="6497291"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RPM (Red Hat Package Manager)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It's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low-level tool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to install .rpm files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manually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Does not handle dependencies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You must install them one by one.</a:t>
            </a:r>
          </a:p>
        </p:txBody>
      </p:sp>
      <p:sp>
        <p:nvSpPr>
          <p:cNvPr id="5" name="TextBox 4">
            <a:extLst>
              <a:ext uri="{FF2B5EF4-FFF2-40B4-BE49-F238E27FC236}">
                <a16:creationId xmlns:a16="http://schemas.microsoft.com/office/drawing/2014/main" id="{EA4BE151-8320-6E91-BBD0-DEC4BF295982}"/>
              </a:ext>
            </a:extLst>
          </p:cNvPr>
          <p:cNvSpPr txBox="1"/>
          <p:nvPr/>
        </p:nvSpPr>
        <p:spPr>
          <a:xfrm>
            <a:off x="880874" y="2568932"/>
            <a:ext cx="6060281" cy="923330"/>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sudo rpm -</a:t>
            </a:r>
            <a:r>
              <a:rPr lang="en-US" sz="1800" dirty="0" err="1">
                <a:latin typeface="Times New Roman" panose="02020603050405020304" pitchFamily="18" charset="0"/>
                <a:cs typeface="Times New Roman" panose="02020603050405020304" pitchFamily="18" charset="0"/>
              </a:rPr>
              <a:t>ivh</a:t>
            </a:r>
            <a:r>
              <a:rPr lang="en-US" sz="1800" dirty="0">
                <a:latin typeface="Times New Roman" panose="02020603050405020304" pitchFamily="18" charset="0"/>
                <a:cs typeface="Times New Roman" panose="02020603050405020304" pitchFamily="18" charset="0"/>
              </a:rPr>
              <a:t> package-</a:t>
            </a:r>
            <a:r>
              <a:rPr lang="en-US" sz="1800" dirty="0" err="1">
                <a:latin typeface="Times New Roman" panose="02020603050405020304" pitchFamily="18" charset="0"/>
                <a:cs typeface="Times New Roman" panose="02020603050405020304" pitchFamily="18" charset="0"/>
              </a:rPr>
              <a:t>name.rpm</a:t>
            </a:r>
            <a:r>
              <a:rPr lang="en-US" sz="1800" dirty="0">
                <a:latin typeface="Times New Roman" panose="02020603050405020304" pitchFamily="18" charset="0"/>
                <a:cs typeface="Times New Roman" panose="02020603050405020304" pitchFamily="18" charset="0"/>
              </a:rPr>
              <a:t>   # install</a:t>
            </a:r>
          </a:p>
          <a:p>
            <a:r>
              <a:rPr lang="en-US" sz="1800" dirty="0">
                <a:latin typeface="Times New Roman" panose="02020603050405020304" pitchFamily="18" charset="0"/>
                <a:cs typeface="Times New Roman" panose="02020603050405020304" pitchFamily="18" charset="0"/>
              </a:rPr>
              <a:t>sudo rpm -e package-name             # remove</a:t>
            </a:r>
          </a:p>
          <a:p>
            <a:r>
              <a:rPr lang="en-US" sz="1800" dirty="0">
                <a:latin typeface="Times New Roman" panose="02020603050405020304" pitchFamily="18" charset="0"/>
                <a:cs typeface="Times New Roman" panose="02020603050405020304" pitchFamily="18" charset="0"/>
              </a:rPr>
              <a:t>sudo rpm -</a:t>
            </a:r>
            <a:r>
              <a:rPr lang="en-US" sz="1800" dirty="0" err="1">
                <a:latin typeface="Times New Roman" panose="02020603050405020304" pitchFamily="18" charset="0"/>
                <a:cs typeface="Times New Roman" panose="02020603050405020304" pitchFamily="18" charset="0"/>
              </a:rPr>
              <a:t>qa</a:t>
            </a:r>
            <a:r>
              <a:rPr lang="en-US" sz="1800" dirty="0">
                <a:latin typeface="Times New Roman" panose="02020603050405020304" pitchFamily="18" charset="0"/>
                <a:cs typeface="Times New Roman" panose="02020603050405020304" pitchFamily="18" charset="0"/>
              </a:rPr>
              <a:t>                                    # list all installed packages</a:t>
            </a:r>
          </a:p>
        </p:txBody>
      </p:sp>
      <p:sp>
        <p:nvSpPr>
          <p:cNvPr id="6" name="Rectangle 2">
            <a:extLst>
              <a:ext uri="{FF2B5EF4-FFF2-40B4-BE49-F238E27FC236}">
                <a16:creationId xmlns:a16="http://schemas.microsoft.com/office/drawing/2014/main" id="{0A8944BA-DCD6-DEDA-0D52-AEBBCE62C7B1}"/>
              </a:ext>
            </a:extLst>
          </p:cNvPr>
          <p:cNvSpPr>
            <a:spLocks noChangeArrowheads="1"/>
          </p:cNvSpPr>
          <p:nvPr/>
        </p:nvSpPr>
        <p:spPr bwMode="auto">
          <a:xfrm>
            <a:off x="880874" y="1756788"/>
            <a:ext cx="144462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Example:</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7135094"/>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186B2-3563-7111-E42C-65F26EBCAA4F}"/>
              </a:ext>
            </a:extLst>
          </p:cNvPr>
          <p:cNvSpPr>
            <a:spLocks noGrp="1"/>
          </p:cNvSpPr>
          <p:nvPr>
            <p:ph type="title"/>
          </p:nvPr>
        </p:nvSpPr>
        <p:spPr>
          <a:xfrm>
            <a:off x="760413" y="2228202"/>
            <a:ext cx="3170169" cy="1031350"/>
          </a:xfrm>
        </p:spPr>
        <p:txBody>
          <a:bodyPr/>
          <a:lstStyle/>
          <a:p>
            <a:r>
              <a:rPr lang="en-US" sz="1800" b="0" dirty="0">
                <a:latin typeface="Times New Roman" panose="02020603050405020304" pitchFamily="18" charset="0"/>
                <a:cs typeface="Times New Roman" panose="02020603050405020304" pitchFamily="18" charset="0"/>
              </a:rPr>
              <a:t>sudo yum install &lt;Package&gt;</a:t>
            </a:r>
            <a:br>
              <a:rPr lang="en-US" sz="1800" b="0" dirty="0">
                <a:latin typeface="Times New Roman" panose="02020603050405020304" pitchFamily="18" charset="0"/>
                <a:cs typeface="Times New Roman" panose="02020603050405020304" pitchFamily="18" charset="0"/>
              </a:rPr>
            </a:br>
            <a:r>
              <a:rPr lang="en-US" sz="1800" b="0" dirty="0">
                <a:latin typeface="Times New Roman" panose="02020603050405020304" pitchFamily="18" charset="0"/>
                <a:cs typeface="Times New Roman" panose="02020603050405020304" pitchFamily="18" charset="0"/>
              </a:rPr>
              <a:t>sudo yum update &lt;Package&gt;</a:t>
            </a:r>
            <a:br>
              <a:rPr lang="en-US" sz="1800" b="0" dirty="0">
                <a:latin typeface="Times New Roman" panose="02020603050405020304" pitchFamily="18" charset="0"/>
                <a:cs typeface="Times New Roman" panose="02020603050405020304" pitchFamily="18" charset="0"/>
              </a:rPr>
            </a:br>
            <a:r>
              <a:rPr lang="en-US" sz="1800" b="0" dirty="0">
                <a:latin typeface="Times New Roman" panose="02020603050405020304" pitchFamily="18" charset="0"/>
                <a:cs typeface="Times New Roman" panose="02020603050405020304" pitchFamily="18" charset="0"/>
              </a:rPr>
              <a:t>sudo yum remove &lt;Package&gt;</a:t>
            </a:r>
          </a:p>
        </p:txBody>
      </p:sp>
      <p:sp>
        <p:nvSpPr>
          <p:cNvPr id="3" name="Rectangle 1">
            <a:extLst>
              <a:ext uri="{FF2B5EF4-FFF2-40B4-BE49-F238E27FC236}">
                <a16:creationId xmlns:a16="http://schemas.microsoft.com/office/drawing/2014/main" id="{71DDC452-60AB-B952-080C-741BFC93C84A}"/>
              </a:ext>
            </a:extLst>
          </p:cNvPr>
          <p:cNvSpPr>
            <a:spLocks noChangeArrowheads="1"/>
          </p:cNvSpPr>
          <p:nvPr/>
        </p:nvSpPr>
        <p:spPr bwMode="auto">
          <a:xfrm>
            <a:off x="760413" y="1856019"/>
            <a:ext cx="14446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Example</a:t>
            </a:r>
            <a:r>
              <a:rPr lang="en-US" altLang="en-US" sz="1800" dirty="0">
                <a:solidFill>
                  <a:schemeClr val="tx1"/>
                </a:solidFill>
                <a:latin typeface="Times New Roman" panose="02020603050405020304" pitchFamily="18" charset="0"/>
                <a:cs typeface="Times New Roman" panose="02020603050405020304" pitchFamily="18" charset="0"/>
              </a:rPr>
              <a:t>:</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48B1F3A-C1F8-5716-F334-E5D1DD74C5FC}"/>
              </a:ext>
            </a:extLst>
          </p:cNvPr>
          <p:cNvSpPr txBox="1"/>
          <p:nvPr/>
        </p:nvSpPr>
        <p:spPr>
          <a:xfrm>
            <a:off x="760413" y="278516"/>
            <a:ext cx="5157786" cy="123110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2️⃣ YUM (</a:t>
            </a:r>
            <a:r>
              <a:rPr lang="en-US" sz="2000" b="1" dirty="0" err="1">
                <a:latin typeface="Times New Roman" panose="02020603050405020304" pitchFamily="18" charset="0"/>
                <a:cs typeface="Times New Roman" panose="02020603050405020304" pitchFamily="18" charset="0"/>
              </a:rPr>
              <a:t>Yellowdog</a:t>
            </a:r>
            <a:r>
              <a:rPr lang="en-US" sz="2000" b="1" dirty="0">
                <a:latin typeface="Times New Roman" panose="02020603050405020304" pitchFamily="18" charset="0"/>
                <a:cs typeface="Times New Roman" panose="02020603050405020304" pitchFamily="18" charset="0"/>
              </a:rPr>
              <a:t> Updater Modified)</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High-level tool</a:t>
            </a:r>
            <a:r>
              <a:rPr lang="en-US" sz="1800" dirty="0">
                <a:latin typeface="Times New Roman" panose="02020603050405020304" pitchFamily="18" charset="0"/>
                <a:cs typeface="Times New Roman" panose="02020603050405020304" pitchFamily="18" charset="0"/>
              </a:rPr>
              <a:t> (built on RPM).</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Automatically installs required </a:t>
            </a:r>
            <a:r>
              <a:rPr lang="en-US" sz="1800" b="1" dirty="0">
                <a:latin typeface="Times New Roman" panose="02020603050405020304" pitchFamily="18" charset="0"/>
                <a:cs typeface="Times New Roman" panose="02020603050405020304" pitchFamily="18" charset="0"/>
              </a:rPr>
              <a:t>dependencies</a:t>
            </a:r>
            <a:r>
              <a:rPr lang="en-US" sz="18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Used in </a:t>
            </a:r>
            <a:r>
              <a:rPr lang="en-US" sz="1800" b="1" dirty="0">
                <a:latin typeface="Times New Roman" panose="02020603050405020304" pitchFamily="18" charset="0"/>
                <a:cs typeface="Times New Roman" panose="02020603050405020304" pitchFamily="18" charset="0"/>
              </a:rPr>
              <a:t>RHEL 6 and 7</a:t>
            </a:r>
            <a:r>
              <a:rPr lang="en-US"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60424503"/>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D649F12-8613-2940-8115-9731461E8CBE}"/>
              </a:ext>
            </a:extLst>
          </p:cNvPr>
          <p:cNvSpPr txBox="1"/>
          <p:nvPr/>
        </p:nvSpPr>
        <p:spPr>
          <a:xfrm>
            <a:off x="895350" y="306208"/>
            <a:ext cx="7146131" cy="123110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3️⃣ DNF (Dandified YUM) — ⭐ Used in RHEL 8 and 9</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Modern </a:t>
            </a:r>
            <a:r>
              <a:rPr lang="en-US" sz="1800" b="1" dirty="0" err="1">
                <a:latin typeface="Times New Roman" panose="02020603050405020304" pitchFamily="18" charset="0"/>
                <a:cs typeface="Times New Roman" panose="02020603050405020304" pitchFamily="18" charset="0"/>
              </a:rPr>
              <a:t>replaacement</a:t>
            </a:r>
            <a:r>
              <a:rPr lang="en-US" sz="1800" dirty="0">
                <a:latin typeface="Times New Roman" panose="02020603050405020304" pitchFamily="18" charset="0"/>
                <a:cs typeface="Times New Roman" panose="02020603050405020304" pitchFamily="18" charset="0"/>
              </a:rPr>
              <a:t> for YUM.</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Faster, better dependency solving, and uses less memory.</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All new RHEL systems (RHEL 8/9) use </a:t>
            </a:r>
            <a:r>
              <a:rPr lang="en-US" sz="1800" b="1" dirty="0">
                <a:latin typeface="Times New Roman" panose="02020603050405020304" pitchFamily="18" charset="0"/>
                <a:cs typeface="Times New Roman" panose="02020603050405020304" pitchFamily="18" charset="0"/>
              </a:rPr>
              <a:t>DNF</a:t>
            </a:r>
            <a:r>
              <a:rPr lang="en-US" sz="1800" dirty="0">
                <a:latin typeface="Times New Roman" panose="02020603050405020304" pitchFamily="18" charset="0"/>
                <a:cs typeface="Times New Roman" panose="02020603050405020304" pitchFamily="18" charset="0"/>
              </a:rPr>
              <a:t> instead of YUM.</a:t>
            </a:r>
          </a:p>
        </p:txBody>
      </p:sp>
      <p:sp>
        <p:nvSpPr>
          <p:cNvPr id="6" name="TextBox 5">
            <a:extLst>
              <a:ext uri="{FF2B5EF4-FFF2-40B4-BE49-F238E27FC236}">
                <a16:creationId xmlns:a16="http://schemas.microsoft.com/office/drawing/2014/main" id="{12A114E1-6667-6EB7-81DF-EEE6452D0410}"/>
              </a:ext>
            </a:extLst>
          </p:cNvPr>
          <p:cNvSpPr txBox="1"/>
          <p:nvPr/>
        </p:nvSpPr>
        <p:spPr>
          <a:xfrm>
            <a:off x="895350" y="2255662"/>
            <a:ext cx="2838450" cy="923330"/>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sudo </a:t>
            </a:r>
            <a:r>
              <a:rPr lang="en-US" sz="1800" dirty="0" err="1">
                <a:latin typeface="Times New Roman" panose="02020603050405020304" pitchFamily="18" charset="0"/>
                <a:cs typeface="Times New Roman" panose="02020603050405020304" pitchFamily="18" charset="0"/>
              </a:rPr>
              <a:t>dnf</a:t>
            </a:r>
            <a:r>
              <a:rPr lang="en-US" sz="1800" dirty="0">
                <a:latin typeface="Times New Roman" panose="02020603050405020304" pitchFamily="18" charset="0"/>
                <a:cs typeface="Times New Roman" panose="02020603050405020304" pitchFamily="18" charset="0"/>
              </a:rPr>
              <a:t> install &lt;Package&gt;</a:t>
            </a:r>
          </a:p>
          <a:p>
            <a:r>
              <a:rPr lang="en-US" sz="1800" dirty="0">
                <a:latin typeface="Times New Roman" panose="02020603050405020304" pitchFamily="18" charset="0"/>
                <a:cs typeface="Times New Roman" panose="02020603050405020304" pitchFamily="18" charset="0"/>
              </a:rPr>
              <a:t>sudo </a:t>
            </a:r>
            <a:r>
              <a:rPr lang="en-US" sz="1800" dirty="0" err="1">
                <a:latin typeface="Times New Roman" panose="02020603050405020304" pitchFamily="18" charset="0"/>
                <a:cs typeface="Times New Roman" panose="02020603050405020304" pitchFamily="18" charset="0"/>
              </a:rPr>
              <a:t>dnf</a:t>
            </a:r>
            <a:r>
              <a:rPr lang="en-US" sz="1800" dirty="0">
                <a:latin typeface="Times New Roman" panose="02020603050405020304" pitchFamily="18" charset="0"/>
                <a:cs typeface="Times New Roman" panose="02020603050405020304" pitchFamily="18" charset="0"/>
              </a:rPr>
              <a:t> update &lt;Package&gt;</a:t>
            </a:r>
          </a:p>
          <a:p>
            <a:r>
              <a:rPr lang="en-US" sz="1800" dirty="0">
                <a:latin typeface="Times New Roman" panose="02020603050405020304" pitchFamily="18" charset="0"/>
                <a:cs typeface="Times New Roman" panose="02020603050405020304" pitchFamily="18" charset="0"/>
              </a:rPr>
              <a:t>sudo </a:t>
            </a:r>
            <a:r>
              <a:rPr lang="en-US" sz="1800" dirty="0" err="1">
                <a:latin typeface="Times New Roman" panose="02020603050405020304" pitchFamily="18" charset="0"/>
                <a:cs typeface="Times New Roman" panose="02020603050405020304" pitchFamily="18" charset="0"/>
              </a:rPr>
              <a:t>dnf</a:t>
            </a:r>
            <a:r>
              <a:rPr lang="en-US" sz="1800" dirty="0">
                <a:latin typeface="Times New Roman" panose="02020603050405020304" pitchFamily="18" charset="0"/>
                <a:cs typeface="Times New Roman" panose="02020603050405020304" pitchFamily="18" charset="0"/>
              </a:rPr>
              <a:t> remove &lt;Package&gt;</a:t>
            </a:r>
          </a:p>
        </p:txBody>
      </p:sp>
      <p:sp>
        <p:nvSpPr>
          <p:cNvPr id="7" name="Rectangle 1">
            <a:extLst>
              <a:ext uri="{FF2B5EF4-FFF2-40B4-BE49-F238E27FC236}">
                <a16:creationId xmlns:a16="http://schemas.microsoft.com/office/drawing/2014/main" id="{E6C1C678-C019-0D7A-FD30-58B405CA4752}"/>
              </a:ext>
            </a:extLst>
          </p:cNvPr>
          <p:cNvSpPr>
            <a:spLocks noChangeArrowheads="1"/>
          </p:cNvSpPr>
          <p:nvPr/>
        </p:nvSpPr>
        <p:spPr bwMode="auto">
          <a:xfrm>
            <a:off x="895350" y="1804155"/>
            <a:ext cx="144462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Example:</a:t>
            </a: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7686163"/>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8F9F5-D834-23A3-F22C-0AA1855E876E}"/>
              </a:ext>
            </a:extLst>
          </p:cNvPr>
          <p:cNvSpPr>
            <a:spLocks noGrp="1"/>
          </p:cNvSpPr>
          <p:nvPr>
            <p:ph type="title"/>
          </p:nvPr>
        </p:nvSpPr>
        <p:spPr>
          <a:xfrm>
            <a:off x="1397645" y="554273"/>
            <a:ext cx="6348710" cy="572700"/>
          </a:xfrm>
        </p:spPr>
        <p:txBody>
          <a:bodyPr/>
          <a:lstStyle/>
          <a:p>
            <a:r>
              <a:rPr lang="en-US" dirty="0"/>
              <a:t>Installations of a Few Packages</a:t>
            </a:r>
          </a:p>
        </p:txBody>
      </p:sp>
      <p:grpSp>
        <p:nvGrpSpPr>
          <p:cNvPr id="14" name="Group 13">
            <a:extLst>
              <a:ext uri="{FF2B5EF4-FFF2-40B4-BE49-F238E27FC236}">
                <a16:creationId xmlns:a16="http://schemas.microsoft.com/office/drawing/2014/main" id="{128BBD75-BD59-DA03-21E7-2D08D0B130A5}"/>
              </a:ext>
            </a:extLst>
          </p:cNvPr>
          <p:cNvGrpSpPr/>
          <p:nvPr/>
        </p:nvGrpSpPr>
        <p:grpSpPr>
          <a:xfrm>
            <a:off x="1397645" y="1379567"/>
            <a:ext cx="2265796" cy="3081867"/>
            <a:chOff x="1177200" y="1442314"/>
            <a:chExt cx="2265796" cy="3081867"/>
          </a:xfrm>
        </p:grpSpPr>
        <p:sp>
          <p:nvSpPr>
            <p:cNvPr id="4" name="TextBox 3">
              <a:extLst>
                <a:ext uri="{FF2B5EF4-FFF2-40B4-BE49-F238E27FC236}">
                  <a16:creationId xmlns:a16="http://schemas.microsoft.com/office/drawing/2014/main" id="{4499844F-8F6A-D3EF-9A34-11C05A9718D3}"/>
                </a:ext>
              </a:extLst>
            </p:cNvPr>
            <p:cNvSpPr txBox="1"/>
            <p:nvPr/>
          </p:nvSpPr>
          <p:spPr>
            <a:xfrm>
              <a:off x="1177200" y="1833086"/>
              <a:ext cx="2135167" cy="738664"/>
            </a:xfrm>
            <a:prstGeom prst="rect">
              <a:avLst/>
            </a:prstGeom>
            <a:noFill/>
          </p:spPr>
          <p:txBody>
            <a:bodyPr wrap="square">
              <a:spAutoFit/>
            </a:bodyPr>
            <a:lstStyle/>
            <a:p>
              <a:r>
                <a:rPr lang="en-US" dirty="0"/>
                <a:t>sudo </a:t>
              </a:r>
              <a:r>
                <a:rPr lang="en-US" dirty="0" err="1"/>
                <a:t>dnf</a:t>
              </a:r>
              <a:r>
                <a:rPr lang="en-US" dirty="0"/>
                <a:t> install </a:t>
              </a:r>
              <a:r>
                <a:rPr lang="en-US" dirty="0" err="1"/>
                <a:t>htop</a:t>
              </a:r>
              <a:endParaRPr lang="en-US" dirty="0"/>
            </a:p>
            <a:p>
              <a:r>
                <a:rPr lang="en-US" dirty="0"/>
                <a:t>sudo </a:t>
              </a:r>
              <a:r>
                <a:rPr lang="en-US" dirty="0" err="1"/>
                <a:t>dnf</a:t>
              </a:r>
              <a:r>
                <a:rPr lang="en-US" dirty="0"/>
                <a:t> install </a:t>
              </a:r>
              <a:r>
                <a:rPr lang="en-US" dirty="0" err="1"/>
                <a:t>fastfetch</a:t>
              </a:r>
              <a:endParaRPr lang="en-US" dirty="0"/>
            </a:p>
            <a:p>
              <a:r>
                <a:rPr lang="en-US" dirty="0"/>
                <a:t>sudo </a:t>
              </a:r>
              <a:r>
                <a:rPr lang="en-US" dirty="0" err="1"/>
                <a:t>dnf</a:t>
              </a:r>
              <a:r>
                <a:rPr lang="en-US" dirty="0"/>
                <a:t> install </a:t>
              </a:r>
              <a:r>
                <a:rPr lang="en-US" dirty="0" err="1"/>
                <a:t>vlc</a:t>
              </a:r>
              <a:endParaRPr lang="en-US" dirty="0"/>
            </a:p>
          </p:txBody>
        </p:sp>
        <p:sp>
          <p:nvSpPr>
            <p:cNvPr id="6" name="TextBox 5">
              <a:extLst>
                <a:ext uri="{FF2B5EF4-FFF2-40B4-BE49-F238E27FC236}">
                  <a16:creationId xmlns:a16="http://schemas.microsoft.com/office/drawing/2014/main" id="{B5AD25FB-E6D7-4AA1-E2CA-B86879199B9E}"/>
                </a:ext>
              </a:extLst>
            </p:cNvPr>
            <p:cNvSpPr txBox="1"/>
            <p:nvPr/>
          </p:nvSpPr>
          <p:spPr>
            <a:xfrm>
              <a:off x="1177200" y="3785517"/>
              <a:ext cx="2265796" cy="738664"/>
            </a:xfrm>
            <a:prstGeom prst="rect">
              <a:avLst/>
            </a:prstGeom>
            <a:noFill/>
          </p:spPr>
          <p:txBody>
            <a:bodyPr wrap="square">
              <a:spAutoFit/>
            </a:bodyPr>
            <a:lstStyle/>
            <a:p>
              <a:r>
                <a:rPr lang="en-US" dirty="0"/>
                <a:t>sudo </a:t>
              </a:r>
              <a:r>
                <a:rPr lang="en-US" dirty="0" err="1"/>
                <a:t>dnf</a:t>
              </a:r>
              <a:r>
                <a:rPr lang="en-US" dirty="0"/>
                <a:t> remove </a:t>
              </a:r>
              <a:r>
                <a:rPr lang="en-US" dirty="0" err="1"/>
                <a:t>htop</a:t>
              </a:r>
              <a:endParaRPr lang="en-US" dirty="0"/>
            </a:p>
            <a:p>
              <a:r>
                <a:rPr lang="en-US" dirty="0"/>
                <a:t>sudo </a:t>
              </a:r>
              <a:r>
                <a:rPr lang="en-US" dirty="0" err="1"/>
                <a:t>dnf</a:t>
              </a:r>
              <a:r>
                <a:rPr lang="en-US" dirty="0"/>
                <a:t> remove </a:t>
              </a:r>
              <a:r>
                <a:rPr lang="en-US" dirty="0" err="1"/>
                <a:t>fastfetch</a:t>
              </a:r>
              <a:endParaRPr lang="en-US" dirty="0"/>
            </a:p>
            <a:p>
              <a:r>
                <a:rPr lang="en-US" dirty="0"/>
                <a:t>sudo </a:t>
              </a:r>
              <a:r>
                <a:rPr lang="en-US" dirty="0" err="1"/>
                <a:t>dnf</a:t>
              </a:r>
              <a:r>
                <a:rPr lang="en-US" dirty="0"/>
                <a:t> remove </a:t>
              </a:r>
              <a:r>
                <a:rPr lang="en-US" dirty="0" err="1"/>
                <a:t>vlc</a:t>
              </a:r>
              <a:endParaRPr lang="en-US" dirty="0"/>
            </a:p>
          </p:txBody>
        </p:sp>
        <p:sp>
          <p:nvSpPr>
            <p:cNvPr id="7" name="TextBox 6">
              <a:extLst>
                <a:ext uri="{FF2B5EF4-FFF2-40B4-BE49-F238E27FC236}">
                  <a16:creationId xmlns:a16="http://schemas.microsoft.com/office/drawing/2014/main" id="{0AFFF81F-006B-5649-CDFE-E2D88B2EC595}"/>
                </a:ext>
              </a:extLst>
            </p:cNvPr>
            <p:cNvSpPr txBox="1"/>
            <p:nvPr/>
          </p:nvSpPr>
          <p:spPr>
            <a:xfrm>
              <a:off x="1177200" y="2770210"/>
              <a:ext cx="2265796" cy="738664"/>
            </a:xfrm>
            <a:prstGeom prst="rect">
              <a:avLst/>
            </a:prstGeom>
            <a:noFill/>
          </p:spPr>
          <p:txBody>
            <a:bodyPr wrap="square">
              <a:spAutoFit/>
            </a:bodyPr>
            <a:lstStyle/>
            <a:p>
              <a:r>
                <a:rPr lang="en-US" dirty="0"/>
                <a:t>sudo </a:t>
              </a:r>
              <a:r>
                <a:rPr lang="en-US" dirty="0" err="1"/>
                <a:t>dnf</a:t>
              </a:r>
              <a:r>
                <a:rPr lang="en-US" dirty="0"/>
                <a:t> update </a:t>
              </a:r>
              <a:r>
                <a:rPr lang="en-US" dirty="0" err="1"/>
                <a:t>htop</a:t>
              </a:r>
              <a:endParaRPr lang="en-US" dirty="0"/>
            </a:p>
            <a:p>
              <a:r>
                <a:rPr lang="en-US" dirty="0"/>
                <a:t>sudo </a:t>
              </a:r>
              <a:r>
                <a:rPr lang="en-US" dirty="0" err="1"/>
                <a:t>dnf</a:t>
              </a:r>
              <a:r>
                <a:rPr lang="en-US" dirty="0"/>
                <a:t> update </a:t>
              </a:r>
              <a:r>
                <a:rPr lang="en-US" dirty="0" err="1"/>
                <a:t>fastfetch</a:t>
              </a:r>
              <a:endParaRPr lang="en-US" dirty="0"/>
            </a:p>
            <a:p>
              <a:r>
                <a:rPr lang="en-US" dirty="0"/>
                <a:t>sudo </a:t>
              </a:r>
              <a:r>
                <a:rPr lang="en-US" dirty="0" err="1"/>
                <a:t>dnf</a:t>
              </a:r>
              <a:r>
                <a:rPr lang="en-US" dirty="0"/>
                <a:t> update </a:t>
              </a:r>
              <a:r>
                <a:rPr lang="en-US" dirty="0" err="1"/>
                <a:t>vlc</a:t>
              </a:r>
              <a:endParaRPr lang="en-US" dirty="0"/>
            </a:p>
          </p:txBody>
        </p:sp>
        <p:sp>
          <p:nvSpPr>
            <p:cNvPr id="9" name="TextBox 8">
              <a:extLst>
                <a:ext uri="{FF2B5EF4-FFF2-40B4-BE49-F238E27FC236}">
                  <a16:creationId xmlns:a16="http://schemas.microsoft.com/office/drawing/2014/main" id="{EAF752A8-2542-0246-8AE8-DBCCBA46ACE3}"/>
                </a:ext>
              </a:extLst>
            </p:cNvPr>
            <p:cNvSpPr txBox="1"/>
            <p:nvPr/>
          </p:nvSpPr>
          <p:spPr>
            <a:xfrm>
              <a:off x="1397645" y="1442314"/>
              <a:ext cx="1441579" cy="307777"/>
            </a:xfrm>
            <a:prstGeom prst="rect">
              <a:avLst/>
            </a:prstGeom>
            <a:noFill/>
          </p:spPr>
          <p:txBody>
            <a:bodyPr wrap="square">
              <a:spAutoFit/>
            </a:bodyPr>
            <a:lstStyle/>
            <a:p>
              <a:r>
                <a:rPr lang="en-US" dirty="0"/>
                <a:t>Red Hat Family</a:t>
              </a:r>
            </a:p>
          </p:txBody>
        </p:sp>
      </p:grpSp>
      <p:grpSp>
        <p:nvGrpSpPr>
          <p:cNvPr id="15" name="Group 14">
            <a:extLst>
              <a:ext uri="{FF2B5EF4-FFF2-40B4-BE49-F238E27FC236}">
                <a16:creationId xmlns:a16="http://schemas.microsoft.com/office/drawing/2014/main" id="{BDDBEE02-F838-C0D7-22F4-F1DE7AAB2940}"/>
              </a:ext>
            </a:extLst>
          </p:cNvPr>
          <p:cNvGrpSpPr/>
          <p:nvPr/>
        </p:nvGrpSpPr>
        <p:grpSpPr>
          <a:xfrm>
            <a:off x="5611190" y="1377379"/>
            <a:ext cx="2265796" cy="3046020"/>
            <a:chOff x="6041559" y="1370918"/>
            <a:chExt cx="2265796" cy="3046020"/>
          </a:xfrm>
        </p:grpSpPr>
        <p:sp>
          <p:nvSpPr>
            <p:cNvPr id="10" name="TextBox 9">
              <a:extLst>
                <a:ext uri="{FF2B5EF4-FFF2-40B4-BE49-F238E27FC236}">
                  <a16:creationId xmlns:a16="http://schemas.microsoft.com/office/drawing/2014/main" id="{285F39F6-96A0-4DAF-02F9-DAE99C312CB7}"/>
                </a:ext>
              </a:extLst>
            </p:cNvPr>
            <p:cNvSpPr txBox="1"/>
            <p:nvPr/>
          </p:nvSpPr>
          <p:spPr>
            <a:xfrm>
              <a:off x="6231294" y="1370918"/>
              <a:ext cx="1441579" cy="307777"/>
            </a:xfrm>
            <a:prstGeom prst="rect">
              <a:avLst/>
            </a:prstGeom>
            <a:noFill/>
          </p:spPr>
          <p:txBody>
            <a:bodyPr wrap="square">
              <a:spAutoFit/>
            </a:bodyPr>
            <a:lstStyle/>
            <a:p>
              <a:r>
                <a:rPr lang="en-US" dirty="0"/>
                <a:t>Debian Family</a:t>
              </a:r>
            </a:p>
          </p:txBody>
        </p:sp>
        <p:sp>
          <p:nvSpPr>
            <p:cNvPr id="11" name="TextBox 10">
              <a:extLst>
                <a:ext uri="{FF2B5EF4-FFF2-40B4-BE49-F238E27FC236}">
                  <a16:creationId xmlns:a16="http://schemas.microsoft.com/office/drawing/2014/main" id="{41708540-5D51-CBCF-275F-70B8328F969B}"/>
                </a:ext>
              </a:extLst>
            </p:cNvPr>
            <p:cNvSpPr txBox="1"/>
            <p:nvPr/>
          </p:nvSpPr>
          <p:spPr>
            <a:xfrm>
              <a:off x="6041559" y="1725843"/>
              <a:ext cx="2135167" cy="738664"/>
            </a:xfrm>
            <a:prstGeom prst="rect">
              <a:avLst/>
            </a:prstGeom>
            <a:noFill/>
          </p:spPr>
          <p:txBody>
            <a:bodyPr wrap="square">
              <a:spAutoFit/>
            </a:bodyPr>
            <a:lstStyle/>
            <a:p>
              <a:r>
                <a:rPr lang="en-US" dirty="0"/>
                <a:t>sudo apt install </a:t>
              </a:r>
              <a:r>
                <a:rPr lang="en-US" dirty="0" err="1"/>
                <a:t>htop</a:t>
              </a:r>
              <a:endParaRPr lang="en-US" dirty="0"/>
            </a:p>
            <a:p>
              <a:r>
                <a:rPr lang="en-US" dirty="0"/>
                <a:t>sudo apt install </a:t>
              </a:r>
              <a:r>
                <a:rPr lang="en-US" dirty="0" err="1"/>
                <a:t>fastfetch</a:t>
              </a:r>
              <a:endParaRPr lang="en-US" dirty="0"/>
            </a:p>
            <a:p>
              <a:r>
                <a:rPr lang="en-US" dirty="0"/>
                <a:t>sudo apt install </a:t>
              </a:r>
              <a:r>
                <a:rPr lang="en-US" dirty="0" err="1"/>
                <a:t>vlc</a:t>
              </a:r>
              <a:endParaRPr lang="en-US" dirty="0"/>
            </a:p>
          </p:txBody>
        </p:sp>
        <p:sp>
          <p:nvSpPr>
            <p:cNvPr id="12" name="TextBox 11">
              <a:extLst>
                <a:ext uri="{FF2B5EF4-FFF2-40B4-BE49-F238E27FC236}">
                  <a16:creationId xmlns:a16="http://schemas.microsoft.com/office/drawing/2014/main" id="{01698C6E-550D-969F-26BF-00D9E2AECD46}"/>
                </a:ext>
              </a:extLst>
            </p:cNvPr>
            <p:cNvSpPr txBox="1"/>
            <p:nvPr/>
          </p:nvSpPr>
          <p:spPr>
            <a:xfrm>
              <a:off x="6041559" y="3678274"/>
              <a:ext cx="2265796" cy="738664"/>
            </a:xfrm>
            <a:prstGeom prst="rect">
              <a:avLst/>
            </a:prstGeom>
            <a:noFill/>
          </p:spPr>
          <p:txBody>
            <a:bodyPr wrap="square">
              <a:spAutoFit/>
            </a:bodyPr>
            <a:lstStyle/>
            <a:p>
              <a:r>
                <a:rPr lang="en-US" dirty="0"/>
                <a:t>sudo apt remove </a:t>
              </a:r>
              <a:r>
                <a:rPr lang="en-US" dirty="0" err="1"/>
                <a:t>htop</a:t>
              </a:r>
              <a:endParaRPr lang="en-US" dirty="0"/>
            </a:p>
            <a:p>
              <a:r>
                <a:rPr lang="en-US" dirty="0"/>
                <a:t>sudo apt remove </a:t>
              </a:r>
              <a:r>
                <a:rPr lang="en-US" dirty="0" err="1"/>
                <a:t>fastfetch</a:t>
              </a:r>
              <a:endParaRPr lang="en-US" dirty="0"/>
            </a:p>
            <a:p>
              <a:r>
                <a:rPr lang="en-US" dirty="0"/>
                <a:t>sudo apt remove </a:t>
              </a:r>
              <a:r>
                <a:rPr lang="en-US" dirty="0" err="1"/>
                <a:t>vlc</a:t>
              </a:r>
              <a:endParaRPr lang="en-US" dirty="0"/>
            </a:p>
          </p:txBody>
        </p:sp>
        <p:sp>
          <p:nvSpPr>
            <p:cNvPr id="13" name="TextBox 12">
              <a:extLst>
                <a:ext uri="{FF2B5EF4-FFF2-40B4-BE49-F238E27FC236}">
                  <a16:creationId xmlns:a16="http://schemas.microsoft.com/office/drawing/2014/main" id="{53D40D15-82C5-565B-2369-2B5692E5DAF5}"/>
                </a:ext>
              </a:extLst>
            </p:cNvPr>
            <p:cNvSpPr txBox="1"/>
            <p:nvPr/>
          </p:nvSpPr>
          <p:spPr>
            <a:xfrm>
              <a:off x="6041559" y="2662967"/>
              <a:ext cx="2265796" cy="738664"/>
            </a:xfrm>
            <a:prstGeom prst="rect">
              <a:avLst/>
            </a:prstGeom>
            <a:noFill/>
          </p:spPr>
          <p:txBody>
            <a:bodyPr wrap="square">
              <a:spAutoFit/>
            </a:bodyPr>
            <a:lstStyle/>
            <a:p>
              <a:r>
                <a:rPr lang="en-US" dirty="0"/>
                <a:t>sudo apt update </a:t>
              </a:r>
              <a:r>
                <a:rPr lang="en-US" dirty="0" err="1"/>
                <a:t>htop</a:t>
              </a:r>
              <a:endParaRPr lang="en-US" dirty="0"/>
            </a:p>
            <a:p>
              <a:r>
                <a:rPr lang="en-US" dirty="0"/>
                <a:t>sudo apt update </a:t>
              </a:r>
              <a:r>
                <a:rPr lang="en-US" dirty="0" err="1"/>
                <a:t>fastfetch</a:t>
              </a:r>
              <a:endParaRPr lang="en-US" dirty="0"/>
            </a:p>
            <a:p>
              <a:r>
                <a:rPr lang="en-US" dirty="0"/>
                <a:t>sudo apt update </a:t>
              </a:r>
              <a:r>
                <a:rPr lang="en-US" dirty="0" err="1"/>
                <a:t>vlc</a:t>
              </a:r>
              <a:endParaRPr lang="en-US" dirty="0"/>
            </a:p>
          </p:txBody>
        </p:sp>
      </p:grpSp>
    </p:spTree>
    <p:extLst>
      <p:ext uri="{BB962C8B-B14F-4D97-AF65-F5344CB8AC3E}">
        <p14:creationId xmlns:p14="http://schemas.microsoft.com/office/powerpoint/2010/main" val="19720288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27814-D46B-987A-BC2E-CD59A1B27D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83D32-7D88-3CB4-05BE-9F86F49974FD}"/>
              </a:ext>
            </a:extLst>
          </p:cNvPr>
          <p:cNvSpPr>
            <a:spLocks noGrp="1"/>
          </p:cNvSpPr>
          <p:nvPr>
            <p:ph type="title"/>
          </p:nvPr>
        </p:nvSpPr>
        <p:spPr>
          <a:xfrm>
            <a:off x="1397645" y="554273"/>
            <a:ext cx="6348710" cy="572700"/>
          </a:xfrm>
        </p:spPr>
        <p:txBody>
          <a:bodyPr/>
          <a:lstStyle/>
          <a:p>
            <a:r>
              <a:rPr lang="en-US" dirty="0"/>
              <a:t>Installations of a Few Packages</a:t>
            </a:r>
          </a:p>
        </p:txBody>
      </p:sp>
      <p:grpSp>
        <p:nvGrpSpPr>
          <p:cNvPr id="14" name="Group 13">
            <a:extLst>
              <a:ext uri="{FF2B5EF4-FFF2-40B4-BE49-F238E27FC236}">
                <a16:creationId xmlns:a16="http://schemas.microsoft.com/office/drawing/2014/main" id="{DC89E69B-663F-863A-9BAC-FD1505C0FF51}"/>
              </a:ext>
            </a:extLst>
          </p:cNvPr>
          <p:cNvGrpSpPr/>
          <p:nvPr/>
        </p:nvGrpSpPr>
        <p:grpSpPr>
          <a:xfrm>
            <a:off x="1397645" y="1399982"/>
            <a:ext cx="3071718" cy="1412809"/>
            <a:chOff x="1177200" y="1462729"/>
            <a:chExt cx="3071718" cy="1412809"/>
          </a:xfrm>
        </p:grpSpPr>
        <p:sp>
          <p:nvSpPr>
            <p:cNvPr id="4" name="TextBox 3">
              <a:extLst>
                <a:ext uri="{FF2B5EF4-FFF2-40B4-BE49-F238E27FC236}">
                  <a16:creationId xmlns:a16="http://schemas.microsoft.com/office/drawing/2014/main" id="{861D3D4A-C8DF-8EB6-C0DC-B25136AB36D5}"/>
                </a:ext>
              </a:extLst>
            </p:cNvPr>
            <p:cNvSpPr txBox="1"/>
            <p:nvPr/>
          </p:nvSpPr>
          <p:spPr>
            <a:xfrm>
              <a:off x="1177200" y="1833086"/>
              <a:ext cx="2950420" cy="307777"/>
            </a:xfrm>
            <a:prstGeom prst="rect">
              <a:avLst/>
            </a:prstGeom>
            <a:noFill/>
          </p:spPr>
          <p:txBody>
            <a:bodyPr wrap="square">
              <a:spAutoFit/>
            </a:bodyPr>
            <a:lstStyle/>
            <a:p>
              <a:r>
                <a:rPr lang="en-US" dirty="0"/>
                <a:t>sudo </a:t>
              </a:r>
              <a:r>
                <a:rPr lang="en-US" dirty="0" err="1"/>
                <a:t>dnf</a:t>
              </a:r>
              <a:r>
                <a:rPr lang="en-US" dirty="0"/>
                <a:t> install </a:t>
              </a:r>
              <a:r>
                <a:rPr lang="en-US" dirty="0" err="1"/>
                <a:t>htop</a:t>
              </a:r>
              <a:r>
                <a:rPr lang="en-US" dirty="0"/>
                <a:t> </a:t>
              </a:r>
              <a:r>
                <a:rPr lang="en-US" dirty="0" err="1"/>
                <a:t>fastfetch</a:t>
              </a:r>
              <a:r>
                <a:rPr lang="en-US" dirty="0"/>
                <a:t> </a:t>
              </a:r>
              <a:r>
                <a:rPr lang="en-US" dirty="0" err="1"/>
                <a:t>vlc</a:t>
              </a:r>
              <a:endParaRPr lang="en-US" dirty="0"/>
            </a:p>
          </p:txBody>
        </p:sp>
        <p:sp>
          <p:nvSpPr>
            <p:cNvPr id="6" name="TextBox 5">
              <a:extLst>
                <a:ext uri="{FF2B5EF4-FFF2-40B4-BE49-F238E27FC236}">
                  <a16:creationId xmlns:a16="http://schemas.microsoft.com/office/drawing/2014/main" id="{DAD01E3A-9674-EE25-4E0C-027770B1F053}"/>
                </a:ext>
              </a:extLst>
            </p:cNvPr>
            <p:cNvSpPr txBox="1"/>
            <p:nvPr/>
          </p:nvSpPr>
          <p:spPr>
            <a:xfrm>
              <a:off x="1177200" y="2567761"/>
              <a:ext cx="3071718" cy="307777"/>
            </a:xfrm>
            <a:prstGeom prst="rect">
              <a:avLst/>
            </a:prstGeom>
            <a:noFill/>
          </p:spPr>
          <p:txBody>
            <a:bodyPr wrap="square">
              <a:spAutoFit/>
            </a:bodyPr>
            <a:lstStyle/>
            <a:p>
              <a:r>
                <a:rPr lang="en-US" dirty="0"/>
                <a:t>sudo </a:t>
              </a:r>
              <a:r>
                <a:rPr lang="en-US" dirty="0" err="1"/>
                <a:t>dnf</a:t>
              </a:r>
              <a:r>
                <a:rPr lang="en-US" dirty="0"/>
                <a:t> remove </a:t>
              </a:r>
              <a:r>
                <a:rPr lang="en-US" dirty="0" err="1"/>
                <a:t>htop</a:t>
              </a:r>
              <a:r>
                <a:rPr lang="en-US" dirty="0"/>
                <a:t> </a:t>
              </a:r>
              <a:r>
                <a:rPr lang="en-US" dirty="0" err="1"/>
                <a:t>fastfetch</a:t>
              </a:r>
              <a:r>
                <a:rPr lang="en-US" dirty="0"/>
                <a:t> </a:t>
              </a:r>
              <a:r>
                <a:rPr lang="en-US" dirty="0" err="1"/>
                <a:t>vlc</a:t>
              </a:r>
              <a:endParaRPr lang="en-US" dirty="0"/>
            </a:p>
          </p:txBody>
        </p:sp>
        <p:sp>
          <p:nvSpPr>
            <p:cNvPr id="7" name="TextBox 6">
              <a:extLst>
                <a:ext uri="{FF2B5EF4-FFF2-40B4-BE49-F238E27FC236}">
                  <a16:creationId xmlns:a16="http://schemas.microsoft.com/office/drawing/2014/main" id="{AE74C63D-F010-3632-5841-F991644DB481}"/>
                </a:ext>
              </a:extLst>
            </p:cNvPr>
            <p:cNvSpPr txBox="1"/>
            <p:nvPr/>
          </p:nvSpPr>
          <p:spPr>
            <a:xfrm>
              <a:off x="1177200" y="2239568"/>
              <a:ext cx="2950420" cy="307777"/>
            </a:xfrm>
            <a:prstGeom prst="rect">
              <a:avLst/>
            </a:prstGeom>
            <a:noFill/>
          </p:spPr>
          <p:txBody>
            <a:bodyPr wrap="square">
              <a:spAutoFit/>
            </a:bodyPr>
            <a:lstStyle/>
            <a:p>
              <a:r>
                <a:rPr lang="en-US" dirty="0"/>
                <a:t>sudo </a:t>
              </a:r>
              <a:r>
                <a:rPr lang="en-US" dirty="0" err="1"/>
                <a:t>dnf</a:t>
              </a:r>
              <a:r>
                <a:rPr lang="en-US" dirty="0"/>
                <a:t> update </a:t>
              </a:r>
              <a:r>
                <a:rPr lang="en-US" dirty="0" err="1"/>
                <a:t>htop</a:t>
              </a:r>
              <a:r>
                <a:rPr lang="en-US" dirty="0"/>
                <a:t> </a:t>
              </a:r>
              <a:r>
                <a:rPr lang="en-US" dirty="0" err="1"/>
                <a:t>fastfetch</a:t>
              </a:r>
              <a:r>
                <a:rPr lang="en-US" dirty="0"/>
                <a:t> </a:t>
              </a:r>
              <a:r>
                <a:rPr lang="en-US" dirty="0" err="1"/>
                <a:t>vlc</a:t>
              </a:r>
              <a:endParaRPr lang="en-US" dirty="0"/>
            </a:p>
          </p:txBody>
        </p:sp>
        <p:sp>
          <p:nvSpPr>
            <p:cNvPr id="9" name="TextBox 8">
              <a:extLst>
                <a:ext uri="{FF2B5EF4-FFF2-40B4-BE49-F238E27FC236}">
                  <a16:creationId xmlns:a16="http://schemas.microsoft.com/office/drawing/2014/main" id="{56175C59-8E65-3243-352E-989B48494BBD}"/>
                </a:ext>
              </a:extLst>
            </p:cNvPr>
            <p:cNvSpPr txBox="1"/>
            <p:nvPr/>
          </p:nvSpPr>
          <p:spPr>
            <a:xfrm>
              <a:off x="1836184" y="1462729"/>
              <a:ext cx="1441579" cy="307777"/>
            </a:xfrm>
            <a:prstGeom prst="rect">
              <a:avLst/>
            </a:prstGeom>
            <a:noFill/>
          </p:spPr>
          <p:txBody>
            <a:bodyPr wrap="square">
              <a:spAutoFit/>
            </a:bodyPr>
            <a:lstStyle/>
            <a:p>
              <a:r>
                <a:rPr lang="en-US" dirty="0"/>
                <a:t>Red Hat Family</a:t>
              </a:r>
            </a:p>
          </p:txBody>
        </p:sp>
      </p:grpSp>
      <p:grpSp>
        <p:nvGrpSpPr>
          <p:cNvPr id="3" name="Group 2">
            <a:extLst>
              <a:ext uri="{FF2B5EF4-FFF2-40B4-BE49-F238E27FC236}">
                <a16:creationId xmlns:a16="http://schemas.microsoft.com/office/drawing/2014/main" id="{DEE89F73-02F3-7FA5-B928-B7513D78FA19}"/>
              </a:ext>
            </a:extLst>
          </p:cNvPr>
          <p:cNvGrpSpPr/>
          <p:nvPr/>
        </p:nvGrpSpPr>
        <p:grpSpPr>
          <a:xfrm>
            <a:off x="5049025" y="1373246"/>
            <a:ext cx="3071718" cy="1398380"/>
            <a:chOff x="1177200" y="1435993"/>
            <a:chExt cx="3071718" cy="1398380"/>
          </a:xfrm>
        </p:grpSpPr>
        <p:sp>
          <p:nvSpPr>
            <p:cNvPr id="5" name="TextBox 4">
              <a:extLst>
                <a:ext uri="{FF2B5EF4-FFF2-40B4-BE49-F238E27FC236}">
                  <a16:creationId xmlns:a16="http://schemas.microsoft.com/office/drawing/2014/main" id="{A70C3C9F-3394-C53C-A351-8D8A3CA560F8}"/>
                </a:ext>
              </a:extLst>
            </p:cNvPr>
            <p:cNvSpPr txBox="1"/>
            <p:nvPr/>
          </p:nvSpPr>
          <p:spPr>
            <a:xfrm>
              <a:off x="1177200" y="1833086"/>
              <a:ext cx="2950420" cy="307777"/>
            </a:xfrm>
            <a:prstGeom prst="rect">
              <a:avLst/>
            </a:prstGeom>
            <a:noFill/>
          </p:spPr>
          <p:txBody>
            <a:bodyPr wrap="square">
              <a:spAutoFit/>
            </a:bodyPr>
            <a:lstStyle/>
            <a:p>
              <a:r>
                <a:rPr lang="en-US" dirty="0"/>
                <a:t>sudo apt install </a:t>
              </a:r>
              <a:r>
                <a:rPr lang="en-US" dirty="0" err="1"/>
                <a:t>htop</a:t>
              </a:r>
              <a:r>
                <a:rPr lang="en-US" dirty="0"/>
                <a:t> </a:t>
              </a:r>
              <a:r>
                <a:rPr lang="en-US" dirty="0" err="1"/>
                <a:t>fastfetch</a:t>
              </a:r>
              <a:r>
                <a:rPr lang="en-US" dirty="0"/>
                <a:t> </a:t>
              </a:r>
              <a:r>
                <a:rPr lang="en-US" dirty="0" err="1"/>
                <a:t>vlc</a:t>
              </a:r>
              <a:endParaRPr lang="en-US" dirty="0"/>
            </a:p>
          </p:txBody>
        </p:sp>
        <p:sp>
          <p:nvSpPr>
            <p:cNvPr id="8" name="TextBox 7">
              <a:extLst>
                <a:ext uri="{FF2B5EF4-FFF2-40B4-BE49-F238E27FC236}">
                  <a16:creationId xmlns:a16="http://schemas.microsoft.com/office/drawing/2014/main" id="{B7407B10-2F1C-7899-F6BC-4DAA4D84772A}"/>
                </a:ext>
              </a:extLst>
            </p:cNvPr>
            <p:cNvSpPr txBox="1"/>
            <p:nvPr/>
          </p:nvSpPr>
          <p:spPr>
            <a:xfrm>
              <a:off x="1177200" y="2526596"/>
              <a:ext cx="3071718" cy="307777"/>
            </a:xfrm>
            <a:prstGeom prst="rect">
              <a:avLst/>
            </a:prstGeom>
            <a:noFill/>
          </p:spPr>
          <p:txBody>
            <a:bodyPr wrap="square">
              <a:spAutoFit/>
            </a:bodyPr>
            <a:lstStyle/>
            <a:p>
              <a:r>
                <a:rPr lang="en-US" dirty="0"/>
                <a:t>sudo apt remove </a:t>
              </a:r>
              <a:r>
                <a:rPr lang="en-US" dirty="0" err="1"/>
                <a:t>htop</a:t>
              </a:r>
              <a:r>
                <a:rPr lang="en-US" dirty="0"/>
                <a:t> </a:t>
              </a:r>
              <a:r>
                <a:rPr lang="en-US" dirty="0" err="1"/>
                <a:t>fastfetch</a:t>
              </a:r>
              <a:r>
                <a:rPr lang="en-US" dirty="0"/>
                <a:t> </a:t>
              </a:r>
              <a:r>
                <a:rPr lang="en-US" dirty="0" err="1"/>
                <a:t>vlc</a:t>
              </a:r>
              <a:endParaRPr lang="en-US" dirty="0"/>
            </a:p>
          </p:txBody>
        </p:sp>
        <p:sp>
          <p:nvSpPr>
            <p:cNvPr id="16" name="TextBox 15">
              <a:extLst>
                <a:ext uri="{FF2B5EF4-FFF2-40B4-BE49-F238E27FC236}">
                  <a16:creationId xmlns:a16="http://schemas.microsoft.com/office/drawing/2014/main" id="{DBCE0354-3980-E84E-BA24-571B8939672D}"/>
                </a:ext>
              </a:extLst>
            </p:cNvPr>
            <p:cNvSpPr txBox="1"/>
            <p:nvPr/>
          </p:nvSpPr>
          <p:spPr>
            <a:xfrm>
              <a:off x="1177200" y="2179841"/>
              <a:ext cx="2950420" cy="307777"/>
            </a:xfrm>
            <a:prstGeom prst="rect">
              <a:avLst/>
            </a:prstGeom>
            <a:noFill/>
          </p:spPr>
          <p:txBody>
            <a:bodyPr wrap="square">
              <a:spAutoFit/>
            </a:bodyPr>
            <a:lstStyle/>
            <a:p>
              <a:r>
                <a:rPr lang="en-US" dirty="0"/>
                <a:t>sudo apt update </a:t>
              </a:r>
              <a:r>
                <a:rPr lang="en-US" dirty="0" err="1"/>
                <a:t>htop</a:t>
              </a:r>
              <a:r>
                <a:rPr lang="en-US" dirty="0"/>
                <a:t> </a:t>
              </a:r>
              <a:r>
                <a:rPr lang="en-US" dirty="0" err="1"/>
                <a:t>fastfetch</a:t>
              </a:r>
              <a:r>
                <a:rPr lang="en-US" dirty="0"/>
                <a:t> </a:t>
              </a:r>
              <a:r>
                <a:rPr lang="en-US" dirty="0" err="1"/>
                <a:t>vlc</a:t>
              </a:r>
              <a:endParaRPr lang="en-US" dirty="0"/>
            </a:p>
          </p:txBody>
        </p:sp>
        <p:sp>
          <p:nvSpPr>
            <p:cNvPr id="17" name="TextBox 16">
              <a:extLst>
                <a:ext uri="{FF2B5EF4-FFF2-40B4-BE49-F238E27FC236}">
                  <a16:creationId xmlns:a16="http://schemas.microsoft.com/office/drawing/2014/main" id="{1B9DD20E-FCD1-CA93-2774-B5C160E985ED}"/>
                </a:ext>
              </a:extLst>
            </p:cNvPr>
            <p:cNvSpPr txBox="1"/>
            <p:nvPr/>
          </p:nvSpPr>
          <p:spPr>
            <a:xfrm>
              <a:off x="1931620" y="1435993"/>
              <a:ext cx="1441579" cy="307777"/>
            </a:xfrm>
            <a:prstGeom prst="rect">
              <a:avLst/>
            </a:prstGeom>
            <a:noFill/>
          </p:spPr>
          <p:txBody>
            <a:bodyPr wrap="square">
              <a:spAutoFit/>
            </a:bodyPr>
            <a:lstStyle/>
            <a:p>
              <a:r>
                <a:rPr lang="en-US" dirty="0"/>
                <a:t>Debian Family</a:t>
              </a:r>
            </a:p>
          </p:txBody>
        </p:sp>
      </p:grpSp>
    </p:spTree>
    <p:extLst>
      <p:ext uri="{BB962C8B-B14F-4D97-AF65-F5344CB8AC3E}">
        <p14:creationId xmlns:p14="http://schemas.microsoft.com/office/powerpoint/2010/main" val="410136216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DCC093-558A-D7A1-B370-3BC8C88C7B8F}"/>
              </a:ext>
            </a:extLst>
          </p:cNvPr>
          <p:cNvSpPr txBox="1">
            <a:spLocks noGrp="1"/>
          </p:cNvSpPr>
          <p:nvPr>
            <p:ph type="title"/>
          </p:nvPr>
        </p:nvSpPr>
        <p:spPr>
          <a:xfrm>
            <a:off x="720725" y="444500"/>
            <a:ext cx="7702550" cy="646300"/>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OpenSSH Configuration </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AFEF8A5-FF00-E417-F889-C4D5B4D93CE3}"/>
              </a:ext>
            </a:extLst>
          </p:cNvPr>
          <p:cNvSpPr txBox="1"/>
          <p:nvPr/>
        </p:nvSpPr>
        <p:spPr>
          <a:xfrm>
            <a:off x="720724" y="1617643"/>
            <a:ext cx="7369979"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OpenSSH is a secure remote login service.</a:t>
            </a:r>
          </a:p>
          <a:p>
            <a:r>
              <a:rPr lang="en-US" sz="2000" dirty="0">
                <a:latin typeface="Times New Roman" panose="02020603050405020304" pitchFamily="18" charset="0"/>
                <a:cs typeface="Times New Roman" panose="02020603050405020304" pitchFamily="18" charset="0"/>
              </a:rPr>
              <a:t>It allows remote access to Linux servers using SSH protocol.</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Default Port: 22</a:t>
            </a:r>
          </a:p>
        </p:txBody>
      </p:sp>
    </p:spTree>
    <p:extLst>
      <p:ext uri="{BB962C8B-B14F-4D97-AF65-F5344CB8AC3E}">
        <p14:creationId xmlns:p14="http://schemas.microsoft.com/office/powerpoint/2010/main" val="296998167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25214-23EB-BD1E-5247-31E6AF1D69F7}"/>
              </a:ext>
            </a:extLst>
          </p:cNvPr>
          <p:cNvSpPr>
            <a:spLocks noGrp="1"/>
          </p:cNvSpPr>
          <p:nvPr>
            <p:ph type="title"/>
          </p:nvPr>
        </p:nvSpPr>
        <p:spPr>
          <a:xfrm>
            <a:off x="720000" y="0"/>
            <a:ext cx="7704000" cy="572700"/>
          </a:xfrm>
        </p:spPr>
        <p:txBody>
          <a:bodyPr/>
          <a:lstStyle/>
          <a:p>
            <a:pPr algn="ctr"/>
            <a:r>
              <a:rPr lang="en-IN" dirty="0">
                <a:latin typeface="Times New Roman" panose="02020603050405020304" pitchFamily="18" charset="0"/>
                <a:cs typeface="Times New Roman" panose="02020603050405020304" pitchFamily="18" charset="0"/>
              </a:rPr>
              <a:t>Why We Use OpenSSH?</a:t>
            </a:r>
          </a:p>
        </p:txBody>
      </p:sp>
      <p:sp>
        <p:nvSpPr>
          <p:cNvPr id="5" name="Rectangle 1">
            <a:extLst>
              <a:ext uri="{FF2B5EF4-FFF2-40B4-BE49-F238E27FC236}">
                <a16:creationId xmlns:a16="http://schemas.microsoft.com/office/drawing/2014/main" id="{A66AEC29-9865-4950-08B2-2EEBF98786E5}"/>
              </a:ext>
            </a:extLst>
          </p:cNvPr>
          <p:cNvSpPr>
            <a:spLocks noChangeArrowheads="1"/>
          </p:cNvSpPr>
          <p:nvPr/>
        </p:nvSpPr>
        <p:spPr bwMode="auto">
          <a:xfrm rot="10800000" flipV="1">
            <a:off x="0" y="754767"/>
            <a:ext cx="91440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Remote server access</a:t>
            </a:r>
            <a:r>
              <a:rPr kumimoji="0" lang="en-US" altLang="en-US" sz="1800" b="0" i="0" u="none" strike="noStrike" cap="none" normalizeH="0" baseline="0" dirty="0">
                <a:ln>
                  <a:noFill/>
                </a:ln>
                <a:solidFill>
                  <a:schemeClr val="tx1"/>
                </a:solidFill>
                <a:effectLst/>
                <a:latin typeface="Arial" panose="020B0604020202020204" pitchFamily="34" charset="0"/>
              </a:rPr>
              <a:t> — lets you securely log in to and control a server from another machine over a network.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Secure encrypted communication</a:t>
            </a:r>
            <a:r>
              <a:rPr kumimoji="0" lang="en-US" altLang="en-US" sz="1800" b="0" i="0" u="none" strike="noStrike" cap="none" normalizeH="0" baseline="0" dirty="0">
                <a:ln>
                  <a:noFill/>
                </a:ln>
                <a:solidFill>
                  <a:schemeClr val="tx1"/>
                </a:solidFill>
                <a:effectLst/>
                <a:latin typeface="Arial" panose="020B0604020202020204" pitchFamily="34" charset="0"/>
              </a:rPr>
              <a:t> — creates an encrypted channel so all data exchanged between your computer and the server remains private.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Remote command execution</a:t>
            </a:r>
            <a:r>
              <a:rPr kumimoji="0" lang="en-US" altLang="en-US" sz="1800" b="0" i="0" u="none" strike="noStrike" cap="none" normalizeH="0" baseline="0" dirty="0">
                <a:ln>
                  <a:noFill/>
                </a:ln>
                <a:solidFill>
                  <a:schemeClr val="tx1"/>
                </a:solidFill>
                <a:effectLst/>
                <a:latin typeface="Arial" panose="020B0604020202020204" pitchFamily="34" charset="0"/>
              </a:rPr>
              <a:t> — allows you to run commands on a remote server without being physically present.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Secure file transfer (SCP/SFTP)</a:t>
            </a:r>
            <a:r>
              <a:rPr kumimoji="0" lang="en-US" altLang="en-US" sz="1800" b="0" i="0" u="none" strike="noStrike" cap="none" normalizeH="0" baseline="0" dirty="0">
                <a:ln>
                  <a:noFill/>
                </a:ln>
                <a:solidFill>
                  <a:schemeClr val="tx1"/>
                </a:solidFill>
                <a:effectLst/>
                <a:latin typeface="Arial" panose="020B0604020202020204" pitchFamily="34" charset="0"/>
              </a:rPr>
              <a:t> — uses SSH to transfer files securely between systems using SCP or SFTP protocols.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Server administration</a:t>
            </a:r>
            <a:r>
              <a:rPr kumimoji="0" lang="en-US" altLang="en-US" sz="1800" b="0" i="0" u="none" strike="noStrike" cap="none" normalizeH="0" baseline="0" dirty="0">
                <a:ln>
                  <a:noFill/>
                </a:ln>
                <a:solidFill>
                  <a:schemeClr val="tx1"/>
                </a:solidFill>
                <a:effectLst/>
                <a:latin typeface="Arial" panose="020B0604020202020204" pitchFamily="34" charset="0"/>
              </a:rPr>
              <a:t> — enables administrators to manage, configure, and maintain </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servers</a:t>
            </a:r>
            <a:r>
              <a:rPr kumimoji="0" lang="en-US" altLang="en-US" sz="1800" b="0" i="0" u="none" strike="noStrike" cap="none" normalizeH="0" baseline="0" dirty="0">
                <a:ln>
                  <a:noFill/>
                </a:ln>
                <a:solidFill>
                  <a:schemeClr val="tx1"/>
                </a:solidFill>
                <a:effectLst/>
                <a:latin typeface="Arial" panose="020B0604020202020204" pitchFamily="34" charset="0"/>
              </a:rPr>
              <a:t> remotely through secure shell access. </a:t>
            </a:r>
          </a:p>
        </p:txBody>
      </p:sp>
    </p:spTree>
    <p:extLst>
      <p:ext uri="{BB962C8B-B14F-4D97-AF65-F5344CB8AC3E}">
        <p14:creationId xmlns:p14="http://schemas.microsoft.com/office/powerpoint/2010/main" val="191398271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SSH (Secure Shell)? | SSH Academy">
            <a:extLst>
              <a:ext uri="{FF2B5EF4-FFF2-40B4-BE49-F238E27FC236}">
                <a16:creationId xmlns:a16="http://schemas.microsoft.com/office/drawing/2014/main" id="{B833E573-0C08-B7D8-7593-51099FB58D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1276350"/>
            <a:ext cx="8763000"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051283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What is SSH Key?| SSH (Secure Shell) Key Management Tool - ManageEngine Key  Manager Plus">
            <a:extLst>
              <a:ext uri="{FF2B5EF4-FFF2-40B4-BE49-F238E27FC236}">
                <a16:creationId xmlns:a16="http://schemas.microsoft.com/office/drawing/2014/main" id="{4FDCA7A2-3939-7A70-B571-B4F4795F02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4350" y="0"/>
            <a:ext cx="5573713"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794114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What is an SSH key? SSH key pairs explained | Sectigo® Official">
            <a:extLst>
              <a:ext uri="{FF2B5EF4-FFF2-40B4-BE49-F238E27FC236}">
                <a16:creationId xmlns:a16="http://schemas.microsoft.com/office/drawing/2014/main" id="{601B77A6-BBAE-E9FF-B2ED-4DD909F3C0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095333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E21A20C-DFBC-125D-F47A-108F383B5FEE}"/>
              </a:ext>
            </a:extLst>
          </p:cNvPr>
          <p:cNvSpPr txBox="1"/>
          <p:nvPr/>
        </p:nvSpPr>
        <p:spPr>
          <a:xfrm>
            <a:off x="1002706" y="1070558"/>
            <a:ext cx="7138585" cy="1600438"/>
          </a:xfrm>
          <a:prstGeom prst="rect">
            <a:avLst/>
          </a:prstGeom>
          <a:noFill/>
          <a:ln w="38100">
            <a:solidFill>
              <a:schemeClr val="accent1">
                <a:lumMod val="75000"/>
              </a:schemeClr>
            </a:solidFill>
          </a:ln>
        </p:spPr>
        <p:txBody>
          <a:bodyPr wrap="square">
            <a:spAutoFit/>
          </a:bodyPr>
          <a:lstStyle/>
          <a:p>
            <a:r>
              <a:rPr lang="en-US" b="1" dirty="0">
                <a:latin typeface="Lato" panose="020F0502020204030203" pitchFamily="34" charset="0"/>
                <a:cs typeface="Lato" panose="020F0502020204030203" pitchFamily="34" charset="0"/>
              </a:rPr>
              <a:t>SSH (Secure Shell) </a:t>
            </a:r>
            <a:r>
              <a:rPr lang="en-US" dirty="0">
                <a:latin typeface="Lato" panose="020F0502020204030203" pitchFamily="34" charset="0"/>
                <a:cs typeface="Lato" panose="020F0502020204030203" pitchFamily="34" charset="0"/>
              </a:rPr>
              <a:t>is a cryptographic network protocol used to securely connect to remote systems.</a:t>
            </a:r>
            <a:br>
              <a:rPr lang="en-US" dirty="0">
                <a:latin typeface="Lato" panose="020F0502020204030203" pitchFamily="34" charset="0"/>
                <a:cs typeface="Lato" panose="020F0502020204030203" pitchFamily="34" charset="0"/>
              </a:rPr>
            </a:br>
            <a:r>
              <a:rPr lang="en-US" b="1" dirty="0">
                <a:latin typeface="Lato" panose="020F0502020204030203" pitchFamily="34" charset="0"/>
                <a:cs typeface="Lato" panose="020F0502020204030203" pitchFamily="34" charset="0"/>
              </a:rPr>
              <a:t>It provides:</a:t>
            </a:r>
          </a:p>
          <a:p>
            <a:pPr>
              <a:buFont typeface="Arial" panose="020B0604020202020204" pitchFamily="34" charset="0"/>
              <a:buChar char="•"/>
            </a:pPr>
            <a:r>
              <a:rPr lang="en-US" dirty="0">
                <a:latin typeface="Lato" panose="020F0502020204030203" pitchFamily="34" charset="0"/>
                <a:cs typeface="Lato" panose="020F0502020204030203" pitchFamily="34" charset="0"/>
              </a:rPr>
              <a:t>Encrypted remote login (command-line access)</a:t>
            </a:r>
          </a:p>
          <a:p>
            <a:pPr>
              <a:buFont typeface="Arial" panose="020B0604020202020204" pitchFamily="34" charset="0"/>
              <a:buChar char="•"/>
            </a:pPr>
            <a:r>
              <a:rPr lang="en-US" dirty="0">
                <a:latin typeface="Lato" panose="020F0502020204030203" pitchFamily="34" charset="0"/>
                <a:cs typeface="Lato" panose="020F0502020204030203" pitchFamily="34" charset="0"/>
              </a:rPr>
              <a:t>Secure file transfer</a:t>
            </a:r>
          </a:p>
          <a:p>
            <a:pPr>
              <a:buFont typeface="Arial" panose="020B0604020202020204" pitchFamily="34" charset="0"/>
              <a:buChar char="•"/>
            </a:pPr>
            <a:r>
              <a:rPr lang="en-US" dirty="0">
                <a:latin typeface="Lato" panose="020F0502020204030203" pitchFamily="34" charset="0"/>
                <a:cs typeface="Lato" panose="020F0502020204030203" pitchFamily="34" charset="0"/>
              </a:rPr>
              <a:t>Tunneling and port forwarding</a:t>
            </a:r>
          </a:p>
          <a:p>
            <a:pPr>
              <a:buFont typeface="Arial" panose="020B0604020202020204" pitchFamily="34" charset="0"/>
              <a:buChar char="•"/>
            </a:pPr>
            <a:r>
              <a:rPr lang="en-US" dirty="0">
                <a:latin typeface="Lato" panose="020F0502020204030203" pitchFamily="34" charset="0"/>
                <a:cs typeface="Lato" panose="020F0502020204030203" pitchFamily="34" charset="0"/>
              </a:rPr>
              <a:t>Remote command execution</a:t>
            </a:r>
          </a:p>
        </p:txBody>
      </p:sp>
      <p:sp>
        <p:nvSpPr>
          <p:cNvPr id="10" name="TextBox 9">
            <a:extLst>
              <a:ext uri="{FF2B5EF4-FFF2-40B4-BE49-F238E27FC236}">
                <a16:creationId xmlns:a16="http://schemas.microsoft.com/office/drawing/2014/main" id="{28B3756C-BFEB-7096-2547-12F50964D8E4}"/>
              </a:ext>
            </a:extLst>
          </p:cNvPr>
          <p:cNvSpPr txBox="1"/>
          <p:nvPr/>
        </p:nvSpPr>
        <p:spPr>
          <a:xfrm>
            <a:off x="1988820" y="315959"/>
            <a:ext cx="5166360"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SSH (Secure Shell)</a:t>
            </a:r>
          </a:p>
        </p:txBody>
      </p:sp>
      <p:sp>
        <p:nvSpPr>
          <p:cNvPr id="3" name="TextBox 2">
            <a:extLst>
              <a:ext uri="{FF2B5EF4-FFF2-40B4-BE49-F238E27FC236}">
                <a16:creationId xmlns:a16="http://schemas.microsoft.com/office/drawing/2014/main" id="{73A9F4E7-745B-CACB-B8AA-54A0868BCBA9}"/>
              </a:ext>
            </a:extLst>
          </p:cNvPr>
          <p:cNvSpPr txBox="1"/>
          <p:nvPr/>
        </p:nvSpPr>
        <p:spPr>
          <a:xfrm>
            <a:off x="1002705" y="2875415"/>
            <a:ext cx="7138585" cy="1384995"/>
          </a:xfrm>
          <a:prstGeom prst="rect">
            <a:avLst/>
          </a:prstGeom>
          <a:noFill/>
          <a:ln w="38100">
            <a:solidFill>
              <a:schemeClr val="accent1">
                <a:lumMod val="75000"/>
              </a:schemeClr>
            </a:solidFill>
          </a:ln>
        </p:spPr>
        <p:txBody>
          <a:bodyPr wrap="square">
            <a:spAutoFit/>
          </a:bodyPr>
          <a:lstStyle/>
          <a:p>
            <a:r>
              <a:rPr lang="en-US" dirty="0">
                <a:latin typeface="Lato" panose="020F0502020204030203" pitchFamily="34" charset="0"/>
                <a:cs typeface="Lato" panose="020F0502020204030203" pitchFamily="34" charset="0"/>
              </a:rPr>
              <a:t>It replaces older insecure protocols like Telnet, </a:t>
            </a:r>
            <a:r>
              <a:rPr lang="en-US" dirty="0" err="1">
                <a:latin typeface="Lato" panose="020F0502020204030203" pitchFamily="34" charset="0"/>
                <a:cs typeface="Lato" panose="020F0502020204030203" pitchFamily="34" charset="0"/>
              </a:rPr>
              <a:t>Rsh</a:t>
            </a:r>
            <a:r>
              <a:rPr lang="en-US" dirty="0">
                <a:latin typeface="Lato" panose="020F0502020204030203" pitchFamily="34" charset="0"/>
                <a:cs typeface="Lato" panose="020F0502020204030203" pitchFamily="34" charset="0"/>
              </a:rPr>
              <a:t>, and Ftp (in many cases).</a:t>
            </a:r>
          </a:p>
          <a:p>
            <a:r>
              <a:rPr lang="en-US" b="1" dirty="0">
                <a:latin typeface="Lato" panose="020F0502020204030203" pitchFamily="34" charset="0"/>
                <a:cs typeface="Lato" panose="020F0502020204030203" pitchFamily="34" charset="0"/>
              </a:rPr>
              <a:t>SSH uses:</a:t>
            </a:r>
          </a:p>
          <a:p>
            <a:pPr>
              <a:buFont typeface="Arial" panose="020B0604020202020204" pitchFamily="34" charset="0"/>
              <a:buChar char="•"/>
            </a:pPr>
            <a:r>
              <a:rPr lang="en-US" dirty="0">
                <a:latin typeface="Lato" panose="020F0502020204030203" pitchFamily="34" charset="0"/>
                <a:cs typeface="Lato" panose="020F0502020204030203" pitchFamily="34" charset="0"/>
              </a:rPr>
              <a:t>Port 22 by default</a:t>
            </a:r>
          </a:p>
          <a:p>
            <a:pPr>
              <a:buFont typeface="Arial" panose="020B0604020202020204" pitchFamily="34" charset="0"/>
              <a:buChar char="•"/>
            </a:pPr>
            <a:r>
              <a:rPr lang="en-US" dirty="0">
                <a:latin typeface="Lato" panose="020F0502020204030203" pitchFamily="34" charset="0"/>
                <a:cs typeface="Lato" panose="020F0502020204030203" pitchFamily="34" charset="0"/>
              </a:rPr>
              <a:t>Public-key cryptography</a:t>
            </a:r>
          </a:p>
          <a:p>
            <a:pPr>
              <a:buFont typeface="Arial" panose="020B0604020202020204" pitchFamily="34" charset="0"/>
              <a:buChar char="•"/>
            </a:pPr>
            <a:r>
              <a:rPr lang="en-US" dirty="0">
                <a:latin typeface="Lato" panose="020F0502020204030203" pitchFamily="34" charset="0"/>
                <a:cs typeface="Lato" panose="020F0502020204030203" pitchFamily="34" charset="0"/>
              </a:rPr>
              <a:t>Certificates</a:t>
            </a:r>
          </a:p>
          <a:p>
            <a:pPr>
              <a:buFont typeface="Arial" panose="020B0604020202020204" pitchFamily="34" charset="0"/>
              <a:buChar char="•"/>
            </a:pPr>
            <a:r>
              <a:rPr lang="en-US" dirty="0">
                <a:latin typeface="Lato" panose="020F0502020204030203" pitchFamily="34" charset="0"/>
                <a:cs typeface="Lato" panose="020F0502020204030203" pitchFamily="34" charset="0"/>
              </a:rPr>
              <a:t>Strong encryption algorithms (AES, ChaCha20, RSA, Ed25519, etc.)</a:t>
            </a:r>
          </a:p>
        </p:txBody>
      </p:sp>
    </p:spTree>
    <p:extLst>
      <p:ext uri="{BB962C8B-B14F-4D97-AF65-F5344CB8AC3E}">
        <p14:creationId xmlns:p14="http://schemas.microsoft.com/office/powerpoint/2010/main" val="106350128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4CC36-FA11-BFE4-8113-171D9C65F8CB}"/>
              </a:ext>
            </a:extLst>
          </p:cNvPr>
          <p:cNvSpPr>
            <a:spLocks noGrp="1"/>
          </p:cNvSpPr>
          <p:nvPr>
            <p:ph type="title"/>
          </p:nvPr>
        </p:nvSpPr>
        <p:spPr>
          <a:xfrm>
            <a:off x="884305" y="406925"/>
            <a:ext cx="6585675" cy="572700"/>
          </a:xfrm>
        </p:spPr>
        <p:txBody>
          <a:bodyPr/>
          <a:lstStyle/>
          <a:p>
            <a:r>
              <a:rPr lang="en-US" dirty="0"/>
              <a:t>SSH Server Packages for Linux</a:t>
            </a:r>
          </a:p>
        </p:txBody>
      </p:sp>
      <p:sp>
        <p:nvSpPr>
          <p:cNvPr id="4" name="TextBox 3">
            <a:extLst>
              <a:ext uri="{FF2B5EF4-FFF2-40B4-BE49-F238E27FC236}">
                <a16:creationId xmlns:a16="http://schemas.microsoft.com/office/drawing/2014/main" id="{087B2E2F-77D9-773F-4D41-E9BD56220C64}"/>
              </a:ext>
            </a:extLst>
          </p:cNvPr>
          <p:cNvSpPr txBox="1"/>
          <p:nvPr/>
        </p:nvSpPr>
        <p:spPr>
          <a:xfrm>
            <a:off x="1279162" y="979625"/>
            <a:ext cx="2897981" cy="1384995"/>
          </a:xfrm>
          <a:prstGeom prst="rect">
            <a:avLst/>
          </a:prstGeom>
          <a:noFill/>
          <a:ln>
            <a:solidFill>
              <a:schemeClr val="accent1">
                <a:lumMod val="75000"/>
              </a:schemeClr>
            </a:solidFill>
          </a:ln>
        </p:spPr>
        <p:txBody>
          <a:bodyPr wrap="square">
            <a:spAutoFit/>
          </a:bodyPr>
          <a:lstStyle/>
          <a:p>
            <a:r>
              <a:rPr lang="en-US" dirty="0">
                <a:latin typeface="Lato" panose="020F0502020204030203" pitchFamily="34" charset="0"/>
                <a:cs typeface="Lato" panose="020F0502020204030203" pitchFamily="34" charset="0"/>
              </a:rPr>
              <a:t>OpenSSH (The Default on Linux)</a:t>
            </a:r>
            <a:br>
              <a:rPr lang="en-US" dirty="0">
                <a:latin typeface="Lato" panose="020F0502020204030203" pitchFamily="34" charset="0"/>
                <a:cs typeface="Lato" panose="020F0502020204030203" pitchFamily="34" charset="0"/>
              </a:rPr>
            </a:br>
            <a:r>
              <a:rPr lang="en-US" dirty="0" err="1">
                <a:latin typeface="Lato" panose="020F0502020204030203" pitchFamily="34" charset="0"/>
                <a:cs typeface="Lato" panose="020F0502020204030203" pitchFamily="34" charset="0"/>
              </a:rPr>
              <a:t>Dropbear</a:t>
            </a:r>
            <a:r>
              <a:rPr lang="en-US" dirty="0">
                <a:latin typeface="Lato" panose="020F0502020204030203" pitchFamily="34" charset="0"/>
                <a:cs typeface="Lato" panose="020F0502020204030203" pitchFamily="34" charset="0"/>
              </a:rPr>
              <a:t> SSH</a:t>
            </a:r>
          </a:p>
          <a:p>
            <a:r>
              <a:rPr lang="en-US" dirty="0" err="1">
                <a:latin typeface="Lato" panose="020F0502020204030203" pitchFamily="34" charset="0"/>
                <a:cs typeface="Lato" panose="020F0502020204030203" pitchFamily="34" charset="0"/>
              </a:rPr>
              <a:t>LibreSSH</a:t>
            </a:r>
            <a:endParaRPr lang="en-US" dirty="0">
              <a:latin typeface="Lato" panose="020F0502020204030203" pitchFamily="34" charset="0"/>
              <a:cs typeface="Lato" panose="020F0502020204030203" pitchFamily="34" charset="0"/>
            </a:endParaRPr>
          </a:p>
          <a:p>
            <a:r>
              <a:rPr lang="en-US" dirty="0" err="1">
                <a:latin typeface="Lato" panose="020F0502020204030203" pitchFamily="34" charset="0"/>
                <a:cs typeface="Lato" panose="020F0502020204030203" pitchFamily="34" charset="0"/>
              </a:rPr>
              <a:t>WolfSSH</a:t>
            </a:r>
            <a:endParaRPr lang="en-US" dirty="0">
              <a:latin typeface="Lato" panose="020F0502020204030203" pitchFamily="34" charset="0"/>
              <a:cs typeface="Lato" panose="020F0502020204030203" pitchFamily="34" charset="0"/>
            </a:endParaRPr>
          </a:p>
          <a:p>
            <a:r>
              <a:rPr lang="en-US" dirty="0" err="1">
                <a:latin typeface="Lato" panose="020F0502020204030203" pitchFamily="34" charset="0"/>
                <a:cs typeface="Lato" panose="020F0502020204030203" pitchFamily="34" charset="0"/>
              </a:rPr>
              <a:t>Tectia</a:t>
            </a:r>
            <a:r>
              <a:rPr lang="en-US" dirty="0">
                <a:latin typeface="Lato" panose="020F0502020204030203" pitchFamily="34" charset="0"/>
                <a:cs typeface="Lato" panose="020F0502020204030203" pitchFamily="34" charset="0"/>
              </a:rPr>
              <a:t> SSH</a:t>
            </a:r>
          </a:p>
          <a:p>
            <a:r>
              <a:rPr lang="en-US" dirty="0" err="1">
                <a:latin typeface="Lato" panose="020F0502020204030203" pitchFamily="34" charset="0"/>
                <a:cs typeface="Lato" panose="020F0502020204030203" pitchFamily="34" charset="0"/>
              </a:rPr>
              <a:t>VShell</a:t>
            </a:r>
            <a:endParaRPr lang="en-US" dirty="0">
              <a:latin typeface="Lato" panose="020F0502020204030203" pitchFamily="34" charset="0"/>
              <a:cs typeface="Lato" panose="020F0502020204030203" pitchFamily="34" charset="0"/>
            </a:endParaRPr>
          </a:p>
        </p:txBody>
      </p:sp>
      <p:sp>
        <p:nvSpPr>
          <p:cNvPr id="6" name="TextBox 5">
            <a:extLst>
              <a:ext uri="{FF2B5EF4-FFF2-40B4-BE49-F238E27FC236}">
                <a16:creationId xmlns:a16="http://schemas.microsoft.com/office/drawing/2014/main" id="{DD88CDFC-9C56-4C5B-3DF6-56AA44DB8B24}"/>
              </a:ext>
            </a:extLst>
          </p:cNvPr>
          <p:cNvSpPr txBox="1"/>
          <p:nvPr/>
        </p:nvSpPr>
        <p:spPr>
          <a:xfrm>
            <a:off x="1279161" y="3022699"/>
            <a:ext cx="2897981" cy="1384995"/>
          </a:xfrm>
          <a:prstGeom prst="rect">
            <a:avLst/>
          </a:prstGeom>
          <a:noFill/>
          <a:ln>
            <a:solidFill>
              <a:schemeClr val="accent1">
                <a:lumMod val="75000"/>
              </a:schemeClr>
            </a:solidFill>
          </a:ln>
        </p:spPr>
        <p:txBody>
          <a:bodyPr wrap="square">
            <a:spAutoFit/>
          </a:bodyPr>
          <a:lstStyle/>
          <a:p>
            <a:r>
              <a:rPr lang="en-US" dirty="0">
                <a:latin typeface="Lato" panose="020F0502020204030203" pitchFamily="34" charset="0"/>
                <a:cs typeface="Lato" panose="020F0502020204030203" pitchFamily="34" charset="0"/>
              </a:rPr>
              <a:t>Native Linux Terminal</a:t>
            </a:r>
          </a:p>
          <a:p>
            <a:r>
              <a:rPr lang="en-US" dirty="0">
                <a:latin typeface="Lato" panose="020F0502020204030203" pitchFamily="34" charset="0"/>
                <a:cs typeface="Lato" panose="020F0502020204030203" pitchFamily="34" charset="0"/>
              </a:rPr>
              <a:t>Native Mac Terminal</a:t>
            </a:r>
            <a:br>
              <a:rPr lang="en-US" dirty="0">
                <a:latin typeface="Lato" panose="020F0502020204030203" pitchFamily="34" charset="0"/>
                <a:cs typeface="Lato" panose="020F0502020204030203" pitchFamily="34" charset="0"/>
              </a:rPr>
            </a:br>
            <a:r>
              <a:rPr lang="en-US" dirty="0" err="1">
                <a:latin typeface="Lato" panose="020F0502020204030203" pitchFamily="34" charset="0"/>
                <a:cs typeface="Lato" panose="020F0502020204030203" pitchFamily="34" charset="0"/>
              </a:rPr>
              <a:t>TeraTerm</a:t>
            </a:r>
            <a:br>
              <a:rPr lang="en-US" dirty="0">
                <a:latin typeface="Lato" panose="020F0502020204030203" pitchFamily="34" charset="0"/>
                <a:cs typeface="Lato" panose="020F0502020204030203" pitchFamily="34" charset="0"/>
              </a:rPr>
            </a:br>
            <a:r>
              <a:rPr lang="en-US" dirty="0">
                <a:latin typeface="Lato" panose="020F0502020204030203" pitchFamily="34" charset="0"/>
                <a:cs typeface="Lato" panose="020F0502020204030203" pitchFamily="34" charset="0"/>
              </a:rPr>
              <a:t>PuTTY</a:t>
            </a:r>
            <a:br>
              <a:rPr lang="en-US" dirty="0">
                <a:latin typeface="Lato" panose="020F0502020204030203" pitchFamily="34" charset="0"/>
                <a:cs typeface="Lato" panose="020F0502020204030203" pitchFamily="34" charset="0"/>
              </a:rPr>
            </a:br>
            <a:r>
              <a:rPr lang="en-US" dirty="0">
                <a:latin typeface="Lato" panose="020F0502020204030203" pitchFamily="34" charset="0"/>
                <a:cs typeface="Lato" panose="020F0502020204030203" pitchFamily="34" charset="0"/>
              </a:rPr>
              <a:t>Secure CRT</a:t>
            </a:r>
            <a:br>
              <a:rPr lang="en-US" dirty="0">
                <a:latin typeface="Lato" panose="020F0502020204030203" pitchFamily="34" charset="0"/>
                <a:cs typeface="Lato" panose="020F0502020204030203" pitchFamily="34" charset="0"/>
              </a:rPr>
            </a:br>
            <a:r>
              <a:rPr lang="en-US" dirty="0" err="1">
                <a:latin typeface="Lato" panose="020F0502020204030203" pitchFamily="34" charset="0"/>
                <a:cs typeface="Lato" panose="020F0502020204030203" pitchFamily="34" charset="0"/>
              </a:rPr>
              <a:t>MobaXterm</a:t>
            </a:r>
            <a:endParaRPr lang="en-US" dirty="0">
              <a:latin typeface="Lato" panose="020F0502020204030203" pitchFamily="34" charset="0"/>
              <a:cs typeface="Lato" panose="020F0502020204030203" pitchFamily="34" charset="0"/>
            </a:endParaRPr>
          </a:p>
        </p:txBody>
      </p:sp>
      <p:sp>
        <p:nvSpPr>
          <p:cNvPr id="7" name="Title 1">
            <a:extLst>
              <a:ext uri="{FF2B5EF4-FFF2-40B4-BE49-F238E27FC236}">
                <a16:creationId xmlns:a16="http://schemas.microsoft.com/office/drawing/2014/main" id="{32F98408-F11E-E303-D71F-0101E3D9487F}"/>
              </a:ext>
            </a:extLst>
          </p:cNvPr>
          <p:cNvSpPr txBox="1">
            <a:spLocks/>
          </p:cNvSpPr>
          <p:nvPr/>
        </p:nvSpPr>
        <p:spPr>
          <a:xfrm>
            <a:off x="841010" y="2364620"/>
            <a:ext cx="798866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US" dirty="0"/>
              <a:t>SSH Client Packages for Cross-Platform</a:t>
            </a:r>
          </a:p>
        </p:txBody>
      </p:sp>
    </p:spTree>
    <p:extLst>
      <p:ext uri="{BB962C8B-B14F-4D97-AF65-F5344CB8AC3E}">
        <p14:creationId xmlns:p14="http://schemas.microsoft.com/office/powerpoint/2010/main" val="2337938886"/>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9ACA2D4-21B1-B96C-4DA2-C9272EEDFEE2}"/>
              </a:ext>
            </a:extLst>
          </p:cNvPr>
          <p:cNvSpPr txBox="1"/>
          <p:nvPr/>
        </p:nvSpPr>
        <p:spPr>
          <a:xfrm>
            <a:off x="1140006" y="755386"/>
            <a:ext cx="6596834" cy="4116320"/>
          </a:xfrm>
          <a:prstGeom prst="rect">
            <a:avLst/>
          </a:prstGeom>
          <a:noFill/>
        </p:spPr>
        <p:txBody>
          <a:bodyPr wrap="square">
            <a:spAutoFit/>
          </a:bodyPr>
          <a:lstStyle/>
          <a:p>
            <a:pPr>
              <a:lnSpc>
                <a:spcPct val="115000"/>
              </a:lnSpc>
              <a:spcBef>
                <a:spcPts val="1000"/>
              </a:spcBef>
              <a:buNone/>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Install SSH Server</a:t>
            </a: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If the SSH server is not already installed, install it using:</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sudo </a:t>
            </a:r>
            <a:r>
              <a:rPr lang="en-US" sz="2000" dirty="0" err="1">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dnf</a:t>
            </a:r>
            <a:r>
              <a:rPr lang="en-US" sz="20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 install -y </a:t>
            </a:r>
            <a:r>
              <a:rPr lang="en-US" sz="2000" dirty="0" err="1">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openssh</a:t>
            </a:r>
            <a:r>
              <a:rPr lang="en-US" sz="20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-server</a:t>
            </a:r>
          </a:p>
          <a:p>
            <a:pPr>
              <a:lnSpc>
                <a:spcPct val="115000"/>
              </a:lnSpc>
              <a:spcBef>
                <a:spcPts val="1000"/>
              </a:spcBef>
              <a:buNone/>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Start and Enable SSH Service</a:t>
            </a: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Start the SSH daemon and enable it to start on boot:</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sudo </a:t>
            </a:r>
            <a:r>
              <a:rPr lang="en-US" sz="2000" dirty="0" err="1">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systemctl</a:t>
            </a:r>
            <a:r>
              <a:rPr lang="en-US" sz="20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 start </a:t>
            </a:r>
            <a:r>
              <a:rPr lang="en-US" sz="2000" dirty="0" err="1">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sshd</a:t>
            </a:r>
            <a:br>
              <a:rPr lang="en-US" sz="20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sudo </a:t>
            </a:r>
            <a:r>
              <a:rPr lang="en-US" sz="2000" dirty="0" err="1">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systemctl</a:t>
            </a:r>
            <a:r>
              <a:rPr lang="en-US" sz="20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 enable </a:t>
            </a:r>
            <a:r>
              <a:rPr lang="en-US" sz="2000" dirty="0" err="1">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sshd</a:t>
            </a:r>
            <a:endParaRPr lang="en-US" sz="2000" dirty="0">
              <a:solidFill>
                <a:schemeClr val="tx2"/>
              </a:solidFill>
              <a:latin typeface="Times New Roman" panose="02020603050405020304" pitchFamily="18" charset="0"/>
              <a:ea typeface="MS Mincho" panose="02020609040205080304" pitchFamily="49" charset="-128"/>
              <a:cs typeface="Times New Roman" panose="02020603050405020304" pitchFamily="18" charset="0"/>
            </a:endParaRPr>
          </a:p>
          <a:p>
            <a:pPr>
              <a:lnSpc>
                <a:spcPct val="115000"/>
              </a:lnSpc>
              <a:spcBef>
                <a:spcPts val="1000"/>
              </a:spcBef>
              <a:buNone/>
            </a:pPr>
            <a:r>
              <a:rPr lang="en-US" sz="2000" b="1" dirty="0">
                <a:solidFill>
                  <a:srgbClr val="4F81BD"/>
                </a:solidFill>
                <a:latin typeface="Times New Roman" panose="02020603050405020304" pitchFamily="18" charset="0"/>
                <a:ea typeface="MS Gothic" panose="020B0609070205080204" pitchFamily="49" charset="-128"/>
                <a:cs typeface="Times New Roman" panose="02020603050405020304" pitchFamily="18" charset="0"/>
              </a:rPr>
              <a:t>Check SSH Service Status</a:t>
            </a:r>
          </a:p>
          <a:p>
            <a:pPr>
              <a:lnSpc>
                <a:spcPct val="115000"/>
              </a:lnSpc>
              <a:spcAft>
                <a:spcPts val="1000"/>
              </a:spcAft>
              <a:buNone/>
            </a:pPr>
            <a:r>
              <a:rPr lang="en-US" sz="2000" dirty="0">
                <a:latin typeface="Times New Roman" panose="02020603050405020304" pitchFamily="18" charset="0"/>
                <a:ea typeface="MS Mincho" panose="02020609040205080304" pitchFamily="49" charset="-128"/>
                <a:cs typeface="Times New Roman" panose="02020603050405020304" pitchFamily="18" charset="0"/>
              </a:rPr>
              <a:t>Verify that the SSH service is running:</a:t>
            </a:r>
            <a:br>
              <a:rPr lang="en-US" sz="2000" dirty="0">
                <a:latin typeface="Times New Roman" panose="02020603050405020304" pitchFamily="18" charset="0"/>
                <a:ea typeface="MS Mincho" panose="02020609040205080304" pitchFamily="49" charset="-128"/>
                <a:cs typeface="Times New Roman" panose="02020603050405020304" pitchFamily="18" charset="0"/>
              </a:rPr>
            </a:br>
            <a:r>
              <a:rPr lang="en-US" sz="2000" dirty="0">
                <a:solidFill>
                  <a:schemeClr val="tx2"/>
                </a:solidFill>
                <a:latin typeface="Times New Roman" panose="02020603050405020304" pitchFamily="18" charset="0"/>
                <a:ea typeface="MS Mincho" panose="02020609040205080304" pitchFamily="49" charset="-128"/>
                <a:cs typeface="Times New Roman" panose="02020603050405020304" pitchFamily="18" charset="0"/>
              </a:rPr>
              <a:t>sudo </a:t>
            </a:r>
            <a:r>
              <a:rPr lang="en-US" sz="2000" dirty="0" err="1">
                <a:solidFill>
                  <a:schemeClr val="tx2"/>
                </a:solidFill>
                <a:latin typeface="Times New Roman" panose="02020603050405020304" pitchFamily="18" charset="0"/>
                <a:ea typeface="MS Mincho" panose="02020609040205080304" pitchFamily="49" charset="-128"/>
                <a:cs typeface="Times New Roman" panose="02020603050405020304" pitchFamily="18" charset="0"/>
              </a:rPr>
              <a:t>systemctl</a:t>
            </a:r>
            <a:r>
              <a:rPr lang="en-US" sz="2000" dirty="0">
                <a:solidFill>
                  <a:schemeClr val="tx2"/>
                </a:solidFill>
                <a:latin typeface="Times New Roman" panose="02020603050405020304" pitchFamily="18" charset="0"/>
                <a:ea typeface="MS Mincho" panose="02020609040205080304" pitchFamily="49" charset="-128"/>
                <a:cs typeface="Times New Roman" panose="02020603050405020304" pitchFamily="18" charset="0"/>
              </a:rPr>
              <a:t> status </a:t>
            </a:r>
            <a:r>
              <a:rPr lang="en-US" sz="2000" dirty="0" err="1">
                <a:solidFill>
                  <a:schemeClr val="tx2"/>
                </a:solidFill>
                <a:latin typeface="Times New Roman" panose="02020603050405020304" pitchFamily="18" charset="0"/>
                <a:ea typeface="MS Mincho" panose="02020609040205080304" pitchFamily="49" charset="-128"/>
                <a:cs typeface="Times New Roman" panose="02020603050405020304" pitchFamily="18" charset="0"/>
              </a:rPr>
              <a:t>sshd</a:t>
            </a:r>
            <a:endParaRPr lang="en-US" sz="2000" dirty="0">
              <a:solidFill>
                <a:schemeClr val="tx2"/>
              </a:solidFill>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6" name="TextBox 5">
            <a:extLst>
              <a:ext uri="{FF2B5EF4-FFF2-40B4-BE49-F238E27FC236}">
                <a16:creationId xmlns:a16="http://schemas.microsoft.com/office/drawing/2014/main" id="{B67C6C68-117F-8F28-EFBA-524BADFB0F94}"/>
              </a:ext>
            </a:extLst>
          </p:cNvPr>
          <p:cNvSpPr txBox="1"/>
          <p:nvPr/>
        </p:nvSpPr>
        <p:spPr>
          <a:xfrm>
            <a:off x="1859530" y="187150"/>
            <a:ext cx="5157786" cy="580672"/>
          </a:xfrm>
          <a:prstGeom prst="rect">
            <a:avLst/>
          </a:prstGeom>
          <a:noFill/>
        </p:spPr>
        <p:txBody>
          <a:bodyPr wrap="square">
            <a:spAutoFit/>
          </a:bodyPr>
          <a:lstStyle/>
          <a:p>
            <a:pPr algn="ctr">
              <a:lnSpc>
                <a:spcPct val="115000"/>
              </a:lnSpc>
              <a:spcBef>
                <a:spcPts val="2400"/>
              </a:spcBef>
              <a:buNone/>
            </a:pPr>
            <a:r>
              <a:rPr lang="en-US" sz="3000" b="1" kern="0" dirty="0">
                <a:solidFill>
                  <a:srgbClr val="365F91"/>
                </a:solidFill>
                <a:effectLst/>
                <a:latin typeface="Times New Roman" panose="02020603050405020304" pitchFamily="18" charset="0"/>
                <a:ea typeface="MS Gothic" panose="020B0609070205080204" pitchFamily="49" charset="-128"/>
                <a:cs typeface="Times New Roman" panose="02020603050405020304" pitchFamily="18" charset="0"/>
              </a:rPr>
              <a:t>SSH Server Configuration</a:t>
            </a:r>
          </a:p>
        </p:txBody>
      </p:sp>
      <p:sp>
        <p:nvSpPr>
          <p:cNvPr id="2" name="TextBox 1">
            <a:extLst>
              <a:ext uri="{FF2B5EF4-FFF2-40B4-BE49-F238E27FC236}">
                <a16:creationId xmlns:a16="http://schemas.microsoft.com/office/drawing/2014/main" id="{3EFBF6DE-534B-116B-5F48-42B71DAFFF87}"/>
              </a:ext>
            </a:extLst>
          </p:cNvPr>
          <p:cNvSpPr txBox="1"/>
          <p:nvPr/>
        </p:nvSpPr>
        <p:spPr>
          <a:xfrm>
            <a:off x="5598319" y="3122707"/>
            <a:ext cx="3408738" cy="1479700"/>
          </a:xfrm>
          <a:prstGeom prst="rect">
            <a:avLst/>
          </a:prstGeom>
          <a:noFill/>
          <a:ln>
            <a:solidFill>
              <a:schemeClr val="accent1">
                <a:lumMod val="75000"/>
              </a:schemeClr>
            </a:solidFill>
          </a:ln>
        </p:spPr>
        <p:txBody>
          <a:bodyPr wrap="square">
            <a:spAutoFit/>
          </a:bodyPr>
          <a:lstStyle/>
          <a:p>
            <a:pPr>
              <a:lnSpc>
                <a:spcPct val="115000"/>
              </a:lnSpc>
              <a:spcBef>
                <a:spcPts val="1000"/>
              </a:spcBef>
              <a:buNone/>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Test SSH Access in the client</a:t>
            </a:r>
          </a:p>
          <a:p>
            <a:pPr>
              <a:lnSpc>
                <a:spcPct val="115000"/>
              </a:lnSpc>
              <a:spcAft>
                <a:spcPts val="1000"/>
              </a:spcAft>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From a client system, connect using:</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ssh </a:t>
            </a:r>
            <a:r>
              <a:rPr lang="en-US" sz="2000" dirty="0" err="1">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username@server-ip</a:t>
            </a:r>
            <a:endParaRPr lang="en-US" sz="20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287492132"/>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715F3A4-819A-EC89-8A0B-A119F3FC9F9F}"/>
              </a:ext>
            </a:extLst>
          </p:cNvPr>
          <p:cNvSpPr txBox="1"/>
          <p:nvPr/>
        </p:nvSpPr>
        <p:spPr>
          <a:xfrm>
            <a:off x="206828" y="518081"/>
            <a:ext cx="5698672" cy="1479700"/>
          </a:xfrm>
          <a:prstGeom prst="rect">
            <a:avLst/>
          </a:prstGeom>
          <a:noFill/>
        </p:spPr>
        <p:txBody>
          <a:bodyPr wrap="square">
            <a:spAutoFit/>
          </a:bodyPr>
          <a:lstStyle/>
          <a:p>
            <a:pPr>
              <a:lnSpc>
                <a:spcPct val="115000"/>
              </a:lnSpc>
              <a:spcBef>
                <a:spcPts val="1000"/>
              </a:spcBef>
              <a:buNone/>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Configure Firewall to Allow SSH</a:t>
            </a:r>
          </a:p>
          <a:p>
            <a:pPr>
              <a:lnSpc>
                <a:spcPct val="115000"/>
              </a:lnSpc>
              <a:spcAft>
                <a:spcPts val="1000"/>
              </a:spcAft>
              <a:buNone/>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If `</a:t>
            </a:r>
            <a:r>
              <a:rPr lang="en-US" sz="2000" dirty="0" err="1">
                <a:effectLst/>
                <a:latin typeface="Times New Roman" panose="02020603050405020304" pitchFamily="18" charset="0"/>
                <a:ea typeface="MS Mincho" panose="02020609040205080304" pitchFamily="49" charset="-128"/>
                <a:cs typeface="Times New Roman" panose="02020603050405020304" pitchFamily="18" charset="0"/>
              </a:rPr>
              <a:t>firewalld</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is active, allow SSH traffic:</a:t>
            </a:r>
            <a:b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sudo firewall-</a:t>
            </a:r>
            <a:r>
              <a:rPr lang="en-US" sz="2000" dirty="0" err="1">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cmd</a:t>
            </a:r>
            <a:r>
              <a:rPr lang="en-US" sz="20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 --permanent --add-service=ssh</a:t>
            </a:r>
            <a:br>
              <a:rPr lang="en-US" sz="20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br>
            <a:r>
              <a:rPr lang="en-US" sz="20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sudo firewall-</a:t>
            </a:r>
            <a:r>
              <a:rPr lang="en-US" sz="2000" dirty="0" err="1">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cmd</a:t>
            </a:r>
            <a:r>
              <a:rPr lang="en-US" sz="20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 --reload</a:t>
            </a:r>
          </a:p>
        </p:txBody>
      </p:sp>
      <p:sp>
        <p:nvSpPr>
          <p:cNvPr id="3" name="TextBox 2">
            <a:extLst>
              <a:ext uri="{FF2B5EF4-FFF2-40B4-BE49-F238E27FC236}">
                <a16:creationId xmlns:a16="http://schemas.microsoft.com/office/drawing/2014/main" id="{6E53C36E-128B-A09F-7B0F-57FB48B8DCE7}"/>
              </a:ext>
            </a:extLst>
          </p:cNvPr>
          <p:cNvSpPr txBox="1"/>
          <p:nvPr/>
        </p:nvSpPr>
        <p:spPr>
          <a:xfrm>
            <a:off x="206828" y="2776388"/>
            <a:ext cx="3107267" cy="738664"/>
          </a:xfrm>
          <a:prstGeom prst="rect">
            <a:avLst/>
          </a:prstGeom>
          <a:noFill/>
        </p:spPr>
        <p:txBody>
          <a:bodyPr wrap="square">
            <a:spAutoFit/>
          </a:bodyPr>
          <a:lstStyle/>
          <a:p>
            <a:r>
              <a:rPr lang="en-IN" dirty="0"/>
              <a:t>ss -</a:t>
            </a:r>
            <a:r>
              <a:rPr lang="en-IN" dirty="0" err="1"/>
              <a:t>tulnp</a:t>
            </a:r>
            <a:r>
              <a:rPr lang="en-IN" dirty="0"/>
              <a:t> | grep ssh</a:t>
            </a:r>
          </a:p>
          <a:p>
            <a:r>
              <a:rPr lang="en-US" dirty="0"/>
              <a:t>Confirms SSH is listening on port 22.</a:t>
            </a:r>
          </a:p>
          <a:p>
            <a:endParaRPr lang="en-IN" dirty="0"/>
          </a:p>
        </p:txBody>
      </p:sp>
    </p:spTree>
    <p:extLst>
      <p:ext uri="{BB962C8B-B14F-4D97-AF65-F5344CB8AC3E}">
        <p14:creationId xmlns:p14="http://schemas.microsoft.com/office/powerpoint/2010/main" val="202944297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B90716-AA84-D3D4-F210-E120BBADDB82}"/>
              </a:ext>
            </a:extLst>
          </p:cNvPr>
          <p:cNvSpPr txBox="1"/>
          <p:nvPr/>
        </p:nvSpPr>
        <p:spPr>
          <a:xfrm>
            <a:off x="1461804" y="405163"/>
            <a:ext cx="6220392" cy="4333174"/>
          </a:xfrm>
          <a:prstGeom prst="rect">
            <a:avLst/>
          </a:prstGeom>
          <a:noFill/>
        </p:spPr>
        <p:txBody>
          <a:bodyPr wrap="square">
            <a:spAutoFit/>
          </a:bodyPr>
          <a:lstStyle/>
          <a:p>
            <a:pPr>
              <a:lnSpc>
                <a:spcPct val="115000"/>
              </a:lnSpc>
              <a:spcBef>
                <a:spcPts val="1000"/>
              </a:spcBef>
              <a:buNone/>
            </a:pPr>
            <a:r>
              <a:rPr lang="en-US" sz="20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rPr>
              <a:t>Modify SSH Server Configuration (Optional)</a:t>
            </a:r>
          </a:p>
          <a:p>
            <a:pPr>
              <a:lnSpc>
                <a:spcPct val="115000"/>
              </a:lnSpc>
              <a:spcAft>
                <a:spcPts val="1000"/>
              </a:spcAft>
              <a:buNone/>
            </a:pPr>
            <a: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t>Edit the SSH configuration file to customize settings:</a:t>
            </a:r>
            <a:b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17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sudo vim /</a:t>
            </a:r>
            <a:r>
              <a:rPr lang="en-US" sz="1700" dirty="0" err="1">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etc</a:t>
            </a:r>
            <a:r>
              <a:rPr lang="en-US" sz="1700" dirty="0">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/ssh/</a:t>
            </a:r>
            <a:r>
              <a:rPr lang="en-US" sz="1700" dirty="0" err="1">
                <a:solidFill>
                  <a:schemeClr val="tx2"/>
                </a:solidFill>
                <a:effectLst/>
                <a:latin typeface="Times New Roman" panose="02020603050405020304" pitchFamily="18" charset="0"/>
                <a:ea typeface="MS Mincho" panose="02020609040205080304" pitchFamily="49" charset="-128"/>
                <a:cs typeface="Times New Roman" panose="02020603050405020304" pitchFamily="18" charset="0"/>
              </a:rPr>
              <a:t>sshd_config</a:t>
            </a:r>
            <a:b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br>
            <a:b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t>Common changes:</a:t>
            </a:r>
            <a:b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t>- Change default SSH port:</a:t>
            </a:r>
            <a:b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t>  Port 2222</a:t>
            </a:r>
            <a:b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t>- Disable root login:</a:t>
            </a:r>
            <a:b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700" dirty="0" err="1">
                <a:effectLst/>
                <a:latin typeface="Times New Roman" panose="02020603050405020304" pitchFamily="18" charset="0"/>
                <a:ea typeface="MS Mincho" panose="02020609040205080304" pitchFamily="49" charset="-128"/>
                <a:cs typeface="Times New Roman" panose="02020603050405020304" pitchFamily="18" charset="0"/>
              </a:rPr>
              <a:t>PermitRootLogin</a:t>
            </a:r>
            <a: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t> no / yes</a:t>
            </a:r>
            <a:b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t>- Allow only specific users:</a:t>
            </a:r>
            <a:b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700" dirty="0" err="1">
                <a:effectLst/>
                <a:latin typeface="Times New Roman" panose="02020603050405020304" pitchFamily="18" charset="0"/>
                <a:ea typeface="MS Mincho" panose="02020609040205080304" pitchFamily="49" charset="-128"/>
                <a:cs typeface="Times New Roman" panose="02020603050405020304" pitchFamily="18" charset="0"/>
              </a:rPr>
              <a:t>AllowUsers</a:t>
            </a:r>
            <a: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t> username1 username2</a:t>
            </a:r>
            <a:b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br>
            <a:b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t>After editing, restart SSH service:</a:t>
            </a:r>
            <a:b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br>
            <a: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t>sudo </a:t>
            </a:r>
            <a:r>
              <a:rPr lang="en-US" sz="1700" dirty="0" err="1">
                <a:effectLst/>
                <a:latin typeface="Times New Roman" panose="02020603050405020304" pitchFamily="18" charset="0"/>
                <a:ea typeface="MS Mincho" panose="02020609040205080304" pitchFamily="49" charset="-128"/>
                <a:cs typeface="Times New Roman" panose="02020603050405020304" pitchFamily="18" charset="0"/>
              </a:rPr>
              <a:t>systemctl</a:t>
            </a:r>
            <a:r>
              <a:rPr lang="en-US" sz="1700" dirty="0">
                <a:effectLst/>
                <a:latin typeface="Times New Roman" panose="02020603050405020304" pitchFamily="18" charset="0"/>
                <a:ea typeface="MS Mincho" panose="02020609040205080304" pitchFamily="49" charset="-128"/>
                <a:cs typeface="Times New Roman" panose="02020603050405020304" pitchFamily="18" charset="0"/>
              </a:rPr>
              <a:t> restart </a:t>
            </a:r>
            <a:r>
              <a:rPr lang="en-US" sz="1700" dirty="0" err="1">
                <a:effectLst/>
                <a:latin typeface="Times New Roman" panose="02020603050405020304" pitchFamily="18" charset="0"/>
                <a:ea typeface="MS Mincho" panose="02020609040205080304" pitchFamily="49" charset="-128"/>
                <a:cs typeface="Times New Roman" panose="02020603050405020304" pitchFamily="18" charset="0"/>
              </a:rPr>
              <a:t>sshd</a:t>
            </a:r>
            <a:endParaRPr lang="en-US" sz="17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2545956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A02FEB-68AD-8AC9-1FFB-4F1BA43E9426}"/>
              </a:ext>
            </a:extLst>
          </p:cNvPr>
          <p:cNvPicPr>
            <a:picLocks noChangeAspect="1"/>
          </p:cNvPicPr>
          <p:nvPr/>
        </p:nvPicPr>
        <p:blipFill>
          <a:blip r:embed="rId2"/>
          <a:stretch>
            <a:fillRect/>
          </a:stretch>
        </p:blipFill>
        <p:spPr>
          <a:xfrm>
            <a:off x="1394969" y="115747"/>
            <a:ext cx="6354062" cy="4961427"/>
          </a:xfrm>
          <a:prstGeom prst="rect">
            <a:avLst/>
          </a:prstGeom>
        </p:spPr>
      </p:pic>
    </p:spTree>
    <p:extLst>
      <p:ext uri="{BB962C8B-B14F-4D97-AF65-F5344CB8AC3E}">
        <p14:creationId xmlns:p14="http://schemas.microsoft.com/office/powerpoint/2010/main" val="41650194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4840A-77C0-42C5-4480-6560F53F22DB}"/>
              </a:ext>
            </a:extLst>
          </p:cNvPr>
          <p:cNvSpPr>
            <a:spLocks noGrp="1"/>
          </p:cNvSpPr>
          <p:nvPr>
            <p:ph type="title"/>
          </p:nvPr>
        </p:nvSpPr>
        <p:spPr/>
        <p:txBody>
          <a:bodyPr/>
          <a:lstStyle/>
          <a:p>
            <a:r>
              <a:rPr lang="en-IN" dirty="0"/>
              <a:t>Access from Windows</a:t>
            </a:r>
          </a:p>
        </p:txBody>
      </p:sp>
      <p:sp>
        <p:nvSpPr>
          <p:cNvPr id="4" name="TextBox 3">
            <a:extLst>
              <a:ext uri="{FF2B5EF4-FFF2-40B4-BE49-F238E27FC236}">
                <a16:creationId xmlns:a16="http://schemas.microsoft.com/office/drawing/2014/main" id="{9D3A37C5-4C6D-4BD9-D2B9-5C56887476AC}"/>
              </a:ext>
            </a:extLst>
          </p:cNvPr>
          <p:cNvSpPr txBox="1"/>
          <p:nvPr/>
        </p:nvSpPr>
        <p:spPr>
          <a:xfrm>
            <a:off x="1871133" y="1883714"/>
            <a:ext cx="5164666" cy="1600438"/>
          </a:xfrm>
          <a:prstGeom prst="rect">
            <a:avLst/>
          </a:prstGeom>
          <a:noFill/>
        </p:spPr>
        <p:txBody>
          <a:bodyPr wrap="square">
            <a:spAutoFit/>
          </a:bodyPr>
          <a:lstStyle/>
          <a:p>
            <a:r>
              <a:rPr lang="en-IN" dirty="0"/>
              <a:t>Command Prompt Method:</a:t>
            </a:r>
          </a:p>
          <a:p>
            <a:r>
              <a:rPr lang="en-IN" dirty="0"/>
              <a:t>ssh student1@192.168.137.128</a:t>
            </a:r>
          </a:p>
          <a:p>
            <a:endParaRPr lang="en-IN" dirty="0"/>
          </a:p>
          <a:p>
            <a:r>
              <a:rPr lang="en-IN" dirty="0"/>
              <a:t>Login using Linux username &amp; password.</a:t>
            </a:r>
          </a:p>
          <a:p>
            <a:endParaRPr lang="en-IN" dirty="0"/>
          </a:p>
          <a:p>
            <a:r>
              <a:rPr lang="en-IN" dirty="0"/>
              <a:t>PuTTY Method:</a:t>
            </a:r>
          </a:p>
          <a:p>
            <a:r>
              <a:rPr lang="en-IN" dirty="0"/>
              <a:t>Enter IP, Port 22, Click Open.</a:t>
            </a:r>
          </a:p>
        </p:txBody>
      </p:sp>
    </p:spTree>
    <p:extLst>
      <p:ext uri="{BB962C8B-B14F-4D97-AF65-F5344CB8AC3E}">
        <p14:creationId xmlns:p14="http://schemas.microsoft.com/office/powerpoint/2010/main" val="97317342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0F108-7F28-BC59-2AFC-7643111F2D35}"/>
              </a:ext>
            </a:extLst>
          </p:cNvPr>
          <p:cNvSpPr>
            <a:spLocks noGrp="1"/>
          </p:cNvSpPr>
          <p:nvPr>
            <p:ph type="title"/>
          </p:nvPr>
        </p:nvSpPr>
        <p:spPr/>
        <p:txBody>
          <a:bodyPr/>
          <a:lstStyle/>
          <a:p>
            <a:r>
              <a:rPr lang="en-IN" dirty="0"/>
              <a:t>SSH Key-Based Authentication</a:t>
            </a:r>
          </a:p>
        </p:txBody>
      </p:sp>
      <p:sp>
        <p:nvSpPr>
          <p:cNvPr id="4" name="TextBox 3">
            <a:extLst>
              <a:ext uri="{FF2B5EF4-FFF2-40B4-BE49-F238E27FC236}">
                <a16:creationId xmlns:a16="http://schemas.microsoft.com/office/drawing/2014/main" id="{CF86D073-AD38-6AB5-B7A9-4A296DECA095}"/>
              </a:ext>
            </a:extLst>
          </p:cNvPr>
          <p:cNvSpPr txBox="1"/>
          <p:nvPr/>
        </p:nvSpPr>
        <p:spPr>
          <a:xfrm>
            <a:off x="1871133" y="1883714"/>
            <a:ext cx="5164666" cy="1600438"/>
          </a:xfrm>
          <a:prstGeom prst="rect">
            <a:avLst/>
          </a:prstGeom>
          <a:noFill/>
        </p:spPr>
        <p:txBody>
          <a:bodyPr wrap="square">
            <a:spAutoFit/>
          </a:bodyPr>
          <a:lstStyle/>
          <a:p>
            <a:r>
              <a:rPr lang="en-US" dirty="0"/>
              <a:t>Client Side:</a:t>
            </a:r>
          </a:p>
          <a:p>
            <a:r>
              <a:rPr lang="en-US" dirty="0"/>
              <a:t>ssh-keygen</a:t>
            </a:r>
          </a:p>
          <a:p>
            <a:endParaRPr lang="en-US" dirty="0"/>
          </a:p>
          <a:p>
            <a:r>
              <a:rPr lang="en-US" dirty="0"/>
              <a:t>Copy Key:</a:t>
            </a:r>
          </a:p>
          <a:p>
            <a:r>
              <a:rPr lang="en-US" dirty="0"/>
              <a:t>ssh-copy-id student1@192.168.137.128</a:t>
            </a:r>
          </a:p>
          <a:p>
            <a:endParaRPr lang="en-US" dirty="0"/>
          </a:p>
          <a:p>
            <a:r>
              <a:rPr lang="en-US" dirty="0"/>
              <a:t>Login without password using SSH key.</a:t>
            </a:r>
          </a:p>
        </p:txBody>
      </p:sp>
    </p:spTree>
    <p:extLst>
      <p:ext uri="{BB962C8B-B14F-4D97-AF65-F5344CB8AC3E}">
        <p14:creationId xmlns:p14="http://schemas.microsoft.com/office/powerpoint/2010/main" val="516317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8BBAF-0EA9-A3E4-A237-4C5B0ABA0178}"/>
              </a:ext>
            </a:extLst>
          </p:cNvPr>
          <p:cNvSpPr>
            <a:spLocks noGrp="1"/>
          </p:cNvSpPr>
          <p:nvPr>
            <p:ph type="title"/>
          </p:nvPr>
        </p:nvSpPr>
        <p:spPr/>
        <p:txBody>
          <a:bodyPr/>
          <a:lstStyle/>
          <a:p>
            <a:r>
              <a:rPr lang="en-IN" dirty="0"/>
              <a:t>Final Workflow Summary</a:t>
            </a:r>
          </a:p>
        </p:txBody>
      </p:sp>
      <p:sp>
        <p:nvSpPr>
          <p:cNvPr id="4" name="TextBox 3">
            <a:extLst>
              <a:ext uri="{FF2B5EF4-FFF2-40B4-BE49-F238E27FC236}">
                <a16:creationId xmlns:a16="http://schemas.microsoft.com/office/drawing/2014/main" id="{03A2EE72-114C-CB37-9E46-649E6509879B}"/>
              </a:ext>
            </a:extLst>
          </p:cNvPr>
          <p:cNvSpPr txBox="1"/>
          <p:nvPr/>
        </p:nvSpPr>
        <p:spPr>
          <a:xfrm>
            <a:off x="1871133" y="2099158"/>
            <a:ext cx="5164666" cy="1169551"/>
          </a:xfrm>
          <a:prstGeom prst="rect">
            <a:avLst/>
          </a:prstGeom>
          <a:noFill/>
        </p:spPr>
        <p:txBody>
          <a:bodyPr wrap="square">
            <a:spAutoFit/>
          </a:bodyPr>
          <a:lstStyle/>
          <a:p>
            <a:r>
              <a:rPr lang="en-US" dirty="0"/>
              <a:t>1. Install OpenSSH</a:t>
            </a:r>
          </a:p>
          <a:p>
            <a:r>
              <a:rPr lang="en-US" dirty="0"/>
              <a:t>2. Start &amp; Enable service</a:t>
            </a:r>
          </a:p>
          <a:p>
            <a:r>
              <a:rPr lang="en-US" dirty="0"/>
              <a:t>3. Configure firewall</a:t>
            </a:r>
          </a:p>
          <a:p>
            <a:r>
              <a:rPr lang="en-US" dirty="0"/>
              <a:t>4. Test SSH connection</a:t>
            </a:r>
          </a:p>
          <a:p>
            <a:r>
              <a:rPr lang="en-US" dirty="0"/>
              <a:t>5. Secure SSH configuration</a:t>
            </a:r>
          </a:p>
        </p:txBody>
      </p:sp>
    </p:spTree>
    <p:extLst>
      <p:ext uri="{BB962C8B-B14F-4D97-AF65-F5344CB8AC3E}">
        <p14:creationId xmlns:p14="http://schemas.microsoft.com/office/powerpoint/2010/main" val="3052392128"/>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7AA2E-85DF-2F56-9A04-02E35A696316}"/>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Samba Configuration</a:t>
            </a:r>
          </a:p>
        </p:txBody>
      </p:sp>
      <p:sp>
        <p:nvSpPr>
          <p:cNvPr id="4" name="TextBox 3">
            <a:extLst>
              <a:ext uri="{FF2B5EF4-FFF2-40B4-BE49-F238E27FC236}">
                <a16:creationId xmlns:a16="http://schemas.microsoft.com/office/drawing/2014/main" id="{55DCE474-0CB1-1646-D553-7BA1700C68F6}"/>
              </a:ext>
            </a:extLst>
          </p:cNvPr>
          <p:cNvSpPr txBox="1"/>
          <p:nvPr/>
        </p:nvSpPr>
        <p:spPr>
          <a:xfrm>
            <a:off x="431186" y="1362630"/>
            <a:ext cx="1968373" cy="400110"/>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What is Samba?</a:t>
            </a:r>
          </a:p>
        </p:txBody>
      </p:sp>
      <p:sp>
        <p:nvSpPr>
          <p:cNvPr id="6" name="TextBox 5">
            <a:extLst>
              <a:ext uri="{FF2B5EF4-FFF2-40B4-BE49-F238E27FC236}">
                <a16:creationId xmlns:a16="http://schemas.microsoft.com/office/drawing/2014/main" id="{76A808D1-F10D-111A-7221-D6A75D476EF2}"/>
              </a:ext>
            </a:extLst>
          </p:cNvPr>
          <p:cNvSpPr txBox="1"/>
          <p:nvPr/>
        </p:nvSpPr>
        <p:spPr>
          <a:xfrm>
            <a:off x="431186" y="1773970"/>
            <a:ext cx="6651733" cy="70788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Samba is a service that allows file and printer sharing</a:t>
            </a:r>
          </a:p>
          <a:p>
            <a:r>
              <a:rPr lang="en-US" sz="2000" dirty="0">
                <a:latin typeface="Times New Roman" panose="02020603050405020304" pitchFamily="18" charset="0"/>
                <a:cs typeface="Times New Roman" panose="02020603050405020304" pitchFamily="18" charset="0"/>
              </a:rPr>
              <a:t>between Linux and Windows systems using SMB protocol.</a:t>
            </a:r>
          </a:p>
        </p:txBody>
      </p:sp>
      <p:sp>
        <p:nvSpPr>
          <p:cNvPr id="8" name="TextBox 7">
            <a:extLst>
              <a:ext uri="{FF2B5EF4-FFF2-40B4-BE49-F238E27FC236}">
                <a16:creationId xmlns:a16="http://schemas.microsoft.com/office/drawing/2014/main" id="{16DCED99-0C4A-57C9-4213-8FB8E3628096}"/>
              </a:ext>
            </a:extLst>
          </p:cNvPr>
          <p:cNvSpPr txBox="1"/>
          <p:nvPr/>
        </p:nvSpPr>
        <p:spPr>
          <a:xfrm>
            <a:off x="1990846" y="2571750"/>
            <a:ext cx="5162308"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Why We Use Samba?</a:t>
            </a:r>
          </a:p>
        </p:txBody>
      </p:sp>
      <p:sp>
        <p:nvSpPr>
          <p:cNvPr id="10" name="TextBox 9">
            <a:extLst>
              <a:ext uri="{FF2B5EF4-FFF2-40B4-BE49-F238E27FC236}">
                <a16:creationId xmlns:a16="http://schemas.microsoft.com/office/drawing/2014/main" id="{012A394B-378C-9979-8A00-6CD52B2A6881}"/>
              </a:ext>
            </a:extLst>
          </p:cNvPr>
          <p:cNvSpPr txBox="1"/>
          <p:nvPr/>
        </p:nvSpPr>
        <p:spPr>
          <a:xfrm>
            <a:off x="431186" y="3316765"/>
            <a:ext cx="5162308"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 Share files from Linux to Windows</a:t>
            </a:r>
          </a:p>
          <a:p>
            <a:r>
              <a:rPr lang="en-US" sz="2000" dirty="0">
                <a:latin typeface="Times New Roman" panose="02020603050405020304" pitchFamily="18" charset="0"/>
                <a:cs typeface="Times New Roman" panose="02020603050405020304" pitchFamily="18" charset="0"/>
              </a:rPr>
              <a:t>• Centralized file server</a:t>
            </a:r>
          </a:p>
          <a:p>
            <a:r>
              <a:rPr lang="en-US" sz="2000" dirty="0">
                <a:latin typeface="Times New Roman" panose="02020603050405020304" pitchFamily="18" charset="0"/>
                <a:cs typeface="Times New Roman" panose="02020603050405020304" pitchFamily="18" charset="0"/>
              </a:rPr>
              <a:t>• User-based secure access</a:t>
            </a:r>
          </a:p>
          <a:p>
            <a:r>
              <a:rPr lang="en-US" sz="2000" dirty="0">
                <a:latin typeface="Times New Roman" panose="02020603050405020304" pitchFamily="18" charset="0"/>
                <a:cs typeface="Times New Roman" panose="02020603050405020304" pitchFamily="18" charset="0"/>
              </a:rPr>
              <a:t>• Lab and office file sharing</a:t>
            </a:r>
          </a:p>
        </p:txBody>
      </p:sp>
    </p:spTree>
    <p:extLst>
      <p:ext uri="{BB962C8B-B14F-4D97-AF65-F5344CB8AC3E}">
        <p14:creationId xmlns:p14="http://schemas.microsoft.com/office/powerpoint/2010/main" val="283533141"/>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80A7063-1FA3-3832-F39D-E89D70681754}"/>
              </a:ext>
            </a:extLst>
          </p:cNvPr>
          <p:cNvSpPr txBox="1"/>
          <p:nvPr/>
        </p:nvSpPr>
        <p:spPr>
          <a:xfrm>
            <a:off x="480092" y="1140589"/>
            <a:ext cx="6609821" cy="2862322"/>
          </a:xfrm>
          <a:prstGeom prst="rect">
            <a:avLst/>
          </a:prstGeom>
          <a:noFill/>
        </p:spPr>
        <p:txBody>
          <a:bodyPr wrap="square">
            <a:spAutoFit/>
          </a:bodyPr>
          <a:lstStyle/>
          <a:p>
            <a:r>
              <a:rPr lang="en-US" sz="2000" dirty="0" err="1">
                <a:highlight>
                  <a:srgbClr val="FFFF00"/>
                </a:highlight>
                <a:latin typeface="Times New Roman" panose="02020603050405020304" pitchFamily="18" charset="0"/>
                <a:cs typeface="Times New Roman" panose="02020603050405020304" pitchFamily="18" charset="0"/>
              </a:rPr>
              <a:t>dnf</a:t>
            </a:r>
            <a:r>
              <a:rPr lang="en-US" sz="2000" dirty="0">
                <a:highlight>
                  <a:srgbClr val="FFFF00"/>
                </a:highlight>
                <a:latin typeface="Times New Roman" panose="02020603050405020304" pitchFamily="18" charset="0"/>
                <a:cs typeface="Times New Roman" panose="02020603050405020304" pitchFamily="18" charset="0"/>
              </a:rPr>
              <a:t> install samba samba-client samba-common -y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Installs Samba server and required packages.</a:t>
            </a:r>
          </a:p>
          <a:p>
            <a:endParaRPr lang="en-US" sz="2000" dirty="0">
              <a:latin typeface="Times New Roman" panose="02020603050405020304" pitchFamily="18" charset="0"/>
              <a:cs typeface="Times New Roman" panose="02020603050405020304" pitchFamily="18" charset="0"/>
            </a:endParaRPr>
          </a:p>
          <a:p>
            <a:r>
              <a:rPr lang="en-US" sz="2000" dirty="0" err="1">
                <a:highlight>
                  <a:srgbClr val="FFFF00"/>
                </a:highlight>
                <a:latin typeface="Times New Roman" panose="02020603050405020304" pitchFamily="18" charset="0"/>
                <a:cs typeface="Times New Roman" panose="02020603050405020304" pitchFamily="18" charset="0"/>
              </a:rPr>
              <a:t>systemctl</a:t>
            </a:r>
            <a:r>
              <a:rPr lang="en-US" sz="2000" dirty="0">
                <a:highlight>
                  <a:srgbClr val="FFFF00"/>
                </a:highlight>
                <a:latin typeface="Times New Roman" panose="02020603050405020304" pitchFamily="18" charset="0"/>
                <a:cs typeface="Times New Roman" panose="02020603050405020304" pitchFamily="18" charset="0"/>
              </a:rPr>
              <a:t> start </a:t>
            </a:r>
            <a:r>
              <a:rPr lang="en-US" sz="2000" dirty="0" err="1">
                <a:highlight>
                  <a:srgbClr val="FFFF00"/>
                </a:highlight>
                <a:latin typeface="Times New Roman" panose="02020603050405020304" pitchFamily="18" charset="0"/>
                <a:cs typeface="Times New Roman" panose="02020603050405020304" pitchFamily="18" charset="0"/>
              </a:rPr>
              <a:t>smb</a:t>
            </a:r>
            <a:endParaRPr lang="en-US" sz="2000" dirty="0">
              <a:highlight>
                <a:srgbClr val="FFFF00"/>
              </a:highlight>
              <a:latin typeface="Times New Roman" panose="02020603050405020304" pitchFamily="18" charset="0"/>
              <a:cs typeface="Times New Roman" panose="02020603050405020304" pitchFamily="18" charset="0"/>
            </a:endParaRPr>
          </a:p>
          <a:p>
            <a:r>
              <a:rPr lang="en-US" sz="2000" dirty="0" err="1">
                <a:highlight>
                  <a:srgbClr val="FFFF00"/>
                </a:highlight>
                <a:latin typeface="Times New Roman" panose="02020603050405020304" pitchFamily="18" charset="0"/>
                <a:cs typeface="Times New Roman" panose="02020603050405020304" pitchFamily="18" charset="0"/>
              </a:rPr>
              <a:t>systemctl</a:t>
            </a:r>
            <a:r>
              <a:rPr lang="en-US" sz="2000" dirty="0">
                <a:highlight>
                  <a:srgbClr val="FFFF00"/>
                </a:highlight>
                <a:latin typeface="Times New Roman" panose="02020603050405020304" pitchFamily="18" charset="0"/>
                <a:cs typeface="Times New Roman" panose="02020603050405020304" pitchFamily="18" charset="0"/>
              </a:rPr>
              <a:t> enable </a:t>
            </a:r>
            <a:r>
              <a:rPr lang="en-US" sz="2000" dirty="0" err="1">
                <a:highlight>
                  <a:srgbClr val="FFFF00"/>
                </a:highlight>
                <a:latin typeface="Times New Roman" panose="02020603050405020304" pitchFamily="18" charset="0"/>
                <a:cs typeface="Times New Roman" panose="02020603050405020304" pitchFamily="18" charset="0"/>
              </a:rPr>
              <a:t>smb</a:t>
            </a:r>
            <a:endParaRPr lang="en-US" sz="2000" dirty="0">
              <a:highlight>
                <a:srgbClr val="FFFF00"/>
              </a:highlight>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Starts Samba now and at boot time.</a:t>
            </a:r>
          </a:p>
          <a:p>
            <a:endParaRPr lang="en-US" sz="2000"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59724437-8A35-274B-FCFE-61D1F0FE1782}"/>
              </a:ext>
            </a:extLst>
          </p:cNvPr>
          <p:cNvSpPr>
            <a:spLocks noGrp="1"/>
          </p:cNvSpPr>
          <p:nvPr>
            <p:ph type="title"/>
          </p:nvPr>
        </p:nvSpPr>
        <p:spPr>
          <a:xfrm>
            <a:off x="480092" y="215900"/>
            <a:ext cx="9856471" cy="573088"/>
          </a:xfrm>
        </p:spPr>
        <p:txBody>
          <a:bodyPr/>
          <a:lstStyle/>
          <a:p>
            <a:r>
              <a:rPr sz="2000" dirty="0">
                <a:latin typeface="Times New Roman" panose="02020603050405020304" pitchFamily="18" charset="0"/>
                <a:cs typeface="Times New Roman" panose="02020603050405020304" pitchFamily="18" charset="0"/>
              </a:rPr>
              <a:t>Step 1: Install Samba</a:t>
            </a:r>
          </a:p>
        </p:txBody>
      </p:sp>
    </p:spTree>
    <p:extLst>
      <p:ext uri="{BB962C8B-B14F-4D97-AF65-F5344CB8AC3E}">
        <p14:creationId xmlns:p14="http://schemas.microsoft.com/office/powerpoint/2010/main" val="2171505688"/>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AD163-B2CA-B57C-6EC9-10D92962B00F}"/>
              </a:ext>
            </a:extLst>
          </p:cNvPr>
          <p:cNvSpPr>
            <a:spLocks noGrp="1"/>
          </p:cNvSpPr>
          <p:nvPr>
            <p:ph type="title"/>
          </p:nvPr>
        </p:nvSpPr>
        <p:spPr>
          <a:xfrm>
            <a:off x="720000" y="445025"/>
            <a:ext cx="3261691" cy="572700"/>
          </a:xfrm>
        </p:spPr>
        <p:txBody>
          <a:bodyPr/>
          <a:lstStyle/>
          <a:p>
            <a:r>
              <a:rPr lang="en-US" sz="2000" dirty="0">
                <a:latin typeface="Times New Roman" panose="02020603050405020304" pitchFamily="18" charset="0"/>
                <a:cs typeface="Times New Roman" panose="02020603050405020304" pitchFamily="18" charset="0"/>
              </a:rPr>
              <a:t>Step 3: Create Linux User</a:t>
            </a: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B090BC7-5EE1-7A50-97A0-23D1FDA78E8B}"/>
              </a:ext>
            </a:extLst>
          </p:cNvPr>
          <p:cNvSpPr txBox="1"/>
          <p:nvPr/>
        </p:nvSpPr>
        <p:spPr>
          <a:xfrm>
            <a:off x="720000" y="1017725"/>
            <a:ext cx="4584252" cy="1323439"/>
          </a:xfrm>
          <a:prstGeom prst="rect">
            <a:avLst/>
          </a:prstGeom>
          <a:noFill/>
        </p:spPr>
        <p:txBody>
          <a:bodyPr wrap="square">
            <a:spAutoFit/>
          </a:bodyPr>
          <a:lstStyle/>
          <a:p>
            <a:r>
              <a:rPr lang="en-US" sz="2000" dirty="0" err="1">
                <a:highlight>
                  <a:srgbClr val="FFFF00"/>
                </a:highlight>
                <a:latin typeface="Times New Roman" panose="02020603050405020304" pitchFamily="18" charset="0"/>
                <a:cs typeface="Times New Roman" panose="02020603050405020304" pitchFamily="18" charset="0"/>
              </a:rPr>
              <a:t>useradd</a:t>
            </a:r>
            <a:r>
              <a:rPr lang="en-US" sz="2000" dirty="0">
                <a:highlight>
                  <a:srgbClr val="FFFF00"/>
                </a:highlight>
                <a:latin typeface="Times New Roman" panose="02020603050405020304" pitchFamily="18" charset="0"/>
                <a:cs typeface="Times New Roman" panose="02020603050405020304" pitchFamily="18" charset="0"/>
              </a:rPr>
              <a:t> student1</a:t>
            </a:r>
          </a:p>
          <a:p>
            <a:r>
              <a:rPr lang="en-US" sz="2000" dirty="0">
                <a:highlight>
                  <a:srgbClr val="FFFF00"/>
                </a:highlight>
                <a:latin typeface="Times New Roman" panose="02020603050405020304" pitchFamily="18" charset="0"/>
                <a:cs typeface="Times New Roman" panose="02020603050405020304" pitchFamily="18" charset="0"/>
              </a:rPr>
              <a:t>passwd student1</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Creates local Linux user account.</a:t>
            </a:r>
          </a:p>
        </p:txBody>
      </p:sp>
      <p:sp>
        <p:nvSpPr>
          <p:cNvPr id="3" name="Title 1">
            <a:extLst>
              <a:ext uri="{FF2B5EF4-FFF2-40B4-BE49-F238E27FC236}">
                <a16:creationId xmlns:a16="http://schemas.microsoft.com/office/drawing/2014/main" id="{F1952E32-6430-2051-C061-902A80E4D7AB}"/>
              </a:ext>
            </a:extLst>
          </p:cNvPr>
          <p:cNvSpPr txBox="1">
            <a:spLocks/>
          </p:cNvSpPr>
          <p:nvPr/>
        </p:nvSpPr>
        <p:spPr>
          <a:xfrm>
            <a:off x="720000" y="2392650"/>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US" sz="2000">
                <a:latin typeface="Times New Roman" panose="02020603050405020304" pitchFamily="18" charset="0"/>
                <a:cs typeface="Times New Roman" panose="02020603050405020304" pitchFamily="18" charset="0"/>
              </a:rPr>
              <a:t>Step 4: Add Samba User</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99B8885-2CA2-6B3E-C62D-626567B26B8B}"/>
              </a:ext>
            </a:extLst>
          </p:cNvPr>
          <p:cNvSpPr txBox="1"/>
          <p:nvPr/>
        </p:nvSpPr>
        <p:spPr>
          <a:xfrm>
            <a:off x="720000" y="2965350"/>
            <a:ext cx="5165386" cy="1323439"/>
          </a:xfrm>
          <a:prstGeom prst="rect">
            <a:avLst/>
          </a:prstGeom>
          <a:noFill/>
        </p:spPr>
        <p:txBody>
          <a:bodyPr wrap="square">
            <a:spAutoFit/>
          </a:bodyPr>
          <a:lstStyle/>
          <a:p>
            <a:r>
              <a:rPr lang="en-IN" sz="2000" dirty="0" err="1">
                <a:highlight>
                  <a:srgbClr val="FFFF00"/>
                </a:highlight>
                <a:latin typeface="Times New Roman" panose="02020603050405020304" pitchFamily="18" charset="0"/>
                <a:cs typeface="Times New Roman" panose="02020603050405020304" pitchFamily="18" charset="0"/>
              </a:rPr>
              <a:t>smbpasswd</a:t>
            </a:r>
            <a:r>
              <a:rPr lang="en-IN" sz="2000" dirty="0">
                <a:highlight>
                  <a:srgbClr val="FFFF00"/>
                </a:highlight>
                <a:latin typeface="Times New Roman" panose="02020603050405020304" pitchFamily="18" charset="0"/>
                <a:cs typeface="Times New Roman" panose="02020603050405020304" pitchFamily="18" charset="0"/>
              </a:rPr>
              <a:t> -a student1</a:t>
            </a:r>
          </a:p>
          <a:p>
            <a:r>
              <a:rPr lang="en-IN" sz="2000" dirty="0" err="1">
                <a:highlight>
                  <a:srgbClr val="FFFF00"/>
                </a:highlight>
                <a:latin typeface="Times New Roman" panose="02020603050405020304" pitchFamily="18" charset="0"/>
                <a:cs typeface="Times New Roman" panose="02020603050405020304" pitchFamily="18" charset="0"/>
              </a:rPr>
              <a:t>smbpasswd</a:t>
            </a:r>
            <a:r>
              <a:rPr lang="en-IN" sz="2000" dirty="0">
                <a:highlight>
                  <a:srgbClr val="FFFF00"/>
                </a:highlight>
                <a:latin typeface="Times New Roman" panose="02020603050405020304" pitchFamily="18" charset="0"/>
                <a:cs typeface="Times New Roman" panose="02020603050405020304" pitchFamily="18" charset="0"/>
              </a:rPr>
              <a:t> -e student1</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Adds and enables user in Samba database.</a:t>
            </a:r>
          </a:p>
        </p:txBody>
      </p:sp>
    </p:spTree>
    <p:extLst>
      <p:ext uri="{BB962C8B-B14F-4D97-AF65-F5344CB8AC3E}">
        <p14:creationId xmlns:p14="http://schemas.microsoft.com/office/powerpoint/2010/main" val="1329839606"/>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67DB-142F-8006-9FD5-256486132677}"/>
              </a:ext>
            </a:extLst>
          </p:cNvPr>
          <p:cNvSpPr>
            <a:spLocks noGrp="1"/>
          </p:cNvSpPr>
          <p:nvPr>
            <p:ph type="title"/>
          </p:nvPr>
        </p:nvSpPr>
        <p:spPr>
          <a:xfrm>
            <a:off x="476932" y="1477789"/>
            <a:ext cx="7704000" cy="1739974"/>
          </a:xfrm>
        </p:spPr>
        <p:txBody>
          <a:bodyPr/>
          <a:lstStyle/>
          <a:p>
            <a:r>
              <a:rPr lang="en-US" sz="2000" b="0" dirty="0" err="1">
                <a:highlight>
                  <a:srgbClr val="FFFF00"/>
                </a:highlight>
                <a:latin typeface="Times New Roman" panose="02020603050405020304" pitchFamily="18" charset="0"/>
                <a:cs typeface="Times New Roman" panose="02020603050405020304" pitchFamily="18" charset="0"/>
              </a:rPr>
              <a:t>mkdir</a:t>
            </a:r>
            <a:r>
              <a:rPr lang="en-US" sz="2000" b="0" dirty="0">
                <a:highlight>
                  <a:srgbClr val="FFFF00"/>
                </a:highlight>
                <a:latin typeface="Times New Roman" panose="02020603050405020304" pitchFamily="18" charset="0"/>
                <a:cs typeface="Times New Roman" panose="02020603050405020304" pitchFamily="18" charset="0"/>
              </a:rPr>
              <a:t> /</a:t>
            </a:r>
            <a:r>
              <a:rPr lang="en-US" sz="2000" b="0" dirty="0" err="1">
                <a:highlight>
                  <a:srgbClr val="FFFF00"/>
                </a:highlight>
                <a:latin typeface="Times New Roman" panose="02020603050405020304" pitchFamily="18" charset="0"/>
                <a:cs typeface="Times New Roman" panose="02020603050405020304" pitchFamily="18" charset="0"/>
              </a:rPr>
              <a:t>sharedfolder</a:t>
            </a:r>
            <a:br>
              <a:rPr lang="en-US" sz="2000" b="0" dirty="0">
                <a:highlight>
                  <a:srgbClr val="FFFF00"/>
                </a:highlight>
                <a:latin typeface="Times New Roman" panose="02020603050405020304" pitchFamily="18" charset="0"/>
                <a:cs typeface="Times New Roman" panose="02020603050405020304" pitchFamily="18" charset="0"/>
              </a:rPr>
            </a:br>
            <a:r>
              <a:rPr lang="en-US" sz="2000" b="0" dirty="0" err="1">
                <a:highlight>
                  <a:srgbClr val="FFFF00"/>
                </a:highlight>
                <a:latin typeface="Times New Roman" panose="02020603050405020304" pitchFamily="18" charset="0"/>
                <a:cs typeface="Times New Roman" panose="02020603050405020304" pitchFamily="18" charset="0"/>
              </a:rPr>
              <a:t>chown</a:t>
            </a:r>
            <a:r>
              <a:rPr lang="en-US" sz="2000" b="0" dirty="0">
                <a:highlight>
                  <a:srgbClr val="FFFF00"/>
                </a:highlight>
                <a:latin typeface="Times New Roman" panose="02020603050405020304" pitchFamily="18" charset="0"/>
                <a:cs typeface="Times New Roman" panose="02020603050405020304" pitchFamily="18" charset="0"/>
              </a:rPr>
              <a:t> -R student1:student1 /</a:t>
            </a:r>
            <a:r>
              <a:rPr lang="en-US" sz="2000" b="0" dirty="0" err="1">
                <a:highlight>
                  <a:srgbClr val="FFFF00"/>
                </a:highlight>
                <a:latin typeface="Times New Roman" panose="02020603050405020304" pitchFamily="18" charset="0"/>
                <a:cs typeface="Times New Roman" panose="02020603050405020304" pitchFamily="18" charset="0"/>
              </a:rPr>
              <a:t>sharedfolder</a:t>
            </a:r>
            <a:br>
              <a:rPr lang="en-US" sz="2000" b="0" dirty="0">
                <a:highlight>
                  <a:srgbClr val="FFFF00"/>
                </a:highlight>
                <a:latin typeface="Times New Roman" panose="02020603050405020304" pitchFamily="18" charset="0"/>
                <a:cs typeface="Times New Roman" panose="02020603050405020304" pitchFamily="18" charset="0"/>
              </a:rPr>
            </a:br>
            <a:r>
              <a:rPr lang="en-US" sz="2000" b="0" dirty="0" err="1">
                <a:highlight>
                  <a:srgbClr val="FFFF00"/>
                </a:highlight>
                <a:latin typeface="Times New Roman" panose="02020603050405020304" pitchFamily="18" charset="0"/>
                <a:cs typeface="Times New Roman" panose="02020603050405020304" pitchFamily="18" charset="0"/>
              </a:rPr>
              <a:t>chmod</a:t>
            </a:r>
            <a:r>
              <a:rPr lang="en-US" sz="2000" b="0" dirty="0">
                <a:highlight>
                  <a:srgbClr val="FFFF00"/>
                </a:highlight>
                <a:latin typeface="Times New Roman" panose="02020603050405020304" pitchFamily="18" charset="0"/>
                <a:cs typeface="Times New Roman" panose="02020603050405020304" pitchFamily="18" charset="0"/>
              </a:rPr>
              <a:t> -R 770 /</a:t>
            </a:r>
            <a:r>
              <a:rPr lang="en-US" sz="2000" b="0" dirty="0" err="1">
                <a:highlight>
                  <a:srgbClr val="FFFF00"/>
                </a:highlight>
                <a:latin typeface="Times New Roman" panose="02020603050405020304" pitchFamily="18" charset="0"/>
                <a:cs typeface="Times New Roman" panose="02020603050405020304" pitchFamily="18" charset="0"/>
              </a:rPr>
              <a:t>sharedfolder</a:t>
            </a:r>
            <a:br>
              <a:rPr lang="en-US" sz="2000" b="0" dirty="0">
                <a:latin typeface="Times New Roman" panose="02020603050405020304" pitchFamily="18" charset="0"/>
                <a:cs typeface="Times New Roman" panose="02020603050405020304" pitchFamily="18" charset="0"/>
              </a:rPr>
            </a:br>
            <a:br>
              <a:rPr lang="en-US" sz="2000" b="0" dirty="0">
                <a:latin typeface="Times New Roman" panose="02020603050405020304" pitchFamily="18" charset="0"/>
                <a:cs typeface="Times New Roman" panose="02020603050405020304" pitchFamily="18" charset="0"/>
              </a:rPr>
            </a:br>
            <a:r>
              <a:rPr lang="en-US" sz="2000" b="0" dirty="0">
                <a:latin typeface="Times New Roman" panose="02020603050405020304" pitchFamily="18" charset="0"/>
                <a:cs typeface="Times New Roman" panose="02020603050405020304" pitchFamily="18" charset="0"/>
              </a:rPr>
              <a:t>Creates folder and sets proper ownership &amp; permissions.</a:t>
            </a:r>
          </a:p>
        </p:txBody>
      </p:sp>
      <p:sp>
        <p:nvSpPr>
          <p:cNvPr id="4" name="TextBox 3">
            <a:extLst>
              <a:ext uri="{FF2B5EF4-FFF2-40B4-BE49-F238E27FC236}">
                <a16:creationId xmlns:a16="http://schemas.microsoft.com/office/drawing/2014/main" id="{2F017E1B-8B4F-00F4-903B-87374DCBB820}"/>
              </a:ext>
            </a:extLst>
          </p:cNvPr>
          <p:cNvSpPr txBox="1"/>
          <p:nvPr/>
        </p:nvSpPr>
        <p:spPr>
          <a:xfrm>
            <a:off x="476932" y="357983"/>
            <a:ext cx="5165386"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Step 5: Create Shared Folder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862466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9859A-8E9D-7C80-E835-923C803F1C52}"/>
              </a:ext>
            </a:extLst>
          </p:cNvPr>
          <p:cNvSpPr>
            <a:spLocks noGrp="1"/>
          </p:cNvSpPr>
          <p:nvPr>
            <p:ph type="title"/>
          </p:nvPr>
        </p:nvSpPr>
        <p:spPr>
          <a:xfrm>
            <a:off x="720000" y="445025"/>
            <a:ext cx="5283758" cy="572700"/>
          </a:xfrm>
        </p:spPr>
        <p:txBody>
          <a:bodyPr/>
          <a:lstStyle/>
          <a:p>
            <a:r>
              <a:rPr lang="en-US" sz="2000" b="0" dirty="0">
                <a:latin typeface="Times New Roman" panose="02020603050405020304" pitchFamily="18" charset="0"/>
                <a:cs typeface="Times New Roman" panose="02020603050405020304" pitchFamily="18" charset="0"/>
              </a:rPr>
              <a:t>Step 6: Edit Samba Configuration</a:t>
            </a:r>
            <a:endParaRPr lang="en-IN" sz="2000" b="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BFCD502-7EF2-857D-C87A-9727A63D43EA}"/>
              </a:ext>
            </a:extLst>
          </p:cNvPr>
          <p:cNvSpPr txBox="1"/>
          <p:nvPr/>
        </p:nvSpPr>
        <p:spPr>
          <a:xfrm>
            <a:off x="720000" y="986700"/>
            <a:ext cx="3542660" cy="3170099"/>
          </a:xfrm>
          <a:prstGeom prst="rect">
            <a:avLst/>
          </a:prstGeom>
          <a:noFill/>
        </p:spPr>
        <p:txBody>
          <a:bodyPr wrap="square">
            <a:spAutoFit/>
          </a:bodyPr>
          <a:lstStyle/>
          <a:p>
            <a:r>
              <a:rPr lang="en-IN" sz="2000" dirty="0">
                <a:highlight>
                  <a:srgbClr val="FFFF00"/>
                </a:highlight>
                <a:latin typeface="Times New Roman" panose="02020603050405020304" pitchFamily="18" charset="0"/>
                <a:cs typeface="Times New Roman" panose="02020603050405020304" pitchFamily="18" charset="0"/>
              </a:rPr>
              <a:t>vi /etc/samba/</a:t>
            </a:r>
            <a:r>
              <a:rPr lang="en-IN" sz="2000" dirty="0" err="1">
                <a:highlight>
                  <a:srgbClr val="FFFF00"/>
                </a:highlight>
                <a:latin typeface="Times New Roman" panose="02020603050405020304" pitchFamily="18" charset="0"/>
                <a:cs typeface="Times New Roman" panose="02020603050405020304" pitchFamily="18" charset="0"/>
              </a:rPr>
              <a:t>smb.conf</a:t>
            </a:r>
            <a:endParaRPr lang="en-IN" sz="2000" dirty="0">
              <a:highlight>
                <a:srgbClr val="FFFF00"/>
              </a:highlight>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Add at bottom:</a:t>
            </a:r>
          </a:p>
          <a:p>
            <a:endParaRPr lang="en-IN" sz="2000" dirty="0">
              <a:highlight>
                <a:srgbClr val="FFFF00"/>
              </a:highlight>
              <a:latin typeface="Times New Roman" panose="02020603050405020304" pitchFamily="18" charset="0"/>
              <a:cs typeface="Times New Roman" panose="02020603050405020304" pitchFamily="18" charset="0"/>
            </a:endParaRPr>
          </a:p>
          <a:p>
            <a:r>
              <a:rPr lang="en-IN" sz="2000" dirty="0">
                <a:highlight>
                  <a:srgbClr val="FFFF00"/>
                </a:highlight>
                <a:latin typeface="Times New Roman" panose="02020603050405020304" pitchFamily="18" charset="0"/>
                <a:cs typeface="Times New Roman" panose="02020603050405020304" pitchFamily="18" charset="0"/>
              </a:rPr>
              <a:t>[student1]</a:t>
            </a:r>
          </a:p>
          <a:p>
            <a:r>
              <a:rPr lang="en-IN" sz="2000" dirty="0">
                <a:highlight>
                  <a:srgbClr val="FFFF00"/>
                </a:highlight>
                <a:latin typeface="Times New Roman" panose="02020603050405020304" pitchFamily="18" charset="0"/>
                <a:cs typeface="Times New Roman" panose="02020603050405020304" pitchFamily="18" charset="0"/>
              </a:rPr>
              <a:t> path = /</a:t>
            </a:r>
            <a:r>
              <a:rPr lang="en-IN" sz="2000" dirty="0" err="1">
                <a:highlight>
                  <a:srgbClr val="FFFF00"/>
                </a:highlight>
                <a:latin typeface="Times New Roman" panose="02020603050405020304" pitchFamily="18" charset="0"/>
                <a:cs typeface="Times New Roman" panose="02020603050405020304" pitchFamily="18" charset="0"/>
              </a:rPr>
              <a:t>sharedfolder</a:t>
            </a:r>
            <a:endParaRPr lang="en-IN" sz="2000" dirty="0">
              <a:highlight>
                <a:srgbClr val="FFFF00"/>
              </a:highlight>
              <a:latin typeface="Times New Roman" panose="02020603050405020304" pitchFamily="18" charset="0"/>
              <a:cs typeface="Times New Roman" panose="02020603050405020304" pitchFamily="18" charset="0"/>
            </a:endParaRPr>
          </a:p>
          <a:p>
            <a:r>
              <a:rPr lang="en-IN" sz="2000" dirty="0">
                <a:highlight>
                  <a:srgbClr val="FFFF00"/>
                </a:highlight>
                <a:latin typeface="Times New Roman" panose="02020603050405020304" pitchFamily="18" charset="0"/>
                <a:cs typeface="Times New Roman" panose="02020603050405020304" pitchFamily="18" charset="0"/>
              </a:rPr>
              <a:t> valid users = student1</a:t>
            </a:r>
          </a:p>
          <a:p>
            <a:r>
              <a:rPr lang="en-IN" sz="2000" dirty="0">
                <a:highlight>
                  <a:srgbClr val="FFFF00"/>
                </a:highlight>
                <a:latin typeface="Times New Roman" panose="02020603050405020304" pitchFamily="18" charset="0"/>
                <a:cs typeface="Times New Roman" panose="02020603050405020304" pitchFamily="18" charset="0"/>
              </a:rPr>
              <a:t> writable = yes</a:t>
            </a:r>
          </a:p>
          <a:p>
            <a:r>
              <a:rPr lang="en-IN" sz="2000" dirty="0">
                <a:highlight>
                  <a:srgbClr val="FFFF00"/>
                </a:highlight>
                <a:latin typeface="Times New Roman" panose="02020603050405020304" pitchFamily="18" charset="0"/>
                <a:cs typeface="Times New Roman" panose="02020603050405020304" pitchFamily="18" charset="0"/>
              </a:rPr>
              <a:t> </a:t>
            </a:r>
            <a:r>
              <a:rPr lang="en-IN" sz="2000" dirty="0" err="1">
                <a:highlight>
                  <a:srgbClr val="FFFF00"/>
                </a:highlight>
                <a:latin typeface="Times New Roman" panose="02020603050405020304" pitchFamily="18" charset="0"/>
                <a:cs typeface="Times New Roman" panose="02020603050405020304" pitchFamily="18" charset="0"/>
              </a:rPr>
              <a:t>browseable</a:t>
            </a:r>
            <a:r>
              <a:rPr lang="en-IN" sz="2000" dirty="0">
                <a:highlight>
                  <a:srgbClr val="FFFF00"/>
                </a:highlight>
                <a:latin typeface="Times New Roman" panose="02020603050405020304" pitchFamily="18" charset="0"/>
                <a:cs typeface="Times New Roman" panose="02020603050405020304" pitchFamily="18" charset="0"/>
              </a:rPr>
              <a:t> = yes</a:t>
            </a:r>
          </a:p>
          <a:p>
            <a:r>
              <a:rPr lang="en-IN" sz="2000" dirty="0">
                <a:highlight>
                  <a:srgbClr val="FFFF00"/>
                </a:highlight>
                <a:latin typeface="Times New Roman" panose="02020603050405020304" pitchFamily="18" charset="0"/>
                <a:cs typeface="Times New Roman" panose="02020603050405020304" pitchFamily="18" charset="0"/>
              </a:rPr>
              <a:t> guest ok = no</a:t>
            </a:r>
          </a:p>
        </p:txBody>
      </p:sp>
    </p:spTree>
    <p:extLst>
      <p:ext uri="{BB962C8B-B14F-4D97-AF65-F5344CB8AC3E}">
        <p14:creationId xmlns:p14="http://schemas.microsoft.com/office/powerpoint/2010/main" val="3600750523"/>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23039-423E-0825-3A10-FE7FE5EEB467}"/>
              </a:ext>
            </a:extLst>
          </p:cNvPr>
          <p:cNvSpPr>
            <a:spLocks noGrp="1"/>
          </p:cNvSpPr>
          <p:nvPr>
            <p:ph type="title"/>
          </p:nvPr>
        </p:nvSpPr>
        <p:spPr>
          <a:xfrm>
            <a:off x="720000" y="445025"/>
            <a:ext cx="2937600" cy="572700"/>
          </a:xfrm>
        </p:spPr>
        <p:txBody>
          <a:bodyPr/>
          <a:lstStyle/>
          <a:p>
            <a:r>
              <a:rPr lang="en-IN" sz="2000" dirty="0">
                <a:latin typeface="Times New Roman" panose="02020603050405020304" pitchFamily="18" charset="0"/>
                <a:cs typeface="Times New Roman" panose="02020603050405020304" pitchFamily="18" charset="0"/>
              </a:rPr>
              <a:t>Step 7: Check &amp; Restart</a:t>
            </a:r>
          </a:p>
        </p:txBody>
      </p:sp>
      <p:sp>
        <p:nvSpPr>
          <p:cNvPr id="4" name="TextBox 3">
            <a:extLst>
              <a:ext uri="{FF2B5EF4-FFF2-40B4-BE49-F238E27FC236}">
                <a16:creationId xmlns:a16="http://schemas.microsoft.com/office/drawing/2014/main" id="{0778FFCC-7B0B-E3DD-D8FA-562F3522B7B2}"/>
              </a:ext>
            </a:extLst>
          </p:cNvPr>
          <p:cNvSpPr txBox="1"/>
          <p:nvPr/>
        </p:nvSpPr>
        <p:spPr>
          <a:xfrm>
            <a:off x="720000" y="1017725"/>
            <a:ext cx="4757872" cy="1323439"/>
          </a:xfrm>
          <a:prstGeom prst="rect">
            <a:avLst/>
          </a:prstGeom>
          <a:noFill/>
        </p:spPr>
        <p:txBody>
          <a:bodyPr wrap="square">
            <a:spAutoFit/>
          </a:bodyPr>
          <a:lstStyle/>
          <a:p>
            <a:r>
              <a:rPr lang="en-US" sz="2000" dirty="0" err="1">
                <a:highlight>
                  <a:srgbClr val="FFFF00"/>
                </a:highlight>
                <a:latin typeface="Times New Roman" panose="02020603050405020304" pitchFamily="18" charset="0"/>
                <a:cs typeface="Times New Roman" panose="02020603050405020304" pitchFamily="18" charset="0"/>
              </a:rPr>
              <a:t>testparm</a:t>
            </a:r>
            <a:endParaRPr lang="en-US" sz="2000" dirty="0">
              <a:highlight>
                <a:srgbClr val="FFFF00"/>
              </a:highlight>
              <a:latin typeface="Times New Roman" panose="02020603050405020304" pitchFamily="18" charset="0"/>
              <a:cs typeface="Times New Roman" panose="02020603050405020304" pitchFamily="18" charset="0"/>
            </a:endParaRPr>
          </a:p>
          <a:p>
            <a:r>
              <a:rPr lang="en-US" sz="2000" dirty="0" err="1">
                <a:highlight>
                  <a:srgbClr val="FFFF00"/>
                </a:highlight>
                <a:latin typeface="Times New Roman" panose="02020603050405020304" pitchFamily="18" charset="0"/>
                <a:cs typeface="Times New Roman" panose="02020603050405020304" pitchFamily="18" charset="0"/>
              </a:rPr>
              <a:t>systemctl</a:t>
            </a:r>
            <a:r>
              <a:rPr lang="en-US" sz="2000" dirty="0">
                <a:highlight>
                  <a:srgbClr val="FFFF00"/>
                </a:highlight>
                <a:latin typeface="Times New Roman" panose="02020603050405020304" pitchFamily="18" charset="0"/>
                <a:cs typeface="Times New Roman" panose="02020603050405020304" pitchFamily="18" charset="0"/>
              </a:rPr>
              <a:t> restart </a:t>
            </a:r>
            <a:r>
              <a:rPr lang="en-US" sz="2000" dirty="0" err="1">
                <a:highlight>
                  <a:srgbClr val="FFFF00"/>
                </a:highlight>
                <a:latin typeface="Times New Roman" panose="02020603050405020304" pitchFamily="18" charset="0"/>
                <a:cs typeface="Times New Roman" panose="02020603050405020304" pitchFamily="18" charset="0"/>
              </a:rPr>
              <a:t>smb</a:t>
            </a:r>
            <a:endParaRPr lang="en-US" sz="2000" dirty="0">
              <a:highlight>
                <a:srgbClr val="FFFF00"/>
              </a:highlight>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Checks configuration and applies changes.</a:t>
            </a:r>
          </a:p>
        </p:txBody>
      </p:sp>
      <p:sp>
        <p:nvSpPr>
          <p:cNvPr id="3" name="TextBox 2">
            <a:extLst>
              <a:ext uri="{FF2B5EF4-FFF2-40B4-BE49-F238E27FC236}">
                <a16:creationId xmlns:a16="http://schemas.microsoft.com/office/drawing/2014/main" id="{5E0B9192-A81C-C7E8-B28B-E9FAE374E1C1}"/>
              </a:ext>
            </a:extLst>
          </p:cNvPr>
          <p:cNvSpPr txBox="1"/>
          <p:nvPr/>
        </p:nvSpPr>
        <p:spPr>
          <a:xfrm>
            <a:off x="720000" y="3086454"/>
            <a:ext cx="5165386" cy="1323439"/>
          </a:xfrm>
          <a:prstGeom prst="rect">
            <a:avLst/>
          </a:prstGeom>
          <a:noFill/>
        </p:spPr>
        <p:txBody>
          <a:bodyPr wrap="square">
            <a:spAutoFit/>
          </a:bodyPr>
          <a:lstStyle/>
          <a:p>
            <a:r>
              <a:rPr lang="en-US" sz="2000" dirty="0">
                <a:highlight>
                  <a:srgbClr val="FFFF00"/>
                </a:highlight>
                <a:latin typeface="Times New Roman" panose="02020603050405020304" pitchFamily="18" charset="0"/>
                <a:cs typeface="Times New Roman" panose="02020603050405020304" pitchFamily="18" charset="0"/>
              </a:rPr>
              <a:t>firewall-</a:t>
            </a:r>
            <a:r>
              <a:rPr lang="en-US" sz="2000" dirty="0" err="1">
                <a:highlight>
                  <a:srgbClr val="FFFF00"/>
                </a:highlight>
                <a:latin typeface="Times New Roman" panose="02020603050405020304" pitchFamily="18" charset="0"/>
                <a:cs typeface="Times New Roman" panose="02020603050405020304" pitchFamily="18" charset="0"/>
              </a:rPr>
              <a:t>cmd</a:t>
            </a:r>
            <a:r>
              <a:rPr lang="en-US" sz="2000" dirty="0">
                <a:highlight>
                  <a:srgbClr val="FFFF00"/>
                </a:highlight>
                <a:latin typeface="Times New Roman" panose="02020603050405020304" pitchFamily="18" charset="0"/>
                <a:cs typeface="Times New Roman" panose="02020603050405020304" pitchFamily="18" charset="0"/>
              </a:rPr>
              <a:t> --permanent --add-service=samba</a:t>
            </a:r>
          </a:p>
          <a:p>
            <a:r>
              <a:rPr lang="en-US" sz="2000" dirty="0">
                <a:highlight>
                  <a:srgbClr val="FFFF00"/>
                </a:highlight>
                <a:latin typeface="Times New Roman" panose="02020603050405020304" pitchFamily="18" charset="0"/>
                <a:cs typeface="Times New Roman" panose="02020603050405020304" pitchFamily="18" charset="0"/>
              </a:rPr>
              <a:t>firewall-</a:t>
            </a:r>
            <a:r>
              <a:rPr lang="en-US" sz="2000" dirty="0" err="1">
                <a:highlight>
                  <a:srgbClr val="FFFF00"/>
                </a:highlight>
                <a:latin typeface="Times New Roman" panose="02020603050405020304" pitchFamily="18" charset="0"/>
                <a:cs typeface="Times New Roman" panose="02020603050405020304" pitchFamily="18" charset="0"/>
              </a:rPr>
              <a:t>cmd</a:t>
            </a:r>
            <a:r>
              <a:rPr lang="en-US" sz="2000" dirty="0">
                <a:highlight>
                  <a:srgbClr val="FFFF00"/>
                </a:highlight>
                <a:latin typeface="Times New Roman" panose="02020603050405020304" pitchFamily="18" charset="0"/>
                <a:cs typeface="Times New Roman" panose="02020603050405020304" pitchFamily="18" charset="0"/>
              </a:rPr>
              <a:t> --reload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Allows Samba through firewall.</a:t>
            </a:r>
          </a:p>
        </p:txBody>
      </p:sp>
      <p:sp>
        <p:nvSpPr>
          <p:cNvPr id="6" name="TextBox 5">
            <a:extLst>
              <a:ext uri="{FF2B5EF4-FFF2-40B4-BE49-F238E27FC236}">
                <a16:creationId xmlns:a16="http://schemas.microsoft.com/office/drawing/2014/main" id="{C4498FC1-FCDE-9E6D-1D5C-A5DA58DD071A}"/>
              </a:ext>
            </a:extLst>
          </p:cNvPr>
          <p:cNvSpPr txBox="1"/>
          <p:nvPr/>
        </p:nvSpPr>
        <p:spPr>
          <a:xfrm>
            <a:off x="720000" y="2513754"/>
            <a:ext cx="5165386"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Step 8: Configure Firewall</a:t>
            </a:r>
          </a:p>
        </p:txBody>
      </p:sp>
    </p:spTree>
    <p:extLst>
      <p:ext uri="{BB962C8B-B14F-4D97-AF65-F5344CB8AC3E}">
        <p14:creationId xmlns:p14="http://schemas.microsoft.com/office/powerpoint/2010/main" val="1062394655"/>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7F360-2804-2BDA-0C0A-2FBB4F78DD2E}"/>
              </a:ext>
            </a:extLst>
          </p:cNvPr>
          <p:cNvSpPr>
            <a:spLocks noGrp="1"/>
          </p:cNvSpPr>
          <p:nvPr>
            <p:ph type="title"/>
          </p:nvPr>
        </p:nvSpPr>
        <p:spPr>
          <a:xfrm>
            <a:off x="453782" y="549197"/>
            <a:ext cx="8846841" cy="572700"/>
          </a:xfrm>
        </p:spPr>
        <p:txBody>
          <a:bodyPr/>
          <a:lstStyle/>
          <a:p>
            <a:r>
              <a:rPr lang="en-US" sz="2000" dirty="0" err="1">
                <a:latin typeface="Times New Roman" panose="02020603050405020304" pitchFamily="18" charset="0"/>
                <a:cs typeface="Times New Roman" panose="02020603050405020304" pitchFamily="18" charset="0"/>
              </a:rPr>
              <a:t>SELinux</a:t>
            </a:r>
            <a:r>
              <a:rPr lang="en-US" sz="2000" dirty="0">
                <a:latin typeface="Times New Roman" panose="02020603050405020304" pitchFamily="18" charset="0"/>
                <a:cs typeface="Times New Roman" panose="02020603050405020304" pitchFamily="18" charset="0"/>
              </a:rPr>
              <a:t> Fix (If Access Denied)</a:t>
            </a: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C2E95C3-5A65-35D3-AB23-A47ED818C345}"/>
              </a:ext>
            </a:extLst>
          </p:cNvPr>
          <p:cNvSpPr txBox="1"/>
          <p:nvPr/>
        </p:nvSpPr>
        <p:spPr>
          <a:xfrm>
            <a:off x="453782" y="1121897"/>
            <a:ext cx="5931639" cy="1323439"/>
          </a:xfrm>
          <a:prstGeom prst="rect">
            <a:avLst/>
          </a:prstGeom>
          <a:noFill/>
        </p:spPr>
        <p:txBody>
          <a:bodyPr wrap="square">
            <a:spAutoFit/>
          </a:bodyPr>
          <a:lstStyle/>
          <a:p>
            <a:r>
              <a:rPr lang="en-US" sz="2000" dirty="0" err="1">
                <a:latin typeface="Times New Roman" panose="02020603050405020304" pitchFamily="18" charset="0"/>
                <a:cs typeface="Times New Roman" panose="02020603050405020304" pitchFamily="18" charset="0"/>
              </a:rPr>
              <a:t>setenforce</a:t>
            </a:r>
            <a:r>
              <a:rPr lang="en-US" sz="2000" dirty="0">
                <a:latin typeface="Times New Roman" panose="02020603050405020304" pitchFamily="18" charset="0"/>
                <a:cs typeface="Times New Roman" panose="02020603050405020304" pitchFamily="18" charset="0"/>
              </a:rPr>
              <a:t> 0   (Temporary test)</a:t>
            </a:r>
          </a:p>
          <a:p>
            <a:r>
              <a:rPr lang="en-US" sz="2000" dirty="0" err="1">
                <a:latin typeface="Times New Roman" panose="02020603050405020304" pitchFamily="18" charset="0"/>
                <a:cs typeface="Times New Roman" panose="02020603050405020304" pitchFamily="18" charset="0"/>
              </a:rPr>
              <a:t>chcon</a:t>
            </a:r>
            <a:r>
              <a:rPr lang="en-US" sz="2000" dirty="0">
                <a:latin typeface="Times New Roman" panose="02020603050405020304" pitchFamily="18" charset="0"/>
                <a:cs typeface="Times New Roman" panose="02020603050405020304" pitchFamily="18" charset="0"/>
              </a:rPr>
              <a:t> -t </a:t>
            </a:r>
            <a:r>
              <a:rPr lang="en-US" sz="2000" dirty="0" err="1">
                <a:latin typeface="Times New Roman" panose="02020603050405020304" pitchFamily="18" charset="0"/>
                <a:cs typeface="Times New Roman" panose="02020603050405020304" pitchFamily="18" charset="0"/>
              </a:rPr>
              <a:t>samba_share_t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sharedfolder</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Sets proper </a:t>
            </a:r>
            <a:r>
              <a:rPr lang="en-US" sz="2000" dirty="0" err="1">
                <a:latin typeface="Times New Roman" panose="02020603050405020304" pitchFamily="18" charset="0"/>
                <a:cs typeface="Times New Roman" panose="02020603050405020304" pitchFamily="18" charset="0"/>
              </a:rPr>
              <a:t>SELinux</a:t>
            </a:r>
            <a:r>
              <a:rPr lang="en-US" sz="2000" dirty="0">
                <a:latin typeface="Times New Roman" panose="02020603050405020304" pitchFamily="18" charset="0"/>
                <a:cs typeface="Times New Roman" panose="02020603050405020304" pitchFamily="18" charset="0"/>
              </a:rPr>
              <a:t> context.</a:t>
            </a:r>
          </a:p>
        </p:txBody>
      </p:sp>
      <p:sp>
        <p:nvSpPr>
          <p:cNvPr id="3" name="Title 1">
            <a:extLst>
              <a:ext uri="{FF2B5EF4-FFF2-40B4-BE49-F238E27FC236}">
                <a16:creationId xmlns:a16="http://schemas.microsoft.com/office/drawing/2014/main" id="{EB26C979-E14F-5698-8E5A-50F15BED03BB}"/>
              </a:ext>
            </a:extLst>
          </p:cNvPr>
          <p:cNvSpPr txBox="1">
            <a:spLocks/>
          </p:cNvSpPr>
          <p:nvPr/>
        </p:nvSpPr>
        <p:spPr>
          <a:xfrm>
            <a:off x="453783" y="2845435"/>
            <a:ext cx="629755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IN" sz="2000" dirty="0">
                <a:latin typeface="Times New Roman" panose="02020603050405020304" pitchFamily="18" charset="0"/>
                <a:cs typeface="Times New Roman" panose="02020603050405020304" pitchFamily="18" charset="0"/>
              </a:rPr>
              <a:t>Access From Windows</a:t>
            </a:r>
          </a:p>
        </p:txBody>
      </p:sp>
      <p:sp>
        <p:nvSpPr>
          <p:cNvPr id="5" name="TextBox 4">
            <a:extLst>
              <a:ext uri="{FF2B5EF4-FFF2-40B4-BE49-F238E27FC236}">
                <a16:creationId xmlns:a16="http://schemas.microsoft.com/office/drawing/2014/main" id="{DBDB83AC-B989-AF12-DC19-B2083BA68541}"/>
              </a:ext>
            </a:extLst>
          </p:cNvPr>
          <p:cNvSpPr txBox="1"/>
          <p:nvPr/>
        </p:nvSpPr>
        <p:spPr>
          <a:xfrm>
            <a:off x="453782" y="3418135"/>
            <a:ext cx="4696952" cy="1323439"/>
          </a:xfrm>
          <a:prstGeom prst="rect">
            <a:avLst/>
          </a:prstGeom>
          <a:noFill/>
        </p:spPr>
        <p:txBody>
          <a:bodyPr wrap="square">
            <a:spAutoFit/>
          </a:bodyPr>
          <a:lstStyle/>
          <a:p>
            <a:r>
              <a:rPr lang="en-US" sz="2000" dirty="0">
                <a:highlight>
                  <a:srgbClr val="FFFF00"/>
                </a:highlight>
                <a:latin typeface="Times New Roman" panose="02020603050405020304" pitchFamily="18" charset="0"/>
                <a:cs typeface="Times New Roman" panose="02020603050405020304" pitchFamily="18" charset="0"/>
              </a:rPr>
              <a:t>Press Win + R</a:t>
            </a:r>
          </a:p>
          <a:p>
            <a:r>
              <a:rPr lang="en-US" sz="2000" dirty="0">
                <a:highlight>
                  <a:srgbClr val="FFFF00"/>
                </a:highlight>
                <a:latin typeface="Times New Roman" panose="02020603050405020304" pitchFamily="18" charset="0"/>
                <a:cs typeface="Times New Roman" panose="02020603050405020304" pitchFamily="18" charset="0"/>
              </a:rPr>
              <a:t>\\192.168.137.128\student1</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Login using Samba username &amp; password.</a:t>
            </a:r>
          </a:p>
        </p:txBody>
      </p:sp>
    </p:spTree>
    <p:extLst>
      <p:ext uri="{BB962C8B-B14F-4D97-AF65-F5344CB8AC3E}">
        <p14:creationId xmlns:p14="http://schemas.microsoft.com/office/powerpoint/2010/main" val="3419311041"/>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1689F1-A229-C402-1411-32535A51B99A}"/>
              </a:ext>
            </a:extLst>
          </p:cNvPr>
          <p:cNvSpPr txBox="1">
            <a:spLocks/>
          </p:cNvSpPr>
          <p:nvPr/>
        </p:nvSpPr>
        <p:spPr>
          <a:xfrm>
            <a:off x="2963119" y="826990"/>
            <a:ext cx="4002471"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IN" sz="2000">
                <a:latin typeface="Times New Roman" panose="02020603050405020304" pitchFamily="18" charset="0"/>
                <a:cs typeface="Times New Roman" panose="02020603050405020304" pitchFamily="18" charset="0"/>
              </a:rPr>
              <a:t>Final Workflow Summary</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479175C-D6D6-E872-BF36-6DD081FFAD62}"/>
              </a:ext>
            </a:extLst>
          </p:cNvPr>
          <p:cNvSpPr txBox="1"/>
          <p:nvPr/>
        </p:nvSpPr>
        <p:spPr>
          <a:xfrm>
            <a:off x="3113592" y="1630276"/>
            <a:ext cx="2683581" cy="255454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1. Install Samba</a:t>
            </a:r>
          </a:p>
          <a:p>
            <a:r>
              <a:rPr lang="en-US" sz="2000" dirty="0">
                <a:latin typeface="Times New Roman" panose="02020603050405020304" pitchFamily="18" charset="0"/>
                <a:cs typeface="Times New Roman" panose="02020603050405020304" pitchFamily="18" charset="0"/>
              </a:rPr>
              <a:t>2. Start service</a:t>
            </a:r>
          </a:p>
          <a:p>
            <a:r>
              <a:rPr lang="en-US" sz="2000" dirty="0">
                <a:latin typeface="Times New Roman" panose="02020603050405020304" pitchFamily="18" charset="0"/>
                <a:cs typeface="Times New Roman" panose="02020603050405020304" pitchFamily="18" charset="0"/>
              </a:rPr>
              <a:t>3. Create user</a:t>
            </a:r>
          </a:p>
          <a:p>
            <a:r>
              <a:rPr lang="en-US" sz="2000" dirty="0">
                <a:latin typeface="Times New Roman" panose="02020603050405020304" pitchFamily="18" charset="0"/>
                <a:cs typeface="Times New Roman" panose="02020603050405020304" pitchFamily="18" charset="0"/>
              </a:rPr>
              <a:t>4. Add Samba password</a:t>
            </a:r>
          </a:p>
          <a:p>
            <a:r>
              <a:rPr lang="en-US" sz="2000" dirty="0">
                <a:latin typeface="Times New Roman" panose="02020603050405020304" pitchFamily="18" charset="0"/>
                <a:cs typeface="Times New Roman" panose="02020603050405020304" pitchFamily="18" charset="0"/>
              </a:rPr>
              <a:t>5. Create shared folder</a:t>
            </a:r>
          </a:p>
          <a:p>
            <a:r>
              <a:rPr lang="en-US" sz="2000" dirty="0">
                <a:latin typeface="Times New Roman" panose="02020603050405020304" pitchFamily="18" charset="0"/>
                <a:cs typeface="Times New Roman" panose="02020603050405020304" pitchFamily="18" charset="0"/>
              </a:rPr>
              <a:t>6. Edit </a:t>
            </a:r>
            <a:r>
              <a:rPr lang="en-US" sz="2000" dirty="0" err="1">
                <a:latin typeface="Times New Roman" panose="02020603050405020304" pitchFamily="18" charset="0"/>
                <a:cs typeface="Times New Roman" panose="02020603050405020304" pitchFamily="18" charset="0"/>
              </a:rPr>
              <a:t>smb.conf</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7. Restart service</a:t>
            </a:r>
          </a:p>
          <a:p>
            <a:r>
              <a:rPr lang="en-US" sz="2000" dirty="0">
                <a:latin typeface="Times New Roman" panose="02020603050405020304" pitchFamily="18" charset="0"/>
                <a:cs typeface="Times New Roman" panose="02020603050405020304" pitchFamily="18" charset="0"/>
              </a:rPr>
              <a:t>8. Test from Windows</a:t>
            </a:r>
          </a:p>
        </p:txBody>
      </p:sp>
    </p:spTree>
    <p:extLst>
      <p:ext uri="{BB962C8B-B14F-4D97-AF65-F5344CB8AC3E}">
        <p14:creationId xmlns:p14="http://schemas.microsoft.com/office/powerpoint/2010/main" val="3427922098"/>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5D473-6358-E288-14BC-93491B026234}"/>
              </a:ext>
            </a:extLst>
          </p:cNvPr>
          <p:cNvSpPr>
            <a:spLocks noGrp="1"/>
          </p:cNvSpPr>
          <p:nvPr>
            <p:ph type="title"/>
          </p:nvPr>
        </p:nvSpPr>
        <p:spPr>
          <a:xfrm>
            <a:off x="720000" y="228601"/>
            <a:ext cx="7704000" cy="572700"/>
          </a:xfrm>
        </p:spPr>
        <p:txBody>
          <a:bodyPr/>
          <a:lstStyle/>
          <a:p>
            <a:pPr algn="ctr"/>
            <a:r>
              <a:rPr lang="en-US" dirty="0">
                <a:solidFill>
                  <a:srgbClr val="4F81BD"/>
                </a:solidFill>
                <a:latin typeface="Times New Roman" panose="02020603050405020304" pitchFamily="18" charset="0"/>
                <a:ea typeface="MS Gothic" panose="020B0609070205080204" pitchFamily="49" charset="-128"/>
                <a:cs typeface="Times New Roman" panose="02020603050405020304" pitchFamily="18" charset="0"/>
              </a:rPr>
              <a:t>What is Apache Server?</a:t>
            </a: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C2FA483-55DF-5120-6F21-446FF1D026D9}"/>
              </a:ext>
            </a:extLst>
          </p:cNvPr>
          <p:cNvSpPr txBox="1"/>
          <p:nvPr/>
        </p:nvSpPr>
        <p:spPr>
          <a:xfrm>
            <a:off x="1" y="1579767"/>
            <a:ext cx="3708400" cy="1833643"/>
          </a:xfrm>
          <a:prstGeom prst="rect">
            <a:avLst/>
          </a:prstGeom>
          <a:noFill/>
        </p:spPr>
        <p:txBody>
          <a:bodyPr wrap="square">
            <a:spAutoFit/>
          </a:bodyPr>
          <a:lstStyle/>
          <a:p>
            <a:pPr algn="just">
              <a:lnSpc>
                <a:spcPct val="115000"/>
              </a:lnSpc>
              <a:spcAft>
                <a:spcPts val="1000"/>
              </a:spcAft>
            </a:pP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Apache (Apache HTTP Server) is a popular open-source web server used to serve websites and web applications over the internet or a local network.</a:t>
            </a:r>
          </a:p>
        </p:txBody>
      </p:sp>
      <p:pic>
        <p:nvPicPr>
          <p:cNvPr id="2050" name="Picture 2" descr="What is Apache Server and How It Works?">
            <a:extLst>
              <a:ext uri="{FF2B5EF4-FFF2-40B4-BE49-F238E27FC236}">
                <a16:creationId xmlns:a16="http://schemas.microsoft.com/office/drawing/2014/main" id="{CD9C87CE-7700-B88E-9C59-3D98EC17B3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2863" y="1305170"/>
            <a:ext cx="5126037" cy="360972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8637567"/>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F6945-CFBA-D560-CD5F-FF42BBC04BB0}"/>
              </a:ext>
            </a:extLst>
          </p:cNvPr>
          <p:cNvSpPr>
            <a:spLocks noGrp="1"/>
          </p:cNvSpPr>
          <p:nvPr>
            <p:ph type="title"/>
          </p:nvPr>
        </p:nvSpPr>
        <p:spPr>
          <a:xfrm>
            <a:off x="719999" y="544784"/>
            <a:ext cx="7704000" cy="572700"/>
          </a:xfrm>
        </p:spPr>
        <p:txBody>
          <a:bodyPr/>
          <a:lstStyle/>
          <a:p>
            <a:pPr algn="ctr"/>
            <a:r>
              <a:rPr lang="en-US" dirty="0">
                <a:solidFill>
                  <a:srgbClr val="4F81BD"/>
                </a:solidFill>
                <a:latin typeface="Times New Roman" panose="02020603050405020304" pitchFamily="18" charset="0"/>
                <a:ea typeface="MS Gothic" panose="020B0609070205080204" pitchFamily="49" charset="-128"/>
                <a:cs typeface="Times New Roman" panose="02020603050405020304" pitchFamily="18" charset="0"/>
              </a:rPr>
              <a:t>Why is it used in Linux</a:t>
            </a: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6050A4D-4C51-B731-8EE9-916586B7AEE1}"/>
              </a:ext>
            </a:extLst>
          </p:cNvPr>
          <p:cNvSpPr txBox="1"/>
          <p:nvPr/>
        </p:nvSpPr>
        <p:spPr>
          <a:xfrm>
            <a:off x="1366837" y="1725680"/>
            <a:ext cx="6410325" cy="2874761"/>
          </a:xfrm>
          <a:prstGeom prst="rect">
            <a:avLst/>
          </a:prstGeom>
          <a:noFill/>
        </p:spPr>
        <p:txBody>
          <a:bodyPr wrap="square">
            <a:spAutoFit/>
          </a:bodyPr>
          <a:lstStyle/>
          <a:p>
            <a:pPr>
              <a:lnSpc>
                <a:spcPct val="115000"/>
              </a:lnSpc>
              <a:spcAft>
                <a:spcPts val="1000"/>
              </a:spcAft>
              <a:buNone/>
            </a:pPr>
            <a:r>
              <a:rPr lang="en-US" sz="2200" b="1" dirty="0">
                <a:effectLst/>
                <a:latin typeface="Times New Roman" panose="02020603050405020304" pitchFamily="18" charset="0"/>
                <a:ea typeface="MS Mincho" panose="02020609040205080304" pitchFamily="49" charset="-128"/>
                <a:cs typeface="Times New Roman" panose="02020603050405020304" pitchFamily="18" charset="0"/>
              </a:rPr>
              <a:t>1. Host Websites </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Serve web pages (HTML, PHP, etc.).</a:t>
            </a:r>
          </a:p>
          <a:p>
            <a:pPr>
              <a:lnSpc>
                <a:spcPct val="115000"/>
              </a:lnSpc>
              <a:spcAft>
                <a:spcPts val="1000"/>
              </a:spcAft>
              <a:buNone/>
            </a:pPr>
            <a:r>
              <a:rPr lang="en-US" sz="2200" b="1" dirty="0">
                <a:effectLst/>
                <a:latin typeface="Times New Roman" panose="02020603050405020304" pitchFamily="18" charset="0"/>
                <a:ea typeface="MS Mincho" panose="02020609040205080304" pitchFamily="49" charset="-128"/>
                <a:cs typeface="Times New Roman" panose="02020603050405020304" pitchFamily="18" charset="0"/>
              </a:rPr>
              <a:t>2. Serve Web Apps </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Run platforms like WordPress, Laravel, etc.</a:t>
            </a:r>
          </a:p>
          <a:p>
            <a:pPr>
              <a:lnSpc>
                <a:spcPct val="115000"/>
              </a:lnSpc>
              <a:spcAft>
                <a:spcPts val="1000"/>
              </a:spcAft>
              <a:buNone/>
            </a:pPr>
            <a:r>
              <a:rPr lang="en-US" sz="2200" b="1" dirty="0">
                <a:effectLst/>
                <a:latin typeface="Times New Roman" panose="02020603050405020304" pitchFamily="18" charset="0"/>
                <a:ea typeface="MS Mincho" panose="02020609040205080304" pitchFamily="49" charset="-128"/>
                <a:cs typeface="Times New Roman" panose="02020603050405020304" pitchFamily="18" charset="0"/>
              </a:rPr>
              <a:t>3. Local Testing </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Test websites before deployment.</a:t>
            </a:r>
          </a:p>
          <a:p>
            <a:pPr>
              <a:lnSpc>
                <a:spcPct val="115000"/>
              </a:lnSpc>
              <a:spcAft>
                <a:spcPts val="1000"/>
              </a:spcAft>
              <a:buNone/>
            </a:pPr>
            <a:r>
              <a:rPr lang="en-US" sz="2200" b="1" dirty="0">
                <a:effectLst/>
                <a:latin typeface="Times New Roman" panose="02020603050405020304" pitchFamily="18" charset="0"/>
                <a:ea typeface="MS Mincho" panose="02020609040205080304" pitchFamily="49" charset="-128"/>
                <a:cs typeface="Times New Roman" panose="02020603050405020304" pitchFamily="18" charset="0"/>
              </a:rPr>
              <a:t>4. Flexible </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Add modules for security, redirects, SSL, etc.</a:t>
            </a:r>
          </a:p>
          <a:p>
            <a:pPr>
              <a:lnSpc>
                <a:spcPct val="115000"/>
              </a:lnSpc>
              <a:spcAft>
                <a:spcPts val="1000"/>
              </a:spcAft>
            </a:pPr>
            <a:r>
              <a:rPr lang="en-US" sz="2200" b="1" dirty="0">
                <a:effectLst/>
                <a:latin typeface="Times New Roman" panose="02020603050405020304" pitchFamily="18" charset="0"/>
                <a:ea typeface="MS Mincho" panose="02020609040205080304" pitchFamily="49" charset="-128"/>
                <a:cs typeface="Times New Roman" panose="02020603050405020304" pitchFamily="18" charset="0"/>
              </a:rPr>
              <a:t>5. Enterprise Use </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 Stable and supports high traffic.</a:t>
            </a:r>
          </a:p>
        </p:txBody>
      </p:sp>
    </p:spTree>
    <p:extLst>
      <p:ext uri="{BB962C8B-B14F-4D97-AF65-F5344CB8AC3E}">
        <p14:creationId xmlns:p14="http://schemas.microsoft.com/office/powerpoint/2010/main" val="2258756198"/>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E010BAE-3DA6-ED26-BF4E-B1B673E5EA92}"/>
              </a:ext>
            </a:extLst>
          </p:cNvPr>
          <p:cNvSpPr txBox="1"/>
          <p:nvPr/>
        </p:nvSpPr>
        <p:spPr>
          <a:xfrm>
            <a:off x="698500" y="616317"/>
            <a:ext cx="8102599" cy="3785652"/>
          </a:xfrm>
          <a:prstGeom prst="rect">
            <a:avLst/>
          </a:prstGeom>
          <a:noFill/>
        </p:spPr>
        <p:txBody>
          <a:bodyPr wrap="square">
            <a:spAutoFit/>
          </a:bodyPr>
          <a:lstStyle/>
          <a:p>
            <a:pPr>
              <a:buNone/>
            </a:pPr>
            <a:r>
              <a:rPr lang="en-US" sz="2000" b="1" dirty="0">
                <a:solidFill>
                  <a:srgbClr val="0070C0"/>
                </a:solidFill>
                <a:latin typeface="Times New Roman" panose="02020603050405020304" pitchFamily="18" charset="0"/>
                <a:cs typeface="Times New Roman" panose="02020603050405020304" pitchFamily="18" charset="0"/>
              </a:rPr>
              <a:t>1) Install Apache (httpd)</a:t>
            </a:r>
          </a:p>
          <a:p>
            <a:pPr rtl="0">
              <a:buNone/>
            </a:pPr>
            <a:r>
              <a:rPr lang="en-US" sz="2000" dirty="0">
                <a:latin typeface="Times New Roman" panose="02020603050405020304" pitchFamily="18" charset="0"/>
                <a:cs typeface="Times New Roman" panose="02020603050405020304" pitchFamily="18" charset="0"/>
              </a:rPr>
              <a:t>sudo </a:t>
            </a:r>
            <a:r>
              <a:rPr lang="en-US" sz="2000" dirty="0" err="1">
                <a:latin typeface="Times New Roman" panose="02020603050405020304" pitchFamily="18" charset="0"/>
                <a:cs typeface="Times New Roman" panose="02020603050405020304" pitchFamily="18" charset="0"/>
              </a:rPr>
              <a:t>dnf</a:t>
            </a:r>
            <a:r>
              <a:rPr lang="en-US" sz="2000" dirty="0">
                <a:latin typeface="Times New Roman" panose="02020603050405020304" pitchFamily="18" charset="0"/>
                <a:cs typeface="Times New Roman" panose="02020603050405020304" pitchFamily="18" charset="0"/>
              </a:rPr>
              <a:t> install -y httpd</a:t>
            </a:r>
          </a:p>
          <a:p>
            <a:pPr rtl="0">
              <a:buNone/>
            </a:pPr>
            <a:endParaRPr lang="en-US" sz="2000" dirty="0">
              <a:latin typeface="Times New Roman" panose="02020603050405020304" pitchFamily="18" charset="0"/>
              <a:cs typeface="Times New Roman" panose="02020603050405020304" pitchFamily="18" charset="0"/>
            </a:endParaRPr>
          </a:p>
          <a:p>
            <a:pPr>
              <a:buNone/>
            </a:pPr>
            <a:r>
              <a:rPr lang="en-US" sz="2000" b="1" dirty="0">
                <a:solidFill>
                  <a:srgbClr val="0070C0"/>
                </a:solidFill>
                <a:latin typeface="Times New Roman" panose="02020603050405020304" pitchFamily="18" charset="0"/>
                <a:cs typeface="Times New Roman" panose="02020603050405020304" pitchFamily="18" charset="0"/>
              </a:rPr>
              <a:t>2) Start and enable the service</a:t>
            </a:r>
          </a:p>
          <a:p>
            <a:pPr rtl="0">
              <a:buNone/>
            </a:pPr>
            <a:r>
              <a:rPr lang="en-US" sz="2000" dirty="0">
                <a:latin typeface="Times New Roman" panose="02020603050405020304" pitchFamily="18" charset="0"/>
                <a:cs typeface="Times New Roman" panose="02020603050405020304" pitchFamily="18" charset="0"/>
              </a:rPr>
              <a:t>sudo </a:t>
            </a:r>
            <a:r>
              <a:rPr lang="en-US" sz="2000" dirty="0" err="1">
                <a:latin typeface="Times New Roman" panose="02020603050405020304" pitchFamily="18" charset="0"/>
                <a:cs typeface="Times New Roman" panose="02020603050405020304" pitchFamily="18" charset="0"/>
              </a:rPr>
              <a:t>systemctl</a:t>
            </a:r>
            <a:r>
              <a:rPr lang="en-US" sz="2000" dirty="0">
                <a:latin typeface="Times New Roman" panose="02020603050405020304" pitchFamily="18" charset="0"/>
                <a:cs typeface="Times New Roman" panose="02020603050405020304" pitchFamily="18" charset="0"/>
              </a:rPr>
              <a:t> enable  httpd</a:t>
            </a:r>
          </a:p>
          <a:p>
            <a:pPr rtl="0">
              <a:buNone/>
            </a:pPr>
            <a:r>
              <a:rPr lang="en-US" sz="2000" dirty="0">
                <a:latin typeface="Times New Roman" panose="02020603050405020304" pitchFamily="18" charset="0"/>
                <a:cs typeface="Times New Roman" panose="02020603050405020304" pitchFamily="18" charset="0"/>
              </a:rPr>
              <a:t># verify</a:t>
            </a:r>
          </a:p>
          <a:p>
            <a:pPr rtl="0">
              <a:buNone/>
            </a:pPr>
            <a:r>
              <a:rPr lang="en-US" sz="2000" dirty="0">
                <a:latin typeface="Times New Roman" panose="02020603050405020304" pitchFamily="18" charset="0"/>
                <a:cs typeface="Times New Roman" panose="02020603050405020304" pitchFamily="18" charset="0"/>
              </a:rPr>
              <a:t>sudo </a:t>
            </a:r>
            <a:r>
              <a:rPr lang="en-US" sz="2000" dirty="0" err="1">
                <a:latin typeface="Times New Roman" panose="02020603050405020304" pitchFamily="18" charset="0"/>
                <a:cs typeface="Times New Roman" panose="02020603050405020304" pitchFamily="18" charset="0"/>
              </a:rPr>
              <a:t>systemctl</a:t>
            </a:r>
            <a:r>
              <a:rPr lang="en-US" sz="2000" dirty="0">
                <a:latin typeface="Times New Roman" panose="02020603050405020304" pitchFamily="18" charset="0"/>
                <a:cs typeface="Times New Roman" panose="02020603050405020304" pitchFamily="18" charset="0"/>
              </a:rPr>
              <a:t> status httpd</a:t>
            </a:r>
          </a:p>
          <a:p>
            <a:pPr rtl="0">
              <a:buNone/>
            </a:pPr>
            <a:endParaRPr lang="en-US" sz="2000" dirty="0">
              <a:latin typeface="Times New Roman" panose="02020603050405020304" pitchFamily="18" charset="0"/>
              <a:cs typeface="Times New Roman" panose="02020603050405020304" pitchFamily="18" charset="0"/>
            </a:endParaRPr>
          </a:p>
          <a:p>
            <a:pPr>
              <a:buNone/>
            </a:pPr>
            <a:r>
              <a:rPr lang="en-US" sz="2000" b="1" dirty="0">
                <a:solidFill>
                  <a:srgbClr val="0070C0"/>
                </a:solidFill>
                <a:latin typeface="Times New Roman" panose="02020603050405020304" pitchFamily="18" charset="0"/>
                <a:cs typeface="Times New Roman" panose="02020603050405020304" pitchFamily="18" charset="0"/>
              </a:rPr>
              <a:t>3) Allow HTTP through the firewall</a:t>
            </a:r>
          </a:p>
          <a:p>
            <a:pPr rtl="0">
              <a:buNone/>
            </a:pPr>
            <a:r>
              <a:rPr lang="en-US" sz="2000" dirty="0">
                <a:latin typeface="Times New Roman" panose="02020603050405020304" pitchFamily="18" charset="0"/>
                <a:cs typeface="Times New Roman" panose="02020603050405020304" pitchFamily="18" charset="0"/>
              </a:rPr>
              <a:t># Add service permanently and reload</a:t>
            </a:r>
          </a:p>
          <a:p>
            <a:pPr rtl="0">
              <a:buNone/>
            </a:pPr>
            <a:r>
              <a:rPr lang="en-US" sz="2000" dirty="0">
                <a:latin typeface="Times New Roman" panose="02020603050405020304" pitchFamily="18" charset="0"/>
                <a:cs typeface="Times New Roman" panose="02020603050405020304" pitchFamily="18" charset="0"/>
              </a:rPr>
              <a:t>sudo firewall-</a:t>
            </a:r>
            <a:r>
              <a:rPr lang="en-US" sz="2000" dirty="0" err="1">
                <a:latin typeface="Times New Roman" panose="02020603050405020304" pitchFamily="18" charset="0"/>
                <a:cs typeface="Times New Roman" panose="02020603050405020304" pitchFamily="18" charset="0"/>
              </a:rPr>
              <a:t>cmd</a:t>
            </a:r>
            <a:r>
              <a:rPr lang="en-US" sz="2000" dirty="0">
                <a:latin typeface="Times New Roman" panose="02020603050405020304" pitchFamily="18" charset="0"/>
                <a:cs typeface="Times New Roman" panose="02020603050405020304" pitchFamily="18" charset="0"/>
              </a:rPr>
              <a:t> --permanent --add-service=http</a:t>
            </a:r>
          </a:p>
          <a:p>
            <a:pPr rtl="0">
              <a:buNone/>
            </a:pPr>
            <a:r>
              <a:rPr lang="en-US" sz="2000" dirty="0">
                <a:latin typeface="Times New Roman" panose="02020603050405020304" pitchFamily="18" charset="0"/>
                <a:cs typeface="Times New Roman" panose="02020603050405020304" pitchFamily="18" charset="0"/>
              </a:rPr>
              <a:t>sudo firewall-</a:t>
            </a:r>
            <a:r>
              <a:rPr lang="en-US" sz="2000" dirty="0" err="1">
                <a:latin typeface="Times New Roman" panose="02020603050405020304" pitchFamily="18" charset="0"/>
                <a:cs typeface="Times New Roman" panose="02020603050405020304" pitchFamily="18" charset="0"/>
              </a:rPr>
              <a:t>cmd</a:t>
            </a:r>
            <a:r>
              <a:rPr lang="en-US" sz="2000" dirty="0">
                <a:latin typeface="Times New Roman" panose="02020603050405020304" pitchFamily="18" charset="0"/>
                <a:cs typeface="Times New Roman" panose="02020603050405020304" pitchFamily="18" charset="0"/>
              </a:rPr>
              <a:t> --reload</a:t>
            </a:r>
          </a:p>
        </p:txBody>
      </p:sp>
      <p:sp>
        <p:nvSpPr>
          <p:cNvPr id="6" name="TextBox 5">
            <a:extLst>
              <a:ext uri="{FF2B5EF4-FFF2-40B4-BE49-F238E27FC236}">
                <a16:creationId xmlns:a16="http://schemas.microsoft.com/office/drawing/2014/main" id="{91474788-289C-90E9-2B75-FB5B22820AC9}"/>
              </a:ext>
            </a:extLst>
          </p:cNvPr>
          <p:cNvSpPr txBox="1"/>
          <p:nvPr/>
        </p:nvSpPr>
        <p:spPr>
          <a:xfrm>
            <a:off x="1510903" y="112812"/>
            <a:ext cx="6122193" cy="400110"/>
          </a:xfrm>
          <a:prstGeom prst="rect">
            <a:avLst/>
          </a:prstGeom>
          <a:noFill/>
        </p:spPr>
        <p:txBody>
          <a:bodyPr wrap="square">
            <a:spAutoFit/>
          </a:bodyPr>
          <a:lstStyle/>
          <a:p>
            <a:pPr algn="ctr">
              <a:buNone/>
            </a:pPr>
            <a:r>
              <a:rPr lang="en-US" sz="2000" b="1" dirty="0">
                <a:latin typeface="Times New Roman" panose="02020603050405020304" pitchFamily="18" charset="0"/>
                <a:cs typeface="Times New Roman" panose="02020603050405020304" pitchFamily="18" charset="0"/>
              </a:rPr>
              <a:t>Step-by-Step Install Apache and Access via IP</a:t>
            </a:r>
          </a:p>
        </p:txBody>
      </p:sp>
    </p:spTree>
    <p:extLst>
      <p:ext uri="{BB962C8B-B14F-4D97-AF65-F5344CB8AC3E}">
        <p14:creationId xmlns:p14="http://schemas.microsoft.com/office/powerpoint/2010/main" val="132652577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7EFC438-576B-298E-79DE-6AAF8817500F}"/>
              </a:ext>
            </a:extLst>
          </p:cNvPr>
          <p:cNvSpPr txBox="1"/>
          <p:nvPr/>
        </p:nvSpPr>
        <p:spPr>
          <a:xfrm>
            <a:off x="492918" y="877550"/>
            <a:ext cx="8158163" cy="2862322"/>
          </a:xfrm>
          <a:prstGeom prst="rect">
            <a:avLst/>
          </a:prstGeom>
          <a:noFill/>
        </p:spPr>
        <p:txBody>
          <a:bodyPr wrap="square">
            <a:spAutoFit/>
          </a:bodyPr>
          <a:lstStyle/>
          <a:p>
            <a:pPr>
              <a:buNone/>
            </a:pPr>
            <a:r>
              <a:rPr lang="en-US" sz="2000" b="1" dirty="0">
                <a:solidFill>
                  <a:srgbClr val="0070C0"/>
                </a:solidFill>
                <a:latin typeface="Times New Roman" panose="02020603050405020304" pitchFamily="18" charset="0"/>
                <a:cs typeface="Times New Roman" panose="02020603050405020304" pitchFamily="18" charset="0"/>
              </a:rPr>
              <a:t>4) Create a simple test page</a:t>
            </a:r>
          </a:p>
          <a:p>
            <a:pPr rtl="0">
              <a:buNone/>
            </a:pPr>
            <a:r>
              <a:rPr lang="en-US" sz="2000" dirty="0">
                <a:latin typeface="Times New Roman" panose="02020603050405020304" pitchFamily="18" charset="0"/>
                <a:cs typeface="Times New Roman" panose="02020603050405020304" pitchFamily="18" charset="0"/>
              </a:rPr>
              <a:t>echo "Hello from Apache on RHEL!" | sudo tee /var/www/html/index.html</a:t>
            </a:r>
          </a:p>
          <a:p>
            <a:pPr rtl="0">
              <a:buNone/>
            </a:pPr>
            <a:endParaRPr lang="en-US" sz="2000" dirty="0">
              <a:latin typeface="Times New Roman" panose="02020603050405020304" pitchFamily="18" charset="0"/>
              <a:cs typeface="Times New Roman" panose="02020603050405020304" pitchFamily="18" charset="0"/>
            </a:endParaRPr>
          </a:p>
          <a:p>
            <a:pPr>
              <a:buNone/>
            </a:pPr>
            <a:r>
              <a:rPr lang="en-US" sz="2000" b="1" dirty="0">
                <a:solidFill>
                  <a:srgbClr val="0070C0"/>
                </a:solidFill>
                <a:latin typeface="Times New Roman" panose="02020603050405020304" pitchFamily="18" charset="0"/>
                <a:cs typeface="Times New Roman" panose="02020603050405020304" pitchFamily="18" charset="0"/>
              </a:rPr>
              <a:t>5) Find the server IP address</a:t>
            </a:r>
          </a:p>
          <a:p>
            <a:pPr rtl="0">
              <a:buNone/>
            </a:pPr>
            <a:r>
              <a:rPr lang="en-US" sz="2000" dirty="0">
                <a:latin typeface="Times New Roman" panose="02020603050405020304" pitchFamily="18" charset="0"/>
                <a:cs typeface="Times New Roman" panose="02020603050405020304" pitchFamily="18" charset="0"/>
              </a:rPr>
              <a:t>Hostname -I</a:t>
            </a:r>
          </a:p>
          <a:p>
            <a:pPr>
              <a:buNone/>
            </a:pPr>
            <a:r>
              <a:rPr lang="en-US" sz="2000" dirty="0">
                <a:latin typeface="Times New Roman" panose="02020603050405020304" pitchFamily="18" charset="0"/>
                <a:cs typeface="Times New Roman" panose="02020603050405020304" pitchFamily="18" charset="0"/>
              </a:rPr>
              <a:t>Use the appropriate IP (e.g., 192.168.1.100).</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b="1" dirty="0">
                <a:solidFill>
                  <a:srgbClr val="0070C0"/>
                </a:solidFill>
                <a:latin typeface="Times New Roman" panose="02020603050405020304" pitchFamily="18" charset="0"/>
                <a:cs typeface="Times New Roman" panose="02020603050405020304" pitchFamily="18" charset="0"/>
              </a:rPr>
              <a:t>6) Test from a browser or another machine</a:t>
            </a:r>
          </a:p>
          <a:p>
            <a:pPr>
              <a:buNone/>
            </a:pPr>
            <a:r>
              <a:rPr lang="en-US" sz="2000" dirty="0">
                <a:latin typeface="Times New Roman" panose="02020603050405020304" pitchFamily="18" charset="0"/>
                <a:cs typeface="Times New Roman" panose="02020603050405020304" pitchFamily="18" charset="0"/>
              </a:rPr>
              <a:t>Open in a browser:</a:t>
            </a:r>
          </a:p>
        </p:txBody>
      </p:sp>
    </p:spTree>
    <p:extLst>
      <p:ext uri="{BB962C8B-B14F-4D97-AF65-F5344CB8AC3E}">
        <p14:creationId xmlns:p14="http://schemas.microsoft.com/office/powerpoint/2010/main" val="1585530163"/>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434C444-6015-C1A5-CED5-6A250379D3C0}"/>
              </a:ext>
            </a:extLst>
          </p:cNvPr>
          <p:cNvSpPr txBox="1"/>
          <p:nvPr/>
        </p:nvSpPr>
        <p:spPr>
          <a:xfrm>
            <a:off x="700268" y="891251"/>
            <a:ext cx="7743463" cy="3170099"/>
          </a:xfrm>
          <a:prstGeom prst="rect">
            <a:avLst/>
          </a:prstGeom>
          <a:noFill/>
        </p:spPr>
        <p:txBody>
          <a:bodyPr wrap="square">
            <a:spAutoFit/>
          </a:bodyPr>
          <a:lstStyle/>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1. </a:t>
            </a:r>
            <a:r>
              <a:rPr lang="en-IN" sz="2000" dirty="0" err="1">
                <a:latin typeface="Times New Roman" panose="02020603050405020304" pitchFamily="18" charset="0"/>
                <a:cs typeface="Times New Roman" panose="02020603050405020304" pitchFamily="18" charset="0"/>
              </a:rPr>
              <a:t>DocumentRoot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 Default directory: /var/www/html</a:t>
            </a:r>
          </a:p>
          <a:p>
            <a:r>
              <a:rPr lang="en-IN" sz="2000" dirty="0">
                <a:latin typeface="Times New Roman" panose="02020603050405020304" pitchFamily="18" charset="0"/>
                <a:cs typeface="Times New Roman" panose="02020603050405020304" pitchFamily="18" charset="0"/>
              </a:rPr>
              <a:t>   - Files inside this directory are served over HTTP.</a:t>
            </a:r>
          </a:p>
          <a:p>
            <a:r>
              <a:rPr lang="en-IN" sz="2000" dirty="0">
                <a:latin typeface="Times New Roman" panose="02020603050405020304" pitchFamily="18" charset="0"/>
                <a:cs typeface="Times New Roman" panose="02020603050405020304" pitchFamily="18" charset="0"/>
              </a:rPr>
              <a:t>   - Example: raj.html -&gt; http://server_IP/raj.html</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2. Index files</a:t>
            </a:r>
          </a:p>
          <a:p>
            <a:r>
              <a:rPr lang="en-IN" sz="2000" dirty="0">
                <a:latin typeface="Times New Roman" panose="02020603050405020304" pitchFamily="18" charset="0"/>
                <a:cs typeface="Times New Roman" panose="02020603050405020304" pitchFamily="18" charset="0"/>
              </a:rPr>
              <a:t>   - When no filename is provided, Apache serves index.html by default. </a:t>
            </a:r>
          </a:p>
          <a:p>
            <a:r>
              <a:rPr lang="en-IN" sz="2000" dirty="0">
                <a:latin typeface="Times New Roman" panose="02020603050405020304" pitchFamily="18" charset="0"/>
                <a:cs typeface="Times New Roman" panose="02020603050405020304" pitchFamily="18" charset="0"/>
              </a:rPr>
              <a:t>   - Can be changed with the </a:t>
            </a:r>
            <a:r>
              <a:rPr lang="en-IN" sz="2000" dirty="0" err="1">
                <a:latin typeface="Times New Roman" panose="02020603050405020304" pitchFamily="18" charset="0"/>
                <a:cs typeface="Times New Roman" panose="02020603050405020304" pitchFamily="18" charset="0"/>
              </a:rPr>
              <a:t>DirectoryIndex</a:t>
            </a:r>
            <a:r>
              <a:rPr lang="en-IN" sz="2000" dirty="0">
                <a:latin typeface="Times New Roman" panose="02020603050405020304" pitchFamily="18" charset="0"/>
                <a:cs typeface="Times New Roman" panose="02020603050405020304" pitchFamily="18" charset="0"/>
              </a:rPr>
              <a:t> directive.</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7481009"/>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F5A2F21-1719-1651-1100-F889E010B52B}"/>
              </a:ext>
            </a:extLst>
          </p:cNvPr>
          <p:cNvSpPr txBox="1"/>
          <p:nvPr/>
        </p:nvSpPr>
        <p:spPr>
          <a:xfrm>
            <a:off x="196769" y="303465"/>
            <a:ext cx="9143999" cy="4093428"/>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3. URL mapping</a:t>
            </a:r>
          </a:p>
          <a:p>
            <a:r>
              <a:rPr lang="en-IN" sz="2000" dirty="0">
                <a:latin typeface="Times New Roman" panose="02020603050405020304" pitchFamily="18" charset="0"/>
                <a:cs typeface="Times New Roman" panose="02020603050405020304" pitchFamily="18" charset="0"/>
              </a:rPr>
              <a:t>   - URL path maps to file under </a:t>
            </a:r>
            <a:r>
              <a:rPr lang="en-IN" sz="2000" dirty="0" err="1">
                <a:latin typeface="Times New Roman" panose="02020603050405020304" pitchFamily="18" charset="0"/>
                <a:cs typeface="Times New Roman" panose="02020603050405020304" pitchFamily="18" charset="0"/>
              </a:rPr>
              <a:t>DocumentRoot</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Example: http://server_IP/test.html -&gt; /var/www/html/test.html</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4. Configuration file</a:t>
            </a:r>
          </a:p>
          <a:p>
            <a:r>
              <a:rPr lang="en-IN" sz="2000" dirty="0">
                <a:latin typeface="Times New Roman" panose="02020603050405020304" pitchFamily="18" charset="0"/>
                <a:cs typeface="Times New Roman" panose="02020603050405020304" pitchFamily="18" charset="0"/>
              </a:rPr>
              <a:t>   - Main config: /etc/httpd/conf/</a:t>
            </a:r>
            <a:r>
              <a:rPr lang="en-IN" sz="2000" dirty="0" err="1">
                <a:latin typeface="Times New Roman" panose="02020603050405020304" pitchFamily="18" charset="0"/>
                <a:cs typeface="Times New Roman" panose="02020603050405020304" pitchFamily="18" charset="0"/>
              </a:rPr>
              <a:t>httpd.conf</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5. Allowing access</a:t>
            </a:r>
          </a:p>
          <a:p>
            <a:r>
              <a:rPr lang="en-IN" sz="2000" dirty="0">
                <a:latin typeface="Times New Roman" panose="02020603050405020304" pitchFamily="18" charset="0"/>
                <a:cs typeface="Times New Roman" panose="02020603050405020304" pitchFamily="18" charset="0"/>
              </a:rPr>
              <a:t>   - Apache must be running and firewall must allow port 80.</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6. Viewing in browser</a:t>
            </a:r>
          </a:p>
          <a:p>
            <a:r>
              <a:rPr lang="en-IN" sz="2000" dirty="0">
                <a:latin typeface="Times New Roman" panose="02020603050405020304" pitchFamily="18" charset="0"/>
                <a:cs typeface="Times New Roman" panose="02020603050405020304" pitchFamily="18" charset="0"/>
              </a:rPr>
              <a:t>   - http://server_IP/</a:t>
            </a:r>
          </a:p>
          <a:p>
            <a:r>
              <a:rPr lang="en-IN" sz="2000" dirty="0">
                <a:latin typeface="Times New Roman" panose="02020603050405020304" pitchFamily="18" charset="0"/>
                <a:cs typeface="Times New Roman" panose="02020603050405020304" pitchFamily="18" charset="0"/>
              </a:rPr>
              <a:t>   - http://server_IP/raj.html</a:t>
            </a:r>
          </a:p>
        </p:txBody>
      </p:sp>
    </p:spTree>
    <p:extLst>
      <p:ext uri="{BB962C8B-B14F-4D97-AF65-F5344CB8AC3E}">
        <p14:creationId xmlns:p14="http://schemas.microsoft.com/office/powerpoint/2010/main" val="410155999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3D173-6D24-76F9-8EA5-F73E00A10A61}"/>
              </a:ext>
            </a:extLst>
          </p:cNvPr>
          <p:cNvSpPr>
            <a:spLocks noGrp="1"/>
          </p:cNvSpPr>
          <p:nvPr>
            <p:ph type="title"/>
          </p:nvPr>
        </p:nvSpPr>
        <p:spPr>
          <a:xfrm>
            <a:off x="3288937" y="255754"/>
            <a:ext cx="2566125" cy="572700"/>
          </a:xfrm>
        </p:spPr>
        <p:txBody>
          <a:bodyPr anchor="ctr"/>
          <a:lstStyle/>
          <a:p>
            <a:pPr algn="ctr"/>
            <a:r>
              <a:rPr lang="en-IN" sz="3600" kern="100" dirty="0">
                <a:latin typeface="Times New Roman" panose="02020603050405020304" pitchFamily="18" charset="0"/>
                <a:cs typeface="Times New Roman" panose="02020603050405020304" pitchFamily="18" charset="0"/>
              </a:rPr>
              <a:t>COCKPIT</a:t>
            </a:r>
            <a:endParaRPr lang="en-US" sz="3600" dirty="0"/>
          </a:p>
        </p:txBody>
      </p:sp>
      <p:sp>
        <p:nvSpPr>
          <p:cNvPr id="4" name="TextBox 3">
            <a:extLst>
              <a:ext uri="{FF2B5EF4-FFF2-40B4-BE49-F238E27FC236}">
                <a16:creationId xmlns:a16="http://schemas.microsoft.com/office/drawing/2014/main" id="{507A4305-C650-5183-0CB7-10BB16BE1C2D}"/>
              </a:ext>
            </a:extLst>
          </p:cNvPr>
          <p:cNvSpPr txBox="1"/>
          <p:nvPr/>
        </p:nvSpPr>
        <p:spPr>
          <a:xfrm>
            <a:off x="327804" y="1915989"/>
            <a:ext cx="5450816" cy="1194173"/>
          </a:xfrm>
          <a:prstGeom prst="rect">
            <a:avLst/>
          </a:prstGeom>
          <a:noFill/>
        </p:spPr>
        <p:txBody>
          <a:bodyPr wrap="square">
            <a:spAutoFit/>
          </a:bodyPr>
          <a:lstStyle/>
          <a:p>
            <a:pPr>
              <a:lnSpc>
                <a:spcPct val="115000"/>
              </a:lnSpc>
              <a:spcAft>
                <a:spcPts val="800"/>
              </a:spcAft>
              <a:buNone/>
            </a:pPr>
            <a:r>
              <a:rPr lang="en-US" sz="1600" dirty="0">
                <a:latin typeface="Lato" panose="020F0502020204030203" pitchFamily="34" charset="0"/>
                <a:cs typeface="Lato" panose="020F0502020204030203" pitchFamily="34" charset="0"/>
              </a:rPr>
              <a:t>Cockpit is a </a:t>
            </a:r>
            <a:r>
              <a:rPr lang="en-US" sz="1600" b="1" dirty="0">
                <a:latin typeface="Lato" panose="020F0502020204030203" pitchFamily="34" charset="0"/>
                <a:cs typeface="Lato" panose="020F0502020204030203" pitchFamily="34" charset="0"/>
              </a:rPr>
              <a:t>web-based management interface</a:t>
            </a:r>
            <a:r>
              <a:rPr lang="en-US" sz="1600" dirty="0">
                <a:latin typeface="Lato" panose="020F0502020204030203" pitchFamily="34" charset="0"/>
                <a:cs typeface="Lato" panose="020F0502020204030203" pitchFamily="34" charset="0"/>
              </a:rPr>
              <a:t> for Linux servers.</a:t>
            </a:r>
            <a:br>
              <a:rPr lang="en-US" sz="1600" dirty="0">
                <a:latin typeface="Lato" panose="020F0502020204030203" pitchFamily="34" charset="0"/>
                <a:cs typeface="Lato" panose="020F0502020204030203" pitchFamily="34" charset="0"/>
              </a:rPr>
            </a:br>
            <a:r>
              <a:rPr lang="en-US" sz="1600" dirty="0">
                <a:latin typeface="Lato" panose="020F0502020204030203" pitchFamily="34" charset="0"/>
                <a:cs typeface="Lato" panose="020F0502020204030203" pitchFamily="34" charset="0"/>
              </a:rPr>
              <a:t>It allows you to manage the server from a </a:t>
            </a:r>
            <a:r>
              <a:rPr lang="en-US" sz="1600" b="1" dirty="0">
                <a:latin typeface="Lato" panose="020F0502020204030203" pitchFamily="34" charset="0"/>
                <a:cs typeface="Lato" panose="020F0502020204030203" pitchFamily="34" charset="0"/>
              </a:rPr>
              <a:t>browser</a:t>
            </a:r>
            <a:r>
              <a:rPr lang="en-US" sz="1600" dirty="0">
                <a:latin typeface="Lato" panose="020F0502020204030203" pitchFamily="34" charset="0"/>
                <a:cs typeface="Lato" panose="020F0502020204030203" pitchFamily="34" charset="0"/>
              </a:rPr>
              <a:t> instead of using only the command line.</a:t>
            </a:r>
            <a:endParaRPr lang="en-US" sz="1600" kern="100" dirty="0">
              <a:effectLst/>
              <a:latin typeface="Lato" panose="020F0502020204030203" pitchFamily="34" charset="0"/>
              <a:ea typeface="Aptos" panose="020B0004020202020204" pitchFamily="34" charset="0"/>
              <a:cs typeface="Lato" panose="020F0502020204030203" pitchFamily="34" charset="0"/>
            </a:endParaRPr>
          </a:p>
        </p:txBody>
      </p:sp>
      <p:sp>
        <p:nvSpPr>
          <p:cNvPr id="6" name="TextBox 5">
            <a:extLst>
              <a:ext uri="{FF2B5EF4-FFF2-40B4-BE49-F238E27FC236}">
                <a16:creationId xmlns:a16="http://schemas.microsoft.com/office/drawing/2014/main" id="{DC1A34AE-CE50-1089-51BD-6CCFF475AE08}"/>
              </a:ext>
            </a:extLst>
          </p:cNvPr>
          <p:cNvSpPr txBox="1"/>
          <p:nvPr/>
        </p:nvSpPr>
        <p:spPr>
          <a:xfrm>
            <a:off x="1651086" y="1229502"/>
            <a:ext cx="3037575" cy="512384"/>
          </a:xfrm>
          <a:prstGeom prst="rect">
            <a:avLst/>
          </a:prstGeom>
          <a:noFill/>
        </p:spPr>
        <p:txBody>
          <a:bodyPr wrap="square">
            <a:spAutoFit/>
          </a:bodyPr>
          <a:lstStyle/>
          <a:p>
            <a:pPr>
              <a:lnSpc>
                <a:spcPct val="115000"/>
              </a:lnSpc>
              <a:spcAft>
                <a:spcPts val="800"/>
              </a:spcAft>
              <a:buNone/>
            </a:pPr>
            <a:r>
              <a:rPr lang="en-IN" sz="2500" b="1" kern="100" dirty="0">
                <a:effectLst/>
                <a:latin typeface="Epilogue" panose="020B0604020202020204" charset="0"/>
                <a:ea typeface="Aptos" panose="020B0004020202020204" pitchFamily="34" charset="0"/>
                <a:cs typeface="Times New Roman" panose="02020603050405020304" pitchFamily="18" charset="0"/>
              </a:rPr>
              <a:t>What is Cockpit?</a:t>
            </a:r>
            <a:endParaRPr lang="en-US" sz="2500" b="1" kern="100" dirty="0">
              <a:effectLst/>
              <a:latin typeface="Epilogue" panose="020B060402020202020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1BC1BBF9-FF78-47BB-1455-8817DBBA6BC8}"/>
              </a:ext>
            </a:extLst>
          </p:cNvPr>
          <p:cNvPicPr>
            <a:picLocks noChangeAspect="1"/>
          </p:cNvPicPr>
          <p:nvPr/>
        </p:nvPicPr>
        <p:blipFill>
          <a:blip r:embed="rId2"/>
          <a:stretch>
            <a:fillRect/>
          </a:stretch>
        </p:blipFill>
        <p:spPr>
          <a:xfrm>
            <a:off x="5778620" y="1052962"/>
            <a:ext cx="3037576" cy="3037576"/>
          </a:xfrm>
          <a:prstGeom prst="rect">
            <a:avLst/>
          </a:prstGeom>
        </p:spPr>
      </p:pic>
      <p:sp>
        <p:nvSpPr>
          <p:cNvPr id="7" name="TextBox 6">
            <a:extLst>
              <a:ext uri="{FF2B5EF4-FFF2-40B4-BE49-F238E27FC236}">
                <a16:creationId xmlns:a16="http://schemas.microsoft.com/office/drawing/2014/main" id="{DAD4123D-63A9-A248-117F-8E25C02FC5A8}"/>
              </a:ext>
            </a:extLst>
          </p:cNvPr>
          <p:cNvSpPr txBox="1"/>
          <p:nvPr/>
        </p:nvSpPr>
        <p:spPr>
          <a:xfrm>
            <a:off x="1467710" y="3729300"/>
            <a:ext cx="3404325" cy="1345048"/>
          </a:xfrm>
          <a:prstGeom prst="rect">
            <a:avLst/>
          </a:prstGeom>
          <a:noFill/>
        </p:spPr>
        <p:txBody>
          <a:bodyPr wrap="square">
            <a:spAutoFit/>
          </a:bodyPr>
          <a:lstStyle/>
          <a:p>
            <a:pPr>
              <a:lnSpc>
                <a:spcPct val="150000"/>
              </a:lnSpc>
            </a:pPr>
            <a:r>
              <a:rPr lang="en-US" dirty="0"/>
              <a:t>Easy for beginners</a:t>
            </a:r>
          </a:p>
          <a:p>
            <a:pPr lvl="1">
              <a:lnSpc>
                <a:spcPct val="150000"/>
              </a:lnSpc>
            </a:pPr>
            <a:r>
              <a:rPr lang="en-US" dirty="0"/>
              <a:t>Good for quick monitoring</a:t>
            </a:r>
          </a:p>
          <a:p>
            <a:pPr lvl="1">
              <a:lnSpc>
                <a:spcPct val="150000"/>
              </a:lnSpc>
            </a:pPr>
            <a:r>
              <a:rPr lang="en-US" dirty="0"/>
              <a:t>No need to remember many commands</a:t>
            </a:r>
          </a:p>
          <a:p>
            <a:pPr lvl="1">
              <a:lnSpc>
                <a:spcPct val="150000"/>
              </a:lnSpc>
            </a:pPr>
            <a:r>
              <a:rPr lang="en-US" dirty="0"/>
              <a:t>Works in real time</a:t>
            </a:r>
          </a:p>
        </p:txBody>
      </p:sp>
      <p:sp>
        <p:nvSpPr>
          <p:cNvPr id="9" name="TextBox 8">
            <a:extLst>
              <a:ext uri="{FF2B5EF4-FFF2-40B4-BE49-F238E27FC236}">
                <a16:creationId xmlns:a16="http://schemas.microsoft.com/office/drawing/2014/main" id="{8DA3B6A0-1D94-B7B8-E291-5B6CD0310A3C}"/>
              </a:ext>
            </a:extLst>
          </p:cNvPr>
          <p:cNvSpPr txBox="1"/>
          <p:nvPr/>
        </p:nvSpPr>
        <p:spPr>
          <a:xfrm>
            <a:off x="1744134" y="3252246"/>
            <a:ext cx="2851478" cy="477054"/>
          </a:xfrm>
          <a:prstGeom prst="rect">
            <a:avLst/>
          </a:prstGeom>
          <a:noFill/>
        </p:spPr>
        <p:txBody>
          <a:bodyPr wrap="square">
            <a:spAutoFit/>
          </a:bodyPr>
          <a:lstStyle/>
          <a:p>
            <a:r>
              <a:rPr lang="en-US" sz="2500" b="1" dirty="0">
                <a:latin typeface="Epilogue" panose="020B0604020202020204" charset="0"/>
              </a:rPr>
              <a:t>Why is it useful?</a:t>
            </a:r>
          </a:p>
        </p:txBody>
      </p:sp>
    </p:spTree>
    <p:extLst>
      <p:ext uri="{BB962C8B-B14F-4D97-AF65-F5344CB8AC3E}">
        <p14:creationId xmlns:p14="http://schemas.microsoft.com/office/powerpoint/2010/main" val="3010978770"/>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DF767-1C8A-F15E-F603-0B9FF606A6AF}"/>
              </a:ext>
            </a:extLst>
          </p:cNvPr>
          <p:cNvSpPr>
            <a:spLocks noGrp="1"/>
          </p:cNvSpPr>
          <p:nvPr>
            <p:ph type="title"/>
          </p:nvPr>
        </p:nvSpPr>
        <p:spPr>
          <a:xfrm>
            <a:off x="1441087" y="473600"/>
            <a:ext cx="6261825" cy="572700"/>
          </a:xfrm>
        </p:spPr>
        <p:txBody>
          <a:bodyPr/>
          <a:lstStyle/>
          <a:p>
            <a:r>
              <a:rPr lang="en-US" dirty="0"/>
              <a:t>What can you do with Cockpit?</a:t>
            </a:r>
          </a:p>
        </p:txBody>
      </p:sp>
      <p:sp>
        <p:nvSpPr>
          <p:cNvPr id="3" name="Rectangle 1">
            <a:extLst>
              <a:ext uri="{FF2B5EF4-FFF2-40B4-BE49-F238E27FC236}">
                <a16:creationId xmlns:a16="http://schemas.microsoft.com/office/drawing/2014/main" id="{D64D12DF-FDE0-8431-749C-59B8A5214703}"/>
              </a:ext>
            </a:extLst>
          </p:cNvPr>
          <p:cNvSpPr>
            <a:spLocks noChangeArrowheads="1"/>
          </p:cNvSpPr>
          <p:nvPr/>
        </p:nvSpPr>
        <p:spPr bwMode="auto">
          <a:xfrm>
            <a:off x="2192155" y="1279088"/>
            <a:ext cx="475968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View system health (CPU, RAM, storage)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Manage users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Manage services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View logs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Configure networking and firewall</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Manage virtual machines (KVM)</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Update the system</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Check running processes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Lato" panose="020F0502020204030203" pitchFamily="34" charset="0"/>
                <a:cs typeface="Lato" panose="020F0502020204030203" pitchFamily="34" charset="0"/>
              </a:rPr>
              <a:t>File browser</a:t>
            </a:r>
          </a:p>
        </p:txBody>
      </p:sp>
      <p:sp>
        <p:nvSpPr>
          <p:cNvPr id="5" name="TextBox 4">
            <a:extLst>
              <a:ext uri="{FF2B5EF4-FFF2-40B4-BE49-F238E27FC236}">
                <a16:creationId xmlns:a16="http://schemas.microsoft.com/office/drawing/2014/main" id="{3417B072-96EB-FEA6-E734-A85AC176F1A2}"/>
              </a:ext>
            </a:extLst>
          </p:cNvPr>
          <p:cNvSpPr txBox="1"/>
          <p:nvPr/>
        </p:nvSpPr>
        <p:spPr>
          <a:xfrm>
            <a:off x="5245894" y="4011474"/>
            <a:ext cx="3136106" cy="584775"/>
          </a:xfrm>
          <a:prstGeom prst="rect">
            <a:avLst/>
          </a:prstGeom>
          <a:noFill/>
          <a:ln>
            <a:solidFill>
              <a:schemeClr val="accent1">
                <a:lumMod val="75000"/>
              </a:schemeClr>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Lato" panose="020F0502020204030203" pitchFamily="34" charset="0"/>
                <a:cs typeface="Lato" panose="020F0502020204030203" pitchFamily="34" charset="0"/>
              </a:rPr>
              <a:t>All through a </a:t>
            </a:r>
            <a:r>
              <a:rPr kumimoji="0" lang="en-US" altLang="en-US" sz="1600" b="1" i="0" u="none" strike="noStrike" cap="none" normalizeH="0" baseline="0" dirty="0">
                <a:ln>
                  <a:noFill/>
                </a:ln>
                <a:solidFill>
                  <a:schemeClr val="tx1"/>
                </a:solidFill>
                <a:effectLst/>
                <a:latin typeface="Lato" panose="020F0502020204030203" pitchFamily="34" charset="0"/>
                <a:cs typeface="Lato" panose="020F0502020204030203" pitchFamily="34" charset="0"/>
              </a:rPr>
              <a:t>web dashboard</a:t>
            </a:r>
            <a:r>
              <a:rPr kumimoji="0" lang="en-US" altLang="en-US" sz="1600" b="0" i="0" u="none" strike="noStrike" cap="none" normalizeH="0" baseline="0" dirty="0">
                <a:ln>
                  <a:noFill/>
                </a:ln>
                <a:solidFill>
                  <a:schemeClr val="tx1"/>
                </a:solidFill>
                <a:effectLst/>
                <a:latin typeface="Lato" panose="020F0502020204030203" pitchFamily="34" charset="0"/>
                <a:cs typeface="Lato" panose="020F0502020204030203" pitchFamily="34" charset="0"/>
              </a:rPr>
              <a:t>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Lato" panose="020F0502020204030203" pitchFamily="34" charset="0"/>
                <a:cs typeface="Lato" panose="020F0502020204030203" pitchFamily="34" charset="0"/>
              </a:rPr>
              <a:t>https://server-ip:9090 </a:t>
            </a:r>
          </a:p>
        </p:txBody>
      </p:sp>
    </p:spTree>
    <p:extLst>
      <p:ext uri="{BB962C8B-B14F-4D97-AF65-F5344CB8AC3E}">
        <p14:creationId xmlns:p14="http://schemas.microsoft.com/office/powerpoint/2010/main" val="251447085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99551-C955-6D6C-6BD1-33EBD3028104}"/>
              </a:ext>
            </a:extLst>
          </p:cNvPr>
          <p:cNvSpPr>
            <a:spLocks noGrp="1"/>
          </p:cNvSpPr>
          <p:nvPr>
            <p:ph type="title"/>
          </p:nvPr>
        </p:nvSpPr>
        <p:spPr/>
        <p:txBody>
          <a:bodyPr/>
          <a:lstStyle/>
          <a:p>
            <a:pPr algn="ctr"/>
            <a:r>
              <a:rPr lang="en-IN" kern="100" dirty="0">
                <a:latin typeface="Times New Roman" panose="02020603050405020304" pitchFamily="18" charset="0"/>
                <a:ea typeface="Aptos" panose="020B0004020202020204" pitchFamily="34" charset="0"/>
                <a:cs typeface="Times New Roman" panose="02020603050405020304" pitchFamily="18" charset="0"/>
              </a:rPr>
              <a:t>How to Enable Cockpit</a:t>
            </a:r>
            <a:endParaRPr lang="en-US" dirty="0"/>
          </a:p>
        </p:txBody>
      </p:sp>
      <p:sp>
        <p:nvSpPr>
          <p:cNvPr id="4" name="TextBox 3">
            <a:extLst>
              <a:ext uri="{FF2B5EF4-FFF2-40B4-BE49-F238E27FC236}">
                <a16:creationId xmlns:a16="http://schemas.microsoft.com/office/drawing/2014/main" id="{1D4836A0-5BA6-AFC9-18CB-5577ACAF6DF0}"/>
              </a:ext>
            </a:extLst>
          </p:cNvPr>
          <p:cNvSpPr txBox="1"/>
          <p:nvPr/>
        </p:nvSpPr>
        <p:spPr>
          <a:xfrm>
            <a:off x="1694542" y="1468955"/>
            <a:ext cx="5159828" cy="2700547"/>
          </a:xfrm>
          <a:prstGeom prst="rect">
            <a:avLst/>
          </a:prstGeom>
          <a:noFill/>
        </p:spPr>
        <p:txBody>
          <a:bodyPr wrap="square">
            <a:spAutoFit/>
          </a:bodyPr>
          <a:lstStyle/>
          <a:p>
            <a:pPr>
              <a:lnSpc>
                <a:spcPct val="115000"/>
              </a:lnSpc>
              <a:spcAft>
                <a:spcPts val="800"/>
              </a:spcAft>
              <a:buNone/>
            </a:pPr>
            <a:r>
              <a:rPr lang="en-IN" sz="2000" b="1" kern="100" dirty="0">
                <a:solidFill>
                  <a:srgbClr val="0070C0"/>
                </a:solidFill>
                <a:effectLst/>
                <a:latin typeface="Times New Roman" panose="02020603050405020304" pitchFamily="18" charset="0"/>
                <a:ea typeface="Aptos" panose="020B0004020202020204" pitchFamily="34" charset="0"/>
                <a:cs typeface="Times New Roman" panose="02020603050405020304" pitchFamily="18" charset="0"/>
              </a:rPr>
              <a:t>1. Install Cockpit:</a:t>
            </a:r>
            <a:endParaRPr lang="en-US" sz="2000" b="1" kern="100" dirty="0">
              <a:solidFill>
                <a:srgbClr val="0070C0"/>
              </a:solidFill>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buNone/>
            </a:pPr>
            <a:r>
              <a:rPr lang="en-IN" sz="2000" kern="100" dirty="0" err="1">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sudo</a:t>
            </a:r>
            <a:r>
              <a:rPr lang="en-IN" sz="2000" kern="100" dirty="0">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 </a:t>
            </a:r>
            <a:r>
              <a:rPr lang="en-IN" sz="2000" kern="100" dirty="0" err="1">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dnf</a:t>
            </a:r>
            <a:r>
              <a:rPr lang="en-IN" sz="2000" kern="100" dirty="0">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 install -y cockpit</a:t>
            </a:r>
          </a:p>
          <a:p>
            <a:pPr>
              <a:lnSpc>
                <a:spcPct val="115000"/>
              </a:lnSpc>
              <a:spcAft>
                <a:spcPts val="800"/>
              </a:spcAft>
              <a:buNone/>
            </a:pP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buNone/>
            </a:pPr>
            <a:r>
              <a:rPr lang="en-IN" sz="2000" b="1" kern="100" dirty="0">
                <a:solidFill>
                  <a:srgbClr val="0070C0"/>
                </a:solidFill>
                <a:effectLst/>
                <a:latin typeface="Times New Roman" panose="02020603050405020304" pitchFamily="18" charset="0"/>
                <a:ea typeface="Aptos" panose="020B0004020202020204" pitchFamily="34" charset="0"/>
                <a:cs typeface="Times New Roman" panose="02020603050405020304" pitchFamily="18" charset="0"/>
              </a:rPr>
              <a:t>2. Start and enable the Cockpit service:</a:t>
            </a:r>
            <a:endParaRPr lang="en-US" sz="2000" b="1" kern="100" dirty="0">
              <a:solidFill>
                <a:srgbClr val="0070C0"/>
              </a:solidFill>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buNone/>
            </a:pPr>
            <a:r>
              <a:rPr lang="en-IN" sz="2000" kern="100" dirty="0" err="1">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sudo</a:t>
            </a:r>
            <a:r>
              <a:rPr lang="en-IN" sz="2000" kern="100" dirty="0">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 </a:t>
            </a:r>
            <a:r>
              <a:rPr lang="en-IN" sz="2000" kern="100" dirty="0" err="1">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systemctl</a:t>
            </a:r>
            <a:r>
              <a:rPr lang="en-IN" sz="2000" kern="100" dirty="0">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 start cockpit</a:t>
            </a:r>
            <a:endParaRPr lang="en-US" sz="2000" kern="100" dirty="0">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buNone/>
            </a:pPr>
            <a:r>
              <a:rPr lang="en-IN" sz="2000" kern="100" dirty="0" err="1">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sudo</a:t>
            </a:r>
            <a:r>
              <a:rPr lang="en-IN" sz="2000" kern="100" dirty="0">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 </a:t>
            </a:r>
            <a:r>
              <a:rPr lang="en-IN" sz="2000" kern="100" dirty="0" err="1">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systemctl</a:t>
            </a:r>
            <a:r>
              <a:rPr lang="en-IN" sz="2000" kern="100" dirty="0">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 enable cockpit</a:t>
            </a:r>
            <a:endParaRPr lang="en-US" sz="2000" kern="100" dirty="0">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66945677"/>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8B6F7ED-2E15-2E07-9738-0D6F984E994E}"/>
              </a:ext>
            </a:extLst>
          </p:cNvPr>
          <p:cNvSpPr txBox="1"/>
          <p:nvPr/>
        </p:nvSpPr>
        <p:spPr>
          <a:xfrm>
            <a:off x="1194707" y="1221476"/>
            <a:ext cx="6754586" cy="2700547"/>
          </a:xfrm>
          <a:prstGeom prst="rect">
            <a:avLst/>
          </a:prstGeom>
          <a:noFill/>
        </p:spPr>
        <p:txBody>
          <a:bodyPr wrap="square">
            <a:spAutoFit/>
          </a:bodyPr>
          <a:lstStyle/>
          <a:p>
            <a:pPr>
              <a:lnSpc>
                <a:spcPct val="115000"/>
              </a:lnSpc>
              <a:spcAft>
                <a:spcPts val="800"/>
              </a:spcAft>
              <a:buNone/>
            </a:pPr>
            <a:r>
              <a:rPr lang="en-IN" sz="2000" b="1" kern="100" dirty="0">
                <a:solidFill>
                  <a:srgbClr val="0070C0"/>
                </a:solidFill>
                <a:effectLst/>
                <a:latin typeface="Times New Roman" panose="02020603050405020304" pitchFamily="18" charset="0"/>
                <a:ea typeface="Aptos" panose="020B0004020202020204" pitchFamily="34" charset="0"/>
                <a:cs typeface="Times New Roman" panose="02020603050405020304" pitchFamily="18" charset="0"/>
              </a:rPr>
              <a:t>3. Open firewall port:</a:t>
            </a:r>
            <a:endParaRPr lang="en-US" sz="2000" b="1" kern="100" dirty="0">
              <a:solidFill>
                <a:srgbClr val="0070C0"/>
              </a:solidFill>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buNone/>
            </a:pPr>
            <a:r>
              <a:rPr lang="en-IN" sz="2000" kern="100" dirty="0" err="1">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sudo</a:t>
            </a:r>
            <a:r>
              <a:rPr lang="en-IN" sz="2000" kern="100" dirty="0">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 firewall-</a:t>
            </a:r>
            <a:r>
              <a:rPr lang="en-IN" sz="2000" kern="100" dirty="0" err="1">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cmd</a:t>
            </a:r>
            <a:r>
              <a:rPr lang="en-IN" sz="2000" kern="100" dirty="0">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 --permanent --add-service=cockpit</a:t>
            </a:r>
            <a:endParaRPr lang="en-US" sz="2000" kern="100" dirty="0">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buNone/>
            </a:pPr>
            <a:r>
              <a:rPr lang="en-IN" sz="2000" kern="100" dirty="0" err="1">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sudo</a:t>
            </a:r>
            <a:r>
              <a:rPr lang="en-IN" sz="2000" kern="100" dirty="0">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 firewall-</a:t>
            </a:r>
            <a:r>
              <a:rPr lang="en-IN" sz="2000" kern="100" dirty="0" err="1">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cmd</a:t>
            </a:r>
            <a:r>
              <a:rPr lang="en-IN" sz="2000" kern="100" dirty="0">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 --reload</a:t>
            </a:r>
            <a:endParaRPr lang="en-US" sz="2000" kern="100" dirty="0">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buNone/>
            </a:pPr>
            <a:r>
              <a:rPr lang="en-IN" sz="2000" b="1" kern="100" dirty="0">
                <a:solidFill>
                  <a:srgbClr val="0070C0"/>
                </a:solidFill>
                <a:effectLst/>
                <a:latin typeface="Times New Roman" panose="02020603050405020304" pitchFamily="18" charset="0"/>
                <a:ea typeface="Aptos" panose="020B0004020202020204" pitchFamily="34" charset="0"/>
                <a:cs typeface="Times New Roman" panose="02020603050405020304" pitchFamily="18" charset="0"/>
              </a:rPr>
              <a:t>4. Access Cockpit via browser:</a:t>
            </a:r>
            <a:endParaRPr lang="en-US" sz="2000" b="1" kern="100" dirty="0">
              <a:solidFill>
                <a:srgbClr val="0070C0"/>
              </a:solidFill>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buNone/>
            </a:pPr>
            <a:r>
              <a:rPr lang="en-IN" sz="2000" kern="100" dirty="0">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rPr>
              <a:t>https://&lt;your-server-ip&gt;:9090</a:t>
            </a:r>
            <a:endParaRPr lang="en-US" sz="2000" kern="100" dirty="0">
              <a:solidFill>
                <a:schemeClr val="tx2"/>
              </a:solidFill>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15000"/>
              </a:lnSpc>
              <a:spcAft>
                <a:spcPts val="800"/>
              </a:spcAft>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Log in using your RHEL system username and password.</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5" name="Title 1">
            <a:extLst>
              <a:ext uri="{FF2B5EF4-FFF2-40B4-BE49-F238E27FC236}">
                <a16:creationId xmlns:a16="http://schemas.microsoft.com/office/drawing/2014/main" id="{7485BF11-9BB2-C9E9-0E0A-F955846E9F48}"/>
              </a:ext>
            </a:extLst>
          </p:cNvPr>
          <p:cNvSpPr>
            <a:spLocks noGrp="1"/>
          </p:cNvSpPr>
          <p:nvPr>
            <p:ph type="title"/>
          </p:nvPr>
        </p:nvSpPr>
        <p:spPr>
          <a:xfrm>
            <a:off x="720000" y="445025"/>
            <a:ext cx="7704000" cy="572700"/>
          </a:xfrm>
        </p:spPr>
        <p:txBody>
          <a:bodyPr/>
          <a:lstStyle/>
          <a:p>
            <a:pPr algn="ctr"/>
            <a:r>
              <a:rPr lang="en-IN" kern="100" dirty="0">
                <a:latin typeface="Times New Roman" panose="02020603050405020304" pitchFamily="18" charset="0"/>
                <a:ea typeface="Aptos" panose="020B0004020202020204" pitchFamily="34" charset="0"/>
                <a:cs typeface="Times New Roman" panose="02020603050405020304" pitchFamily="18" charset="0"/>
              </a:rPr>
              <a:t>How to Enable Cockpit</a:t>
            </a:r>
            <a:endParaRPr lang="en-US" dirty="0"/>
          </a:p>
        </p:txBody>
      </p:sp>
    </p:spTree>
    <p:extLst>
      <p:ext uri="{BB962C8B-B14F-4D97-AF65-F5344CB8AC3E}">
        <p14:creationId xmlns:p14="http://schemas.microsoft.com/office/powerpoint/2010/main" val="823422809"/>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E1ADD-F416-6441-0F83-C5D17BA1AE17}"/>
              </a:ext>
            </a:extLst>
          </p:cNvPr>
          <p:cNvSpPr>
            <a:spLocks noGrp="1"/>
          </p:cNvSpPr>
          <p:nvPr>
            <p:ph type="title"/>
          </p:nvPr>
        </p:nvSpPr>
        <p:spPr/>
        <p:txBody>
          <a:bodyPr/>
          <a:lstStyle/>
          <a:p>
            <a:r>
              <a:rPr lang="en-IN" dirty="0"/>
              <a:t>Final Workflow Summary</a:t>
            </a:r>
          </a:p>
        </p:txBody>
      </p:sp>
      <p:sp>
        <p:nvSpPr>
          <p:cNvPr id="4" name="TextBox 3">
            <a:extLst>
              <a:ext uri="{FF2B5EF4-FFF2-40B4-BE49-F238E27FC236}">
                <a16:creationId xmlns:a16="http://schemas.microsoft.com/office/drawing/2014/main" id="{4A23FBC1-6A0F-D2FE-CF29-C8E0E05FA4EB}"/>
              </a:ext>
            </a:extLst>
          </p:cNvPr>
          <p:cNvSpPr txBox="1"/>
          <p:nvPr/>
        </p:nvSpPr>
        <p:spPr>
          <a:xfrm>
            <a:off x="1875099" y="2094764"/>
            <a:ext cx="5162308" cy="1169551"/>
          </a:xfrm>
          <a:prstGeom prst="rect">
            <a:avLst/>
          </a:prstGeom>
          <a:noFill/>
        </p:spPr>
        <p:txBody>
          <a:bodyPr wrap="square">
            <a:spAutoFit/>
          </a:bodyPr>
          <a:lstStyle/>
          <a:p>
            <a:r>
              <a:rPr lang="en-IN" dirty="0"/>
              <a:t>1. Install Cockpit</a:t>
            </a:r>
          </a:p>
          <a:p>
            <a:r>
              <a:rPr lang="en-IN" dirty="0"/>
              <a:t>2. Start service</a:t>
            </a:r>
          </a:p>
          <a:p>
            <a:r>
              <a:rPr lang="en-IN" dirty="0"/>
              <a:t>3. Enable service</a:t>
            </a:r>
          </a:p>
          <a:p>
            <a:r>
              <a:rPr lang="en-IN" dirty="0"/>
              <a:t>4. Configure firewall</a:t>
            </a:r>
          </a:p>
          <a:p>
            <a:r>
              <a:rPr lang="en-IN" dirty="0"/>
              <a:t>5. Access via browser (Port 9090)</a:t>
            </a:r>
          </a:p>
        </p:txBody>
      </p:sp>
    </p:spTree>
    <p:extLst>
      <p:ext uri="{BB962C8B-B14F-4D97-AF65-F5344CB8AC3E}">
        <p14:creationId xmlns:p14="http://schemas.microsoft.com/office/powerpoint/2010/main" val="3749353337"/>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BFD61-80EE-40D9-36FD-A0B648382E0A}"/>
              </a:ext>
            </a:extLst>
          </p:cNvPr>
          <p:cNvSpPr>
            <a:spLocks noGrp="1"/>
          </p:cNvSpPr>
          <p:nvPr>
            <p:ph type="title"/>
          </p:nvPr>
        </p:nvSpPr>
        <p:spPr/>
        <p:txBody>
          <a:bodyPr/>
          <a:lstStyle/>
          <a:p>
            <a:pPr algn="ctr"/>
            <a:r>
              <a:rPr lang="en-IN" sz="2800" dirty="0" err="1">
                <a:latin typeface="Times New Roman" panose="02020603050405020304" pitchFamily="18" charset="0"/>
                <a:cs typeface="Times New Roman" panose="02020603050405020304" pitchFamily="18" charset="0"/>
              </a:rPr>
              <a:t>Webmin</a:t>
            </a:r>
            <a:r>
              <a:rPr lang="en-IN" sz="2800" dirty="0">
                <a:latin typeface="Times New Roman" panose="02020603050405020304" pitchFamily="18" charset="0"/>
                <a:cs typeface="Times New Roman" panose="02020603050405020304" pitchFamily="18" charset="0"/>
              </a:rPr>
              <a:t> Configuration</a:t>
            </a:r>
          </a:p>
        </p:txBody>
      </p:sp>
      <p:sp>
        <p:nvSpPr>
          <p:cNvPr id="3" name="Title 1">
            <a:extLst>
              <a:ext uri="{FF2B5EF4-FFF2-40B4-BE49-F238E27FC236}">
                <a16:creationId xmlns:a16="http://schemas.microsoft.com/office/drawing/2014/main" id="{AEB9E09C-AC3E-0611-6A81-C1AD528F5369}"/>
              </a:ext>
            </a:extLst>
          </p:cNvPr>
          <p:cNvSpPr txBox="1">
            <a:spLocks/>
          </p:cNvSpPr>
          <p:nvPr/>
        </p:nvSpPr>
        <p:spPr>
          <a:xfrm>
            <a:off x="720000" y="1428750"/>
            <a:ext cx="2243119" cy="43477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IN" sz="2000" dirty="0">
                <a:latin typeface="Times New Roman" panose="02020603050405020304" pitchFamily="18" charset="0"/>
                <a:cs typeface="Times New Roman" panose="02020603050405020304" pitchFamily="18" charset="0"/>
              </a:rPr>
              <a:t>What is </a:t>
            </a:r>
            <a:r>
              <a:rPr lang="en-IN" sz="2000" dirty="0" err="1">
                <a:latin typeface="Times New Roman" panose="02020603050405020304" pitchFamily="18" charset="0"/>
                <a:cs typeface="Times New Roman" panose="02020603050405020304" pitchFamily="18" charset="0"/>
              </a:rPr>
              <a:t>Webmin</a:t>
            </a:r>
            <a:r>
              <a:rPr lang="en-IN" sz="2000" dirty="0">
                <a:latin typeface="Times New Roman" panose="02020603050405020304" pitchFamily="18" charset="0"/>
                <a:cs typeface="Times New Roman" panose="02020603050405020304" pitchFamily="18" charset="0"/>
              </a:rPr>
              <a:t>?</a:t>
            </a:r>
          </a:p>
        </p:txBody>
      </p:sp>
      <p:sp>
        <p:nvSpPr>
          <p:cNvPr id="4" name="Content Placeholder 2">
            <a:extLst>
              <a:ext uri="{FF2B5EF4-FFF2-40B4-BE49-F238E27FC236}">
                <a16:creationId xmlns:a16="http://schemas.microsoft.com/office/drawing/2014/main" id="{4C4C64BA-A181-926D-6827-C769DC337762}"/>
              </a:ext>
            </a:extLst>
          </p:cNvPr>
          <p:cNvSpPr txBox="1">
            <a:spLocks/>
          </p:cNvSpPr>
          <p:nvPr/>
        </p:nvSpPr>
        <p:spPr>
          <a:xfrm>
            <a:off x="638977" y="2118165"/>
            <a:ext cx="8229600" cy="107661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dirty="0" err="1">
                <a:latin typeface="Times New Roman" panose="02020603050405020304" pitchFamily="18" charset="0"/>
                <a:cs typeface="Times New Roman" panose="02020603050405020304" pitchFamily="18" charset="0"/>
              </a:rPr>
              <a:t>Webmin</a:t>
            </a:r>
            <a:r>
              <a:rPr lang="en-US" sz="2000" dirty="0">
                <a:latin typeface="Times New Roman" panose="02020603050405020304" pitchFamily="18" charset="0"/>
                <a:cs typeface="Times New Roman" panose="02020603050405020304" pitchFamily="18" charset="0"/>
              </a:rPr>
              <a:t> is a web-based Linux system administration tool.</a:t>
            </a:r>
          </a:p>
          <a:p>
            <a:r>
              <a:rPr lang="en-US" sz="2000" dirty="0">
                <a:latin typeface="Times New Roman" panose="02020603050405020304" pitchFamily="18" charset="0"/>
                <a:cs typeface="Times New Roman" panose="02020603050405020304" pitchFamily="18" charset="0"/>
              </a:rPr>
              <a:t>It allows managing users, services, packages and firewall via browser.</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Default Port: 10000</a:t>
            </a:r>
          </a:p>
        </p:txBody>
      </p:sp>
    </p:spTree>
    <p:extLst>
      <p:ext uri="{BB962C8B-B14F-4D97-AF65-F5344CB8AC3E}">
        <p14:creationId xmlns:p14="http://schemas.microsoft.com/office/powerpoint/2010/main" val="134945286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2A5A8E9-9981-2648-7FC7-F80299CBCF92}"/>
              </a:ext>
            </a:extLst>
          </p:cNvPr>
          <p:cNvSpPr txBox="1">
            <a:spLocks/>
          </p:cNvSpPr>
          <p:nvPr/>
        </p:nvSpPr>
        <p:spPr>
          <a:xfrm>
            <a:off x="1960724" y="344086"/>
            <a:ext cx="5222552" cy="7005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pPr algn="ctr"/>
            <a:r>
              <a:rPr lang="en-IN" dirty="0">
                <a:latin typeface="Times New Roman" panose="02020603050405020304" pitchFamily="18" charset="0"/>
                <a:cs typeface="Times New Roman" panose="02020603050405020304" pitchFamily="18" charset="0"/>
              </a:rPr>
              <a:t>Why We Use </a:t>
            </a:r>
            <a:r>
              <a:rPr lang="en-IN" dirty="0" err="1">
                <a:latin typeface="Times New Roman" panose="02020603050405020304" pitchFamily="18" charset="0"/>
                <a:cs typeface="Times New Roman" panose="02020603050405020304" pitchFamily="18" charset="0"/>
              </a:rPr>
              <a:t>Webmin</a:t>
            </a:r>
            <a:r>
              <a:rPr lang="en-IN" dirty="0">
                <a:latin typeface="Times New Roman" panose="02020603050405020304" pitchFamily="18" charset="0"/>
                <a:cs typeface="Times New Roman" panose="02020603050405020304" pitchFamily="18" charset="0"/>
              </a:rPr>
              <a:t>?</a:t>
            </a:r>
          </a:p>
        </p:txBody>
      </p:sp>
      <p:sp>
        <p:nvSpPr>
          <p:cNvPr id="4" name="Content Placeholder 2">
            <a:extLst>
              <a:ext uri="{FF2B5EF4-FFF2-40B4-BE49-F238E27FC236}">
                <a16:creationId xmlns:a16="http://schemas.microsoft.com/office/drawing/2014/main" id="{F02166FF-7A72-9DFA-7042-AD0FC606EADA}"/>
              </a:ext>
            </a:extLst>
          </p:cNvPr>
          <p:cNvSpPr txBox="1">
            <a:spLocks/>
          </p:cNvSpPr>
          <p:nvPr/>
        </p:nvSpPr>
        <p:spPr>
          <a:xfrm>
            <a:off x="578734" y="1574157"/>
            <a:ext cx="4427316" cy="224548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000" dirty="0">
                <a:latin typeface="Times New Roman" panose="02020603050405020304" pitchFamily="18" charset="0"/>
                <a:cs typeface="Times New Roman" panose="02020603050405020304" pitchFamily="18" charset="0"/>
              </a:rPr>
              <a:t>• Web-based server management</a:t>
            </a:r>
          </a:p>
          <a:p>
            <a:r>
              <a:rPr lang="en-IN" sz="2000" dirty="0">
                <a:latin typeface="Times New Roman" panose="02020603050405020304" pitchFamily="18" charset="0"/>
                <a:cs typeface="Times New Roman" panose="02020603050405020304" pitchFamily="18" charset="0"/>
              </a:rPr>
              <a:t>• Manage users &amp; groups</a:t>
            </a:r>
          </a:p>
          <a:p>
            <a:r>
              <a:rPr lang="en-IN" sz="2000" dirty="0">
                <a:latin typeface="Times New Roman" panose="02020603050405020304" pitchFamily="18" charset="0"/>
                <a:cs typeface="Times New Roman" panose="02020603050405020304" pitchFamily="18" charset="0"/>
              </a:rPr>
              <a:t>• Manage services (Apache, DNS, Samba)</a:t>
            </a:r>
          </a:p>
          <a:p>
            <a:r>
              <a:rPr lang="en-IN" sz="2000" dirty="0">
                <a:latin typeface="Times New Roman" panose="02020603050405020304" pitchFamily="18" charset="0"/>
                <a:cs typeface="Times New Roman" panose="02020603050405020304" pitchFamily="18" charset="0"/>
              </a:rPr>
              <a:t>• Package management</a:t>
            </a:r>
          </a:p>
          <a:p>
            <a:r>
              <a:rPr lang="en-IN" sz="2000" dirty="0">
                <a:latin typeface="Times New Roman" panose="02020603050405020304" pitchFamily="18" charset="0"/>
                <a:cs typeface="Times New Roman" panose="02020603050405020304" pitchFamily="18" charset="0"/>
              </a:rPr>
              <a:t>• Firewall configuration</a:t>
            </a:r>
          </a:p>
          <a:p>
            <a:r>
              <a:rPr lang="en-IN" sz="2000" dirty="0">
                <a:latin typeface="Times New Roman" panose="02020603050405020304" pitchFamily="18" charset="0"/>
                <a:cs typeface="Times New Roman" panose="02020603050405020304" pitchFamily="18" charset="0"/>
              </a:rPr>
              <a:t>• Beginner-friendly administration</a:t>
            </a:r>
          </a:p>
        </p:txBody>
      </p:sp>
    </p:spTree>
    <p:extLst>
      <p:ext uri="{BB962C8B-B14F-4D97-AF65-F5344CB8AC3E}">
        <p14:creationId xmlns:p14="http://schemas.microsoft.com/office/powerpoint/2010/main" val="3221574982"/>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78F975D8-973C-E37F-4AD5-B8DF407094F5}"/>
              </a:ext>
            </a:extLst>
          </p:cNvPr>
          <p:cNvSpPr txBox="1">
            <a:spLocks/>
          </p:cNvSpPr>
          <p:nvPr/>
        </p:nvSpPr>
        <p:spPr>
          <a:xfrm>
            <a:off x="914400" y="710148"/>
            <a:ext cx="8229600" cy="401088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000" b="1" dirty="0">
                <a:latin typeface="Times New Roman" panose="02020603050405020304" pitchFamily="18" charset="0"/>
                <a:cs typeface="Times New Roman" panose="02020603050405020304" pitchFamily="18" charset="0"/>
              </a:rPr>
              <a:t>Step 1: Install Dependencies</a:t>
            </a:r>
          </a:p>
          <a:p>
            <a:endParaRPr lang="en-US" sz="2000" dirty="0">
              <a:latin typeface="Times New Roman" panose="02020603050405020304" pitchFamily="18" charset="0"/>
              <a:cs typeface="Times New Roman" panose="02020603050405020304" pitchFamily="18" charset="0"/>
            </a:endParaRPr>
          </a:p>
          <a:p>
            <a:r>
              <a:rPr lang="en-US" sz="2000" dirty="0" err="1">
                <a:highlight>
                  <a:srgbClr val="FFFF00"/>
                </a:highlight>
                <a:latin typeface="Times New Roman" panose="02020603050405020304" pitchFamily="18" charset="0"/>
                <a:cs typeface="Times New Roman" panose="02020603050405020304" pitchFamily="18" charset="0"/>
              </a:rPr>
              <a:t>dnf</a:t>
            </a:r>
            <a:r>
              <a:rPr lang="en-US" sz="2000" dirty="0">
                <a:highlight>
                  <a:srgbClr val="FFFF00"/>
                </a:highlight>
                <a:latin typeface="Times New Roman" panose="02020603050405020304" pitchFamily="18" charset="0"/>
                <a:cs typeface="Times New Roman" panose="02020603050405020304" pitchFamily="18" charset="0"/>
              </a:rPr>
              <a:t> install </a:t>
            </a:r>
            <a:r>
              <a:rPr lang="en-US" sz="2000" dirty="0" err="1">
                <a:highlight>
                  <a:srgbClr val="FFFF00"/>
                </a:highlight>
                <a:latin typeface="Times New Roman" panose="02020603050405020304" pitchFamily="18" charset="0"/>
                <a:cs typeface="Times New Roman" panose="02020603050405020304" pitchFamily="18" charset="0"/>
              </a:rPr>
              <a:t>wget</a:t>
            </a:r>
            <a:r>
              <a:rPr lang="en-US" sz="2000" dirty="0">
                <a:highlight>
                  <a:srgbClr val="FFFF00"/>
                </a:highlight>
                <a:latin typeface="Times New Roman" panose="02020603050405020304" pitchFamily="18" charset="0"/>
                <a:cs typeface="Times New Roman" panose="02020603050405020304" pitchFamily="18" charset="0"/>
              </a:rPr>
              <a:t> </a:t>
            </a:r>
            <a:r>
              <a:rPr lang="en-US" sz="2000" dirty="0" err="1">
                <a:highlight>
                  <a:srgbClr val="FFFF00"/>
                </a:highlight>
                <a:latin typeface="Times New Roman" panose="02020603050405020304" pitchFamily="18" charset="0"/>
                <a:cs typeface="Times New Roman" panose="02020603050405020304" pitchFamily="18" charset="0"/>
              </a:rPr>
              <a:t>perl</a:t>
            </a:r>
            <a:r>
              <a:rPr lang="en-US" sz="2000" dirty="0">
                <a:highlight>
                  <a:srgbClr val="FFFF00"/>
                </a:highlight>
                <a:latin typeface="Times New Roman" panose="02020603050405020304" pitchFamily="18" charset="0"/>
                <a:cs typeface="Times New Roman" panose="02020603050405020304" pitchFamily="18" charset="0"/>
              </a:rPr>
              <a:t> –y</a:t>
            </a:r>
          </a:p>
          <a:p>
            <a:endParaRPr lang="en-US"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Step 2: Download </a:t>
            </a:r>
            <a:r>
              <a:rPr lang="en-IN" sz="2000" b="1" dirty="0" err="1">
                <a:latin typeface="Times New Roman" panose="02020603050405020304" pitchFamily="18" charset="0"/>
                <a:cs typeface="Times New Roman" panose="02020603050405020304" pitchFamily="18" charset="0"/>
              </a:rPr>
              <a:t>Webmin</a:t>
            </a:r>
            <a:endParaRPr lang="en-IN" sz="2000" b="1"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err="1">
                <a:highlight>
                  <a:srgbClr val="FFFF00"/>
                </a:highlight>
                <a:latin typeface="Times New Roman" panose="02020603050405020304" pitchFamily="18" charset="0"/>
                <a:cs typeface="Times New Roman" panose="02020603050405020304" pitchFamily="18" charset="0"/>
              </a:rPr>
              <a:t>wget</a:t>
            </a:r>
            <a:r>
              <a:rPr lang="en-US" sz="2000" dirty="0">
                <a:highlight>
                  <a:srgbClr val="FFFF00"/>
                </a:highlight>
                <a:latin typeface="Times New Roman" panose="02020603050405020304" pitchFamily="18" charset="0"/>
                <a:cs typeface="Times New Roman" panose="02020603050405020304" pitchFamily="18" charset="0"/>
              </a:rPr>
              <a:t> https://www.webmin.com/download/rpm/webmin-current.rpm</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Downloads latest </a:t>
            </a:r>
            <a:r>
              <a:rPr lang="en-US" sz="2000" dirty="0" err="1">
                <a:latin typeface="Times New Roman" panose="02020603050405020304" pitchFamily="18" charset="0"/>
                <a:cs typeface="Times New Roman" panose="02020603050405020304" pitchFamily="18" charset="0"/>
              </a:rPr>
              <a:t>Webmin</a:t>
            </a:r>
            <a:r>
              <a:rPr lang="en-US" sz="2000" dirty="0">
                <a:latin typeface="Times New Roman" panose="02020603050405020304" pitchFamily="18" charset="0"/>
                <a:cs typeface="Times New Roman" panose="02020603050405020304" pitchFamily="18" charset="0"/>
              </a:rPr>
              <a:t> RPM package.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Installs required packages for </a:t>
            </a:r>
            <a:r>
              <a:rPr lang="en-US" sz="2000" dirty="0" err="1">
                <a:latin typeface="Times New Roman" panose="02020603050405020304" pitchFamily="18" charset="0"/>
                <a:cs typeface="Times New Roman" panose="02020603050405020304" pitchFamily="18" charset="0"/>
              </a:rPr>
              <a:t>Webmin</a:t>
            </a:r>
            <a:r>
              <a:rPr lang="en-US" sz="2000" dirty="0">
                <a:latin typeface="Times New Roman" panose="02020603050405020304" pitchFamily="18" charset="0"/>
                <a:cs typeface="Times New Roman" panose="02020603050405020304" pitchFamily="18" charset="0"/>
              </a:rPr>
              <a:t> installation.</a:t>
            </a:r>
          </a:p>
        </p:txBody>
      </p:sp>
      <p:sp>
        <p:nvSpPr>
          <p:cNvPr id="6" name="Content Placeholder 2">
            <a:extLst>
              <a:ext uri="{FF2B5EF4-FFF2-40B4-BE49-F238E27FC236}">
                <a16:creationId xmlns:a16="http://schemas.microsoft.com/office/drawing/2014/main" id="{120349B0-BF20-7221-4961-092C650F2268}"/>
              </a:ext>
            </a:extLst>
          </p:cNvPr>
          <p:cNvSpPr txBox="1">
            <a:spLocks/>
          </p:cNvSpPr>
          <p:nvPr/>
        </p:nvSpPr>
        <p:spPr>
          <a:xfrm>
            <a:off x="457200" y="3236453"/>
            <a:ext cx="8825696" cy="102738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6826623"/>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E2E548-318F-5F1E-43BB-6C26D1045B9F}"/>
              </a:ext>
            </a:extLst>
          </p:cNvPr>
          <p:cNvSpPr txBox="1"/>
          <p:nvPr/>
        </p:nvSpPr>
        <p:spPr>
          <a:xfrm>
            <a:off x="685799" y="632080"/>
            <a:ext cx="5164666" cy="3785652"/>
          </a:xfrm>
          <a:prstGeom prst="rect">
            <a:avLst/>
          </a:prstGeom>
          <a:noFill/>
        </p:spPr>
        <p:txBody>
          <a:bodyPr wrap="square">
            <a:spAutoFit/>
          </a:bodyPr>
          <a:lstStyle/>
          <a:p>
            <a:pPr marL="0" indent="0">
              <a:buNone/>
            </a:pPr>
            <a:r>
              <a:rPr lang="en-IN" sz="2000" b="1" dirty="0">
                <a:latin typeface="Times New Roman" panose="02020603050405020304" pitchFamily="18" charset="0"/>
                <a:cs typeface="Times New Roman" panose="02020603050405020304" pitchFamily="18" charset="0"/>
              </a:rPr>
              <a:t>Step 3: Install </a:t>
            </a:r>
            <a:r>
              <a:rPr lang="en-IN" sz="2000" b="1" dirty="0" err="1">
                <a:latin typeface="Times New Roman" panose="02020603050405020304" pitchFamily="18" charset="0"/>
                <a:cs typeface="Times New Roman" panose="02020603050405020304" pitchFamily="18" charset="0"/>
              </a:rPr>
              <a:t>Webmin</a:t>
            </a:r>
            <a:endParaRPr lang="en-IN" sz="2000" b="1"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a:p>
            <a:r>
              <a:rPr lang="en-IN" sz="2000" dirty="0" err="1">
                <a:highlight>
                  <a:srgbClr val="FFFF00"/>
                </a:highlight>
                <a:latin typeface="Times New Roman" panose="02020603050405020304" pitchFamily="18" charset="0"/>
                <a:cs typeface="Times New Roman" panose="02020603050405020304" pitchFamily="18" charset="0"/>
              </a:rPr>
              <a:t>dnf</a:t>
            </a:r>
            <a:r>
              <a:rPr lang="en-IN" sz="2000" dirty="0">
                <a:highlight>
                  <a:srgbClr val="FFFF00"/>
                </a:highlight>
                <a:latin typeface="Times New Roman" panose="02020603050405020304" pitchFamily="18" charset="0"/>
                <a:cs typeface="Times New Roman" panose="02020603050405020304" pitchFamily="18" charset="0"/>
              </a:rPr>
              <a:t> install </a:t>
            </a:r>
            <a:r>
              <a:rPr lang="en-IN" sz="2000" dirty="0" err="1">
                <a:highlight>
                  <a:srgbClr val="FFFF00"/>
                </a:highlight>
                <a:latin typeface="Times New Roman" panose="02020603050405020304" pitchFamily="18" charset="0"/>
                <a:cs typeface="Times New Roman" panose="02020603050405020304" pitchFamily="18" charset="0"/>
              </a:rPr>
              <a:t>webmin-current.rpm</a:t>
            </a:r>
            <a:r>
              <a:rPr lang="en-IN" sz="2000" dirty="0">
                <a:highlight>
                  <a:srgbClr val="FFFF00"/>
                </a:highlight>
                <a:latin typeface="Times New Roman" panose="02020603050405020304" pitchFamily="18" charset="0"/>
                <a:cs typeface="Times New Roman" panose="02020603050405020304" pitchFamily="18" charset="0"/>
              </a:rPr>
              <a:t> -y</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Installs </a:t>
            </a:r>
            <a:r>
              <a:rPr lang="en-IN" sz="2000" dirty="0" err="1">
                <a:latin typeface="Times New Roman" panose="02020603050405020304" pitchFamily="18" charset="0"/>
                <a:cs typeface="Times New Roman" panose="02020603050405020304" pitchFamily="18" charset="0"/>
              </a:rPr>
              <a:t>Webmin</a:t>
            </a:r>
            <a:r>
              <a:rPr lang="en-IN" sz="2000" dirty="0">
                <a:latin typeface="Times New Roman" panose="02020603050405020304" pitchFamily="18" charset="0"/>
                <a:cs typeface="Times New Roman" panose="02020603050405020304" pitchFamily="18" charset="0"/>
              </a:rPr>
              <a:t> on Rocky Linux</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Step 4: Start Service</a:t>
            </a:r>
          </a:p>
          <a:p>
            <a:endParaRPr lang="en-IN" sz="2000" dirty="0">
              <a:latin typeface="Times New Roman" panose="02020603050405020304" pitchFamily="18" charset="0"/>
              <a:cs typeface="Times New Roman" panose="02020603050405020304" pitchFamily="18" charset="0"/>
            </a:endParaRPr>
          </a:p>
          <a:p>
            <a:r>
              <a:rPr lang="en-US" sz="2000" dirty="0" err="1">
                <a:highlight>
                  <a:srgbClr val="FFFF00"/>
                </a:highlight>
                <a:latin typeface="Times New Roman" panose="02020603050405020304" pitchFamily="18" charset="0"/>
                <a:cs typeface="Times New Roman" panose="02020603050405020304" pitchFamily="18" charset="0"/>
              </a:rPr>
              <a:t>systemctl</a:t>
            </a:r>
            <a:r>
              <a:rPr lang="en-US" sz="2000" dirty="0">
                <a:highlight>
                  <a:srgbClr val="FFFF00"/>
                </a:highlight>
                <a:latin typeface="Times New Roman" panose="02020603050405020304" pitchFamily="18" charset="0"/>
                <a:cs typeface="Times New Roman" panose="02020603050405020304" pitchFamily="18" charset="0"/>
              </a:rPr>
              <a:t> start </a:t>
            </a:r>
            <a:r>
              <a:rPr lang="en-US" sz="2000" dirty="0" err="1">
                <a:highlight>
                  <a:srgbClr val="FFFF00"/>
                </a:highlight>
                <a:latin typeface="Times New Roman" panose="02020603050405020304" pitchFamily="18" charset="0"/>
                <a:cs typeface="Times New Roman" panose="02020603050405020304" pitchFamily="18" charset="0"/>
              </a:rPr>
              <a:t>webmin</a:t>
            </a:r>
            <a:endParaRPr lang="en-US" sz="2000" dirty="0">
              <a:highlight>
                <a:srgbClr val="FFFF00"/>
              </a:highlight>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highlight>
                  <a:srgbClr val="FFFF00"/>
                </a:highlight>
                <a:latin typeface="Times New Roman" panose="02020603050405020304" pitchFamily="18" charset="0"/>
                <a:cs typeface="Times New Roman" panose="02020603050405020304" pitchFamily="18" charset="0"/>
              </a:rPr>
              <a:t>Starts </a:t>
            </a:r>
            <a:r>
              <a:rPr lang="en-US" sz="2000" dirty="0" err="1">
                <a:highlight>
                  <a:srgbClr val="FFFF00"/>
                </a:highlight>
                <a:latin typeface="Times New Roman" panose="02020603050405020304" pitchFamily="18" charset="0"/>
                <a:cs typeface="Times New Roman" panose="02020603050405020304" pitchFamily="18" charset="0"/>
              </a:rPr>
              <a:t>Webmin</a:t>
            </a:r>
            <a:r>
              <a:rPr lang="en-US" sz="2000" dirty="0">
                <a:highlight>
                  <a:srgbClr val="FFFF00"/>
                </a:highlight>
                <a:latin typeface="Times New Roman" panose="02020603050405020304" pitchFamily="18" charset="0"/>
                <a:cs typeface="Times New Roman" panose="02020603050405020304" pitchFamily="18" charset="0"/>
              </a:rPr>
              <a:t> service.</a:t>
            </a:r>
          </a:p>
          <a:p>
            <a:r>
              <a:rPr lang="en-IN"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78648923"/>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C1AE4-133F-9D85-370F-DB4C7BD8B16D}"/>
              </a:ext>
            </a:extLst>
          </p:cNvPr>
          <p:cNvSpPr>
            <a:spLocks noGrp="1"/>
          </p:cNvSpPr>
          <p:nvPr>
            <p:ph type="title"/>
          </p:nvPr>
        </p:nvSpPr>
        <p:spPr/>
        <p:txBody>
          <a:bodyPr/>
          <a:lstStyle/>
          <a:p>
            <a:r>
              <a:rPr lang="en-US" sz="2000" dirty="0">
                <a:latin typeface="Times New Roman" panose="02020603050405020304" pitchFamily="18" charset="0"/>
                <a:cs typeface="Times New Roman" panose="02020603050405020304" pitchFamily="18" charset="0"/>
              </a:rPr>
              <a:t>Step 5: Enable at Boot</a:t>
            </a: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D64622C-509F-4B2B-313A-06F641D8330A}"/>
              </a:ext>
            </a:extLst>
          </p:cNvPr>
          <p:cNvSpPr txBox="1"/>
          <p:nvPr/>
        </p:nvSpPr>
        <p:spPr>
          <a:xfrm>
            <a:off x="720000" y="1123697"/>
            <a:ext cx="5164666" cy="1323439"/>
          </a:xfrm>
          <a:prstGeom prst="rect">
            <a:avLst/>
          </a:prstGeom>
          <a:noFill/>
        </p:spPr>
        <p:txBody>
          <a:bodyPr wrap="square">
            <a:spAutoFit/>
          </a:bodyPr>
          <a:lstStyle/>
          <a:p>
            <a:r>
              <a:rPr lang="en-US" sz="2000" dirty="0" err="1">
                <a:highlight>
                  <a:srgbClr val="FFFF00"/>
                </a:highlight>
                <a:latin typeface="Times New Roman" panose="02020603050405020304" pitchFamily="18" charset="0"/>
                <a:cs typeface="Times New Roman" panose="02020603050405020304" pitchFamily="18" charset="0"/>
              </a:rPr>
              <a:t>systemctl</a:t>
            </a:r>
            <a:r>
              <a:rPr lang="en-US" sz="2000" dirty="0">
                <a:highlight>
                  <a:srgbClr val="FFFF00"/>
                </a:highlight>
                <a:latin typeface="Times New Roman" panose="02020603050405020304" pitchFamily="18" charset="0"/>
                <a:cs typeface="Times New Roman" panose="02020603050405020304" pitchFamily="18" charset="0"/>
              </a:rPr>
              <a:t> enable </a:t>
            </a:r>
            <a:r>
              <a:rPr lang="en-US" sz="2000" dirty="0" err="1">
                <a:highlight>
                  <a:srgbClr val="FFFF00"/>
                </a:highlight>
                <a:latin typeface="Times New Roman" panose="02020603050405020304" pitchFamily="18" charset="0"/>
                <a:cs typeface="Times New Roman" panose="02020603050405020304" pitchFamily="18" charset="0"/>
              </a:rPr>
              <a:t>webmin</a:t>
            </a:r>
            <a:endParaRPr lang="en-US" sz="2000" dirty="0">
              <a:highlight>
                <a:srgbClr val="FFFF00"/>
              </a:highlight>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Enables </a:t>
            </a:r>
            <a:r>
              <a:rPr lang="en-US" sz="2000" dirty="0" err="1">
                <a:latin typeface="Times New Roman" panose="02020603050405020304" pitchFamily="18" charset="0"/>
                <a:cs typeface="Times New Roman" panose="02020603050405020304" pitchFamily="18" charset="0"/>
              </a:rPr>
              <a:t>Webmin</a:t>
            </a:r>
            <a:r>
              <a:rPr lang="en-US" sz="2000" dirty="0">
                <a:latin typeface="Times New Roman" panose="02020603050405020304" pitchFamily="18" charset="0"/>
                <a:cs typeface="Times New Roman" panose="02020603050405020304" pitchFamily="18" charset="0"/>
              </a:rPr>
              <a:t> to start automatically after reboot.</a:t>
            </a:r>
          </a:p>
        </p:txBody>
      </p:sp>
      <p:sp>
        <p:nvSpPr>
          <p:cNvPr id="6" name="TextBox 5">
            <a:extLst>
              <a:ext uri="{FF2B5EF4-FFF2-40B4-BE49-F238E27FC236}">
                <a16:creationId xmlns:a16="http://schemas.microsoft.com/office/drawing/2014/main" id="{A7DFC558-DE3C-1615-D9BB-4EB7928EB7A1}"/>
              </a:ext>
            </a:extLst>
          </p:cNvPr>
          <p:cNvSpPr txBox="1"/>
          <p:nvPr/>
        </p:nvSpPr>
        <p:spPr>
          <a:xfrm>
            <a:off x="720000" y="2555207"/>
            <a:ext cx="5164666"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Step 6: Check Status</a:t>
            </a:r>
          </a:p>
        </p:txBody>
      </p:sp>
      <p:sp>
        <p:nvSpPr>
          <p:cNvPr id="8" name="TextBox 7">
            <a:extLst>
              <a:ext uri="{FF2B5EF4-FFF2-40B4-BE49-F238E27FC236}">
                <a16:creationId xmlns:a16="http://schemas.microsoft.com/office/drawing/2014/main" id="{888EF109-7F2C-2B13-7844-2C0578F0CCAE}"/>
              </a:ext>
            </a:extLst>
          </p:cNvPr>
          <p:cNvSpPr txBox="1"/>
          <p:nvPr/>
        </p:nvSpPr>
        <p:spPr>
          <a:xfrm>
            <a:off x="720000" y="3262393"/>
            <a:ext cx="5164666" cy="1015663"/>
          </a:xfrm>
          <a:prstGeom prst="rect">
            <a:avLst/>
          </a:prstGeom>
          <a:noFill/>
        </p:spPr>
        <p:txBody>
          <a:bodyPr wrap="square">
            <a:spAutoFit/>
          </a:bodyPr>
          <a:lstStyle/>
          <a:p>
            <a:r>
              <a:rPr lang="en-US" sz="2000" dirty="0" err="1">
                <a:highlight>
                  <a:srgbClr val="FFFF00"/>
                </a:highlight>
                <a:latin typeface="Times New Roman" panose="02020603050405020304" pitchFamily="18" charset="0"/>
                <a:cs typeface="Times New Roman" panose="02020603050405020304" pitchFamily="18" charset="0"/>
              </a:rPr>
              <a:t>systemctl</a:t>
            </a:r>
            <a:r>
              <a:rPr lang="en-US" sz="2000" dirty="0">
                <a:highlight>
                  <a:srgbClr val="FFFF00"/>
                </a:highlight>
                <a:latin typeface="Times New Roman" panose="02020603050405020304" pitchFamily="18" charset="0"/>
                <a:cs typeface="Times New Roman" panose="02020603050405020304" pitchFamily="18" charset="0"/>
              </a:rPr>
              <a:t> status </a:t>
            </a:r>
            <a:r>
              <a:rPr lang="en-US" sz="2000" dirty="0" err="1">
                <a:highlight>
                  <a:srgbClr val="FFFF00"/>
                </a:highlight>
                <a:latin typeface="Times New Roman" panose="02020603050405020304" pitchFamily="18" charset="0"/>
                <a:cs typeface="Times New Roman" panose="02020603050405020304" pitchFamily="18" charset="0"/>
              </a:rPr>
              <a:t>webmin</a:t>
            </a:r>
            <a:endParaRPr lang="en-US" sz="2000" dirty="0">
              <a:highlight>
                <a:srgbClr val="FFFF00"/>
              </a:highlight>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Verifies </a:t>
            </a:r>
            <a:r>
              <a:rPr lang="en-US" sz="2000" dirty="0" err="1">
                <a:latin typeface="Times New Roman" panose="02020603050405020304" pitchFamily="18" charset="0"/>
                <a:cs typeface="Times New Roman" panose="02020603050405020304" pitchFamily="18" charset="0"/>
              </a:rPr>
              <a:t>Webmin</a:t>
            </a:r>
            <a:r>
              <a:rPr lang="en-US" sz="2000" dirty="0">
                <a:latin typeface="Times New Roman" panose="02020603050405020304" pitchFamily="18" charset="0"/>
                <a:cs typeface="Times New Roman" panose="02020603050405020304" pitchFamily="18" charset="0"/>
              </a:rPr>
              <a:t> service is running.</a:t>
            </a:r>
          </a:p>
        </p:txBody>
      </p:sp>
    </p:spTree>
    <p:extLst>
      <p:ext uri="{BB962C8B-B14F-4D97-AF65-F5344CB8AC3E}">
        <p14:creationId xmlns:p14="http://schemas.microsoft.com/office/powerpoint/2010/main" val="4062128939"/>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7066B-28EB-6967-A593-C482350EEA7F}"/>
              </a:ext>
            </a:extLst>
          </p:cNvPr>
          <p:cNvSpPr>
            <a:spLocks noGrp="1"/>
          </p:cNvSpPr>
          <p:nvPr>
            <p:ph type="title"/>
          </p:nvPr>
        </p:nvSpPr>
        <p:spPr/>
        <p:txBody>
          <a:bodyPr/>
          <a:lstStyle/>
          <a:p>
            <a:r>
              <a:rPr lang="en-IN" sz="2000" dirty="0">
                <a:latin typeface="Times New Roman" panose="02020603050405020304" pitchFamily="18" charset="0"/>
                <a:cs typeface="Times New Roman" panose="02020603050405020304" pitchFamily="18" charset="0"/>
              </a:rPr>
              <a:t>Step 7: Configure Firewall</a:t>
            </a:r>
          </a:p>
        </p:txBody>
      </p:sp>
      <p:sp>
        <p:nvSpPr>
          <p:cNvPr id="4" name="TextBox 3">
            <a:extLst>
              <a:ext uri="{FF2B5EF4-FFF2-40B4-BE49-F238E27FC236}">
                <a16:creationId xmlns:a16="http://schemas.microsoft.com/office/drawing/2014/main" id="{3F759F0C-7DF4-9D0A-E30C-555B2C269D38}"/>
              </a:ext>
            </a:extLst>
          </p:cNvPr>
          <p:cNvSpPr txBox="1"/>
          <p:nvPr/>
        </p:nvSpPr>
        <p:spPr>
          <a:xfrm>
            <a:off x="720000" y="1360213"/>
            <a:ext cx="5164666" cy="1323439"/>
          </a:xfrm>
          <a:prstGeom prst="rect">
            <a:avLst/>
          </a:prstGeom>
          <a:noFill/>
        </p:spPr>
        <p:txBody>
          <a:bodyPr wrap="square">
            <a:spAutoFit/>
          </a:bodyPr>
          <a:lstStyle/>
          <a:p>
            <a:r>
              <a:rPr lang="en-IN" sz="2000" dirty="0">
                <a:highlight>
                  <a:srgbClr val="FFFF00"/>
                </a:highlight>
                <a:latin typeface="Times New Roman" panose="02020603050405020304" pitchFamily="18" charset="0"/>
                <a:cs typeface="Times New Roman" panose="02020603050405020304" pitchFamily="18" charset="0"/>
              </a:rPr>
              <a:t>firewall-</a:t>
            </a:r>
            <a:r>
              <a:rPr lang="en-IN" sz="2000" dirty="0" err="1">
                <a:highlight>
                  <a:srgbClr val="FFFF00"/>
                </a:highlight>
                <a:latin typeface="Times New Roman" panose="02020603050405020304" pitchFamily="18" charset="0"/>
                <a:cs typeface="Times New Roman" panose="02020603050405020304" pitchFamily="18" charset="0"/>
              </a:rPr>
              <a:t>cmd</a:t>
            </a:r>
            <a:r>
              <a:rPr lang="en-IN" sz="2000" dirty="0">
                <a:highlight>
                  <a:srgbClr val="FFFF00"/>
                </a:highlight>
                <a:latin typeface="Times New Roman" panose="02020603050405020304" pitchFamily="18" charset="0"/>
                <a:cs typeface="Times New Roman" panose="02020603050405020304" pitchFamily="18" charset="0"/>
              </a:rPr>
              <a:t> --permanent --add-port=10000/</a:t>
            </a:r>
            <a:r>
              <a:rPr lang="en-IN" sz="2000" dirty="0" err="1">
                <a:highlight>
                  <a:srgbClr val="FFFF00"/>
                </a:highlight>
                <a:latin typeface="Times New Roman" panose="02020603050405020304" pitchFamily="18" charset="0"/>
                <a:cs typeface="Times New Roman" panose="02020603050405020304" pitchFamily="18" charset="0"/>
              </a:rPr>
              <a:t>tcp</a:t>
            </a:r>
            <a:endParaRPr lang="en-IN" sz="2000" dirty="0">
              <a:highlight>
                <a:srgbClr val="FFFF00"/>
              </a:highlight>
              <a:latin typeface="Times New Roman" panose="02020603050405020304" pitchFamily="18" charset="0"/>
              <a:cs typeface="Times New Roman" panose="02020603050405020304" pitchFamily="18" charset="0"/>
            </a:endParaRPr>
          </a:p>
          <a:p>
            <a:r>
              <a:rPr lang="en-IN" sz="2000" dirty="0">
                <a:highlight>
                  <a:srgbClr val="FFFF00"/>
                </a:highlight>
                <a:latin typeface="Times New Roman" panose="02020603050405020304" pitchFamily="18" charset="0"/>
                <a:cs typeface="Times New Roman" panose="02020603050405020304" pitchFamily="18" charset="0"/>
              </a:rPr>
              <a:t>firewall-</a:t>
            </a:r>
            <a:r>
              <a:rPr lang="en-IN" sz="2000" dirty="0" err="1">
                <a:highlight>
                  <a:srgbClr val="FFFF00"/>
                </a:highlight>
                <a:latin typeface="Times New Roman" panose="02020603050405020304" pitchFamily="18" charset="0"/>
                <a:cs typeface="Times New Roman" panose="02020603050405020304" pitchFamily="18" charset="0"/>
              </a:rPr>
              <a:t>cmd</a:t>
            </a:r>
            <a:r>
              <a:rPr lang="en-IN" sz="2000" dirty="0">
                <a:highlight>
                  <a:srgbClr val="FFFF00"/>
                </a:highlight>
                <a:latin typeface="Times New Roman" panose="02020603050405020304" pitchFamily="18" charset="0"/>
                <a:cs typeface="Times New Roman" panose="02020603050405020304" pitchFamily="18" charset="0"/>
              </a:rPr>
              <a:t> --reload</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Allows </a:t>
            </a:r>
            <a:r>
              <a:rPr lang="en-IN" sz="2000" dirty="0" err="1">
                <a:latin typeface="Times New Roman" panose="02020603050405020304" pitchFamily="18" charset="0"/>
                <a:cs typeface="Times New Roman" panose="02020603050405020304" pitchFamily="18" charset="0"/>
              </a:rPr>
              <a:t>Webmin</a:t>
            </a:r>
            <a:r>
              <a:rPr lang="en-IN" sz="2000" dirty="0">
                <a:latin typeface="Times New Roman" panose="02020603050405020304" pitchFamily="18" charset="0"/>
                <a:cs typeface="Times New Roman" panose="02020603050405020304" pitchFamily="18" charset="0"/>
              </a:rPr>
              <a:t> port through firewall.</a:t>
            </a:r>
          </a:p>
        </p:txBody>
      </p:sp>
    </p:spTree>
    <p:extLst>
      <p:ext uri="{BB962C8B-B14F-4D97-AF65-F5344CB8AC3E}">
        <p14:creationId xmlns:p14="http://schemas.microsoft.com/office/powerpoint/2010/main" val="27001765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6FAF7-1F30-B586-A04D-513BB08E467F}"/>
              </a:ext>
            </a:extLst>
          </p:cNvPr>
          <p:cNvSpPr txBox="1">
            <a:spLocks/>
          </p:cNvSpPr>
          <p:nvPr/>
        </p:nvSpPr>
        <p:spPr>
          <a:xfrm>
            <a:off x="480349" y="457200"/>
            <a:ext cx="2459621" cy="4687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IN" sz="2000" dirty="0">
                <a:latin typeface="Times New Roman" panose="02020603050405020304" pitchFamily="18" charset="0"/>
                <a:cs typeface="Times New Roman" panose="02020603050405020304" pitchFamily="18" charset="0"/>
              </a:rPr>
              <a:t>Step 8: Verify Port</a:t>
            </a:r>
          </a:p>
        </p:txBody>
      </p:sp>
      <p:sp>
        <p:nvSpPr>
          <p:cNvPr id="4" name="Content Placeholder 2">
            <a:extLst>
              <a:ext uri="{FF2B5EF4-FFF2-40B4-BE49-F238E27FC236}">
                <a16:creationId xmlns:a16="http://schemas.microsoft.com/office/drawing/2014/main" id="{BCF923EF-569A-488D-A370-DA88F0581EF6}"/>
              </a:ext>
            </a:extLst>
          </p:cNvPr>
          <p:cNvSpPr txBox="1">
            <a:spLocks/>
          </p:cNvSpPr>
          <p:nvPr/>
        </p:nvSpPr>
        <p:spPr>
          <a:xfrm>
            <a:off x="457200" y="1131425"/>
            <a:ext cx="8229600" cy="66886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dirty="0">
                <a:latin typeface="Times New Roman" panose="02020603050405020304" pitchFamily="18" charset="0"/>
                <a:cs typeface="Times New Roman" panose="02020603050405020304" pitchFamily="18" charset="0"/>
              </a:rPr>
              <a:t>ss -</a:t>
            </a:r>
            <a:r>
              <a:rPr lang="en-US" sz="2000" dirty="0" err="1">
                <a:latin typeface="Times New Roman" panose="02020603050405020304" pitchFamily="18" charset="0"/>
                <a:cs typeface="Times New Roman" panose="02020603050405020304" pitchFamily="18" charset="0"/>
              </a:rPr>
              <a:t>tulnp</a:t>
            </a:r>
            <a:r>
              <a:rPr lang="en-US" sz="2000" dirty="0">
                <a:latin typeface="Times New Roman" panose="02020603050405020304" pitchFamily="18" charset="0"/>
                <a:cs typeface="Times New Roman" panose="02020603050405020304" pitchFamily="18" charset="0"/>
              </a:rPr>
              <a:t> | grep 10000</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Confirms </a:t>
            </a:r>
            <a:r>
              <a:rPr lang="en-US" sz="2000" dirty="0" err="1">
                <a:latin typeface="Times New Roman" panose="02020603050405020304" pitchFamily="18" charset="0"/>
                <a:cs typeface="Times New Roman" panose="02020603050405020304" pitchFamily="18" charset="0"/>
              </a:rPr>
              <a:t>Webmin</a:t>
            </a:r>
            <a:r>
              <a:rPr lang="en-US" sz="2000" dirty="0">
                <a:latin typeface="Times New Roman" panose="02020603050405020304" pitchFamily="18" charset="0"/>
                <a:cs typeface="Times New Roman" panose="02020603050405020304" pitchFamily="18" charset="0"/>
              </a:rPr>
              <a:t> is listening on port 10000.</a:t>
            </a:r>
          </a:p>
        </p:txBody>
      </p:sp>
      <p:sp>
        <p:nvSpPr>
          <p:cNvPr id="5" name="Title 1">
            <a:extLst>
              <a:ext uri="{FF2B5EF4-FFF2-40B4-BE49-F238E27FC236}">
                <a16:creationId xmlns:a16="http://schemas.microsoft.com/office/drawing/2014/main" id="{BCF22B19-9E11-E3A0-281D-27474CAD4B48}"/>
              </a:ext>
            </a:extLst>
          </p:cNvPr>
          <p:cNvSpPr>
            <a:spLocks noGrp="1"/>
          </p:cNvSpPr>
          <p:nvPr>
            <p:ph type="title"/>
          </p:nvPr>
        </p:nvSpPr>
        <p:spPr>
          <a:xfrm>
            <a:off x="2754774" y="2328036"/>
            <a:ext cx="2951545" cy="487428"/>
          </a:xfrm>
        </p:spPr>
        <p:txBody>
          <a:bodyPr/>
          <a:lstStyle/>
          <a:p>
            <a:r>
              <a:rPr sz="2000" dirty="0">
                <a:latin typeface="Times New Roman" panose="02020603050405020304" pitchFamily="18" charset="0"/>
                <a:cs typeface="Times New Roman" panose="02020603050405020304" pitchFamily="18" charset="0"/>
              </a:rPr>
              <a:t>Access from Browser</a:t>
            </a:r>
          </a:p>
        </p:txBody>
      </p:sp>
      <p:sp>
        <p:nvSpPr>
          <p:cNvPr id="6" name="Content Placeholder 2">
            <a:extLst>
              <a:ext uri="{FF2B5EF4-FFF2-40B4-BE49-F238E27FC236}">
                <a16:creationId xmlns:a16="http://schemas.microsoft.com/office/drawing/2014/main" id="{F109B7D8-05C5-BE0F-55DA-F0B40A1209C8}"/>
              </a:ext>
            </a:extLst>
          </p:cNvPr>
          <p:cNvSpPr txBox="1">
            <a:spLocks/>
          </p:cNvSpPr>
          <p:nvPr/>
        </p:nvSpPr>
        <p:spPr>
          <a:xfrm>
            <a:off x="1128531" y="2815464"/>
            <a:ext cx="4890304" cy="193007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dirty="0">
                <a:latin typeface="Times New Roman" panose="02020603050405020304" pitchFamily="18" charset="0"/>
                <a:cs typeface="Times New Roman" panose="02020603050405020304" pitchFamily="18" charset="0"/>
              </a:rPr>
              <a:t>Open Browser and type:</a:t>
            </a:r>
          </a:p>
          <a:p>
            <a:endParaRPr lang="en-US" sz="2000" dirty="0">
              <a:latin typeface="Times New Roman" panose="02020603050405020304" pitchFamily="18" charset="0"/>
              <a:cs typeface="Times New Roman" panose="02020603050405020304" pitchFamily="18" charset="0"/>
            </a:endParaRPr>
          </a:p>
          <a:p>
            <a:r>
              <a:rPr lang="en-US" sz="2000" dirty="0">
                <a:highlight>
                  <a:srgbClr val="FFFF00"/>
                </a:highlight>
                <a:latin typeface="Times New Roman" panose="02020603050405020304" pitchFamily="18" charset="0"/>
                <a:cs typeface="Times New Roman" panose="02020603050405020304" pitchFamily="18" charset="0"/>
              </a:rPr>
              <a:t>https://192.168.137.128:10000</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Login using Linux username and password.</a:t>
            </a:r>
          </a:p>
        </p:txBody>
      </p:sp>
    </p:spTree>
    <p:extLst>
      <p:ext uri="{BB962C8B-B14F-4D97-AF65-F5344CB8AC3E}">
        <p14:creationId xmlns:p14="http://schemas.microsoft.com/office/powerpoint/2010/main" val="1457925907"/>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E0C07-1192-F715-E3F5-6D68B75BAF95}"/>
              </a:ext>
            </a:extLst>
          </p:cNvPr>
          <p:cNvSpPr>
            <a:spLocks noGrp="1"/>
          </p:cNvSpPr>
          <p:nvPr>
            <p:ph type="title"/>
          </p:nvPr>
        </p:nvSpPr>
        <p:spPr/>
        <p:txBody>
          <a:bodyPr/>
          <a:lstStyle/>
          <a:p>
            <a:r>
              <a:rPr lang="en-IN" sz="2000" dirty="0" err="1">
                <a:latin typeface="Times New Roman" panose="02020603050405020304" pitchFamily="18" charset="0"/>
                <a:cs typeface="Times New Roman" panose="02020603050405020304" pitchFamily="18" charset="0"/>
              </a:rPr>
              <a:t>SELinux</a:t>
            </a:r>
            <a:r>
              <a:rPr lang="en-IN" sz="2000" dirty="0">
                <a:latin typeface="Times New Roman" panose="02020603050405020304" pitchFamily="18" charset="0"/>
                <a:cs typeface="Times New Roman" panose="02020603050405020304" pitchFamily="18" charset="0"/>
              </a:rPr>
              <a:t> Check (If Needed)</a:t>
            </a:r>
          </a:p>
        </p:txBody>
      </p:sp>
      <p:sp>
        <p:nvSpPr>
          <p:cNvPr id="4" name="TextBox 3">
            <a:extLst>
              <a:ext uri="{FF2B5EF4-FFF2-40B4-BE49-F238E27FC236}">
                <a16:creationId xmlns:a16="http://schemas.microsoft.com/office/drawing/2014/main" id="{4D6C47CB-886B-EB95-9792-873C908D40EE}"/>
              </a:ext>
            </a:extLst>
          </p:cNvPr>
          <p:cNvSpPr txBox="1"/>
          <p:nvPr/>
        </p:nvSpPr>
        <p:spPr>
          <a:xfrm>
            <a:off x="720000" y="1017725"/>
            <a:ext cx="5164666" cy="1323439"/>
          </a:xfrm>
          <a:prstGeom prst="rect">
            <a:avLst/>
          </a:prstGeom>
          <a:noFill/>
        </p:spPr>
        <p:txBody>
          <a:bodyPr wrap="square">
            <a:spAutoFit/>
          </a:bodyPr>
          <a:lstStyle/>
          <a:p>
            <a:r>
              <a:rPr lang="en-US" sz="2000" dirty="0" err="1">
                <a:latin typeface="Times New Roman" panose="02020603050405020304" pitchFamily="18" charset="0"/>
                <a:cs typeface="Times New Roman" panose="02020603050405020304" pitchFamily="18" charset="0"/>
              </a:rPr>
              <a:t>getenforce</a:t>
            </a:r>
            <a:endParaRPr lang="en-US" sz="2000" dirty="0">
              <a:latin typeface="Times New Roman" panose="02020603050405020304" pitchFamily="18" charset="0"/>
              <a:cs typeface="Times New Roman" panose="02020603050405020304" pitchFamily="18" charset="0"/>
            </a:endParaRPr>
          </a:p>
          <a:p>
            <a:r>
              <a:rPr lang="en-US" sz="2000" dirty="0" err="1">
                <a:latin typeface="Times New Roman" panose="02020603050405020304" pitchFamily="18" charset="0"/>
                <a:cs typeface="Times New Roman" panose="02020603050405020304" pitchFamily="18" charset="0"/>
              </a:rPr>
              <a:t>setenforce</a:t>
            </a:r>
            <a:r>
              <a:rPr lang="en-US" sz="2000" dirty="0">
                <a:latin typeface="Times New Roman" panose="02020603050405020304" pitchFamily="18" charset="0"/>
                <a:cs typeface="Times New Roman" panose="02020603050405020304" pitchFamily="18" charset="0"/>
              </a:rPr>
              <a:t> 0  (Temporary test)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Used only if access issues occur.</a:t>
            </a:r>
          </a:p>
        </p:txBody>
      </p:sp>
      <p:sp>
        <p:nvSpPr>
          <p:cNvPr id="6" name="TextBox 5">
            <a:extLst>
              <a:ext uri="{FF2B5EF4-FFF2-40B4-BE49-F238E27FC236}">
                <a16:creationId xmlns:a16="http://schemas.microsoft.com/office/drawing/2014/main" id="{5EE2F9A0-BB5B-3908-C16B-67C18EB0EFE6}"/>
              </a:ext>
            </a:extLst>
          </p:cNvPr>
          <p:cNvSpPr txBox="1"/>
          <p:nvPr/>
        </p:nvSpPr>
        <p:spPr>
          <a:xfrm>
            <a:off x="5254907" y="1416334"/>
            <a:ext cx="3437680" cy="2554545"/>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Final Workflow Summary</a:t>
            </a:r>
          </a:p>
          <a:p>
            <a:r>
              <a:rPr lang="en-IN" sz="2000" dirty="0">
                <a:latin typeface="Times New Roman" panose="02020603050405020304" pitchFamily="18" charset="0"/>
                <a:cs typeface="Times New Roman" panose="02020603050405020304" pitchFamily="18" charset="0"/>
              </a:rPr>
              <a:t>1. Install dependencies</a:t>
            </a:r>
          </a:p>
          <a:p>
            <a:r>
              <a:rPr lang="en-IN" sz="2000" dirty="0">
                <a:latin typeface="Times New Roman" panose="02020603050405020304" pitchFamily="18" charset="0"/>
                <a:cs typeface="Times New Roman" panose="02020603050405020304" pitchFamily="18" charset="0"/>
              </a:rPr>
              <a:t>2. Download RPM</a:t>
            </a:r>
          </a:p>
          <a:p>
            <a:r>
              <a:rPr lang="en-IN" sz="2000" dirty="0">
                <a:latin typeface="Times New Roman" panose="02020603050405020304" pitchFamily="18" charset="0"/>
                <a:cs typeface="Times New Roman" panose="02020603050405020304" pitchFamily="18" charset="0"/>
              </a:rPr>
              <a:t>3. Install </a:t>
            </a:r>
            <a:r>
              <a:rPr lang="en-IN" sz="2000" dirty="0" err="1">
                <a:latin typeface="Times New Roman" panose="02020603050405020304" pitchFamily="18" charset="0"/>
                <a:cs typeface="Times New Roman" panose="02020603050405020304" pitchFamily="18" charset="0"/>
              </a:rPr>
              <a:t>Webmin</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4. Start &amp; Enable service</a:t>
            </a:r>
          </a:p>
          <a:p>
            <a:r>
              <a:rPr lang="en-IN" sz="2000" dirty="0">
                <a:latin typeface="Times New Roman" panose="02020603050405020304" pitchFamily="18" charset="0"/>
                <a:cs typeface="Times New Roman" panose="02020603050405020304" pitchFamily="18" charset="0"/>
              </a:rPr>
              <a:t>5. Configure firewall</a:t>
            </a:r>
          </a:p>
          <a:p>
            <a:r>
              <a:rPr lang="en-IN" sz="2000" dirty="0">
                <a:latin typeface="Times New Roman" panose="02020603050405020304" pitchFamily="18" charset="0"/>
                <a:cs typeface="Times New Roman" panose="02020603050405020304" pitchFamily="18" charset="0"/>
              </a:rPr>
              <a:t>6. Access via browser (Port 10000)</a:t>
            </a:r>
          </a:p>
        </p:txBody>
      </p:sp>
    </p:spTree>
    <p:extLst>
      <p:ext uri="{BB962C8B-B14F-4D97-AF65-F5344CB8AC3E}">
        <p14:creationId xmlns:p14="http://schemas.microsoft.com/office/powerpoint/2010/main" val="3260191098"/>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06B81-54D1-776B-76F7-CEE0473881C6}"/>
              </a:ext>
            </a:extLst>
          </p:cNvPr>
          <p:cNvSpPr>
            <a:spLocks noGrp="1"/>
          </p:cNvSpPr>
          <p:nvPr>
            <p:ph type="title"/>
          </p:nvPr>
        </p:nvSpPr>
        <p:spPr/>
        <p:txBody>
          <a:bodyPr/>
          <a:lstStyle/>
          <a:p>
            <a:pPr algn="ctr"/>
            <a:r>
              <a:rPr lang="fr-FR" sz="2400" dirty="0"/>
              <a:t>Important Linux </a:t>
            </a:r>
            <a:r>
              <a:rPr lang="fr-FR" sz="2400" dirty="0" err="1"/>
              <a:t>storage</a:t>
            </a:r>
            <a:r>
              <a:rPr lang="fr-FR" sz="2400" dirty="0"/>
              <a:t>/</a:t>
            </a:r>
            <a:r>
              <a:rPr lang="fr-FR" sz="2400" dirty="0" err="1"/>
              <a:t>device</a:t>
            </a:r>
            <a:r>
              <a:rPr lang="fr-FR" sz="2400" dirty="0"/>
              <a:t> </a:t>
            </a:r>
            <a:r>
              <a:rPr lang="fr-FR" sz="2400" dirty="0" err="1"/>
              <a:t>names</a:t>
            </a:r>
            <a:endParaRPr lang="en-US" sz="2400" dirty="0"/>
          </a:p>
        </p:txBody>
      </p:sp>
      <p:graphicFrame>
        <p:nvGraphicFramePr>
          <p:cNvPr id="3" name="Table 2">
            <a:extLst>
              <a:ext uri="{FF2B5EF4-FFF2-40B4-BE49-F238E27FC236}">
                <a16:creationId xmlns:a16="http://schemas.microsoft.com/office/drawing/2014/main" id="{01447C6F-CF68-FF72-F517-ED12C626CC13}"/>
              </a:ext>
            </a:extLst>
          </p:cNvPr>
          <p:cNvGraphicFramePr>
            <a:graphicFrameLocks noGrp="1"/>
          </p:cNvGraphicFramePr>
          <p:nvPr>
            <p:extLst>
              <p:ext uri="{D42A27DB-BD31-4B8C-83A1-F6EECF244321}">
                <p14:modId xmlns:p14="http://schemas.microsoft.com/office/powerpoint/2010/main" val="1200097095"/>
              </p:ext>
            </p:extLst>
          </p:nvPr>
        </p:nvGraphicFramePr>
        <p:xfrm>
          <a:off x="1295080" y="1139677"/>
          <a:ext cx="6553840" cy="3746796"/>
        </p:xfrm>
        <a:graphic>
          <a:graphicData uri="http://schemas.openxmlformats.org/drawingml/2006/table">
            <a:tbl>
              <a:tblPr>
                <a:tableStyleId>{3C2FFA5D-87B4-456A-9821-1D502468CF0F}</a:tableStyleId>
              </a:tblPr>
              <a:tblGrid>
                <a:gridCol w="1638460">
                  <a:extLst>
                    <a:ext uri="{9D8B030D-6E8A-4147-A177-3AD203B41FA5}">
                      <a16:colId xmlns:a16="http://schemas.microsoft.com/office/drawing/2014/main" val="2012129181"/>
                    </a:ext>
                  </a:extLst>
                </a:gridCol>
                <a:gridCol w="1638460">
                  <a:extLst>
                    <a:ext uri="{9D8B030D-6E8A-4147-A177-3AD203B41FA5}">
                      <a16:colId xmlns:a16="http://schemas.microsoft.com/office/drawing/2014/main" val="2069752565"/>
                    </a:ext>
                  </a:extLst>
                </a:gridCol>
                <a:gridCol w="1638460">
                  <a:extLst>
                    <a:ext uri="{9D8B030D-6E8A-4147-A177-3AD203B41FA5}">
                      <a16:colId xmlns:a16="http://schemas.microsoft.com/office/drawing/2014/main" val="252291488"/>
                    </a:ext>
                  </a:extLst>
                </a:gridCol>
                <a:gridCol w="1638460">
                  <a:extLst>
                    <a:ext uri="{9D8B030D-6E8A-4147-A177-3AD203B41FA5}">
                      <a16:colId xmlns:a16="http://schemas.microsoft.com/office/drawing/2014/main" val="959431793"/>
                    </a:ext>
                  </a:extLst>
                </a:gridCol>
              </a:tblGrid>
              <a:tr h="258811">
                <a:tc>
                  <a:txBody>
                    <a:bodyPr/>
                    <a:lstStyle/>
                    <a:p>
                      <a:pPr algn="ctr">
                        <a:buNone/>
                      </a:pPr>
                      <a:r>
                        <a:rPr lang="en-US" sz="1600" b="1" dirty="0"/>
                        <a:t>Name</a:t>
                      </a:r>
                    </a:p>
                  </a:txBody>
                  <a:tcPr marL="77643" marR="77643" marT="38822" marB="38822" anchor="ctr"/>
                </a:tc>
                <a:tc>
                  <a:txBody>
                    <a:bodyPr/>
                    <a:lstStyle/>
                    <a:p>
                      <a:pPr algn="ctr">
                        <a:buNone/>
                      </a:pPr>
                      <a:r>
                        <a:rPr lang="en-US" sz="1600" b="1" dirty="0"/>
                        <a:t>Meaning</a:t>
                      </a:r>
                    </a:p>
                  </a:txBody>
                  <a:tcPr marL="77643" marR="77643" marT="38822" marB="38822" anchor="ctr"/>
                </a:tc>
                <a:tc>
                  <a:txBody>
                    <a:bodyPr/>
                    <a:lstStyle/>
                    <a:p>
                      <a:pPr algn="ctr">
                        <a:buNone/>
                      </a:pPr>
                      <a:r>
                        <a:rPr lang="en-US" sz="1600" b="1" dirty="0"/>
                        <a:t>Example</a:t>
                      </a:r>
                    </a:p>
                  </a:txBody>
                  <a:tcPr marL="77643" marR="77643" marT="38822" marB="38822" anchor="ctr"/>
                </a:tc>
                <a:tc>
                  <a:txBody>
                    <a:bodyPr/>
                    <a:lstStyle/>
                    <a:p>
                      <a:pPr algn="ctr">
                        <a:buNone/>
                      </a:pPr>
                      <a:r>
                        <a:rPr lang="en-US" sz="1600" b="1" dirty="0"/>
                        <a:t>Usually represents</a:t>
                      </a:r>
                    </a:p>
                  </a:txBody>
                  <a:tcPr marL="77643" marR="77643" marT="38822" marB="38822" anchor="ctr"/>
                </a:tc>
                <a:extLst>
                  <a:ext uri="{0D108BD9-81ED-4DB2-BD59-A6C34878D82A}">
                    <a16:rowId xmlns:a16="http://schemas.microsoft.com/office/drawing/2014/main" val="2543643165"/>
                  </a:ext>
                </a:extLst>
              </a:tr>
              <a:tr h="439978">
                <a:tc>
                  <a:txBody>
                    <a:bodyPr/>
                    <a:lstStyle/>
                    <a:p>
                      <a:pPr algn="ctr">
                        <a:buNone/>
                      </a:pPr>
                      <a:r>
                        <a:rPr lang="en-US" sz="1200"/>
                        <a:t>nvme</a:t>
                      </a:r>
                    </a:p>
                  </a:txBody>
                  <a:tcPr marL="77643" marR="77643" marT="38822" marB="38822" anchor="ctr"/>
                </a:tc>
                <a:tc>
                  <a:txBody>
                    <a:bodyPr/>
                    <a:lstStyle/>
                    <a:p>
                      <a:pPr algn="ctr">
                        <a:buNone/>
                      </a:pPr>
                      <a:r>
                        <a:rPr lang="en-US" sz="1200"/>
                        <a:t>Non-Volatile Memory Express</a:t>
                      </a:r>
                    </a:p>
                  </a:txBody>
                  <a:tcPr marL="77643" marR="77643" marT="38822" marB="38822" anchor="ctr"/>
                </a:tc>
                <a:tc>
                  <a:txBody>
                    <a:bodyPr/>
                    <a:lstStyle/>
                    <a:p>
                      <a:pPr algn="ctr">
                        <a:buNone/>
                      </a:pPr>
                      <a:r>
                        <a:rPr lang="en-US" sz="1200" dirty="0"/>
                        <a:t>/dev/nvme0n1</a:t>
                      </a:r>
                    </a:p>
                  </a:txBody>
                  <a:tcPr marL="77643" marR="77643" marT="38822" marB="38822" anchor="ctr"/>
                </a:tc>
                <a:tc>
                  <a:txBody>
                    <a:bodyPr/>
                    <a:lstStyle/>
                    <a:p>
                      <a:pPr algn="ctr">
                        <a:buNone/>
                      </a:pPr>
                      <a:r>
                        <a:rPr lang="en-US" sz="1200" dirty="0" err="1"/>
                        <a:t>NVMe</a:t>
                      </a:r>
                      <a:r>
                        <a:rPr lang="en-US" sz="1200" dirty="0"/>
                        <a:t> SSD</a:t>
                      </a:r>
                    </a:p>
                  </a:txBody>
                  <a:tcPr marL="77643" marR="77643" marT="38822" marB="38822" anchor="ctr"/>
                </a:tc>
                <a:extLst>
                  <a:ext uri="{0D108BD9-81ED-4DB2-BD59-A6C34878D82A}">
                    <a16:rowId xmlns:a16="http://schemas.microsoft.com/office/drawing/2014/main" val="1732757204"/>
                  </a:ext>
                </a:extLst>
              </a:tr>
              <a:tr h="439978">
                <a:tc>
                  <a:txBody>
                    <a:bodyPr/>
                    <a:lstStyle/>
                    <a:p>
                      <a:pPr algn="ctr">
                        <a:buNone/>
                      </a:pPr>
                      <a:r>
                        <a:rPr lang="en-US" sz="1200"/>
                        <a:t>sd</a:t>
                      </a:r>
                    </a:p>
                  </a:txBody>
                  <a:tcPr marL="77643" marR="77643" marT="38822" marB="38822" anchor="ctr"/>
                </a:tc>
                <a:tc>
                  <a:txBody>
                    <a:bodyPr/>
                    <a:lstStyle/>
                    <a:p>
                      <a:pPr algn="ctr">
                        <a:buNone/>
                      </a:pPr>
                      <a:r>
                        <a:rPr lang="en-US" sz="1200"/>
                        <a:t>SCSI disk driver</a:t>
                      </a:r>
                    </a:p>
                  </a:txBody>
                  <a:tcPr marL="77643" marR="77643" marT="38822" marB="38822" anchor="ctr"/>
                </a:tc>
                <a:tc>
                  <a:txBody>
                    <a:bodyPr/>
                    <a:lstStyle/>
                    <a:p>
                      <a:pPr algn="ctr">
                        <a:buNone/>
                      </a:pPr>
                      <a:r>
                        <a:rPr lang="en-US" sz="1200" dirty="0"/>
                        <a:t>/dev/</a:t>
                      </a:r>
                      <a:r>
                        <a:rPr lang="en-US" sz="1200" dirty="0" err="1"/>
                        <a:t>sda</a:t>
                      </a:r>
                      <a:endParaRPr lang="en-US" sz="1200" dirty="0"/>
                    </a:p>
                  </a:txBody>
                  <a:tcPr marL="77643" marR="77643" marT="38822" marB="38822" anchor="ctr"/>
                </a:tc>
                <a:tc>
                  <a:txBody>
                    <a:bodyPr/>
                    <a:lstStyle/>
                    <a:p>
                      <a:pPr algn="ctr">
                        <a:buNone/>
                      </a:pPr>
                      <a:r>
                        <a:rPr lang="en-US" sz="1200" dirty="0"/>
                        <a:t>HDD/SSD, often SATA/SCSI/USB</a:t>
                      </a:r>
                    </a:p>
                  </a:txBody>
                  <a:tcPr marL="77643" marR="77643" marT="38822" marB="38822" anchor="ctr"/>
                </a:tc>
                <a:extLst>
                  <a:ext uri="{0D108BD9-81ED-4DB2-BD59-A6C34878D82A}">
                    <a16:rowId xmlns:a16="http://schemas.microsoft.com/office/drawing/2014/main" val="2630882083"/>
                  </a:ext>
                </a:extLst>
              </a:tr>
              <a:tr h="258811">
                <a:tc>
                  <a:txBody>
                    <a:bodyPr/>
                    <a:lstStyle/>
                    <a:p>
                      <a:pPr algn="ctr">
                        <a:buNone/>
                      </a:pPr>
                      <a:r>
                        <a:rPr lang="en-US" sz="1200" dirty="0" err="1"/>
                        <a:t>sr</a:t>
                      </a:r>
                      <a:endParaRPr lang="en-US" sz="1200" dirty="0"/>
                    </a:p>
                  </a:txBody>
                  <a:tcPr marL="77643" marR="77643" marT="38822" marB="38822" anchor="ctr"/>
                </a:tc>
                <a:tc>
                  <a:txBody>
                    <a:bodyPr/>
                    <a:lstStyle/>
                    <a:p>
                      <a:pPr algn="ctr">
                        <a:buNone/>
                      </a:pPr>
                      <a:r>
                        <a:rPr lang="en-US" sz="1200"/>
                        <a:t>SCSI CD-ROM</a:t>
                      </a:r>
                    </a:p>
                  </a:txBody>
                  <a:tcPr marL="77643" marR="77643" marT="38822" marB="38822" anchor="ctr"/>
                </a:tc>
                <a:tc>
                  <a:txBody>
                    <a:bodyPr/>
                    <a:lstStyle/>
                    <a:p>
                      <a:pPr algn="ctr">
                        <a:buNone/>
                      </a:pPr>
                      <a:r>
                        <a:rPr lang="en-US" sz="1200" dirty="0"/>
                        <a:t>/dev/sr0</a:t>
                      </a:r>
                    </a:p>
                  </a:txBody>
                  <a:tcPr marL="77643" marR="77643" marT="38822" marB="38822" anchor="ctr"/>
                </a:tc>
                <a:tc>
                  <a:txBody>
                    <a:bodyPr/>
                    <a:lstStyle/>
                    <a:p>
                      <a:pPr algn="ctr">
                        <a:buNone/>
                      </a:pPr>
                      <a:r>
                        <a:rPr lang="en-US" sz="1200" dirty="0"/>
                        <a:t>CD/DVD drive</a:t>
                      </a:r>
                    </a:p>
                  </a:txBody>
                  <a:tcPr marL="77643" marR="77643" marT="38822" marB="38822" anchor="ctr"/>
                </a:tc>
                <a:extLst>
                  <a:ext uri="{0D108BD9-81ED-4DB2-BD59-A6C34878D82A}">
                    <a16:rowId xmlns:a16="http://schemas.microsoft.com/office/drawing/2014/main" val="2829588990"/>
                  </a:ext>
                </a:extLst>
              </a:tr>
              <a:tr h="258811">
                <a:tc>
                  <a:txBody>
                    <a:bodyPr/>
                    <a:lstStyle/>
                    <a:p>
                      <a:pPr algn="ctr">
                        <a:buNone/>
                      </a:pPr>
                      <a:r>
                        <a:rPr lang="en-US" sz="1200"/>
                        <a:t>mmcblk</a:t>
                      </a:r>
                    </a:p>
                  </a:txBody>
                  <a:tcPr marL="77643" marR="77643" marT="38822" marB="38822" anchor="ctr"/>
                </a:tc>
                <a:tc>
                  <a:txBody>
                    <a:bodyPr/>
                    <a:lstStyle/>
                    <a:p>
                      <a:pPr algn="ctr">
                        <a:buNone/>
                      </a:pPr>
                      <a:r>
                        <a:rPr lang="en-US" sz="1200" dirty="0"/>
                        <a:t>MMC block device</a:t>
                      </a:r>
                    </a:p>
                  </a:txBody>
                  <a:tcPr marL="77643" marR="77643" marT="38822" marB="38822" anchor="ctr"/>
                </a:tc>
                <a:tc>
                  <a:txBody>
                    <a:bodyPr/>
                    <a:lstStyle/>
                    <a:p>
                      <a:pPr algn="ctr">
                        <a:buNone/>
                      </a:pPr>
                      <a:r>
                        <a:rPr lang="en-US" sz="1200"/>
                        <a:t>/dev/mmcblk0</a:t>
                      </a:r>
                    </a:p>
                  </a:txBody>
                  <a:tcPr marL="77643" marR="77643" marT="38822" marB="38822" anchor="ctr"/>
                </a:tc>
                <a:tc>
                  <a:txBody>
                    <a:bodyPr/>
                    <a:lstStyle/>
                    <a:p>
                      <a:pPr algn="ctr">
                        <a:buNone/>
                      </a:pPr>
                      <a:r>
                        <a:rPr lang="en-US" sz="1200"/>
                        <a:t>SD card / eMMC</a:t>
                      </a:r>
                    </a:p>
                  </a:txBody>
                  <a:tcPr marL="77643" marR="77643" marT="38822" marB="38822" anchor="ctr"/>
                </a:tc>
                <a:extLst>
                  <a:ext uri="{0D108BD9-81ED-4DB2-BD59-A6C34878D82A}">
                    <a16:rowId xmlns:a16="http://schemas.microsoft.com/office/drawing/2014/main" val="383179174"/>
                  </a:ext>
                </a:extLst>
              </a:tr>
              <a:tr h="439978">
                <a:tc>
                  <a:txBody>
                    <a:bodyPr/>
                    <a:lstStyle/>
                    <a:p>
                      <a:pPr algn="ctr">
                        <a:buNone/>
                      </a:pPr>
                      <a:r>
                        <a:rPr lang="en-US" sz="1200"/>
                        <a:t>loop</a:t>
                      </a:r>
                    </a:p>
                  </a:txBody>
                  <a:tcPr marL="77643" marR="77643" marT="38822" marB="38822" anchor="ctr"/>
                </a:tc>
                <a:tc>
                  <a:txBody>
                    <a:bodyPr/>
                    <a:lstStyle/>
                    <a:p>
                      <a:pPr algn="ctr">
                        <a:buNone/>
                      </a:pPr>
                      <a:r>
                        <a:rPr lang="en-US" sz="1200"/>
                        <a:t>Loopback device</a:t>
                      </a:r>
                    </a:p>
                  </a:txBody>
                  <a:tcPr marL="77643" marR="77643" marT="38822" marB="38822" anchor="ctr"/>
                </a:tc>
                <a:tc>
                  <a:txBody>
                    <a:bodyPr/>
                    <a:lstStyle/>
                    <a:p>
                      <a:pPr algn="ctr">
                        <a:buNone/>
                      </a:pPr>
                      <a:r>
                        <a:rPr lang="en-US" sz="1200" dirty="0"/>
                        <a:t>/dev/loop0</a:t>
                      </a:r>
                    </a:p>
                  </a:txBody>
                  <a:tcPr marL="77643" marR="77643" marT="38822" marB="38822" anchor="ctr"/>
                </a:tc>
                <a:tc>
                  <a:txBody>
                    <a:bodyPr/>
                    <a:lstStyle/>
                    <a:p>
                      <a:pPr algn="ctr">
                        <a:buNone/>
                      </a:pPr>
                      <a:r>
                        <a:rPr lang="en-US" sz="1200"/>
                        <a:t>File treated as a virtual disk</a:t>
                      </a:r>
                    </a:p>
                  </a:txBody>
                  <a:tcPr marL="77643" marR="77643" marT="38822" marB="38822" anchor="ctr"/>
                </a:tc>
                <a:extLst>
                  <a:ext uri="{0D108BD9-81ED-4DB2-BD59-A6C34878D82A}">
                    <a16:rowId xmlns:a16="http://schemas.microsoft.com/office/drawing/2014/main" val="515446969"/>
                  </a:ext>
                </a:extLst>
              </a:tr>
              <a:tr h="621145">
                <a:tc>
                  <a:txBody>
                    <a:bodyPr/>
                    <a:lstStyle/>
                    <a:p>
                      <a:pPr algn="ctr">
                        <a:buNone/>
                      </a:pPr>
                      <a:r>
                        <a:rPr lang="en-US" sz="1200"/>
                        <a:t>vd</a:t>
                      </a:r>
                    </a:p>
                  </a:txBody>
                  <a:tcPr marL="77643" marR="77643" marT="38822" marB="38822" anchor="ctr"/>
                </a:tc>
                <a:tc>
                  <a:txBody>
                    <a:bodyPr/>
                    <a:lstStyle/>
                    <a:p>
                      <a:pPr algn="ctr">
                        <a:buNone/>
                      </a:pPr>
                      <a:r>
                        <a:rPr lang="en-US" sz="1200"/>
                        <a:t>Virtio block device</a:t>
                      </a:r>
                    </a:p>
                  </a:txBody>
                  <a:tcPr marL="77643" marR="77643" marT="38822" marB="38822" anchor="ctr"/>
                </a:tc>
                <a:tc>
                  <a:txBody>
                    <a:bodyPr/>
                    <a:lstStyle/>
                    <a:p>
                      <a:pPr algn="ctr">
                        <a:buNone/>
                      </a:pPr>
                      <a:r>
                        <a:rPr lang="en-US" sz="1200" dirty="0"/>
                        <a:t>/dev/</a:t>
                      </a:r>
                      <a:r>
                        <a:rPr lang="en-US" sz="1200" dirty="0" err="1"/>
                        <a:t>vda</a:t>
                      </a:r>
                      <a:endParaRPr lang="en-US" sz="1200" dirty="0"/>
                    </a:p>
                  </a:txBody>
                  <a:tcPr marL="77643" marR="77643" marT="38822" marB="38822" anchor="ctr"/>
                </a:tc>
                <a:tc>
                  <a:txBody>
                    <a:bodyPr/>
                    <a:lstStyle/>
                    <a:p>
                      <a:pPr algn="ctr">
                        <a:buNone/>
                      </a:pPr>
                      <a:r>
                        <a:rPr lang="en-US" sz="1200"/>
                        <a:t>Virtual disk, commonly KVM/QEMU</a:t>
                      </a:r>
                    </a:p>
                  </a:txBody>
                  <a:tcPr marL="77643" marR="77643" marT="38822" marB="38822" anchor="ctr"/>
                </a:tc>
                <a:extLst>
                  <a:ext uri="{0D108BD9-81ED-4DB2-BD59-A6C34878D82A}">
                    <a16:rowId xmlns:a16="http://schemas.microsoft.com/office/drawing/2014/main" val="3720128800"/>
                  </a:ext>
                </a:extLst>
              </a:tr>
              <a:tr h="439978">
                <a:tc>
                  <a:txBody>
                    <a:bodyPr/>
                    <a:lstStyle/>
                    <a:p>
                      <a:pPr algn="ctr">
                        <a:buNone/>
                      </a:pPr>
                      <a:r>
                        <a:rPr lang="en-US" sz="1200"/>
                        <a:t>xvd</a:t>
                      </a:r>
                    </a:p>
                  </a:txBody>
                  <a:tcPr marL="77643" marR="77643" marT="38822" marB="38822" anchor="ctr"/>
                </a:tc>
                <a:tc>
                  <a:txBody>
                    <a:bodyPr/>
                    <a:lstStyle/>
                    <a:p>
                      <a:pPr algn="ctr">
                        <a:buNone/>
                      </a:pPr>
                      <a:r>
                        <a:rPr lang="en-US" sz="1200"/>
                        <a:t>Xen virtual disk</a:t>
                      </a:r>
                    </a:p>
                  </a:txBody>
                  <a:tcPr marL="77643" marR="77643" marT="38822" marB="38822" anchor="ctr"/>
                </a:tc>
                <a:tc>
                  <a:txBody>
                    <a:bodyPr/>
                    <a:lstStyle/>
                    <a:p>
                      <a:pPr algn="ctr">
                        <a:buNone/>
                      </a:pPr>
                      <a:r>
                        <a:rPr lang="en-US" sz="1200"/>
                        <a:t>/dev/xvda</a:t>
                      </a:r>
                    </a:p>
                  </a:txBody>
                  <a:tcPr marL="77643" marR="77643" marT="38822" marB="38822" anchor="ctr"/>
                </a:tc>
                <a:tc>
                  <a:txBody>
                    <a:bodyPr/>
                    <a:lstStyle/>
                    <a:p>
                      <a:pPr algn="ctr">
                        <a:buNone/>
                      </a:pPr>
                      <a:r>
                        <a:rPr lang="en-US" sz="1200"/>
                        <a:t>Xen-based virtual machine disk</a:t>
                      </a:r>
                    </a:p>
                  </a:txBody>
                  <a:tcPr marL="77643" marR="77643" marT="38822" marB="38822" anchor="ctr"/>
                </a:tc>
                <a:extLst>
                  <a:ext uri="{0D108BD9-81ED-4DB2-BD59-A6C34878D82A}">
                    <a16:rowId xmlns:a16="http://schemas.microsoft.com/office/drawing/2014/main" val="4134824223"/>
                  </a:ext>
                </a:extLst>
              </a:tr>
              <a:tr h="258811">
                <a:tc>
                  <a:txBody>
                    <a:bodyPr/>
                    <a:lstStyle/>
                    <a:p>
                      <a:pPr algn="ctr">
                        <a:buNone/>
                      </a:pPr>
                      <a:r>
                        <a:rPr lang="en-US" sz="1200"/>
                        <a:t>dm</a:t>
                      </a:r>
                    </a:p>
                  </a:txBody>
                  <a:tcPr marL="77643" marR="77643" marT="38822" marB="38822" anchor="ctr"/>
                </a:tc>
                <a:tc>
                  <a:txBody>
                    <a:bodyPr/>
                    <a:lstStyle/>
                    <a:p>
                      <a:pPr algn="ctr">
                        <a:buNone/>
                      </a:pPr>
                      <a:r>
                        <a:rPr lang="en-US" sz="1200"/>
                        <a:t>Device Mapper</a:t>
                      </a:r>
                    </a:p>
                  </a:txBody>
                  <a:tcPr marL="77643" marR="77643" marT="38822" marB="38822" anchor="ctr"/>
                </a:tc>
                <a:tc>
                  <a:txBody>
                    <a:bodyPr/>
                    <a:lstStyle/>
                    <a:p>
                      <a:pPr algn="ctr">
                        <a:buNone/>
                      </a:pPr>
                      <a:r>
                        <a:rPr lang="en-US" sz="1200"/>
                        <a:t>/dev/dm-0</a:t>
                      </a:r>
                    </a:p>
                  </a:txBody>
                  <a:tcPr marL="77643" marR="77643" marT="38822" marB="38822" anchor="ctr"/>
                </a:tc>
                <a:tc>
                  <a:txBody>
                    <a:bodyPr/>
                    <a:lstStyle/>
                    <a:p>
                      <a:pPr algn="ctr">
                        <a:buNone/>
                      </a:pPr>
                      <a:r>
                        <a:rPr lang="en-US" sz="1200" dirty="0"/>
                        <a:t>LVM, encryption, etc.</a:t>
                      </a:r>
                    </a:p>
                  </a:txBody>
                  <a:tcPr marL="77643" marR="77643" marT="38822" marB="38822" anchor="ctr"/>
                </a:tc>
                <a:extLst>
                  <a:ext uri="{0D108BD9-81ED-4DB2-BD59-A6C34878D82A}">
                    <a16:rowId xmlns:a16="http://schemas.microsoft.com/office/drawing/2014/main" val="114114937"/>
                  </a:ext>
                </a:extLst>
              </a:tr>
            </a:tbl>
          </a:graphicData>
        </a:graphic>
      </p:graphicFrame>
    </p:spTree>
    <p:extLst>
      <p:ext uri="{BB962C8B-B14F-4D97-AF65-F5344CB8AC3E}">
        <p14:creationId xmlns:p14="http://schemas.microsoft.com/office/powerpoint/2010/main" val="2047084818"/>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DEF17-BF76-215B-3938-A592F7EB9D5F}"/>
              </a:ext>
            </a:extLst>
          </p:cNvPr>
          <p:cNvSpPr>
            <a:spLocks noGrp="1"/>
          </p:cNvSpPr>
          <p:nvPr>
            <p:ph type="title"/>
          </p:nvPr>
        </p:nvSpPr>
        <p:spPr>
          <a:xfrm>
            <a:off x="1482744" y="294554"/>
            <a:ext cx="6178511" cy="573548"/>
          </a:xfrm>
        </p:spPr>
        <p:txBody>
          <a:bodyPr/>
          <a:lstStyle/>
          <a:p>
            <a:pPr algn="ctr"/>
            <a:r>
              <a:rPr lang="en-US" sz="2000" dirty="0">
                <a:latin typeface="Times New Roman" panose="02020603050405020304" pitchFamily="18" charset="0"/>
                <a:cs typeface="Times New Roman" panose="02020603050405020304" pitchFamily="18" charset="0"/>
              </a:rPr>
              <a:t>Imagine you add a 20 GB virtual hard disk to </a:t>
            </a:r>
            <a:r>
              <a:rPr lang="en-US" sz="2000" dirty="0" err="1">
                <a:latin typeface="Times New Roman" panose="02020603050405020304" pitchFamily="18" charset="0"/>
                <a:cs typeface="Times New Roman" panose="02020603050405020304" pitchFamily="18" charset="0"/>
              </a:rPr>
              <a:t>Vmware</a:t>
            </a:r>
            <a:r>
              <a:rPr lang="en-US" sz="2000" dirty="0">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92E0E790-2E93-059B-F3D7-06842DFA5ACC}"/>
              </a:ext>
            </a:extLst>
          </p:cNvPr>
          <p:cNvSpPr txBox="1"/>
          <p:nvPr/>
        </p:nvSpPr>
        <p:spPr>
          <a:xfrm>
            <a:off x="1990725" y="1142994"/>
            <a:ext cx="5162550" cy="3323987"/>
          </a:xfrm>
          <a:prstGeom prst="rect">
            <a:avLst/>
          </a:prstGeom>
          <a:noFill/>
        </p:spPr>
        <p:txBody>
          <a:bodyPr wrap="square">
            <a:spAutoFit/>
          </a:bodyPr>
          <a:lstStyle/>
          <a:p>
            <a:pPr algn="ctr"/>
            <a:r>
              <a:rPr lang="en-US" dirty="0"/>
              <a:t>VMware</a:t>
            </a:r>
          </a:p>
          <a:p>
            <a:pPr algn="ctr"/>
            <a:r>
              <a:rPr lang="en-US" dirty="0"/>
              <a:t>   ↓</a:t>
            </a:r>
          </a:p>
          <a:p>
            <a:pPr algn="ctr"/>
            <a:r>
              <a:rPr lang="en-US" dirty="0"/>
              <a:t>Add 20 GB disk</a:t>
            </a:r>
          </a:p>
          <a:p>
            <a:pPr algn="ctr"/>
            <a:r>
              <a:rPr lang="en-US" dirty="0"/>
              <a:t>   ↓</a:t>
            </a:r>
          </a:p>
          <a:p>
            <a:pPr algn="ctr"/>
            <a:r>
              <a:rPr lang="en-US" dirty="0"/>
              <a:t>Rocky detects /dev/</a:t>
            </a:r>
            <a:r>
              <a:rPr lang="en-US" dirty="0" err="1"/>
              <a:t>sdb</a:t>
            </a:r>
            <a:endParaRPr lang="en-US" dirty="0"/>
          </a:p>
          <a:p>
            <a:pPr algn="ctr"/>
            <a:r>
              <a:rPr lang="en-US" dirty="0"/>
              <a:t>   ↓</a:t>
            </a:r>
          </a:p>
          <a:p>
            <a:pPr algn="ctr"/>
            <a:r>
              <a:rPr lang="en-US" dirty="0"/>
              <a:t>Create partition /dev/sdb1</a:t>
            </a:r>
          </a:p>
          <a:p>
            <a:pPr algn="ctr"/>
            <a:r>
              <a:rPr lang="en-US" dirty="0"/>
              <a:t>   ↓</a:t>
            </a:r>
          </a:p>
          <a:p>
            <a:pPr algn="ctr"/>
            <a:r>
              <a:rPr lang="en-US" dirty="0"/>
              <a:t>Create XFS filesystem</a:t>
            </a:r>
          </a:p>
          <a:p>
            <a:pPr algn="ctr"/>
            <a:r>
              <a:rPr lang="en-US" dirty="0"/>
              <a:t>   ↓</a:t>
            </a:r>
          </a:p>
          <a:p>
            <a:pPr algn="ctr"/>
            <a:r>
              <a:rPr lang="en-US" dirty="0"/>
              <a:t>Create /data directory</a:t>
            </a:r>
          </a:p>
          <a:p>
            <a:pPr algn="ctr"/>
            <a:r>
              <a:rPr lang="en-US" dirty="0"/>
              <a:t>   ↓</a:t>
            </a:r>
          </a:p>
          <a:p>
            <a:pPr algn="ctr"/>
            <a:r>
              <a:rPr lang="en-US" dirty="0"/>
              <a:t>Mount /dev/sdb1 on /data</a:t>
            </a:r>
          </a:p>
          <a:p>
            <a:pPr algn="ctr"/>
            <a:r>
              <a:rPr lang="en-US" dirty="0"/>
              <a:t>   ↓</a:t>
            </a:r>
          </a:p>
          <a:p>
            <a:pPr algn="ctr"/>
            <a:r>
              <a:rPr lang="en-US" dirty="0"/>
              <a:t>Make it permanent using /</a:t>
            </a:r>
            <a:r>
              <a:rPr lang="en-US" dirty="0" err="1"/>
              <a:t>etc</a:t>
            </a:r>
            <a:r>
              <a:rPr lang="en-US" dirty="0"/>
              <a:t>/</a:t>
            </a:r>
            <a:r>
              <a:rPr lang="en-US" dirty="0" err="1"/>
              <a:t>fstab</a:t>
            </a:r>
            <a:endParaRPr lang="en-US" dirty="0"/>
          </a:p>
        </p:txBody>
      </p:sp>
    </p:spTree>
    <p:extLst>
      <p:ext uri="{BB962C8B-B14F-4D97-AF65-F5344CB8AC3E}">
        <p14:creationId xmlns:p14="http://schemas.microsoft.com/office/powerpoint/2010/main" val="458463437"/>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1A381-847D-883A-7652-D73F7E48B003}"/>
              </a:ext>
            </a:extLst>
          </p:cNvPr>
          <p:cNvSpPr>
            <a:spLocks noGrp="1"/>
          </p:cNvSpPr>
          <p:nvPr>
            <p:ph type="title"/>
          </p:nvPr>
        </p:nvSpPr>
        <p:spPr>
          <a:xfrm>
            <a:off x="720000" y="445025"/>
            <a:ext cx="4673803" cy="515674"/>
          </a:xfrm>
        </p:spPr>
        <p:txBody>
          <a:bodyPr/>
          <a:lstStyle/>
          <a:p>
            <a:r>
              <a:rPr lang="en-US" sz="2000" dirty="0">
                <a:latin typeface="Times New Roman" panose="02020603050405020304" pitchFamily="18" charset="0"/>
                <a:cs typeface="Times New Roman" panose="02020603050405020304" pitchFamily="18" charset="0"/>
              </a:rPr>
              <a:t>STEP 1 — Add a new disk in VMware</a:t>
            </a:r>
          </a:p>
        </p:txBody>
      </p:sp>
      <p:sp>
        <p:nvSpPr>
          <p:cNvPr id="4" name="TextBox 3">
            <a:extLst>
              <a:ext uri="{FF2B5EF4-FFF2-40B4-BE49-F238E27FC236}">
                <a16:creationId xmlns:a16="http://schemas.microsoft.com/office/drawing/2014/main" id="{1BC7BF9F-AFC6-EFF0-8283-266E850ED1F5}"/>
              </a:ext>
            </a:extLst>
          </p:cNvPr>
          <p:cNvSpPr txBox="1"/>
          <p:nvPr/>
        </p:nvSpPr>
        <p:spPr>
          <a:xfrm>
            <a:off x="1990725" y="1337751"/>
            <a:ext cx="5162550" cy="3477875"/>
          </a:xfrm>
          <a:prstGeom prst="rect">
            <a:avLst/>
          </a:prstGeom>
          <a:no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VM → Settings → Add</a:t>
            </a:r>
          </a:p>
          <a:p>
            <a:pPr algn="ctr"/>
            <a:r>
              <a:rPr lang="en-US" sz="2000" dirty="0">
                <a:latin typeface="Times New Roman" panose="02020603050405020304" pitchFamily="18" charset="0"/>
                <a:cs typeface="Times New Roman" panose="02020603050405020304" pitchFamily="18" charset="0"/>
              </a:rPr>
              <a:t>       ↓</a:t>
            </a:r>
          </a:p>
          <a:p>
            <a:pPr algn="ctr"/>
            <a:r>
              <a:rPr lang="en-US" sz="2000" dirty="0">
                <a:latin typeface="Times New Roman" panose="02020603050405020304" pitchFamily="18" charset="0"/>
                <a:cs typeface="Times New Roman" panose="02020603050405020304" pitchFamily="18" charset="0"/>
              </a:rPr>
              <a:t>    Hard Disk</a:t>
            </a:r>
          </a:p>
          <a:p>
            <a:pPr algn="ctr"/>
            <a:r>
              <a:rPr lang="en-US" sz="2000" dirty="0">
                <a:latin typeface="Times New Roman" panose="02020603050405020304" pitchFamily="18" charset="0"/>
                <a:cs typeface="Times New Roman" panose="02020603050405020304" pitchFamily="18" charset="0"/>
              </a:rPr>
              <a:t>       ↓</a:t>
            </a:r>
          </a:p>
          <a:p>
            <a:pPr algn="ctr"/>
            <a:r>
              <a:rPr lang="en-US" sz="2000" dirty="0">
                <a:latin typeface="Times New Roman" panose="02020603050405020304" pitchFamily="18" charset="0"/>
                <a:cs typeface="Times New Roman" panose="02020603050405020304" pitchFamily="18" charset="0"/>
              </a:rPr>
              <a:t>    SCSI</a:t>
            </a:r>
          </a:p>
          <a:p>
            <a:pPr algn="ctr"/>
            <a:r>
              <a:rPr lang="en-US" sz="2000" dirty="0">
                <a:latin typeface="Times New Roman" panose="02020603050405020304" pitchFamily="18" charset="0"/>
                <a:cs typeface="Times New Roman" panose="02020603050405020304" pitchFamily="18" charset="0"/>
              </a:rPr>
              <a:t>       ↓</a:t>
            </a:r>
          </a:p>
          <a:p>
            <a:pPr algn="ctr"/>
            <a:r>
              <a:rPr lang="en-US" sz="2000" dirty="0">
                <a:latin typeface="Times New Roman" panose="02020603050405020304" pitchFamily="18" charset="0"/>
                <a:cs typeface="Times New Roman" panose="02020603050405020304" pitchFamily="18" charset="0"/>
              </a:rPr>
              <a:t>Create a new virtual disk</a:t>
            </a:r>
          </a:p>
          <a:p>
            <a:pPr algn="ctr"/>
            <a:r>
              <a:rPr lang="en-US" sz="2000" dirty="0">
                <a:latin typeface="Times New Roman" panose="02020603050405020304" pitchFamily="18" charset="0"/>
                <a:cs typeface="Times New Roman" panose="02020603050405020304" pitchFamily="18" charset="0"/>
              </a:rPr>
              <a:t>       ↓</a:t>
            </a:r>
          </a:p>
          <a:p>
            <a:pPr algn="ctr"/>
            <a:r>
              <a:rPr lang="en-US" sz="2000" dirty="0">
                <a:latin typeface="Times New Roman" panose="02020603050405020304" pitchFamily="18" charset="0"/>
                <a:cs typeface="Times New Roman" panose="02020603050405020304" pitchFamily="18" charset="0"/>
              </a:rPr>
              <a:t>    20 GB</a:t>
            </a:r>
          </a:p>
          <a:p>
            <a:pPr algn="ctr"/>
            <a:r>
              <a:rPr lang="en-US" sz="2000" dirty="0">
                <a:latin typeface="Times New Roman" panose="02020603050405020304" pitchFamily="18" charset="0"/>
                <a:cs typeface="Times New Roman" panose="02020603050405020304" pitchFamily="18" charset="0"/>
              </a:rPr>
              <a:t>       ↓</a:t>
            </a:r>
          </a:p>
          <a:p>
            <a:pPr algn="ctr"/>
            <a:r>
              <a:rPr lang="en-US" sz="2000" dirty="0">
                <a:latin typeface="Times New Roman" panose="02020603050405020304" pitchFamily="18" charset="0"/>
                <a:cs typeface="Times New Roman" panose="02020603050405020304" pitchFamily="18" charset="0"/>
              </a:rPr>
              <a:t>    Finish</a:t>
            </a:r>
          </a:p>
        </p:txBody>
      </p:sp>
    </p:spTree>
    <p:extLst>
      <p:ext uri="{BB962C8B-B14F-4D97-AF65-F5344CB8AC3E}">
        <p14:creationId xmlns:p14="http://schemas.microsoft.com/office/powerpoint/2010/main" val="4066836028"/>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FEDAE-93AE-2CB5-E468-36AAB133BC44}"/>
              </a:ext>
            </a:extLst>
          </p:cNvPr>
          <p:cNvSpPr>
            <a:spLocks noGrp="1"/>
          </p:cNvSpPr>
          <p:nvPr>
            <p:ph type="title"/>
          </p:nvPr>
        </p:nvSpPr>
        <p:spPr>
          <a:xfrm>
            <a:off x="720000" y="445025"/>
            <a:ext cx="2868152" cy="527248"/>
          </a:xfrm>
        </p:spPr>
        <p:txBody>
          <a:bodyPr/>
          <a:lstStyle/>
          <a:p>
            <a:r>
              <a:rPr lang="en-US" sz="2000" dirty="0">
                <a:latin typeface="Times New Roman" panose="02020603050405020304" pitchFamily="18" charset="0"/>
                <a:cs typeface="Times New Roman" panose="02020603050405020304" pitchFamily="18" charset="0"/>
              </a:rPr>
              <a:t>STEP 2 — Become root</a:t>
            </a:r>
          </a:p>
        </p:txBody>
      </p:sp>
      <p:sp>
        <p:nvSpPr>
          <p:cNvPr id="4" name="TextBox 3">
            <a:extLst>
              <a:ext uri="{FF2B5EF4-FFF2-40B4-BE49-F238E27FC236}">
                <a16:creationId xmlns:a16="http://schemas.microsoft.com/office/drawing/2014/main" id="{0518D8F8-5C9E-ADE4-C769-4F87F39DD09F}"/>
              </a:ext>
            </a:extLst>
          </p:cNvPr>
          <p:cNvSpPr txBox="1"/>
          <p:nvPr/>
        </p:nvSpPr>
        <p:spPr>
          <a:xfrm>
            <a:off x="720000" y="1488742"/>
            <a:ext cx="7833691" cy="2862322"/>
          </a:xfrm>
          <a:prstGeom prst="rect">
            <a:avLst/>
          </a:prstGeom>
          <a:noFill/>
        </p:spPr>
        <p:txBody>
          <a:bodyPr wrap="square">
            <a:spAutoFit/>
          </a:bodyPr>
          <a:lstStyle/>
          <a:p>
            <a:pPr rtl="0">
              <a:buNone/>
            </a:pPr>
            <a:r>
              <a:rPr lang="en-US" sz="2000" dirty="0" err="1">
                <a:latin typeface="Times New Roman" panose="02020603050405020304" pitchFamily="18" charset="0"/>
                <a:cs typeface="Times New Roman" panose="02020603050405020304" pitchFamily="18" charset="0"/>
              </a:rPr>
              <a:t>sudo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You should see something similar to:</a:t>
            </a:r>
          </a:p>
          <a:p>
            <a:pPr rtl="0">
              <a:buNone/>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root@rocky</a:t>
            </a:r>
            <a:r>
              <a:rPr lang="en-US" sz="2000" dirty="0">
                <a:latin typeface="Times New Roman" panose="02020603050405020304" pitchFamily="18" charset="0"/>
                <a:cs typeface="Times New Roman" panose="02020603050405020304" pitchFamily="18" charset="0"/>
              </a:rPr>
              <a:t> ~]#</a:t>
            </a:r>
          </a:p>
          <a:p>
            <a:pPr rtl="0">
              <a:buNone/>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What does </a:t>
            </a:r>
            <a:r>
              <a:rPr lang="en-US" sz="2000" b="1" dirty="0" err="1">
                <a:latin typeface="Times New Roman" panose="02020603050405020304" pitchFamily="18" charset="0"/>
                <a:cs typeface="Times New Roman" panose="02020603050405020304" pitchFamily="18" charset="0"/>
              </a:rPr>
              <a:t>sudo</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i</a:t>
            </a:r>
            <a:r>
              <a:rPr lang="en-US" sz="2000" b="1" dirty="0">
                <a:latin typeface="Times New Roman" panose="02020603050405020304" pitchFamily="18" charset="0"/>
                <a:cs typeface="Times New Roman" panose="02020603050405020304" pitchFamily="18" charset="0"/>
              </a:rPr>
              <a:t> mean?</a:t>
            </a:r>
          </a:p>
          <a:p>
            <a:pPr>
              <a:buNone/>
            </a:pPr>
            <a:r>
              <a:rPr lang="en-US" sz="2000" b="1" dirty="0" err="1">
                <a:latin typeface="Times New Roman" panose="02020603050405020304" pitchFamily="18" charset="0"/>
                <a:cs typeface="Times New Roman" panose="02020603050405020304" pitchFamily="18" charset="0"/>
              </a:rPr>
              <a:t>sudo</a:t>
            </a:r>
            <a:r>
              <a:rPr lang="en-US" sz="2000" dirty="0">
                <a:latin typeface="Times New Roman" panose="02020603050405020304" pitchFamily="18" charset="0"/>
                <a:cs typeface="Times New Roman" panose="02020603050405020304" pitchFamily="18" charset="0"/>
              </a:rPr>
              <a:t> = </a:t>
            </a:r>
            <a:r>
              <a:rPr lang="en-US" sz="2000" b="1" dirty="0" err="1">
                <a:latin typeface="Times New Roman" panose="02020603050405020304" pitchFamily="18" charset="0"/>
                <a:cs typeface="Times New Roman" panose="02020603050405020304" pitchFamily="18" charset="0"/>
              </a:rPr>
              <a:t>SuperUser</a:t>
            </a:r>
            <a:r>
              <a:rPr lang="en-US" sz="2000" b="1" dirty="0">
                <a:latin typeface="Times New Roman" panose="02020603050405020304" pitchFamily="18" charset="0"/>
                <a:cs typeface="Times New Roman" panose="02020603050405020304" pitchFamily="18" charset="0"/>
              </a:rPr>
              <a:t> DO</a:t>
            </a:r>
            <a:r>
              <a:rPr lang="en-US" sz="2000" dirty="0">
                <a:latin typeface="Times New Roman" panose="02020603050405020304" pitchFamily="18" charset="0"/>
                <a:cs typeface="Times New Roman" panose="02020603050405020304" pitchFamily="18" charset="0"/>
              </a:rPr>
              <a:t> → execute something with administrator privileges.</a:t>
            </a:r>
          </a:p>
          <a:p>
            <a:pPr>
              <a:buNone/>
            </a:pP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login shell</a:t>
            </a:r>
            <a:r>
              <a:rPr lang="en-US" sz="2000" dirty="0">
                <a:latin typeface="Times New Roman" panose="02020603050405020304" pitchFamily="18" charset="0"/>
                <a:cs typeface="Times New Roman" panose="02020603050405020304" pitchFamily="18" charset="0"/>
              </a:rPr>
              <a:t> → give you a root user's environment, so you can perform administration tasks.</a:t>
            </a:r>
          </a:p>
        </p:txBody>
      </p:sp>
    </p:spTree>
    <p:extLst>
      <p:ext uri="{BB962C8B-B14F-4D97-AF65-F5344CB8AC3E}">
        <p14:creationId xmlns:p14="http://schemas.microsoft.com/office/powerpoint/2010/main" val="1210816793"/>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74FC5-6ECA-454E-B365-E1FDEDEA0091}"/>
              </a:ext>
            </a:extLst>
          </p:cNvPr>
          <p:cNvSpPr>
            <a:spLocks noGrp="1"/>
          </p:cNvSpPr>
          <p:nvPr>
            <p:ph type="title"/>
          </p:nvPr>
        </p:nvSpPr>
        <p:spPr>
          <a:xfrm>
            <a:off x="720000" y="445025"/>
            <a:ext cx="3608932" cy="412063"/>
          </a:xfrm>
        </p:spPr>
        <p:txBody>
          <a:bodyPr/>
          <a:lstStyle/>
          <a:p>
            <a:r>
              <a:rPr lang="en-US" sz="2000" dirty="0">
                <a:latin typeface="Times New Roman" panose="02020603050405020304" pitchFamily="18" charset="0"/>
                <a:cs typeface="Times New Roman" panose="02020603050405020304" pitchFamily="18" charset="0"/>
              </a:rPr>
              <a:t>STEP 3 — Find your new disk</a:t>
            </a:r>
          </a:p>
        </p:txBody>
      </p:sp>
      <p:pic>
        <p:nvPicPr>
          <p:cNvPr id="4" name="Picture 3">
            <a:extLst>
              <a:ext uri="{FF2B5EF4-FFF2-40B4-BE49-F238E27FC236}">
                <a16:creationId xmlns:a16="http://schemas.microsoft.com/office/drawing/2014/main" id="{8673573B-91B1-6742-EC94-5D409AC724B0}"/>
              </a:ext>
            </a:extLst>
          </p:cNvPr>
          <p:cNvPicPr>
            <a:picLocks noChangeAspect="1"/>
          </p:cNvPicPr>
          <p:nvPr/>
        </p:nvPicPr>
        <p:blipFill>
          <a:blip r:embed="rId2"/>
          <a:stretch>
            <a:fillRect/>
          </a:stretch>
        </p:blipFill>
        <p:spPr>
          <a:xfrm>
            <a:off x="870874" y="1549925"/>
            <a:ext cx="6916115" cy="2324424"/>
          </a:xfrm>
          <a:prstGeom prst="rect">
            <a:avLst/>
          </a:prstGeom>
        </p:spPr>
      </p:pic>
      <p:sp>
        <p:nvSpPr>
          <p:cNvPr id="5" name="TextBox 4">
            <a:extLst>
              <a:ext uri="{FF2B5EF4-FFF2-40B4-BE49-F238E27FC236}">
                <a16:creationId xmlns:a16="http://schemas.microsoft.com/office/drawing/2014/main" id="{F1249E4A-CCAB-1560-8302-3E7919DB0337}"/>
              </a:ext>
            </a:extLst>
          </p:cNvPr>
          <p:cNvSpPr txBox="1"/>
          <p:nvPr/>
        </p:nvSpPr>
        <p:spPr>
          <a:xfrm>
            <a:off x="870874" y="1121236"/>
            <a:ext cx="5162308" cy="400110"/>
          </a:xfrm>
          <a:prstGeom prst="rect">
            <a:avLst/>
          </a:prstGeom>
          <a:noFill/>
        </p:spPr>
        <p:txBody>
          <a:bodyPr wrap="square">
            <a:spAutoFit/>
          </a:bodyPr>
          <a:lstStyle/>
          <a:p>
            <a:r>
              <a:rPr lang="en-US" sz="2000" dirty="0" err="1">
                <a:solidFill>
                  <a:srgbClr val="0F141A"/>
                </a:solidFill>
                <a:highlight>
                  <a:srgbClr val="FFFF00"/>
                </a:highlight>
                <a:latin typeface="Times New Roman" panose="02020603050405020304" pitchFamily="18" charset="0"/>
                <a:cs typeface="Times New Roman" panose="02020603050405020304" pitchFamily="18" charset="0"/>
              </a:rPr>
              <a:t>lsblk</a:t>
            </a:r>
            <a:endParaRPr lang="en-US" sz="2000"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815761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C9D1A7-AD4C-7299-8F7F-CE6B18F20FCC}"/>
              </a:ext>
            </a:extLst>
          </p:cNvPr>
          <p:cNvSpPr txBox="1"/>
          <p:nvPr/>
        </p:nvSpPr>
        <p:spPr>
          <a:xfrm>
            <a:off x="1475772" y="1039087"/>
            <a:ext cx="6192455" cy="3785652"/>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Run:</a:t>
            </a:r>
          </a:p>
          <a:p>
            <a:pPr rtl="0">
              <a:buNone/>
            </a:pPr>
            <a:r>
              <a:rPr lang="en-US" sz="2000" dirty="0" err="1">
                <a:highlight>
                  <a:srgbClr val="FFFF00"/>
                </a:highlight>
                <a:latin typeface="Times New Roman" panose="02020603050405020304" pitchFamily="18" charset="0"/>
                <a:cs typeface="Times New Roman" panose="02020603050405020304" pitchFamily="18" charset="0"/>
              </a:rPr>
              <a:t>lsblk</a:t>
            </a:r>
            <a:endParaRPr lang="en-US" sz="2000" dirty="0">
              <a:highlight>
                <a:srgbClr val="FFFF00"/>
              </a:highlight>
              <a:latin typeface="Times New Roman" panose="02020603050405020304" pitchFamily="18" charset="0"/>
              <a:cs typeface="Times New Roman" panose="02020603050405020304" pitchFamily="18" charset="0"/>
            </a:endParaRPr>
          </a:p>
          <a:p>
            <a:pPr>
              <a:buNone/>
            </a:pPr>
            <a:r>
              <a:rPr lang="en-US" sz="2000" dirty="0" err="1">
                <a:latin typeface="Times New Roman" panose="02020603050405020304" pitchFamily="18" charset="0"/>
                <a:cs typeface="Times New Roman" panose="02020603050405020304" pitchFamily="18" charset="0"/>
              </a:rPr>
              <a:t>lsblk</a:t>
            </a:r>
            <a:r>
              <a:rPr lang="en-US" sz="2000"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List Block Devices</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You might see:</a:t>
            </a:r>
          </a:p>
          <a:p>
            <a:pPr rtl="0">
              <a:buNone/>
            </a:pPr>
            <a:r>
              <a:rPr lang="en-US" sz="2000" dirty="0">
                <a:latin typeface="Times New Roman" panose="02020603050405020304" pitchFamily="18" charset="0"/>
                <a:cs typeface="Times New Roman" panose="02020603050405020304" pitchFamily="18" charset="0"/>
              </a:rPr>
              <a:t>NAME        SIZE    TYPE MOUNTPOINT</a:t>
            </a:r>
          </a:p>
          <a:p>
            <a:pPr rtl="0">
              <a:buNone/>
            </a:pPr>
            <a:r>
              <a:rPr lang="en-US" sz="2000" dirty="0" err="1">
                <a:latin typeface="Times New Roman" panose="02020603050405020304" pitchFamily="18" charset="0"/>
                <a:cs typeface="Times New Roman" panose="02020603050405020304" pitchFamily="18" charset="0"/>
              </a:rPr>
              <a:t>sda</a:t>
            </a:r>
            <a:r>
              <a:rPr lang="en-US" sz="2000" dirty="0">
                <a:latin typeface="Times New Roman" panose="02020603050405020304" pitchFamily="18" charset="0"/>
                <a:cs typeface="Times New Roman" panose="02020603050405020304" pitchFamily="18" charset="0"/>
              </a:rPr>
              <a:t>                40G      disk</a:t>
            </a:r>
          </a:p>
          <a:p>
            <a:pPr rtl="0">
              <a:buNone/>
            </a:pPr>
            <a:r>
              <a:rPr lang="en-US" sz="2000" dirty="0">
                <a:latin typeface="Times New Roman" panose="02020603050405020304" pitchFamily="18" charset="0"/>
                <a:cs typeface="Times New Roman" panose="02020603050405020304" pitchFamily="18" charset="0"/>
              </a:rPr>
              <a:t>├─sda1        1G         part /boot</a:t>
            </a:r>
          </a:p>
          <a:p>
            <a:pPr rtl="0">
              <a:buNone/>
            </a:pPr>
            <a:r>
              <a:rPr lang="en-US" sz="2000" dirty="0">
                <a:latin typeface="Times New Roman" panose="02020603050405020304" pitchFamily="18" charset="0"/>
                <a:cs typeface="Times New Roman" panose="02020603050405020304" pitchFamily="18" charset="0"/>
              </a:rPr>
              <a:t>└─sda2        39G       part /</a:t>
            </a:r>
          </a:p>
          <a:p>
            <a:pPr rtl="0">
              <a:buNone/>
            </a:pPr>
            <a:r>
              <a:rPr lang="en-US" sz="2000" dirty="0" err="1">
                <a:latin typeface="Times New Roman" panose="02020603050405020304" pitchFamily="18" charset="0"/>
                <a:cs typeface="Times New Roman" panose="02020603050405020304" pitchFamily="18" charset="0"/>
              </a:rPr>
              <a:t>sdb</a:t>
            </a:r>
            <a:r>
              <a:rPr lang="en-US" sz="2000" dirty="0">
                <a:latin typeface="Times New Roman" panose="02020603050405020304" pitchFamily="18" charset="0"/>
                <a:cs typeface="Times New Roman" panose="02020603050405020304" pitchFamily="18" charset="0"/>
              </a:rPr>
              <a:t>               20G       disk</a:t>
            </a:r>
          </a:p>
          <a:p>
            <a:pPr>
              <a:buNone/>
            </a:pPr>
            <a:r>
              <a:rPr lang="en-US" sz="2000" dirty="0">
                <a:latin typeface="Times New Roman" panose="02020603050405020304" pitchFamily="18" charset="0"/>
                <a:cs typeface="Times New Roman" panose="02020603050405020304" pitchFamily="18" charset="0"/>
              </a:rPr>
              <a:t>Here:</a:t>
            </a:r>
          </a:p>
          <a:p>
            <a:pPr rtl="0">
              <a:buNone/>
            </a:pPr>
            <a:r>
              <a:rPr lang="en-US" sz="2000" dirty="0">
                <a:latin typeface="Times New Roman" panose="02020603050405020304" pitchFamily="18" charset="0"/>
                <a:cs typeface="Times New Roman" panose="02020603050405020304" pitchFamily="18" charset="0"/>
              </a:rPr>
              <a:t>/dev/</a:t>
            </a:r>
            <a:r>
              <a:rPr lang="en-US" sz="2000" dirty="0" err="1">
                <a:latin typeface="Times New Roman" panose="02020603050405020304" pitchFamily="18" charset="0"/>
                <a:cs typeface="Times New Roman" panose="02020603050405020304" pitchFamily="18" charset="0"/>
              </a:rPr>
              <a:t>sda</a:t>
            </a:r>
            <a:r>
              <a:rPr lang="en-US" sz="2000" dirty="0">
                <a:latin typeface="Times New Roman" panose="02020603050405020304" pitchFamily="18" charset="0"/>
                <a:cs typeface="Times New Roman" panose="02020603050405020304" pitchFamily="18" charset="0"/>
              </a:rPr>
              <a:t> = existing disk</a:t>
            </a:r>
          </a:p>
          <a:p>
            <a:pPr rtl="0">
              <a:buNone/>
            </a:pPr>
            <a:r>
              <a:rPr lang="en-US" sz="2000" dirty="0">
                <a:latin typeface="Times New Roman" panose="02020603050405020304" pitchFamily="18" charset="0"/>
                <a:cs typeface="Times New Roman" panose="02020603050405020304" pitchFamily="18" charset="0"/>
              </a:rPr>
              <a:t>/dev/</a:t>
            </a:r>
            <a:r>
              <a:rPr lang="en-US" sz="2000" dirty="0" err="1">
                <a:latin typeface="Times New Roman" panose="02020603050405020304" pitchFamily="18" charset="0"/>
                <a:cs typeface="Times New Roman" panose="02020603050405020304" pitchFamily="18" charset="0"/>
              </a:rPr>
              <a:t>sdb</a:t>
            </a:r>
            <a:r>
              <a:rPr lang="en-US" sz="2000" dirty="0">
                <a:latin typeface="Times New Roman" panose="02020603050405020304" pitchFamily="18" charset="0"/>
                <a:cs typeface="Times New Roman" panose="02020603050405020304" pitchFamily="18" charset="0"/>
              </a:rPr>
              <a:t> = NEW 20 GB disk</a:t>
            </a:r>
          </a:p>
        </p:txBody>
      </p:sp>
      <p:sp>
        <p:nvSpPr>
          <p:cNvPr id="6" name="TextBox 5">
            <a:extLst>
              <a:ext uri="{FF2B5EF4-FFF2-40B4-BE49-F238E27FC236}">
                <a16:creationId xmlns:a16="http://schemas.microsoft.com/office/drawing/2014/main" id="{1E51A7AD-723A-41D3-E984-7DFD9C8003A4}"/>
              </a:ext>
            </a:extLst>
          </p:cNvPr>
          <p:cNvSpPr txBox="1"/>
          <p:nvPr/>
        </p:nvSpPr>
        <p:spPr>
          <a:xfrm>
            <a:off x="243068" y="511656"/>
            <a:ext cx="3646026" cy="400110"/>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STEP 3 — Find your new disk</a:t>
            </a:r>
          </a:p>
        </p:txBody>
      </p:sp>
      <p:sp>
        <p:nvSpPr>
          <p:cNvPr id="8" name="TextBox 7">
            <a:extLst>
              <a:ext uri="{FF2B5EF4-FFF2-40B4-BE49-F238E27FC236}">
                <a16:creationId xmlns:a16="http://schemas.microsoft.com/office/drawing/2014/main" id="{8D6F2929-8B45-45E2-A99E-26BCBDF8A199}"/>
              </a:ext>
            </a:extLst>
          </p:cNvPr>
          <p:cNvSpPr txBox="1"/>
          <p:nvPr/>
        </p:nvSpPr>
        <p:spPr>
          <a:xfrm>
            <a:off x="4803493" y="3627359"/>
            <a:ext cx="4143735" cy="954107"/>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VERY IMPORTANT</a:t>
            </a:r>
          </a:p>
          <a:p>
            <a:pPr>
              <a:buNone/>
            </a:pPr>
            <a:r>
              <a:rPr lang="en-US" b="1" dirty="0">
                <a:latin typeface="Times New Roman" panose="02020603050405020304" pitchFamily="18" charset="0"/>
                <a:cs typeface="Times New Roman" panose="02020603050405020304" pitchFamily="18" charset="0"/>
              </a:rPr>
              <a:t>Do not assume your new disk is /dev/</a:t>
            </a:r>
            <a:r>
              <a:rPr lang="en-US" b="1" dirty="0" err="1">
                <a:latin typeface="Times New Roman" panose="02020603050405020304" pitchFamily="18" charset="0"/>
                <a:cs typeface="Times New Roman" panose="02020603050405020304" pitchFamily="18" charset="0"/>
              </a:rPr>
              <a:t>sdb</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Check the size and existing mount points with </a:t>
            </a:r>
            <a:r>
              <a:rPr lang="en-US" dirty="0" err="1">
                <a:latin typeface="Times New Roman" panose="02020603050405020304" pitchFamily="18" charset="0"/>
                <a:cs typeface="Times New Roman" panose="02020603050405020304" pitchFamily="18" charset="0"/>
              </a:rPr>
              <a:t>lsblk</a:t>
            </a:r>
            <a:r>
              <a:rPr lang="en-US" dirty="0">
                <a:latin typeface="Times New Roman" panose="02020603050405020304" pitchFamily="18" charset="0"/>
                <a:cs typeface="Times New Roman" panose="02020603050405020304" pitchFamily="18" charset="0"/>
              </a:rPr>
              <a:t> first. Your system could use a different device name.</a:t>
            </a:r>
          </a:p>
        </p:txBody>
      </p:sp>
    </p:spTree>
    <p:extLst>
      <p:ext uri="{BB962C8B-B14F-4D97-AF65-F5344CB8AC3E}">
        <p14:creationId xmlns:p14="http://schemas.microsoft.com/office/powerpoint/2010/main" val="273725680"/>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CBD0B-8A9B-F98D-3C15-D8CB63F05C0B}"/>
              </a:ext>
            </a:extLst>
          </p:cNvPr>
          <p:cNvSpPr>
            <a:spLocks noGrp="1"/>
          </p:cNvSpPr>
          <p:nvPr>
            <p:ph type="title"/>
          </p:nvPr>
        </p:nvSpPr>
        <p:spPr>
          <a:xfrm>
            <a:off x="720000" y="445025"/>
            <a:ext cx="3852000" cy="376778"/>
          </a:xfrm>
        </p:spPr>
        <p:txBody>
          <a:bodyPr/>
          <a:lstStyle/>
          <a:p>
            <a:r>
              <a:rPr lang="en-US" sz="2000" dirty="0">
                <a:latin typeface="Times New Roman" panose="02020603050405020304" pitchFamily="18" charset="0"/>
                <a:cs typeface="Times New Roman" panose="02020603050405020304" pitchFamily="18" charset="0"/>
              </a:rPr>
              <a:t>STEP 4 — Check the filesystem</a:t>
            </a:r>
          </a:p>
        </p:txBody>
      </p:sp>
      <p:sp>
        <p:nvSpPr>
          <p:cNvPr id="4" name="TextBox 3">
            <a:extLst>
              <a:ext uri="{FF2B5EF4-FFF2-40B4-BE49-F238E27FC236}">
                <a16:creationId xmlns:a16="http://schemas.microsoft.com/office/drawing/2014/main" id="{3522FF98-884F-9BE8-05FE-C2E51FD486ED}"/>
              </a:ext>
            </a:extLst>
          </p:cNvPr>
          <p:cNvSpPr txBox="1"/>
          <p:nvPr/>
        </p:nvSpPr>
        <p:spPr>
          <a:xfrm>
            <a:off x="810228" y="909824"/>
            <a:ext cx="8171726" cy="3785652"/>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Run:</a:t>
            </a:r>
          </a:p>
          <a:p>
            <a:pPr rtl="0">
              <a:buNone/>
            </a:pPr>
            <a:r>
              <a:rPr lang="en-US" sz="2000" dirty="0" err="1">
                <a:highlight>
                  <a:srgbClr val="FFFF00"/>
                </a:highlight>
                <a:latin typeface="Times New Roman" panose="02020603050405020304" pitchFamily="18" charset="0"/>
                <a:cs typeface="Times New Roman" panose="02020603050405020304" pitchFamily="18" charset="0"/>
              </a:rPr>
              <a:t>lsblk</a:t>
            </a:r>
            <a:r>
              <a:rPr lang="en-US" sz="2000" dirty="0">
                <a:highlight>
                  <a:srgbClr val="FFFF00"/>
                </a:highlight>
                <a:latin typeface="Times New Roman" panose="02020603050405020304" pitchFamily="18" charset="0"/>
                <a:cs typeface="Times New Roman" panose="02020603050405020304" pitchFamily="18" charset="0"/>
              </a:rPr>
              <a:t> -f</a:t>
            </a:r>
          </a:p>
          <a:p>
            <a:pPr>
              <a:buNone/>
            </a:pPr>
            <a:r>
              <a:rPr lang="en-US" sz="2000" dirty="0">
                <a:latin typeface="Times New Roman" panose="02020603050405020304" pitchFamily="18" charset="0"/>
                <a:cs typeface="Times New Roman" panose="02020603050405020304" pitchFamily="18" charset="0"/>
              </a:rPr>
              <a:t>You might see:</a:t>
            </a:r>
          </a:p>
          <a:p>
            <a:pPr rtl="0">
              <a:buNone/>
            </a:pPr>
            <a:r>
              <a:rPr lang="en-US" sz="2000" dirty="0">
                <a:latin typeface="Times New Roman" panose="02020603050405020304" pitchFamily="18" charset="0"/>
                <a:cs typeface="Times New Roman" panose="02020603050405020304" pitchFamily="18" charset="0"/>
              </a:rPr>
              <a:t>NAME   FSTYPE UUID                             MOUNTPOINT</a:t>
            </a:r>
          </a:p>
          <a:p>
            <a:pPr rtl="0">
              <a:buNone/>
            </a:pPr>
            <a:r>
              <a:rPr lang="en-US" sz="2000" dirty="0" err="1">
                <a:latin typeface="Times New Roman" panose="02020603050405020304" pitchFamily="18" charset="0"/>
                <a:cs typeface="Times New Roman" panose="02020603050405020304" pitchFamily="18" charset="0"/>
              </a:rPr>
              <a:t>sda</a:t>
            </a:r>
            <a:endParaRPr lang="en-US" sz="2000" dirty="0">
              <a:latin typeface="Times New Roman" panose="02020603050405020304" pitchFamily="18" charset="0"/>
              <a:cs typeface="Times New Roman" panose="02020603050405020304" pitchFamily="18" charset="0"/>
            </a:endParaRPr>
          </a:p>
          <a:p>
            <a:pPr rtl="0">
              <a:buNone/>
            </a:pPr>
            <a:r>
              <a:rPr lang="en-US" sz="2000" dirty="0">
                <a:latin typeface="Times New Roman" panose="02020603050405020304" pitchFamily="18" charset="0"/>
                <a:cs typeface="Times New Roman" panose="02020603050405020304" pitchFamily="18" charset="0"/>
              </a:rPr>
              <a:t>├─sda1 </a:t>
            </a:r>
            <a:r>
              <a:rPr lang="en-US" sz="2000" dirty="0" err="1">
                <a:latin typeface="Times New Roman" panose="02020603050405020304" pitchFamily="18" charset="0"/>
                <a:cs typeface="Times New Roman" panose="02020603050405020304" pitchFamily="18" charset="0"/>
              </a:rPr>
              <a:t>xfs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xxxx-xxxx</a:t>
            </a:r>
            <a:r>
              <a:rPr lang="en-US" sz="2000" dirty="0">
                <a:latin typeface="Times New Roman" panose="02020603050405020304" pitchFamily="18" charset="0"/>
                <a:cs typeface="Times New Roman" panose="02020603050405020304" pitchFamily="18" charset="0"/>
              </a:rPr>
              <a:t>                            /boot</a:t>
            </a:r>
          </a:p>
          <a:p>
            <a:pPr rtl="0">
              <a:buNone/>
            </a:pPr>
            <a:r>
              <a:rPr lang="en-US" sz="2000" dirty="0">
                <a:latin typeface="Times New Roman" panose="02020603050405020304" pitchFamily="18" charset="0"/>
                <a:cs typeface="Times New Roman" panose="02020603050405020304" pitchFamily="18" charset="0"/>
              </a:rPr>
              <a:t>└─sda2 </a:t>
            </a:r>
            <a:r>
              <a:rPr lang="en-US" sz="2000" dirty="0" err="1">
                <a:latin typeface="Times New Roman" panose="02020603050405020304" pitchFamily="18" charset="0"/>
                <a:cs typeface="Times New Roman" panose="02020603050405020304" pitchFamily="18" charset="0"/>
              </a:rPr>
              <a:t>xfs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xxxx-xxxx</a:t>
            </a:r>
            <a:r>
              <a:rPr lang="en-US" sz="2000" dirty="0">
                <a:latin typeface="Times New Roman" panose="02020603050405020304" pitchFamily="18" charset="0"/>
                <a:cs typeface="Times New Roman" panose="02020603050405020304" pitchFamily="18" charset="0"/>
              </a:rPr>
              <a:t>                            /</a:t>
            </a:r>
          </a:p>
          <a:p>
            <a:pPr rtl="0">
              <a:buNone/>
            </a:pPr>
            <a:r>
              <a:rPr lang="en-US" sz="2000" dirty="0" err="1">
                <a:latin typeface="Times New Roman" panose="02020603050405020304" pitchFamily="18" charset="0"/>
                <a:cs typeface="Times New Roman" panose="02020603050405020304" pitchFamily="18" charset="0"/>
              </a:rPr>
              <a:t>sdb</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Notice:</a:t>
            </a:r>
          </a:p>
          <a:p>
            <a:pPr rtl="0">
              <a:buNone/>
            </a:pPr>
            <a:r>
              <a:rPr lang="en-US" sz="2000" dirty="0" err="1">
                <a:latin typeface="Times New Roman" panose="02020603050405020304" pitchFamily="18" charset="0"/>
                <a:cs typeface="Times New Roman" panose="02020603050405020304" pitchFamily="18" charset="0"/>
              </a:rPr>
              <a:t>sdb</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has no FSTYPE.</a:t>
            </a:r>
          </a:p>
          <a:p>
            <a:pPr>
              <a:buNone/>
            </a:pPr>
            <a:r>
              <a:rPr lang="en-US" sz="2000" dirty="0">
                <a:latin typeface="Times New Roman" panose="02020603050405020304" pitchFamily="18" charset="0"/>
                <a:cs typeface="Times New Roman" panose="02020603050405020304" pitchFamily="18" charset="0"/>
              </a:rPr>
              <a:t>That means the new disk doesn't currently have a filesystem.</a:t>
            </a:r>
          </a:p>
        </p:txBody>
      </p:sp>
    </p:spTree>
    <p:extLst>
      <p:ext uri="{BB962C8B-B14F-4D97-AF65-F5344CB8AC3E}">
        <p14:creationId xmlns:p14="http://schemas.microsoft.com/office/powerpoint/2010/main" val="2547339175"/>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60F12-CB53-3471-4C3B-C10B85B8F806}"/>
              </a:ext>
            </a:extLst>
          </p:cNvPr>
          <p:cNvSpPr>
            <a:spLocks noGrp="1"/>
          </p:cNvSpPr>
          <p:nvPr>
            <p:ph type="title"/>
          </p:nvPr>
        </p:nvSpPr>
        <p:spPr>
          <a:xfrm>
            <a:off x="157443" y="317703"/>
            <a:ext cx="3435311" cy="411502"/>
          </a:xfrm>
        </p:spPr>
        <p:txBody>
          <a:bodyPr/>
          <a:lstStyle/>
          <a:p>
            <a:r>
              <a:rPr lang="en-US" sz="2000" dirty="0">
                <a:latin typeface="Times New Roman" panose="02020603050405020304" pitchFamily="18" charset="0"/>
                <a:cs typeface="Times New Roman" panose="02020603050405020304" pitchFamily="18" charset="0"/>
              </a:rPr>
              <a:t>STEP 5 — Create a partition</a:t>
            </a:r>
            <a:endParaRPr lang="en-US" sz="2000" dirty="0"/>
          </a:p>
        </p:txBody>
      </p:sp>
      <p:sp>
        <p:nvSpPr>
          <p:cNvPr id="4" name="TextBox 3">
            <a:extLst>
              <a:ext uri="{FF2B5EF4-FFF2-40B4-BE49-F238E27FC236}">
                <a16:creationId xmlns:a16="http://schemas.microsoft.com/office/drawing/2014/main" id="{76E1ADC2-4D98-89DB-1BE3-50D704B5C75A}"/>
              </a:ext>
            </a:extLst>
          </p:cNvPr>
          <p:cNvSpPr txBox="1"/>
          <p:nvPr/>
        </p:nvSpPr>
        <p:spPr>
          <a:xfrm>
            <a:off x="439838" y="1469088"/>
            <a:ext cx="2656388" cy="2246769"/>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We'll use </a:t>
            </a:r>
            <a:r>
              <a:rPr lang="en-US" sz="2000" dirty="0" err="1">
                <a:latin typeface="Times New Roman" panose="02020603050405020304" pitchFamily="18" charset="0"/>
                <a:cs typeface="Times New Roman" panose="02020603050405020304" pitchFamily="18" charset="0"/>
              </a:rPr>
              <a:t>fdisk</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Run:</a:t>
            </a:r>
          </a:p>
          <a:p>
            <a:pPr rtl="0">
              <a:buNone/>
            </a:pPr>
            <a:r>
              <a:rPr lang="en-US" sz="2000" dirty="0" err="1">
                <a:highlight>
                  <a:srgbClr val="FFFF00"/>
                </a:highlight>
                <a:latin typeface="Times New Roman" panose="02020603050405020304" pitchFamily="18" charset="0"/>
                <a:cs typeface="Times New Roman" panose="02020603050405020304" pitchFamily="18" charset="0"/>
              </a:rPr>
              <a:t>fdisk</a:t>
            </a:r>
            <a:r>
              <a:rPr lang="en-US" sz="2000" dirty="0">
                <a:highlight>
                  <a:srgbClr val="FFFF00"/>
                </a:highlight>
                <a:latin typeface="Times New Roman" panose="02020603050405020304" pitchFamily="18" charset="0"/>
                <a:cs typeface="Times New Roman" panose="02020603050405020304" pitchFamily="18" charset="0"/>
              </a:rPr>
              <a:t> /dev/nvmen0n2</a:t>
            </a:r>
          </a:p>
          <a:p>
            <a:pPr>
              <a:buNone/>
            </a:pPr>
            <a:r>
              <a:rPr lang="en-US" sz="2000" dirty="0">
                <a:latin typeface="Times New Roman" panose="02020603050405020304" pitchFamily="18" charset="0"/>
                <a:cs typeface="Times New Roman" panose="02020603050405020304" pitchFamily="18" charset="0"/>
              </a:rPr>
              <a:t>You will get:</a:t>
            </a:r>
          </a:p>
          <a:p>
            <a:pPr rtl="0">
              <a:buNone/>
            </a:pPr>
            <a:r>
              <a:rPr lang="en-US" sz="2000" dirty="0">
                <a:latin typeface="Times New Roman" panose="02020603050405020304" pitchFamily="18" charset="0"/>
                <a:cs typeface="Times New Roman" panose="02020603050405020304" pitchFamily="18" charset="0"/>
              </a:rPr>
              <a:t>Command (m for help):</a:t>
            </a:r>
          </a:p>
          <a:p>
            <a:pPr>
              <a:buNone/>
            </a:pPr>
            <a:r>
              <a:rPr lang="en-US" sz="2000" dirty="0">
                <a:latin typeface="Times New Roman" panose="02020603050405020304" pitchFamily="18" charset="0"/>
                <a:cs typeface="Times New Roman" panose="02020603050405020304" pitchFamily="18" charset="0"/>
              </a:rPr>
              <a:t>Now enter these: n</a:t>
            </a:r>
          </a:p>
          <a:p>
            <a:pPr>
              <a:buNone/>
            </a:pPr>
            <a:r>
              <a:rPr lang="en-US" sz="2000" dirty="0">
                <a:latin typeface="Times New Roman" panose="02020603050405020304" pitchFamily="18" charset="0"/>
                <a:cs typeface="Times New Roman" panose="02020603050405020304" pitchFamily="18" charset="0"/>
              </a:rPr>
              <a:t>n = </a:t>
            </a:r>
            <a:r>
              <a:rPr lang="en-US" sz="2000" b="1" dirty="0">
                <a:latin typeface="Times New Roman" panose="02020603050405020304" pitchFamily="18" charset="0"/>
                <a:cs typeface="Times New Roman" panose="02020603050405020304" pitchFamily="18" charset="0"/>
              </a:rPr>
              <a:t>New partition</a:t>
            </a: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0276518-7524-BC53-D4EB-66EA19794415}"/>
              </a:ext>
            </a:extLst>
          </p:cNvPr>
          <p:cNvSpPr txBox="1"/>
          <p:nvPr/>
        </p:nvSpPr>
        <p:spPr>
          <a:xfrm>
            <a:off x="3374022" y="1469088"/>
            <a:ext cx="5330140" cy="3170099"/>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Then:</a:t>
            </a:r>
          </a:p>
          <a:p>
            <a:pPr rtl="0">
              <a:buNone/>
            </a:pPr>
            <a:r>
              <a:rPr lang="en-US" sz="2000" dirty="0">
                <a:latin typeface="Times New Roman" panose="02020603050405020304" pitchFamily="18" charset="0"/>
                <a:cs typeface="Times New Roman" panose="02020603050405020304" pitchFamily="18" charset="0"/>
              </a:rPr>
              <a:t>p</a:t>
            </a:r>
          </a:p>
          <a:p>
            <a:pPr>
              <a:buNone/>
            </a:pPr>
            <a:r>
              <a:rPr lang="en-US" sz="2000" dirty="0">
                <a:latin typeface="Times New Roman" panose="02020603050405020304" pitchFamily="18" charset="0"/>
                <a:cs typeface="Times New Roman" panose="02020603050405020304" pitchFamily="18" charset="0"/>
              </a:rPr>
              <a:t>p = </a:t>
            </a:r>
            <a:r>
              <a:rPr lang="en-US" sz="2000" b="1" dirty="0">
                <a:latin typeface="Times New Roman" panose="02020603050405020304" pitchFamily="18" charset="0"/>
                <a:cs typeface="Times New Roman" panose="02020603050405020304" pitchFamily="18" charset="0"/>
              </a:rPr>
              <a:t>Primary partition</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For the partition number, press </a:t>
            </a:r>
            <a:r>
              <a:rPr lang="en-US" sz="2000" b="1" dirty="0">
                <a:latin typeface="Times New Roman" panose="02020603050405020304" pitchFamily="18" charset="0"/>
                <a:cs typeface="Times New Roman" panose="02020603050405020304" pitchFamily="18" charset="0"/>
              </a:rPr>
              <a:t>Enter</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For the first sector, press </a:t>
            </a:r>
            <a:r>
              <a:rPr lang="en-US" sz="2000" b="1" dirty="0">
                <a:latin typeface="Times New Roman" panose="02020603050405020304" pitchFamily="18" charset="0"/>
                <a:cs typeface="Times New Roman" panose="02020603050405020304" pitchFamily="18" charset="0"/>
              </a:rPr>
              <a:t>Enter</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For the last sector, press </a:t>
            </a:r>
            <a:r>
              <a:rPr lang="en-US" sz="2000" b="1" dirty="0">
                <a:latin typeface="Times New Roman" panose="02020603050405020304" pitchFamily="18" charset="0"/>
                <a:cs typeface="Times New Roman" panose="02020603050405020304" pitchFamily="18" charset="0"/>
              </a:rPr>
              <a:t>Enter</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This uses the whole disk.</a:t>
            </a:r>
          </a:p>
          <a:p>
            <a:pPr>
              <a:buNone/>
            </a:pPr>
            <a:r>
              <a:rPr lang="en-US" sz="2000" dirty="0">
                <a:latin typeface="Times New Roman" panose="02020603050405020304" pitchFamily="18" charset="0"/>
                <a:cs typeface="Times New Roman" panose="02020603050405020304" pitchFamily="18" charset="0"/>
              </a:rPr>
              <a:t>Finally:</a:t>
            </a:r>
          </a:p>
          <a:p>
            <a:r>
              <a:rPr lang="en-US" sz="2000" dirty="0">
                <a:latin typeface="Times New Roman" panose="02020603050405020304" pitchFamily="18" charset="0"/>
                <a:cs typeface="Times New Roman" panose="02020603050405020304" pitchFamily="18" charset="0"/>
              </a:rPr>
              <a:t>w</a:t>
            </a:r>
          </a:p>
          <a:p>
            <a:pPr>
              <a:buNone/>
            </a:pPr>
            <a:r>
              <a:rPr lang="en-US" sz="2000" dirty="0">
                <a:latin typeface="Times New Roman" panose="02020603050405020304" pitchFamily="18" charset="0"/>
                <a:cs typeface="Times New Roman" panose="02020603050405020304" pitchFamily="18" charset="0"/>
              </a:rPr>
              <a:t>w = </a:t>
            </a:r>
            <a:r>
              <a:rPr lang="en-US" sz="2000" b="1" dirty="0">
                <a:latin typeface="Times New Roman" panose="02020603050405020304" pitchFamily="18" charset="0"/>
                <a:cs typeface="Times New Roman" panose="02020603050405020304" pitchFamily="18" charset="0"/>
              </a:rPr>
              <a:t>Write</a:t>
            </a:r>
            <a:r>
              <a:rPr lang="en-US" sz="2000" dirty="0">
                <a:latin typeface="Times New Roman" panose="02020603050405020304" pitchFamily="18" charset="0"/>
                <a:cs typeface="Times New Roman" panose="02020603050405020304" pitchFamily="18" charset="0"/>
              </a:rPr>
              <a:t> → save the partition table to the disk.</a:t>
            </a:r>
          </a:p>
        </p:txBody>
      </p:sp>
    </p:spTree>
    <p:extLst>
      <p:ext uri="{BB962C8B-B14F-4D97-AF65-F5344CB8AC3E}">
        <p14:creationId xmlns:p14="http://schemas.microsoft.com/office/powerpoint/2010/main" val="1657356076"/>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E82B26-0AD4-C049-5599-01DD2AE14EDE}"/>
              </a:ext>
            </a:extLst>
          </p:cNvPr>
          <p:cNvSpPr txBox="1"/>
          <p:nvPr/>
        </p:nvSpPr>
        <p:spPr>
          <a:xfrm>
            <a:off x="1053296" y="678924"/>
            <a:ext cx="7037407" cy="3785652"/>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What happened?</a:t>
            </a:r>
          </a:p>
          <a:p>
            <a:pPr>
              <a:buNone/>
            </a:pPr>
            <a:r>
              <a:rPr lang="en-US" sz="2000" dirty="0">
                <a:latin typeface="Times New Roman" panose="02020603050405020304" pitchFamily="18" charset="0"/>
                <a:cs typeface="Times New Roman" panose="02020603050405020304" pitchFamily="18" charset="0"/>
              </a:rPr>
              <a:t>Before:</a:t>
            </a:r>
          </a:p>
          <a:p>
            <a:pPr rtl="0">
              <a:buNone/>
            </a:pPr>
            <a:r>
              <a:rPr lang="en-US" sz="2000" dirty="0">
                <a:latin typeface="Times New Roman" panose="02020603050405020304" pitchFamily="18" charset="0"/>
                <a:cs typeface="Times New Roman" panose="02020603050405020304" pitchFamily="18" charset="0"/>
              </a:rPr>
              <a:t>/dev/</a:t>
            </a:r>
            <a:r>
              <a:rPr lang="en-US" sz="2000" dirty="0" err="1">
                <a:latin typeface="Times New Roman" panose="02020603050405020304" pitchFamily="18" charset="0"/>
                <a:cs typeface="Times New Roman" panose="02020603050405020304" pitchFamily="18" charset="0"/>
              </a:rPr>
              <a:t>sdb</a:t>
            </a:r>
            <a:endParaRPr lang="en-US" sz="2000" dirty="0">
              <a:latin typeface="Times New Roman" panose="02020603050405020304" pitchFamily="18" charset="0"/>
              <a:cs typeface="Times New Roman" panose="02020603050405020304" pitchFamily="18" charset="0"/>
            </a:endParaRPr>
          </a:p>
          <a:p>
            <a:pPr rtl="0">
              <a:buNone/>
            </a:pPr>
            <a:r>
              <a:rPr lang="en-US" sz="2000" dirty="0">
                <a:latin typeface="Times New Roman" panose="02020603050405020304" pitchFamily="18" charset="0"/>
                <a:cs typeface="Times New Roman" panose="02020603050405020304" pitchFamily="18" charset="0"/>
              </a:rPr>
              <a:t>20 GB</a:t>
            </a:r>
          </a:p>
          <a:p>
            <a:pPr algn="just" rtl="0">
              <a:buNone/>
            </a:pPr>
            <a:r>
              <a:rPr lang="en-US" sz="2000" dirty="0">
                <a:latin typeface="Times New Roman" panose="02020603050405020304" pitchFamily="18" charset="0"/>
                <a:cs typeface="Times New Roman" panose="02020603050405020304" pitchFamily="18" charset="0"/>
              </a:rPr>
              <a:t>EMPTY</a:t>
            </a:r>
          </a:p>
          <a:p>
            <a:pPr algn="just">
              <a:buNone/>
            </a:pPr>
            <a:r>
              <a:rPr lang="en-US" sz="2000" dirty="0">
                <a:latin typeface="Times New Roman" panose="02020603050405020304" pitchFamily="18" charset="0"/>
                <a:cs typeface="Times New Roman" panose="02020603050405020304" pitchFamily="18" charset="0"/>
              </a:rPr>
              <a:t>After:</a:t>
            </a:r>
          </a:p>
          <a:p>
            <a:pPr algn="just" rtl="0">
              <a:buNone/>
            </a:pPr>
            <a:r>
              <a:rPr lang="en-US" sz="2000" dirty="0">
                <a:latin typeface="Times New Roman" panose="02020603050405020304" pitchFamily="18" charset="0"/>
                <a:cs typeface="Times New Roman" panose="02020603050405020304" pitchFamily="18" charset="0"/>
              </a:rPr>
              <a:t>/dev/</a:t>
            </a:r>
            <a:r>
              <a:rPr lang="en-US" sz="2000" dirty="0" err="1">
                <a:latin typeface="Times New Roman" panose="02020603050405020304" pitchFamily="18" charset="0"/>
                <a:cs typeface="Times New Roman" panose="02020603050405020304" pitchFamily="18" charset="0"/>
              </a:rPr>
              <a:t>sdb</a:t>
            </a:r>
            <a:endParaRPr lang="en-US" sz="2000" dirty="0">
              <a:latin typeface="Times New Roman" panose="02020603050405020304" pitchFamily="18" charset="0"/>
              <a:cs typeface="Times New Roman" panose="02020603050405020304" pitchFamily="18" charset="0"/>
            </a:endParaRPr>
          </a:p>
          <a:p>
            <a:pPr algn="just" rtl="0">
              <a:buNone/>
            </a:pPr>
            <a:r>
              <a:rPr lang="en-US" sz="2000" dirty="0">
                <a:latin typeface="Times New Roman" panose="02020603050405020304" pitchFamily="18" charset="0"/>
                <a:cs typeface="Times New Roman" panose="02020603050405020304" pitchFamily="18" charset="0"/>
              </a:rPr>
              <a:t>   │</a:t>
            </a:r>
          </a:p>
          <a:p>
            <a:pPr algn="just" rtl="0">
              <a:buNone/>
            </a:pPr>
            <a:r>
              <a:rPr lang="en-US" sz="2000" dirty="0">
                <a:latin typeface="Times New Roman" panose="02020603050405020304" pitchFamily="18" charset="0"/>
                <a:cs typeface="Times New Roman" panose="02020603050405020304" pitchFamily="18" charset="0"/>
              </a:rPr>
              <a:t>   └── /dev/sdb1</a:t>
            </a:r>
          </a:p>
          <a:p>
            <a:pPr algn="just" rtl="0">
              <a:buNone/>
            </a:pPr>
            <a:r>
              <a:rPr lang="en-US" sz="2000" dirty="0">
                <a:latin typeface="Times New Roman" panose="02020603050405020304" pitchFamily="18" charset="0"/>
                <a:cs typeface="Times New Roman" panose="02020603050405020304" pitchFamily="18" charset="0"/>
              </a:rPr>
              <a:t>       20 GB partition</a:t>
            </a:r>
          </a:p>
          <a:p>
            <a:pPr algn="just">
              <a:buNone/>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partition</a:t>
            </a:r>
            <a:r>
              <a:rPr lang="en-US" sz="2000" dirty="0">
                <a:latin typeface="Times New Roman" panose="02020603050405020304" pitchFamily="18" charset="0"/>
                <a:cs typeface="Times New Roman" panose="02020603050405020304" pitchFamily="18" charset="0"/>
              </a:rPr>
              <a:t> is a defined section of a disk.</a:t>
            </a:r>
          </a:p>
          <a:p>
            <a:pPr algn="just">
              <a:buNone/>
            </a:pPr>
            <a:r>
              <a:rPr lang="en-US" sz="2000" dirty="0" err="1">
                <a:latin typeface="Times New Roman" panose="02020603050405020304" pitchFamily="18" charset="0"/>
                <a:cs typeface="Times New Roman" panose="02020603050405020304" pitchFamily="18" charset="0"/>
              </a:rPr>
              <a:t>fdisk</a:t>
            </a:r>
            <a:r>
              <a:rPr lang="en-US" sz="2000" dirty="0">
                <a:latin typeface="Times New Roman" panose="02020603050405020304" pitchFamily="18" charset="0"/>
                <a:cs typeface="Times New Roman" panose="02020603050405020304" pitchFamily="18" charset="0"/>
              </a:rPr>
              <a:t> is a Linux utility used to create and manage disk partitions.</a:t>
            </a:r>
          </a:p>
        </p:txBody>
      </p:sp>
    </p:spTree>
    <p:extLst>
      <p:ext uri="{BB962C8B-B14F-4D97-AF65-F5344CB8AC3E}">
        <p14:creationId xmlns:p14="http://schemas.microsoft.com/office/powerpoint/2010/main" val="2618430158"/>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CB792-4B0E-E0E2-0105-75385797424A}"/>
              </a:ext>
            </a:extLst>
          </p:cNvPr>
          <p:cNvSpPr>
            <a:spLocks noGrp="1"/>
          </p:cNvSpPr>
          <p:nvPr>
            <p:ph type="title"/>
          </p:nvPr>
        </p:nvSpPr>
        <p:spPr>
          <a:xfrm>
            <a:off x="720000" y="445025"/>
            <a:ext cx="3671526" cy="572700"/>
          </a:xfrm>
        </p:spPr>
        <p:txBody>
          <a:bodyPr/>
          <a:lstStyle/>
          <a:p>
            <a:r>
              <a:rPr lang="en-US" sz="2000" dirty="0">
                <a:latin typeface="Times New Roman" panose="02020603050405020304" pitchFamily="18" charset="0"/>
                <a:cs typeface="Times New Roman" panose="02020603050405020304" pitchFamily="18" charset="0"/>
              </a:rPr>
              <a:t>STEP 6 — Verify the partition</a:t>
            </a:r>
            <a:endParaRPr lang="en-US" sz="2000" dirty="0"/>
          </a:p>
        </p:txBody>
      </p:sp>
      <p:sp>
        <p:nvSpPr>
          <p:cNvPr id="6" name="TextBox 5">
            <a:extLst>
              <a:ext uri="{FF2B5EF4-FFF2-40B4-BE49-F238E27FC236}">
                <a16:creationId xmlns:a16="http://schemas.microsoft.com/office/drawing/2014/main" id="{DC10E2A5-8643-0E49-C7E7-EB3C986613DE}"/>
              </a:ext>
            </a:extLst>
          </p:cNvPr>
          <p:cNvSpPr txBox="1"/>
          <p:nvPr/>
        </p:nvSpPr>
        <p:spPr>
          <a:xfrm>
            <a:off x="944479" y="1373731"/>
            <a:ext cx="5859378" cy="3170099"/>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Run:</a:t>
            </a:r>
          </a:p>
          <a:p>
            <a:pPr rtl="0">
              <a:buNone/>
            </a:pPr>
            <a:r>
              <a:rPr lang="en-US" sz="2000" dirty="0" err="1">
                <a:highlight>
                  <a:srgbClr val="FFFF00"/>
                </a:highlight>
                <a:latin typeface="Times New Roman" panose="02020603050405020304" pitchFamily="18" charset="0"/>
                <a:cs typeface="Times New Roman" panose="02020603050405020304" pitchFamily="18" charset="0"/>
              </a:rPr>
              <a:t>lsblk</a:t>
            </a:r>
            <a:endParaRPr lang="en-US" sz="2000" dirty="0">
              <a:highlight>
                <a:srgbClr val="FFFF00"/>
              </a:highlight>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You should now see:</a:t>
            </a:r>
          </a:p>
          <a:p>
            <a:r>
              <a:rPr lang="en-US" sz="2000" dirty="0">
                <a:highlight>
                  <a:srgbClr val="FFFF00"/>
                </a:highlight>
                <a:latin typeface="Times New Roman" panose="02020603050405020304" pitchFamily="18" charset="0"/>
                <a:cs typeface="Times New Roman" panose="02020603050405020304" pitchFamily="18" charset="0"/>
              </a:rPr>
              <a:t>nvmen0n2</a:t>
            </a:r>
            <a:r>
              <a:rPr lang="en-US" sz="2000" dirty="0">
                <a:latin typeface="Times New Roman" panose="02020603050405020304" pitchFamily="18" charset="0"/>
                <a:cs typeface="Times New Roman" panose="02020603050405020304" pitchFamily="18" charset="0"/>
              </a:rPr>
              <a:t>       20G disk</a:t>
            </a:r>
          </a:p>
          <a:p>
            <a:r>
              <a:rPr lang="en-US" sz="2000" dirty="0">
                <a:latin typeface="Times New Roman" panose="02020603050405020304" pitchFamily="18" charset="0"/>
                <a:cs typeface="Times New Roman" panose="02020603050405020304" pitchFamily="18" charset="0"/>
              </a:rPr>
              <a:t>└─</a:t>
            </a:r>
            <a:r>
              <a:rPr lang="en-US" sz="2000" dirty="0">
                <a:highlight>
                  <a:srgbClr val="FFFF00"/>
                </a:highlight>
                <a:latin typeface="Times New Roman" panose="02020603050405020304" pitchFamily="18" charset="0"/>
                <a:cs typeface="Times New Roman" panose="02020603050405020304" pitchFamily="18" charset="0"/>
              </a:rPr>
              <a:t> nvmen0n2p1</a:t>
            </a:r>
            <a:r>
              <a:rPr lang="en-US" sz="2000" dirty="0">
                <a:latin typeface="Times New Roman" panose="02020603050405020304" pitchFamily="18" charset="0"/>
                <a:cs typeface="Times New Roman" panose="02020603050405020304" pitchFamily="18" charset="0"/>
              </a:rPr>
              <a:t>    20G part</a:t>
            </a:r>
          </a:p>
          <a:p>
            <a:pPr>
              <a:buNone/>
            </a:pPr>
            <a:r>
              <a:rPr lang="en-US" sz="2000" dirty="0">
                <a:latin typeface="Times New Roman" panose="02020603050405020304" pitchFamily="18" charset="0"/>
                <a:cs typeface="Times New Roman" panose="02020603050405020304" pitchFamily="18" charset="0"/>
              </a:rPr>
              <a:t>The important difference is:</a:t>
            </a:r>
          </a:p>
          <a:p>
            <a:r>
              <a:rPr lang="en-US" sz="2000" dirty="0">
                <a:latin typeface="Times New Roman" panose="02020603050405020304" pitchFamily="18" charset="0"/>
                <a:cs typeface="Times New Roman" panose="02020603050405020304" pitchFamily="18" charset="0"/>
              </a:rPr>
              <a:t>/dev/</a:t>
            </a:r>
            <a:r>
              <a:rPr lang="en-US" sz="2000" dirty="0">
                <a:highlight>
                  <a:srgbClr val="FFFF00"/>
                </a:highlight>
                <a:latin typeface="Times New Roman" panose="02020603050405020304" pitchFamily="18" charset="0"/>
                <a:cs typeface="Times New Roman" panose="02020603050405020304" pitchFamily="18" charset="0"/>
              </a:rPr>
              <a:t> nvmen0n2</a:t>
            </a:r>
            <a:r>
              <a:rPr lang="en-US" sz="2000" dirty="0">
                <a:latin typeface="Times New Roman" panose="02020603050405020304" pitchFamily="18" charset="0"/>
                <a:cs typeface="Times New Roman" panose="02020603050405020304" pitchFamily="18" charset="0"/>
              </a:rPr>
              <a:t>  = entire disk</a:t>
            </a:r>
          </a:p>
          <a:p>
            <a:r>
              <a:rPr lang="en-US" sz="2000" dirty="0">
                <a:latin typeface="Times New Roman" panose="02020603050405020304" pitchFamily="18" charset="0"/>
                <a:cs typeface="Times New Roman" panose="02020603050405020304" pitchFamily="18" charset="0"/>
              </a:rPr>
              <a:t>/dev/</a:t>
            </a:r>
            <a:r>
              <a:rPr lang="en-US" sz="2000" dirty="0">
                <a:highlight>
                  <a:srgbClr val="FFFF00"/>
                </a:highlight>
                <a:latin typeface="Times New Roman" panose="02020603050405020304" pitchFamily="18" charset="0"/>
                <a:cs typeface="Times New Roman" panose="02020603050405020304" pitchFamily="18" charset="0"/>
              </a:rPr>
              <a:t> nvmen0n2p1</a:t>
            </a:r>
            <a:r>
              <a:rPr lang="en-US" sz="2000" dirty="0">
                <a:latin typeface="Times New Roman" panose="02020603050405020304" pitchFamily="18" charset="0"/>
                <a:cs typeface="Times New Roman" panose="02020603050405020304" pitchFamily="18" charset="0"/>
              </a:rPr>
              <a:t> = first partition For the next steps, we work with:</a:t>
            </a:r>
          </a:p>
          <a:p>
            <a:r>
              <a:rPr lang="en-US" sz="2000" dirty="0">
                <a:latin typeface="Times New Roman" panose="02020603050405020304" pitchFamily="18" charset="0"/>
                <a:cs typeface="Times New Roman" panose="02020603050405020304" pitchFamily="18" charset="0"/>
              </a:rPr>
              <a:t>/dev/</a:t>
            </a:r>
            <a:r>
              <a:rPr lang="en-US" sz="2000" dirty="0">
                <a:highlight>
                  <a:srgbClr val="FFFF00"/>
                </a:highlight>
                <a:latin typeface="Times New Roman" panose="02020603050405020304" pitchFamily="18" charset="0"/>
                <a:cs typeface="Times New Roman" panose="02020603050405020304" pitchFamily="18" charset="0"/>
              </a:rPr>
              <a:t> nvmen0n2</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7340818"/>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24F33EC-3408-DBD5-304D-59905539AD0D}"/>
              </a:ext>
            </a:extLst>
          </p:cNvPr>
          <p:cNvSpPr txBox="1"/>
          <p:nvPr/>
        </p:nvSpPr>
        <p:spPr>
          <a:xfrm>
            <a:off x="727910" y="1140589"/>
            <a:ext cx="6045869" cy="2554545"/>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A partition by itself isn't ready for normal file storage.</a:t>
            </a:r>
          </a:p>
          <a:p>
            <a:pPr>
              <a:buNone/>
            </a:pPr>
            <a:r>
              <a:rPr lang="en-US" sz="2000" dirty="0">
                <a:latin typeface="Times New Roman" panose="02020603050405020304" pitchFamily="18" charset="0"/>
                <a:cs typeface="Times New Roman" panose="02020603050405020304" pitchFamily="18" charset="0"/>
              </a:rPr>
              <a:t>We need a filesystem.</a:t>
            </a:r>
          </a:p>
          <a:p>
            <a:pPr>
              <a:buNone/>
            </a:pPr>
            <a:r>
              <a:rPr lang="en-US" sz="2000" dirty="0">
                <a:latin typeface="Times New Roman" panose="02020603050405020304" pitchFamily="18" charset="0"/>
                <a:cs typeface="Times New Roman" panose="02020603050405020304" pitchFamily="18" charset="0"/>
              </a:rPr>
              <a:t>For Rocky Linux 9, we'll use </a:t>
            </a:r>
            <a:r>
              <a:rPr lang="en-US" sz="2000" b="1" dirty="0">
                <a:latin typeface="Times New Roman" panose="02020603050405020304" pitchFamily="18" charset="0"/>
                <a:cs typeface="Times New Roman" panose="02020603050405020304" pitchFamily="18" charset="0"/>
              </a:rPr>
              <a:t>XFS</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Run:</a:t>
            </a:r>
          </a:p>
          <a:p>
            <a:r>
              <a:rPr lang="en-US" sz="2000" dirty="0" err="1">
                <a:highlight>
                  <a:srgbClr val="FFFF00"/>
                </a:highlight>
                <a:latin typeface="Times New Roman" panose="02020603050405020304" pitchFamily="18" charset="0"/>
                <a:cs typeface="Times New Roman" panose="02020603050405020304" pitchFamily="18" charset="0"/>
              </a:rPr>
              <a:t>mkfs.xfs</a:t>
            </a:r>
            <a:r>
              <a:rPr lang="en-US" sz="2000" dirty="0">
                <a:highlight>
                  <a:srgbClr val="FFFF00"/>
                </a:highlight>
                <a:latin typeface="Times New Roman" panose="02020603050405020304" pitchFamily="18" charset="0"/>
                <a:cs typeface="Times New Roman" panose="02020603050405020304" pitchFamily="18" charset="0"/>
              </a:rPr>
              <a:t>  /dev/ nvmen0n2p1</a:t>
            </a:r>
          </a:p>
          <a:p>
            <a:pPr>
              <a:buNone/>
            </a:pPr>
            <a:r>
              <a:rPr lang="en-US" sz="2000" b="1" dirty="0">
                <a:latin typeface="Times New Roman" panose="02020603050405020304" pitchFamily="18" charset="0"/>
                <a:cs typeface="Times New Roman" panose="02020603050405020304" pitchFamily="18" charset="0"/>
              </a:rPr>
              <a:t>What does this mean?</a:t>
            </a:r>
          </a:p>
          <a:p>
            <a:pPr>
              <a:buNone/>
            </a:pPr>
            <a:r>
              <a:rPr lang="en-US" sz="2000" dirty="0" err="1">
                <a:highlight>
                  <a:srgbClr val="FFFF00"/>
                </a:highlight>
                <a:latin typeface="Times New Roman" panose="02020603050405020304" pitchFamily="18" charset="0"/>
                <a:cs typeface="Times New Roman" panose="02020603050405020304" pitchFamily="18" charset="0"/>
              </a:rPr>
              <a:t>mkfs</a:t>
            </a:r>
            <a:r>
              <a:rPr lang="en-US" sz="2000"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Make </a:t>
            </a:r>
            <a:r>
              <a:rPr lang="en-US" sz="2000" b="1" dirty="0" err="1">
                <a:latin typeface="Times New Roman" panose="02020603050405020304" pitchFamily="18" charset="0"/>
                <a:cs typeface="Times New Roman" panose="02020603050405020304" pitchFamily="18" charset="0"/>
              </a:rPr>
              <a:t>FileSystem</a:t>
            </a:r>
            <a:endParaRPr lang="en-US" sz="2000" dirty="0">
              <a:latin typeface="Times New Roman" panose="02020603050405020304" pitchFamily="18" charset="0"/>
              <a:cs typeface="Times New Roman" panose="02020603050405020304" pitchFamily="18" charset="0"/>
            </a:endParaRPr>
          </a:p>
          <a:p>
            <a:pPr>
              <a:buNone/>
            </a:pPr>
            <a:r>
              <a:rPr lang="en-US" sz="2000" dirty="0" err="1">
                <a:highlight>
                  <a:srgbClr val="FFFF00"/>
                </a:highlight>
                <a:latin typeface="Times New Roman" panose="02020603050405020304" pitchFamily="18" charset="0"/>
                <a:cs typeface="Times New Roman" panose="02020603050405020304" pitchFamily="18" charset="0"/>
              </a:rPr>
              <a:t>xfs</a:t>
            </a:r>
            <a:r>
              <a:rPr lang="en-US" sz="2000"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X File System</a:t>
            </a:r>
            <a:endParaRPr lang="en-US"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7237459-7006-4AD9-C7D0-42814F7A733D}"/>
              </a:ext>
            </a:extLst>
          </p:cNvPr>
          <p:cNvSpPr txBox="1"/>
          <p:nvPr/>
        </p:nvSpPr>
        <p:spPr>
          <a:xfrm>
            <a:off x="727910" y="525896"/>
            <a:ext cx="5161546" cy="400110"/>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STEP 7 — Create a filesystem</a:t>
            </a:r>
          </a:p>
        </p:txBody>
      </p:sp>
    </p:spTree>
    <p:extLst>
      <p:ext uri="{BB962C8B-B14F-4D97-AF65-F5344CB8AC3E}">
        <p14:creationId xmlns:p14="http://schemas.microsoft.com/office/powerpoint/2010/main" val="340043399"/>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3B09BD9-616D-1D3F-B417-D5F1084903EC}"/>
              </a:ext>
            </a:extLst>
          </p:cNvPr>
          <p:cNvSpPr txBox="1"/>
          <p:nvPr/>
        </p:nvSpPr>
        <p:spPr>
          <a:xfrm>
            <a:off x="607596" y="1050072"/>
            <a:ext cx="8536404" cy="2862322"/>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Run:</a:t>
            </a:r>
          </a:p>
          <a:p>
            <a:pPr rtl="0">
              <a:buNone/>
            </a:pPr>
            <a:r>
              <a:rPr lang="en-US" sz="2000" dirty="0" err="1">
                <a:highlight>
                  <a:srgbClr val="FFFF00"/>
                </a:highlight>
                <a:latin typeface="Times New Roman" panose="02020603050405020304" pitchFamily="18" charset="0"/>
                <a:cs typeface="Times New Roman" panose="02020603050405020304" pitchFamily="18" charset="0"/>
              </a:rPr>
              <a:t>lsblk</a:t>
            </a:r>
            <a:r>
              <a:rPr lang="en-US" sz="2000" dirty="0">
                <a:highlight>
                  <a:srgbClr val="FFFF00"/>
                </a:highlight>
                <a:latin typeface="Times New Roman" panose="02020603050405020304" pitchFamily="18" charset="0"/>
                <a:cs typeface="Times New Roman" panose="02020603050405020304" pitchFamily="18" charset="0"/>
              </a:rPr>
              <a:t> -f</a:t>
            </a:r>
          </a:p>
          <a:p>
            <a:pPr>
              <a:buNone/>
            </a:pPr>
            <a:r>
              <a:rPr lang="en-US" sz="2000" dirty="0">
                <a:latin typeface="Times New Roman" panose="02020603050405020304" pitchFamily="18" charset="0"/>
                <a:cs typeface="Times New Roman" panose="02020603050405020304" pitchFamily="18" charset="0"/>
              </a:rPr>
              <a:t>Now you should see something similar to:</a:t>
            </a:r>
          </a:p>
          <a:p>
            <a:pPr rtl="0">
              <a:buNone/>
            </a:pPr>
            <a:r>
              <a:rPr lang="en-US" sz="2000" dirty="0">
                <a:latin typeface="Times New Roman" panose="02020603050405020304" pitchFamily="18" charset="0"/>
                <a:cs typeface="Times New Roman" panose="02020603050405020304" pitchFamily="18" charset="0"/>
              </a:rPr>
              <a:t>NAME               FSTYPE                   UUID           MOUNTPOINT</a:t>
            </a:r>
          </a:p>
          <a:p>
            <a:pPr rtl="0">
              <a:buNone/>
            </a:pPr>
            <a:r>
              <a:rPr lang="en-US" sz="2000" dirty="0" err="1">
                <a:latin typeface="Times New Roman" panose="02020603050405020304" pitchFamily="18" charset="0"/>
                <a:cs typeface="Times New Roman" panose="02020603050405020304" pitchFamily="18" charset="0"/>
              </a:rPr>
              <a:t>sdb</a:t>
            </a:r>
            <a:endParaRPr lang="en-US" sz="2000" dirty="0">
              <a:latin typeface="Times New Roman" panose="02020603050405020304" pitchFamily="18" charset="0"/>
              <a:cs typeface="Times New Roman" panose="02020603050405020304" pitchFamily="18" charset="0"/>
            </a:endParaRPr>
          </a:p>
          <a:p>
            <a:pPr rtl="0">
              <a:buNone/>
            </a:pPr>
            <a:r>
              <a:rPr lang="en-US" sz="2000" dirty="0">
                <a:latin typeface="Times New Roman" panose="02020603050405020304" pitchFamily="18" charset="0"/>
                <a:cs typeface="Times New Roman" panose="02020603050405020304" pitchFamily="18" charset="0"/>
              </a:rPr>
              <a:t>└─sdb1             </a:t>
            </a:r>
            <a:r>
              <a:rPr lang="en-US" sz="2000" dirty="0" err="1">
                <a:latin typeface="Times New Roman" panose="02020603050405020304" pitchFamily="18" charset="0"/>
                <a:cs typeface="Times New Roman" panose="02020603050405020304" pitchFamily="18" charset="0"/>
              </a:rPr>
              <a:t>xfs</a:t>
            </a:r>
            <a:r>
              <a:rPr lang="en-US" sz="2000" dirty="0">
                <a:latin typeface="Times New Roman" panose="02020603050405020304" pitchFamily="18" charset="0"/>
                <a:cs typeface="Times New Roman" panose="02020603050405020304" pitchFamily="18" charset="0"/>
              </a:rPr>
              <a:t>                       8c2a1234-xxxx-xxxx-xxxx-xxxxxxxx</a:t>
            </a:r>
          </a:p>
          <a:p>
            <a:pPr>
              <a:buNone/>
            </a:pPr>
            <a:r>
              <a:rPr lang="en-US" sz="2000" dirty="0">
                <a:latin typeface="Times New Roman" panose="02020603050405020304" pitchFamily="18" charset="0"/>
                <a:cs typeface="Times New Roman" panose="02020603050405020304" pitchFamily="18" charset="0"/>
              </a:rPr>
              <a:t>Now:</a:t>
            </a:r>
          </a:p>
          <a:p>
            <a:pPr rtl="0">
              <a:buNone/>
            </a:pPr>
            <a:r>
              <a:rPr lang="en-US" sz="2000" dirty="0">
                <a:latin typeface="Times New Roman" panose="02020603050405020304" pitchFamily="18" charset="0"/>
                <a:cs typeface="Times New Roman" panose="02020603050405020304" pitchFamily="18" charset="0"/>
              </a:rPr>
              <a:t>FSTYPE = </a:t>
            </a:r>
            <a:r>
              <a:rPr lang="en-US" sz="2000" dirty="0" err="1">
                <a:latin typeface="Times New Roman" panose="02020603050405020304" pitchFamily="18" charset="0"/>
                <a:cs typeface="Times New Roman" panose="02020603050405020304" pitchFamily="18" charset="0"/>
              </a:rPr>
              <a:t>xfs</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means your partition has an XFS filesystem.</a:t>
            </a:r>
          </a:p>
        </p:txBody>
      </p:sp>
      <p:sp>
        <p:nvSpPr>
          <p:cNvPr id="4" name="TextBox 3">
            <a:extLst>
              <a:ext uri="{FF2B5EF4-FFF2-40B4-BE49-F238E27FC236}">
                <a16:creationId xmlns:a16="http://schemas.microsoft.com/office/drawing/2014/main" id="{98CDCC0F-14E0-1ACF-1F93-0BF3EDFDEBB1}"/>
              </a:ext>
            </a:extLst>
          </p:cNvPr>
          <p:cNvSpPr txBox="1"/>
          <p:nvPr/>
        </p:nvSpPr>
        <p:spPr>
          <a:xfrm>
            <a:off x="607596" y="220308"/>
            <a:ext cx="5161546" cy="400110"/>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STEP 8 — Verify the filesystem</a:t>
            </a:r>
          </a:p>
        </p:txBody>
      </p:sp>
    </p:spTree>
    <p:extLst>
      <p:ext uri="{BB962C8B-B14F-4D97-AF65-F5344CB8AC3E}">
        <p14:creationId xmlns:p14="http://schemas.microsoft.com/office/powerpoint/2010/main" val="3853154224"/>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B1D84-922A-01D2-A21E-DE720A8A740C}"/>
              </a:ext>
            </a:extLst>
          </p:cNvPr>
          <p:cNvSpPr>
            <a:spLocks noGrp="1"/>
          </p:cNvSpPr>
          <p:nvPr>
            <p:ph type="title"/>
          </p:nvPr>
        </p:nvSpPr>
        <p:spPr>
          <a:xfrm>
            <a:off x="584994" y="267225"/>
            <a:ext cx="4109175" cy="469375"/>
          </a:xfrm>
        </p:spPr>
        <p:txBody>
          <a:bodyPr/>
          <a:lstStyle/>
          <a:p>
            <a:r>
              <a:rPr lang="en-US" sz="2000" dirty="0">
                <a:latin typeface="Times New Roman" panose="02020603050405020304" pitchFamily="18" charset="0"/>
                <a:cs typeface="Times New Roman" panose="02020603050405020304" pitchFamily="18" charset="0"/>
              </a:rPr>
              <a:t>STEP 9 — Create the mount point</a:t>
            </a:r>
            <a:endParaRPr lang="en-US" sz="2000" dirty="0"/>
          </a:p>
        </p:txBody>
      </p:sp>
      <p:sp>
        <p:nvSpPr>
          <p:cNvPr id="4" name="TextBox 3">
            <a:extLst>
              <a:ext uri="{FF2B5EF4-FFF2-40B4-BE49-F238E27FC236}">
                <a16:creationId xmlns:a16="http://schemas.microsoft.com/office/drawing/2014/main" id="{712F90BA-A1D5-1C7E-3FBC-0228684B30F6}"/>
              </a:ext>
            </a:extLst>
          </p:cNvPr>
          <p:cNvSpPr txBox="1"/>
          <p:nvPr/>
        </p:nvSpPr>
        <p:spPr>
          <a:xfrm>
            <a:off x="560716" y="736600"/>
            <a:ext cx="8266906" cy="3170099"/>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Create a directory:</a:t>
            </a:r>
          </a:p>
          <a:p>
            <a:pPr rtl="0">
              <a:buNone/>
            </a:pPr>
            <a:r>
              <a:rPr lang="en-US" sz="2000" dirty="0" err="1">
                <a:highlight>
                  <a:srgbClr val="FFFF00"/>
                </a:highlight>
                <a:latin typeface="Times New Roman" panose="02020603050405020304" pitchFamily="18" charset="0"/>
                <a:cs typeface="Times New Roman" panose="02020603050405020304" pitchFamily="18" charset="0"/>
              </a:rPr>
              <a:t>mkdir</a:t>
            </a:r>
            <a:r>
              <a:rPr lang="en-US" sz="2000" dirty="0">
                <a:highlight>
                  <a:srgbClr val="FFFF00"/>
                </a:highlight>
                <a:latin typeface="Times New Roman" panose="02020603050405020304" pitchFamily="18" charset="0"/>
                <a:cs typeface="Times New Roman" panose="02020603050405020304" pitchFamily="18" charset="0"/>
              </a:rPr>
              <a:t> /</a:t>
            </a:r>
            <a:r>
              <a:rPr lang="en-US" sz="2000" dirty="0" err="1">
                <a:highlight>
                  <a:srgbClr val="FFFF00"/>
                </a:highlight>
                <a:latin typeface="Times New Roman" panose="02020603050405020304" pitchFamily="18" charset="0"/>
                <a:cs typeface="Times New Roman" panose="02020603050405020304" pitchFamily="18" charset="0"/>
              </a:rPr>
              <a:t>mnt</a:t>
            </a:r>
            <a:r>
              <a:rPr lang="en-US" sz="2000" dirty="0">
                <a:highlight>
                  <a:srgbClr val="FFFF00"/>
                </a:highlight>
                <a:latin typeface="Times New Roman" panose="02020603050405020304" pitchFamily="18" charset="0"/>
                <a:cs typeface="Times New Roman" panose="02020603050405020304" pitchFamily="18" charset="0"/>
              </a:rPr>
              <a:t>/data</a:t>
            </a:r>
          </a:p>
          <a:p>
            <a:pPr>
              <a:buNone/>
            </a:pPr>
            <a:r>
              <a:rPr lang="en-US" sz="2000" dirty="0">
                <a:latin typeface="Times New Roman" panose="02020603050405020304" pitchFamily="18" charset="0"/>
                <a:cs typeface="Times New Roman" panose="02020603050405020304" pitchFamily="18" charset="0"/>
              </a:rPr>
              <a:t>We are creating:</a:t>
            </a:r>
          </a:p>
          <a:p>
            <a:pPr rtl="0">
              <a:buNone/>
            </a:pPr>
            <a:r>
              <a:rPr lang="en-US" sz="2000" dirty="0">
                <a:latin typeface="Times New Roman" panose="02020603050405020304" pitchFamily="18" charset="0"/>
                <a:cs typeface="Times New Roman" panose="02020603050405020304" pitchFamily="18" charset="0"/>
              </a:rPr>
              <a:t>This directory will become our </a:t>
            </a:r>
            <a:r>
              <a:rPr lang="en-US" sz="2000" b="1" dirty="0">
                <a:latin typeface="Times New Roman" panose="02020603050405020304" pitchFamily="18" charset="0"/>
                <a:cs typeface="Times New Roman" panose="02020603050405020304" pitchFamily="18" charset="0"/>
              </a:rPr>
              <a:t>mount point</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Think:</a:t>
            </a:r>
          </a:p>
          <a:p>
            <a:r>
              <a:rPr lang="en-US" sz="2000" dirty="0">
                <a:latin typeface="Times New Roman" panose="02020603050405020304" pitchFamily="18" charset="0"/>
                <a:cs typeface="Times New Roman" panose="02020603050405020304" pitchFamily="18" charset="0"/>
              </a:rPr>
              <a:t>/</a:t>
            </a:r>
            <a:r>
              <a:rPr lang="en-US" sz="2000">
                <a:latin typeface="Times New Roman" panose="02020603050405020304" pitchFamily="18" charset="0"/>
                <a:cs typeface="Times New Roman" panose="02020603050405020304" pitchFamily="18" charset="0"/>
              </a:rPr>
              <a:t>dev/</a:t>
            </a:r>
            <a:r>
              <a:rPr lang="en-US" sz="2000">
                <a:highlight>
                  <a:srgbClr val="FFFF00"/>
                </a:highlight>
                <a:latin typeface="Times New Roman" panose="02020603050405020304" pitchFamily="18" charset="0"/>
                <a:cs typeface="Times New Roman" panose="02020603050405020304" pitchFamily="18" charset="0"/>
              </a:rPr>
              <a:t> nvmen0n2p1</a:t>
            </a:r>
            <a:endParaRPr lang="en-US" sz="2000" dirty="0">
              <a:latin typeface="Times New Roman" panose="02020603050405020304" pitchFamily="18" charset="0"/>
              <a:cs typeface="Times New Roman" panose="02020603050405020304" pitchFamily="18" charset="0"/>
            </a:endParaRPr>
          </a:p>
          <a:p>
            <a:pPr rtl="0">
              <a:buNone/>
            </a:pPr>
            <a:r>
              <a:rPr lang="en-US" sz="2000" dirty="0">
                <a:latin typeface="Times New Roman" panose="02020603050405020304" pitchFamily="18" charset="0"/>
                <a:cs typeface="Times New Roman" panose="02020603050405020304" pitchFamily="18" charset="0"/>
              </a:rPr>
              <a:t>    ↓</a:t>
            </a:r>
          </a:p>
          <a:p>
            <a:pPr rtl="0">
              <a:buNone/>
            </a:pPr>
            <a:r>
              <a:rPr lang="en-US" sz="2000" dirty="0">
                <a:latin typeface="Times New Roman" panose="02020603050405020304" pitchFamily="18" charset="0"/>
                <a:cs typeface="Times New Roman" panose="02020603050405020304" pitchFamily="18" charset="0"/>
              </a:rPr>
              <a:t>    ↓ mounted at</a:t>
            </a:r>
          </a:p>
          <a:p>
            <a:pPr rtl="0">
              <a:buNone/>
            </a:pPr>
            <a:r>
              <a:rPr lang="en-US" sz="2000" dirty="0">
                <a:latin typeface="Times New Roman" panose="02020603050405020304" pitchFamily="18" charset="0"/>
                <a:cs typeface="Times New Roman" panose="02020603050405020304" pitchFamily="18" charset="0"/>
              </a:rPr>
              <a:t>    /data</a:t>
            </a:r>
          </a:p>
          <a:p>
            <a:pPr>
              <a:buNone/>
            </a:pPr>
            <a:r>
              <a:rPr lang="en-US" sz="2000" dirty="0">
                <a:latin typeface="Times New Roman" panose="02020603050405020304" pitchFamily="18" charset="0"/>
                <a:cs typeface="Times New Roman" panose="02020603050405020304" pitchFamily="18" charset="0"/>
              </a:rPr>
              <a:t>A mount point is simply the directory through which you access the filesystem. </a:t>
            </a:r>
          </a:p>
        </p:txBody>
      </p:sp>
    </p:spTree>
    <p:extLst>
      <p:ext uri="{BB962C8B-B14F-4D97-AF65-F5344CB8AC3E}">
        <p14:creationId xmlns:p14="http://schemas.microsoft.com/office/powerpoint/2010/main" val="767624656"/>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5A8CB-71F8-B228-4F40-86893FD1E67F}"/>
              </a:ext>
            </a:extLst>
          </p:cNvPr>
          <p:cNvSpPr>
            <a:spLocks noGrp="1"/>
          </p:cNvSpPr>
          <p:nvPr>
            <p:ph type="title"/>
          </p:nvPr>
        </p:nvSpPr>
        <p:spPr>
          <a:xfrm>
            <a:off x="720000" y="445025"/>
            <a:ext cx="3725000" cy="443975"/>
          </a:xfrm>
        </p:spPr>
        <p:txBody>
          <a:bodyPr/>
          <a:lstStyle/>
          <a:p>
            <a:r>
              <a:rPr lang="en-US" sz="2000" dirty="0">
                <a:latin typeface="Times New Roman" panose="02020603050405020304" pitchFamily="18" charset="0"/>
                <a:cs typeface="Times New Roman" panose="02020603050405020304" pitchFamily="18" charset="0"/>
              </a:rPr>
              <a:t>STEP 10 — Mount the volume</a:t>
            </a:r>
            <a:endParaRPr lang="en-US" sz="2000" dirty="0"/>
          </a:p>
        </p:txBody>
      </p:sp>
      <p:sp>
        <p:nvSpPr>
          <p:cNvPr id="4" name="TextBox 3">
            <a:extLst>
              <a:ext uri="{FF2B5EF4-FFF2-40B4-BE49-F238E27FC236}">
                <a16:creationId xmlns:a16="http://schemas.microsoft.com/office/drawing/2014/main" id="{D13CC2DB-195A-B055-7DDC-B39A06DC130B}"/>
              </a:ext>
            </a:extLst>
          </p:cNvPr>
          <p:cNvSpPr txBox="1"/>
          <p:nvPr/>
        </p:nvSpPr>
        <p:spPr>
          <a:xfrm>
            <a:off x="720000" y="1138803"/>
            <a:ext cx="7269956" cy="2862322"/>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Now run:</a:t>
            </a:r>
          </a:p>
          <a:p>
            <a:pPr rtl="0">
              <a:buNone/>
            </a:pPr>
            <a:r>
              <a:rPr lang="en-US" sz="2000" dirty="0">
                <a:highlight>
                  <a:srgbClr val="FFFF00"/>
                </a:highlight>
                <a:latin typeface="Times New Roman" panose="02020603050405020304" pitchFamily="18" charset="0"/>
                <a:cs typeface="Times New Roman" panose="02020603050405020304" pitchFamily="18" charset="0"/>
              </a:rPr>
              <a:t>mount /dev/sdb1 /data</a:t>
            </a:r>
          </a:p>
          <a:p>
            <a:pPr>
              <a:buNone/>
            </a:pPr>
            <a:r>
              <a:rPr lang="en-US" sz="2000" dirty="0">
                <a:latin typeface="Times New Roman" panose="02020603050405020304" pitchFamily="18" charset="0"/>
                <a:cs typeface="Times New Roman" panose="02020603050405020304" pitchFamily="18" charset="0"/>
              </a:rPr>
              <a:t>The syntax is:</a:t>
            </a:r>
          </a:p>
          <a:p>
            <a:pPr rtl="0">
              <a:buNone/>
            </a:pPr>
            <a:r>
              <a:rPr lang="en-US" sz="2000" dirty="0">
                <a:latin typeface="Times New Roman" panose="02020603050405020304" pitchFamily="18" charset="0"/>
                <a:cs typeface="Times New Roman" panose="02020603050405020304" pitchFamily="18" charset="0"/>
              </a:rPr>
              <a:t>mount [device] [mount point]</a:t>
            </a:r>
          </a:p>
          <a:p>
            <a:pPr>
              <a:buNone/>
            </a:pPr>
            <a:r>
              <a:rPr lang="en-US" sz="2000" dirty="0">
                <a:latin typeface="Times New Roman" panose="02020603050405020304" pitchFamily="18" charset="0"/>
                <a:cs typeface="Times New Roman" panose="02020603050405020304" pitchFamily="18" charset="0"/>
              </a:rPr>
              <a:t>So:</a:t>
            </a:r>
          </a:p>
          <a:p>
            <a:pPr rtl="0">
              <a:buNone/>
            </a:pPr>
            <a:r>
              <a:rPr lang="en-US" sz="2000" dirty="0">
                <a:latin typeface="Times New Roman" panose="02020603050405020304" pitchFamily="18" charset="0"/>
                <a:cs typeface="Times New Roman" panose="02020603050405020304" pitchFamily="18" charset="0"/>
              </a:rPr>
              <a:t>mount /dev/sdb1 /data</a:t>
            </a:r>
          </a:p>
          <a:p>
            <a:pPr>
              <a:buNone/>
            </a:pPr>
            <a:r>
              <a:rPr lang="en-US" sz="2000" dirty="0">
                <a:latin typeface="Times New Roman" panose="02020603050405020304" pitchFamily="18" charset="0"/>
                <a:cs typeface="Times New Roman" panose="02020603050405020304" pitchFamily="18" charset="0"/>
              </a:rPr>
              <a:t>means:</a:t>
            </a:r>
          </a:p>
          <a:p>
            <a:pPr>
              <a:buNone/>
            </a:pPr>
            <a:r>
              <a:rPr lang="en-US" sz="2000" dirty="0">
                <a:latin typeface="Times New Roman" panose="02020603050405020304" pitchFamily="18" charset="0"/>
                <a:cs typeface="Times New Roman" panose="02020603050405020304" pitchFamily="18" charset="0"/>
              </a:rPr>
              <a:t>"Attach the filesystem on /dev/sdb1 to the /data directory."</a:t>
            </a:r>
          </a:p>
          <a:p>
            <a:pPr>
              <a:buNone/>
            </a:pPr>
            <a:r>
              <a:rPr lang="en-US" sz="2000" dirty="0">
                <a:latin typeface="Times New Roman" panose="02020603050405020304" pitchFamily="18" charset="0"/>
                <a:cs typeface="Times New Roman" panose="02020603050405020304" pitchFamily="18" charset="0"/>
              </a:rPr>
              <a:t>Red Hat documents this same mount device mount-point syntax. </a:t>
            </a:r>
          </a:p>
        </p:txBody>
      </p:sp>
    </p:spTree>
    <p:extLst>
      <p:ext uri="{BB962C8B-B14F-4D97-AF65-F5344CB8AC3E}">
        <p14:creationId xmlns:p14="http://schemas.microsoft.com/office/powerpoint/2010/main" val="118784408"/>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936F1D1-7AEB-8DDA-D774-E50506EF2657}"/>
              </a:ext>
            </a:extLst>
          </p:cNvPr>
          <p:cNvSpPr txBox="1"/>
          <p:nvPr/>
        </p:nvSpPr>
        <p:spPr>
          <a:xfrm>
            <a:off x="350837" y="726291"/>
            <a:ext cx="8442325" cy="4093428"/>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Run: </a:t>
            </a:r>
            <a:r>
              <a:rPr lang="en-US" sz="2000" dirty="0" err="1">
                <a:highlight>
                  <a:srgbClr val="FFFF00"/>
                </a:highlight>
                <a:latin typeface="Times New Roman" panose="02020603050405020304" pitchFamily="18" charset="0"/>
                <a:cs typeface="Times New Roman" panose="02020603050405020304" pitchFamily="18" charset="0"/>
              </a:rPr>
              <a:t>lsblk</a:t>
            </a:r>
            <a:endParaRPr lang="en-US" sz="2000" dirty="0">
              <a:highlight>
                <a:srgbClr val="FFFF00"/>
              </a:highlight>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You should see:</a:t>
            </a:r>
          </a:p>
          <a:p>
            <a:pPr rtl="0">
              <a:buNone/>
            </a:pPr>
            <a:r>
              <a:rPr lang="en-US" sz="2000" dirty="0" err="1">
                <a:latin typeface="Times New Roman" panose="02020603050405020304" pitchFamily="18" charset="0"/>
                <a:cs typeface="Times New Roman" panose="02020603050405020304" pitchFamily="18" charset="0"/>
              </a:rPr>
              <a:t>sdb</a:t>
            </a:r>
            <a:r>
              <a:rPr lang="en-US" sz="2000" dirty="0">
                <a:latin typeface="Times New Roman" panose="02020603050405020304" pitchFamily="18" charset="0"/>
                <a:cs typeface="Times New Roman" panose="02020603050405020304" pitchFamily="18" charset="0"/>
              </a:rPr>
              <a:t>       20G disk</a:t>
            </a:r>
          </a:p>
          <a:p>
            <a:pPr rtl="0">
              <a:buNone/>
            </a:pPr>
            <a:r>
              <a:rPr lang="en-US" sz="2000" dirty="0">
                <a:latin typeface="Times New Roman" panose="02020603050405020304" pitchFamily="18" charset="0"/>
                <a:cs typeface="Times New Roman" panose="02020603050405020304" pitchFamily="18" charset="0"/>
              </a:rPr>
              <a:t>└─sdb1    20G part /data</a:t>
            </a:r>
          </a:p>
          <a:p>
            <a:pPr>
              <a:buNone/>
            </a:pPr>
            <a:r>
              <a:rPr lang="en-US" sz="2000" dirty="0">
                <a:latin typeface="Times New Roman" panose="02020603050405020304" pitchFamily="18" charset="0"/>
                <a:cs typeface="Times New Roman" panose="02020603050405020304" pitchFamily="18" charset="0"/>
              </a:rPr>
              <a:t>You can also use: </a:t>
            </a:r>
            <a:r>
              <a:rPr lang="en-US" sz="2000" dirty="0" err="1">
                <a:highlight>
                  <a:srgbClr val="FFFF00"/>
                </a:highlight>
                <a:latin typeface="Times New Roman" panose="02020603050405020304" pitchFamily="18" charset="0"/>
                <a:cs typeface="Times New Roman" panose="02020603050405020304" pitchFamily="18" charset="0"/>
              </a:rPr>
              <a:t>df</a:t>
            </a:r>
            <a:r>
              <a:rPr lang="en-US" sz="2000" dirty="0">
                <a:highlight>
                  <a:srgbClr val="FFFF00"/>
                </a:highlight>
                <a:latin typeface="Times New Roman" panose="02020603050405020304" pitchFamily="18" charset="0"/>
                <a:cs typeface="Times New Roman" panose="02020603050405020304" pitchFamily="18" charset="0"/>
              </a:rPr>
              <a:t> -h</a:t>
            </a:r>
          </a:p>
          <a:p>
            <a:pPr>
              <a:buNone/>
            </a:pPr>
            <a:r>
              <a:rPr lang="en-US" sz="2000" dirty="0" err="1">
                <a:latin typeface="Times New Roman" panose="02020603050405020304" pitchFamily="18" charset="0"/>
                <a:cs typeface="Times New Roman" panose="02020603050405020304" pitchFamily="18" charset="0"/>
              </a:rPr>
              <a:t>df</a:t>
            </a:r>
            <a:r>
              <a:rPr lang="en-US" sz="2000"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Disk Free</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-h = </a:t>
            </a:r>
            <a:r>
              <a:rPr lang="en-US" sz="2000" b="1" dirty="0">
                <a:latin typeface="Times New Roman" panose="02020603050405020304" pitchFamily="18" charset="0"/>
                <a:cs typeface="Times New Roman" panose="02020603050405020304" pitchFamily="18" charset="0"/>
              </a:rPr>
              <a:t>Human-readable</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Example:</a:t>
            </a:r>
          </a:p>
          <a:p>
            <a:pPr rtl="0">
              <a:buNone/>
            </a:pPr>
            <a:r>
              <a:rPr lang="en-US" sz="2000" dirty="0">
                <a:latin typeface="Times New Roman" panose="02020603050405020304" pitchFamily="18" charset="0"/>
                <a:cs typeface="Times New Roman" panose="02020603050405020304" pitchFamily="18" charset="0"/>
              </a:rPr>
              <a:t>Filesystem      Size  Used Avail Use% Mounted on</a:t>
            </a:r>
          </a:p>
          <a:p>
            <a:pPr rtl="0">
              <a:buNone/>
            </a:pPr>
            <a:r>
              <a:rPr lang="en-US" sz="2000" dirty="0">
                <a:latin typeface="Times New Roman" panose="02020603050405020304" pitchFamily="18" charset="0"/>
                <a:cs typeface="Times New Roman" panose="02020603050405020304" pitchFamily="18" charset="0"/>
              </a:rPr>
              <a:t>/dev/sdb1        20G   24M   20G   1% /data</a:t>
            </a:r>
          </a:p>
          <a:p>
            <a:pPr>
              <a:buNone/>
            </a:pPr>
            <a:r>
              <a:rPr lang="en-US" sz="2000" dirty="0">
                <a:latin typeface="Times New Roman" panose="02020603050405020304" pitchFamily="18" charset="0"/>
                <a:cs typeface="Times New Roman" panose="02020603050405020304" pitchFamily="18" charset="0"/>
              </a:rPr>
              <a:t>Another excellent verification command is: </a:t>
            </a:r>
            <a:r>
              <a:rPr lang="en-US" sz="2000" dirty="0" err="1">
                <a:highlight>
                  <a:srgbClr val="FFFF00"/>
                </a:highlight>
                <a:latin typeface="Times New Roman" panose="02020603050405020304" pitchFamily="18" charset="0"/>
                <a:cs typeface="Times New Roman" panose="02020603050405020304" pitchFamily="18" charset="0"/>
              </a:rPr>
              <a:t>findmnt</a:t>
            </a:r>
            <a:r>
              <a:rPr lang="en-US" sz="2000" dirty="0">
                <a:highlight>
                  <a:srgbClr val="FFFF00"/>
                </a:highlight>
                <a:latin typeface="Times New Roman" panose="02020603050405020304" pitchFamily="18" charset="0"/>
                <a:cs typeface="Times New Roman" panose="02020603050405020304" pitchFamily="18" charset="0"/>
              </a:rPr>
              <a:t> /data</a:t>
            </a:r>
          </a:p>
          <a:p>
            <a:pPr>
              <a:buNone/>
            </a:pPr>
            <a:r>
              <a:rPr lang="en-US" sz="2000" dirty="0" err="1">
                <a:latin typeface="Times New Roman" panose="02020603050405020304" pitchFamily="18" charset="0"/>
                <a:cs typeface="Times New Roman" panose="02020603050405020304" pitchFamily="18" charset="0"/>
              </a:rPr>
              <a:t>findmnt</a:t>
            </a:r>
            <a:r>
              <a:rPr lang="en-US" sz="2000" dirty="0">
                <a:latin typeface="Times New Roman" panose="02020603050405020304" pitchFamily="18" charset="0"/>
                <a:cs typeface="Times New Roman" panose="02020603050405020304" pitchFamily="18" charset="0"/>
              </a:rPr>
              <a:t> shows where a filesystem is mounted. Red Hat specifically documents it for checking mounted filesystems. </a:t>
            </a:r>
          </a:p>
        </p:txBody>
      </p:sp>
      <p:sp>
        <p:nvSpPr>
          <p:cNvPr id="11" name="TextBox 10">
            <a:extLst>
              <a:ext uri="{FF2B5EF4-FFF2-40B4-BE49-F238E27FC236}">
                <a16:creationId xmlns:a16="http://schemas.microsoft.com/office/drawing/2014/main" id="{28567C35-17C5-4E57-766E-49959F0D1BA8}"/>
              </a:ext>
            </a:extLst>
          </p:cNvPr>
          <p:cNvSpPr txBox="1"/>
          <p:nvPr/>
        </p:nvSpPr>
        <p:spPr>
          <a:xfrm>
            <a:off x="117475" y="182662"/>
            <a:ext cx="5162550" cy="400110"/>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STEP 11 — Verify the mount</a:t>
            </a:r>
          </a:p>
        </p:txBody>
      </p:sp>
    </p:spTree>
    <p:extLst>
      <p:ext uri="{BB962C8B-B14F-4D97-AF65-F5344CB8AC3E}">
        <p14:creationId xmlns:p14="http://schemas.microsoft.com/office/powerpoint/2010/main" val="1133969887"/>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5E7C4-883B-ED51-6BC4-3FA7A55AB6A2}"/>
              </a:ext>
            </a:extLst>
          </p:cNvPr>
          <p:cNvSpPr>
            <a:spLocks noGrp="1"/>
          </p:cNvSpPr>
          <p:nvPr>
            <p:ph type="title"/>
          </p:nvPr>
        </p:nvSpPr>
        <p:spPr>
          <a:xfrm>
            <a:off x="720000" y="445025"/>
            <a:ext cx="5528400" cy="507475"/>
          </a:xfrm>
        </p:spPr>
        <p:txBody>
          <a:bodyPr/>
          <a:lstStyle/>
          <a:p>
            <a:r>
              <a:rPr lang="en-US" sz="2000" dirty="0">
                <a:latin typeface="Times New Roman" panose="02020603050405020304" pitchFamily="18" charset="0"/>
                <a:cs typeface="Times New Roman" panose="02020603050405020304" pitchFamily="18" charset="0"/>
              </a:rPr>
              <a:t>STEP 12 — Test whether you can use the disk</a:t>
            </a:r>
            <a:endParaRPr lang="en-US" sz="2000" dirty="0"/>
          </a:p>
        </p:txBody>
      </p:sp>
      <p:sp>
        <p:nvSpPr>
          <p:cNvPr id="4" name="TextBox 3">
            <a:extLst>
              <a:ext uri="{FF2B5EF4-FFF2-40B4-BE49-F238E27FC236}">
                <a16:creationId xmlns:a16="http://schemas.microsoft.com/office/drawing/2014/main" id="{E5B294B8-6817-4688-2381-93BA35476CCD}"/>
              </a:ext>
            </a:extLst>
          </p:cNvPr>
          <p:cNvSpPr txBox="1"/>
          <p:nvPr/>
        </p:nvSpPr>
        <p:spPr>
          <a:xfrm>
            <a:off x="720000" y="1220600"/>
            <a:ext cx="6283325" cy="2862322"/>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Run:</a:t>
            </a:r>
          </a:p>
          <a:p>
            <a:pPr>
              <a:buNone/>
            </a:pPr>
            <a:endParaRPr lang="en-US" sz="2000" dirty="0">
              <a:latin typeface="Times New Roman" panose="02020603050405020304" pitchFamily="18" charset="0"/>
              <a:cs typeface="Times New Roman" panose="02020603050405020304" pitchFamily="18" charset="0"/>
            </a:endParaRPr>
          </a:p>
          <a:p>
            <a:pPr rtl="0">
              <a:buNone/>
            </a:pPr>
            <a:r>
              <a:rPr lang="en-US" sz="2000" dirty="0">
                <a:latin typeface="Times New Roman" panose="02020603050405020304" pitchFamily="18" charset="0"/>
                <a:cs typeface="Times New Roman" panose="02020603050405020304" pitchFamily="18" charset="0"/>
              </a:rPr>
              <a:t>echo "Rocky Linux storage test" &gt; /data/test.txt</a:t>
            </a:r>
          </a:p>
          <a:p>
            <a:pPr>
              <a:buNone/>
            </a:pPr>
            <a:r>
              <a:rPr lang="en-US" sz="2000" dirty="0">
                <a:latin typeface="Times New Roman" panose="02020603050405020304" pitchFamily="18" charset="0"/>
                <a:cs typeface="Times New Roman" panose="02020603050405020304" pitchFamily="18" charset="0"/>
              </a:rPr>
              <a:t>Then: </a:t>
            </a:r>
            <a:r>
              <a:rPr lang="en-US" sz="2000" dirty="0">
                <a:highlight>
                  <a:srgbClr val="FFFF00"/>
                </a:highlight>
                <a:latin typeface="Times New Roman" panose="02020603050405020304" pitchFamily="18" charset="0"/>
                <a:cs typeface="Times New Roman" panose="02020603050405020304" pitchFamily="18" charset="0"/>
              </a:rPr>
              <a:t>cat /data/test.txt</a:t>
            </a:r>
          </a:p>
          <a:p>
            <a:pPr>
              <a:buNone/>
            </a:pPr>
            <a:r>
              <a:rPr lang="en-US" sz="2000" dirty="0">
                <a:latin typeface="Times New Roman" panose="02020603050405020304" pitchFamily="18" charset="0"/>
                <a:cs typeface="Times New Roman" panose="02020603050405020304" pitchFamily="18" charset="0"/>
              </a:rPr>
              <a:t>You should get:</a:t>
            </a:r>
          </a:p>
          <a:p>
            <a:pPr rtl="0">
              <a:buNone/>
            </a:pPr>
            <a:r>
              <a:rPr lang="en-US" sz="2000" dirty="0">
                <a:latin typeface="Times New Roman" panose="02020603050405020304" pitchFamily="18" charset="0"/>
                <a:cs typeface="Times New Roman" panose="02020603050405020304" pitchFamily="18" charset="0"/>
              </a:rPr>
              <a:t>Rocky Linux storage test</a:t>
            </a:r>
          </a:p>
          <a:p>
            <a:pPr>
              <a:buNone/>
            </a:pPr>
            <a:r>
              <a:rPr lang="en-US" sz="2000" dirty="0">
                <a:latin typeface="Times New Roman" panose="02020603050405020304" pitchFamily="18" charset="0"/>
                <a:cs typeface="Times New Roman" panose="02020603050405020304" pitchFamily="18" charset="0"/>
              </a:rPr>
              <a:t>You can also: </a:t>
            </a:r>
            <a:r>
              <a:rPr lang="en-US" sz="2000" dirty="0">
                <a:highlight>
                  <a:srgbClr val="FFFF00"/>
                </a:highlight>
                <a:latin typeface="Times New Roman" panose="02020603050405020304" pitchFamily="18" charset="0"/>
                <a:cs typeface="Times New Roman" panose="02020603050405020304" pitchFamily="18" charset="0"/>
              </a:rPr>
              <a:t>ls -l /data</a:t>
            </a:r>
          </a:p>
          <a:p>
            <a:pPr>
              <a:buNone/>
            </a:pPr>
            <a:r>
              <a:rPr lang="en-US" sz="2000" dirty="0">
                <a:latin typeface="Times New Roman" panose="02020603050405020304" pitchFamily="18" charset="0"/>
                <a:cs typeface="Times New Roman" panose="02020603050405020304" pitchFamily="18" charset="0"/>
              </a:rPr>
              <a:t>You should see: </a:t>
            </a:r>
            <a:r>
              <a:rPr lang="en-US" sz="2000" dirty="0">
                <a:highlight>
                  <a:srgbClr val="00FFFF"/>
                </a:highlight>
                <a:latin typeface="Times New Roman" panose="02020603050405020304" pitchFamily="18" charset="0"/>
                <a:cs typeface="Times New Roman" panose="02020603050405020304" pitchFamily="18" charset="0"/>
              </a:rPr>
              <a:t>test.txt</a:t>
            </a:r>
          </a:p>
          <a:p>
            <a:pPr>
              <a:buNone/>
            </a:pPr>
            <a:r>
              <a:rPr lang="en-US" sz="2000" dirty="0">
                <a:highlight>
                  <a:srgbClr val="00FF00"/>
                </a:highlight>
                <a:latin typeface="Times New Roman" panose="02020603050405020304" pitchFamily="18" charset="0"/>
                <a:cs typeface="Times New Roman" panose="02020603050405020304" pitchFamily="18" charset="0"/>
              </a:rPr>
              <a:t>Your volume is working.</a:t>
            </a:r>
          </a:p>
        </p:txBody>
      </p:sp>
    </p:spTree>
    <p:extLst>
      <p:ext uri="{BB962C8B-B14F-4D97-AF65-F5344CB8AC3E}">
        <p14:creationId xmlns:p14="http://schemas.microsoft.com/office/powerpoint/2010/main" val="3053760063"/>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FD6BC8C-9E14-F2DE-0290-69D9CFA744EB}"/>
              </a:ext>
            </a:extLst>
          </p:cNvPr>
          <p:cNvSpPr txBox="1"/>
          <p:nvPr/>
        </p:nvSpPr>
        <p:spPr>
          <a:xfrm>
            <a:off x="416849" y="1734623"/>
            <a:ext cx="8003251" cy="2246769"/>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There is one problem.</a:t>
            </a:r>
          </a:p>
          <a:p>
            <a:pPr>
              <a:buNone/>
            </a:pPr>
            <a:r>
              <a:rPr lang="en-US" sz="2000" dirty="0">
                <a:latin typeface="Times New Roman" panose="02020603050405020304" pitchFamily="18" charset="0"/>
                <a:cs typeface="Times New Roman" panose="02020603050405020304" pitchFamily="18" charset="0"/>
              </a:rPr>
              <a:t>If you reboot now, the manually created mount may not automatically be configured for future boots.</a:t>
            </a:r>
          </a:p>
          <a:p>
            <a:pPr>
              <a:buNone/>
            </a:pPr>
            <a:r>
              <a:rPr lang="en-US" sz="2000" dirty="0">
                <a:latin typeface="Times New Roman" panose="02020603050405020304" pitchFamily="18" charset="0"/>
                <a:cs typeface="Times New Roman" panose="02020603050405020304" pitchFamily="18" charset="0"/>
              </a:rPr>
              <a:t>For permanent mounting, Rocky/RHEL uses:</a:t>
            </a:r>
          </a:p>
          <a:p>
            <a:pPr rtl="0">
              <a:buNone/>
            </a:pPr>
            <a:r>
              <a:rPr lang="en-US" sz="2000" dirty="0">
                <a:highlight>
                  <a:srgbClr val="FFFF00"/>
                </a:highlight>
                <a:latin typeface="Times New Roman" panose="02020603050405020304" pitchFamily="18" charset="0"/>
                <a:cs typeface="Times New Roman" panose="02020603050405020304" pitchFamily="18" charset="0"/>
              </a:rPr>
              <a:t>/</a:t>
            </a:r>
            <a:r>
              <a:rPr lang="en-US" sz="2000" dirty="0" err="1">
                <a:highlight>
                  <a:srgbClr val="FFFF00"/>
                </a:highlight>
                <a:latin typeface="Times New Roman" panose="02020603050405020304" pitchFamily="18" charset="0"/>
                <a:cs typeface="Times New Roman" panose="02020603050405020304" pitchFamily="18" charset="0"/>
              </a:rPr>
              <a:t>etc</a:t>
            </a:r>
            <a:r>
              <a:rPr lang="en-US" sz="2000" dirty="0">
                <a:highlight>
                  <a:srgbClr val="FFFF00"/>
                </a:highlight>
                <a:latin typeface="Times New Roman" panose="02020603050405020304" pitchFamily="18" charset="0"/>
                <a:cs typeface="Times New Roman" panose="02020603050405020304" pitchFamily="18" charset="0"/>
              </a:rPr>
              <a:t>/</a:t>
            </a:r>
            <a:r>
              <a:rPr lang="en-US" sz="2000" dirty="0" err="1">
                <a:highlight>
                  <a:srgbClr val="FFFF00"/>
                </a:highlight>
                <a:latin typeface="Times New Roman" panose="02020603050405020304" pitchFamily="18" charset="0"/>
                <a:cs typeface="Times New Roman" panose="02020603050405020304" pitchFamily="18" charset="0"/>
              </a:rPr>
              <a:t>fstab</a:t>
            </a:r>
            <a:endParaRPr lang="en-US" sz="2000" dirty="0">
              <a:highlight>
                <a:srgbClr val="FFFF00"/>
              </a:highlight>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Red Hat documents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fstab</a:t>
            </a:r>
            <a:r>
              <a:rPr lang="en-US" sz="2000" dirty="0">
                <a:latin typeface="Times New Roman" panose="02020603050405020304" pitchFamily="18" charset="0"/>
                <a:cs typeface="Times New Roman" panose="02020603050405020304" pitchFamily="18" charset="0"/>
              </a:rPr>
              <a:t> as the configuration file for persistent filesystem mounts. </a:t>
            </a:r>
          </a:p>
        </p:txBody>
      </p:sp>
      <p:sp>
        <p:nvSpPr>
          <p:cNvPr id="8" name="TextBox 7">
            <a:extLst>
              <a:ext uri="{FF2B5EF4-FFF2-40B4-BE49-F238E27FC236}">
                <a16:creationId xmlns:a16="http://schemas.microsoft.com/office/drawing/2014/main" id="{D0FAEA05-E2E1-6B95-346C-8EA4D377D7CC}"/>
              </a:ext>
            </a:extLst>
          </p:cNvPr>
          <p:cNvSpPr txBox="1"/>
          <p:nvPr/>
        </p:nvSpPr>
        <p:spPr>
          <a:xfrm>
            <a:off x="416849" y="462119"/>
            <a:ext cx="5162550" cy="400110"/>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 STEP 13 — Make the mount permanent</a:t>
            </a:r>
          </a:p>
        </p:txBody>
      </p:sp>
    </p:spTree>
    <p:extLst>
      <p:ext uri="{BB962C8B-B14F-4D97-AF65-F5344CB8AC3E}">
        <p14:creationId xmlns:p14="http://schemas.microsoft.com/office/powerpoint/2010/main" val="1446583619"/>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DFC52AA-8132-23F5-A2B3-69CE7802CCEE}"/>
              </a:ext>
            </a:extLst>
          </p:cNvPr>
          <p:cNvSpPr txBox="1"/>
          <p:nvPr/>
        </p:nvSpPr>
        <p:spPr>
          <a:xfrm>
            <a:off x="404149" y="802819"/>
            <a:ext cx="8335701" cy="3785652"/>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Run:</a:t>
            </a:r>
          </a:p>
          <a:p>
            <a:pPr rtl="0">
              <a:buNone/>
            </a:pPr>
            <a:r>
              <a:rPr lang="en-US" sz="2000" dirty="0" err="1">
                <a:latin typeface="Times New Roman" panose="02020603050405020304" pitchFamily="18" charset="0"/>
                <a:cs typeface="Times New Roman" panose="02020603050405020304" pitchFamily="18" charset="0"/>
              </a:rPr>
              <a:t>lsblk</a:t>
            </a:r>
            <a:r>
              <a:rPr lang="en-US" sz="2000" dirty="0">
                <a:latin typeface="Times New Roman" panose="02020603050405020304" pitchFamily="18" charset="0"/>
                <a:cs typeface="Times New Roman" panose="02020603050405020304" pitchFamily="18" charset="0"/>
              </a:rPr>
              <a:t> -f</a:t>
            </a:r>
          </a:p>
          <a:p>
            <a:pPr>
              <a:buNone/>
            </a:pPr>
            <a:r>
              <a:rPr lang="en-US" sz="2000" dirty="0">
                <a:latin typeface="Times New Roman" panose="02020603050405020304" pitchFamily="18" charset="0"/>
                <a:cs typeface="Times New Roman" panose="02020603050405020304" pitchFamily="18" charset="0"/>
              </a:rPr>
              <a:t>You will see something like:</a:t>
            </a:r>
          </a:p>
          <a:p>
            <a:pPr rtl="0">
              <a:buNone/>
            </a:pPr>
            <a:r>
              <a:rPr lang="en-US" sz="2000" dirty="0">
                <a:latin typeface="Times New Roman" panose="02020603050405020304" pitchFamily="18" charset="0"/>
                <a:cs typeface="Times New Roman" panose="02020603050405020304" pitchFamily="18" charset="0"/>
              </a:rPr>
              <a:t>NAME      FSTYPE    UUID</a:t>
            </a:r>
          </a:p>
          <a:p>
            <a:pPr rtl="0">
              <a:buNone/>
            </a:pPr>
            <a:r>
              <a:rPr lang="en-US" sz="2000" dirty="0" err="1">
                <a:latin typeface="Times New Roman" panose="02020603050405020304" pitchFamily="18" charset="0"/>
                <a:cs typeface="Times New Roman" panose="02020603050405020304" pitchFamily="18" charset="0"/>
              </a:rPr>
              <a:t>sdb</a:t>
            </a:r>
            <a:endParaRPr lang="en-US" sz="2000" dirty="0">
              <a:latin typeface="Times New Roman" panose="02020603050405020304" pitchFamily="18" charset="0"/>
              <a:cs typeface="Times New Roman" panose="02020603050405020304" pitchFamily="18" charset="0"/>
            </a:endParaRPr>
          </a:p>
          <a:p>
            <a:pPr rtl="0">
              <a:buNone/>
            </a:pPr>
            <a:r>
              <a:rPr lang="en-US" sz="2000" dirty="0">
                <a:latin typeface="Times New Roman" panose="02020603050405020304" pitchFamily="18" charset="0"/>
                <a:cs typeface="Times New Roman" panose="02020603050405020304" pitchFamily="18" charset="0"/>
              </a:rPr>
              <a:t>└─sdb1     </a:t>
            </a:r>
            <a:r>
              <a:rPr lang="en-US" sz="2000" dirty="0" err="1">
                <a:latin typeface="Times New Roman" panose="02020603050405020304" pitchFamily="18" charset="0"/>
                <a:cs typeface="Times New Roman" panose="02020603050405020304" pitchFamily="18" charset="0"/>
              </a:rPr>
              <a:t>xfs</a:t>
            </a:r>
            <a:r>
              <a:rPr lang="en-US" sz="2000" dirty="0">
                <a:latin typeface="Times New Roman" panose="02020603050405020304" pitchFamily="18" charset="0"/>
                <a:cs typeface="Times New Roman" panose="02020603050405020304" pitchFamily="18" charset="0"/>
              </a:rPr>
              <a:t>             8c2a1234-1111-2222-3333-abcdef123456</a:t>
            </a:r>
          </a:p>
          <a:p>
            <a:pPr>
              <a:buNone/>
            </a:pPr>
            <a:r>
              <a:rPr lang="en-US" sz="2000" dirty="0">
                <a:latin typeface="Times New Roman" panose="02020603050405020304" pitchFamily="18" charset="0"/>
                <a:cs typeface="Times New Roman" panose="02020603050405020304" pitchFamily="18" charset="0"/>
              </a:rPr>
              <a:t>The UUID is:</a:t>
            </a:r>
          </a:p>
          <a:p>
            <a:pPr rtl="0">
              <a:buNone/>
            </a:pPr>
            <a:r>
              <a:rPr lang="en-US" sz="2000" dirty="0">
                <a:latin typeface="Times New Roman" panose="02020603050405020304" pitchFamily="18" charset="0"/>
                <a:cs typeface="Times New Roman" panose="02020603050405020304" pitchFamily="18" charset="0"/>
              </a:rPr>
              <a:t>8c2a1234-1111-2222-3333-abcdef123456</a:t>
            </a:r>
          </a:p>
          <a:p>
            <a:pPr>
              <a:buNone/>
            </a:pPr>
            <a:r>
              <a:rPr lang="en-US" sz="2000" b="1" dirty="0">
                <a:latin typeface="Times New Roman" panose="02020603050405020304" pitchFamily="18" charset="0"/>
                <a:cs typeface="Times New Roman" panose="02020603050405020304" pitchFamily="18" charset="0"/>
              </a:rPr>
              <a:t>Your UUID will be different.</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UUID = </a:t>
            </a:r>
            <a:r>
              <a:rPr lang="en-US" sz="2000" b="1" dirty="0">
                <a:latin typeface="Times New Roman" panose="02020603050405020304" pitchFamily="18" charset="0"/>
                <a:cs typeface="Times New Roman" panose="02020603050405020304" pitchFamily="18" charset="0"/>
              </a:rPr>
              <a:t>Universally Unique Identifier</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Using UUID is preferable for persistent mounts because the UUID identifies the filesystem independently of the /dev/</a:t>
            </a:r>
            <a:r>
              <a:rPr lang="en-US" sz="2000" dirty="0" err="1">
                <a:latin typeface="Times New Roman" panose="02020603050405020304" pitchFamily="18" charset="0"/>
                <a:cs typeface="Times New Roman" panose="02020603050405020304" pitchFamily="18" charset="0"/>
              </a:rPr>
              <a:t>sdX</a:t>
            </a:r>
            <a:r>
              <a:rPr lang="en-US" sz="2000" dirty="0">
                <a:latin typeface="Times New Roman" panose="02020603050405020304" pitchFamily="18" charset="0"/>
                <a:cs typeface="Times New Roman" panose="02020603050405020304" pitchFamily="18" charset="0"/>
              </a:rPr>
              <a:t> device name. </a:t>
            </a:r>
          </a:p>
        </p:txBody>
      </p:sp>
      <p:sp>
        <p:nvSpPr>
          <p:cNvPr id="6" name="TextBox 5">
            <a:extLst>
              <a:ext uri="{FF2B5EF4-FFF2-40B4-BE49-F238E27FC236}">
                <a16:creationId xmlns:a16="http://schemas.microsoft.com/office/drawing/2014/main" id="{B8858247-337F-5DF2-7BA6-A1ABFA2EC074}"/>
              </a:ext>
            </a:extLst>
          </p:cNvPr>
          <p:cNvSpPr txBox="1"/>
          <p:nvPr/>
        </p:nvSpPr>
        <p:spPr>
          <a:xfrm>
            <a:off x="257175" y="248740"/>
            <a:ext cx="3324225" cy="400110"/>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STEP 14 — Find the UUID</a:t>
            </a:r>
          </a:p>
        </p:txBody>
      </p:sp>
    </p:spTree>
    <p:extLst>
      <p:ext uri="{BB962C8B-B14F-4D97-AF65-F5344CB8AC3E}">
        <p14:creationId xmlns:p14="http://schemas.microsoft.com/office/powerpoint/2010/main" val="1091276451"/>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F7D9-149D-7087-22EC-0D601E1AF8F5}"/>
              </a:ext>
            </a:extLst>
          </p:cNvPr>
          <p:cNvSpPr>
            <a:spLocks noGrp="1"/>
          </p:cNvSpPr>
          <p:nvPr>
            <p:ph type="title"/>
          </p:nvPr>
        </p:nvSpPr>
        <p:spPr>
          <a:xfrm>
            <a:off x="720000" y="445025"/>
            <a:ext cx="3227886" cy="440346"/>
          </a:xfrm>
        </p:spPr>
        <p:txBody>
          <a:bodyPr/>
          <a:lstStyle/>
          <a:p>
            <a:r>
              <a:rPr lang="en-US" sz="2000" dirty="0">
                <a:latin typeface="Times New Roman" panose="02020603050405020304" pitchFamily="18" charset="0"/>
                <a:cs typeface="Times New Roman" panose="02020603050405020304" pitchFamily="18" charset="0"/>
              </a:rPr>
              <a:t>STEP 15 — Edit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fstab</a:t>
            </a:r>
            <a:endParaRPr lang="en-US" sz="2000" dirty="0"/>
          </a:p>
        </p:txBody>
      </p:sp>
      <p:sp>
        <p:nvSpPr>
          <p:cNvPr id="4" name="TextBox 3">
            <a:extLst>
              <a:ext uri="{FF2B5EF4-FFF2-40B4-BE49-F238E27FC236}">
                <a16:creationId xmlns:a16="http://schemas.microsoft.com/office/drawing/2014/main" id="{97B48DC8-ECAA-CCF7-B018-FD2B85F1D7F9}"/>
              </a:ext>
            </a:extLst>
          </p:cNvPr>
          <p:cNvSpPr txBox="1"/>
          <p:nvPr/>
        </p:nvSpPr>
        <p:spPr>
          <a:xfrm>
            <a:off x="607786" y="1088030"/>
            <a:ext cx="6680200" cy="3170099"/>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Run:</a:t>
            </a:r>
          </a:p>
          <a:p>
            <a:pPr rtl="0">
              <a:buNone/>
            </a:pPr>
            <a:r>
              <a:rPr lang="en-US" sz="2000" dirty="0">
                <a:highlight>
                  <a:srgbClr val="FFFF00"/>
                </a:highlight>
                <a:latin typeface="Times New Roman" panose="02020603050405020304" pitchFamily="18" charset="0"/>
                <a:cs typeface="Times New Roman" panose="02020603050405020304" pitchFamily="18" charset="0"/>
              </a:rPr>
              <a:t>vim /</a:t>
            </a:r>
            <a:r>
              <a:rPr lang="en-US" sz="2000" dirty="0" err="1">
                <a:highlight>
                  <a:srgbClr val="FFFF00"/>
                </a:highlight>
                <a:latin typeface="Times New Roman" panose="02020603050405020304" pitchFamily="18" charset="0"/>
                <a:cs typeface="Times New Roman" panose="02020603050405020304" pitchFamily="18" charset="0"/>
              </a:rPr>
              <a:t>etc</a:t>
            </a:r>
            <a:r>
              <a:rPr lang="en-US" sz="2000" dirty="0">
                <a:highlight>
                  <a:srgbClr val="FFFF00"/>
                </a:highlight>
                <a:latin typeface="Times New Roman" panose="02020603050405020304" pitchFamily="18" charset="0"/>
                <a:cs typeface="Times New Roman" panose="02020603050405020304" pitchFamily="18" charset="0"/>
              </a:rPr>
              <a:t>/</a:t>
            </a:r>
            <a:r>
              <a:rPr lang="en-US" sz="2000" dirty="0" err="1">
                <a:highlight>
                  <a:srgbClr val="FFFF00"/>
                </a:highlight>
                <a:latin typeface="Times New Roman" panose="02020603050405020304" pitchFamily="18" charset="0"/>
                <a:cs typeface="Times New Roman" panose="02020603050405020304" pitchFamily="18" charset="0"/>
              </a:rPr>
              <a:t>fstab</a:t>
            </a:r>
            <a:endParaRPr lang="en-US" sz="2000" dirty="0">
              <a:highlight>
                <a:srgbClr val="FFFF00"/>
              </a:highlight>
              <a:latin typeface="Times New Roman" panose="02020603050405020304" pitchFamily="18" charset="0"/>
              <a:cs typeface="Times New Roman" panose="02020603050405020304" pitchFamily="18" charset="0"/>
            </a:endParaRPr>
          </a:p>
          <a:p>
            <a:pPr rtl="0">
              <a:buNone/>
            </a:pPr>
            <a:endParaRPr lang="en-US" sz="2000" dirty="0">
              <a:highlight>
                <a:srgbClr val="FFFF00"/>
              </a:highlight>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Go to the bottom and add:</a:t>
            </a:r>
          </a:p>
          <a:p>
            <a:pPr rtl="0">
              <a:buNone/>
            </a:pPr>
            <a:r>
              <a:rPr lang="en-US" sz="2000" dirty="0">
                <a:latin typeface="Times New Roman" panose="02020603050405020304" pitchFamily="18" charset="0"/>
                <a:cs typeface="Times New Roman" panose="02020603050405020304" pitchFamily="18" charset="0"/>
              </a:rPr>
              <a:t>UUID=YOUR-UUID /data </a:t>
            </a:r>
            <a:r>
              <a:rPr lang="en-US" sz="2000" dirty="0" err="1">
                <a:latin typeface="Times New Roman" panose="02020603050405020304" pitchFamily="18" charset="0"/>
                <a:cs typeface="Times New Roman" panose="02020603050405020304" pitchFamily="18" charset="0"/>
              </a:rPr>
              <a:t>xfs</a:t>
            </a:r>
            <a:r>
              <a:rPr lang="en-US" sz="2000" dirty="0">
                <a:latin typeface="Times New Roman" panose="02020603050405020304" pitchFamily="18" charset="0"/>
                <a:cs typeface="Times New Roman" panose="02020603050405020304" pitchFamily="18" charset="0"/>
              </a:rPr>
              <a:t> defaults 0 0</a:t>
            </a:r>
          </a:p>
          <a:p>
            <a:pPr>
              <a:buNone/>
            </a:pPr>
            <a:r>
              <a:rPr lang="en-US" sz="2000" dirty="0">
                <a:latin typeface="Times New Roman" panose="02020603050405020304" pitchFamily="18" charset="0"/>
                <a:cs typeface="Times New Roman" panose="02020603050405020304" pitchFamily="18" charset="0"/>
              </a:rPr>
              <a:t>For example:</a:t>
            </a:r>
          </a:p>
          <a:p>
            <a:pPr rtl="0">
              <a:buNone/>
            </a:pPr>
            <a:r>
              <a:rPr lang="en-US" sz="2000" dirty="0">
                <a:latin typeface="Times New Roman" panose="02020603050405020304" pitchFamily="18" charset="0"/>
                <a:cs typeface="Times New Roman" panose="02020603050405020304" pitchFamily="18" charset="0"/>
              </a:rPr>
              <a:t>UUID=8c2a1234-1111-2222-3333-abcdef123456 /data </a:t>
            </a:r>
            <a:r>
              <a:rPr lang="en-US" sz="2000" dirty="0" err="1">
                <a:latin typeface="Times New Roman" panose="02020603050405020304" pitchFamily="18" charset="0"/>
                <a:cs typeface="Times New Roman" panose="02020603050405020304" pitchFamily="18" charset="0"/>
              </a:rPr>
              <a:t>xfs</a:t>
            </a:r>
            <a:r>
              <a:rPr lang="en-US" sz="2000" dirty="0">
                <a:latin typeface="Times New Roman" panose="02020603050405020304" pitchFamily="18" charset="0"/>
                <a:cs typeface="Times New Roman" panose="02020603050405020304" pitchFamily="18" charset="0"/>
              </a:rPr>
              <a:t> defaults 0 0</a:t>
            </a:r>
          </a:p>
          <a:p>
            <a:pPr>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Don't copy my UUID.</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Use the UUID from </a:t>
            </a:r>
            <a:r>
              <a:rPr lang="en-US" sz="2000" b="1" dirty="0">
                <a:latin typeface="Times New Roman" panose="02020603050405020304" pitchFamily="18" charset="0"/>
                <a:cs typeface="Times New Roman" panose="02020603050405020304" pitchFamily="18" charset="0"/>
              </a:rPr>
              <a:t>your own </a:t>
            </a:r>
            <a:r>
              <a:rPr lang="en-US" sz="2000" b="1" dirty="0" err="1">
                <a:latin typeface="Times New Roman" panose="02020603050405020304" pitchFamily="18" charset="0"/>
                <a:cs typeface="Times New Roman" panose="02020603050405020304" pitchFamily="18" charset="0"/>
              </a:rPr>
              <a:t>lsblk</a:t>
            </a:r>
            <a:r>
              <a:rPr lang="en-US" sz="2000" b="1" dirty="0">
                <a:latin typeface="Times New Roman" panose="02020603050405020304" pitchFamily="18" charset="0"/>
                <a:cs typeface="Times New Roman" panose="02020603050405020304" pitchFamily="18" charset="0"/>
              </a:rPr>
              <a:t> -f output</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79979543"/>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0F2872F-8F40-F9B5-E8FC-87941C8BF58F}"/>
              </a:ext>
            </a:extLst>
          </p:cNvPr>
          <p:cNvSpPr txBox="1"/>
          <p:nvPr/>
        </p:nvSpPr>
        <p:spPr>
          <a:xfrm>
            <a:off x="0" y="-38100"/>
            <a:ext cx="4093936" cy="4401205"/>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Understand every part</a:t>
            </a:r>
          </a:p>
          <a:p>
            <a:pPr>
              <a:buNone/>
            </a:pPr>
            <a:r>
              <a:rPr lang="en-US" sz="2000" dirty="0">
                <a:latin typeface="Times New Roman" panose="02020603050405020304" pitchFamily="18" charset="0"/>
                <a:cs typeface="Times New Roman" panose="02020603050405020304" pitchFamily="18" charset="0"/>
              </a:rPr>
              <a:t>Look at:</a:t>
            </a:r>
          </a:p>
          <a:p>
            <a:pPr rtl="0">
              <a:buNone/>
            </a:pPr>
            <a:r>
              <a:rPr lang="en-US" sz="2000" dirty="0">
                <a:latin typeface="Times New Roman" panose="02020603050405020304" pitchFamily="18" charset="0"/>
                <a:cs typeface="Times New Roman" panose="02020603050405020304" pitchFamily="18" charset="0"/>
              </a:rPr>
              <a:t>UUID=</a:t>
            </a:r>
            <a:r>
              <a:rPr lang="en-US" sz="2000" dirty="0" err="1">
                <a:latin typeface="Times New Roman" panose="02020603050405020304" pitchFamily="18" charset="0"/>
                <a:cs typeface="Times New Roman" panose="02020603050405020304" pitchFamily="18" charset="0"/>
              </a:rPr>
              <a:t>xxxx</a:t>
            </a:r>
            <a:r>
              <a:rPr lang="en-US" sz="2000" dirty="0">
                <a:latin typeface="Times New Roman" panose="02020603050405020304" pitchFamily="18" charset="0"/>
                <a:cs typeface="Times New Roman" panose="02020603050405020304" pitchFamily="18" charset="0"/>
              </a:rPr>
              <a:t>   /data   </a:t>
            </a:r>
            <a:r>
              <a:rPr lang="en-US" sz="2000" dirty="0" err="1">
                <a:latin typeface="Times New Roman" panose="02020603050405020304" pitchFamily="18" charset="0"/>
                <a:cs typeface="Times New Roman" panose="02020603050405020304" pitchFamily="18" charset="0"/>
              </a:rPr>
              <a:t>xfs</a:t>
            </a:r>
            <a:r>
              <a:rPr lang="en-US" sz="2000" dirty="0">
                <a:latin typeface="Times New Roman" panose="02020603050405020304" pitchFamily="18" charset="0"/>
                <a:cs typeface="Times New Roman" panose="02020603050405020304" pitchFamily="18" charset="0"/>
              </a:rPr>
              <a:t>   defaults   0   0</a:t>
            </a:r>
          </a:p>
          <a:p>
            <a:pPr>
              <a:buNone/>
            </a:pPr>
            <a:r>
              <a:rPr lang="en-US" sz="2000" b="1" dirty="0">
                <a:latin typeface="Times New Roman" panose="02020603050405020304" pitchFamily="18" charset="0"/>
                <a:cs typeface="Times New Roman" panose="02020603050405020304" pitchFamily="18" charset="0"/>
              </a:rPr>
              <a:t>1️⃣ UUID</a:t>
            </a:r>
          </a:p>
          <a:p>
            <a:pPr rtl="0">
              <a:buNone/>
            </a:pPr>
            <a:r>
              <a:rPr lang="en-US" sz="2000" dirty="0">
                <a:latin typeface="Times New Roman" panose="02020603050405020304" pitchFamily="18" charset="0"/>
                <a:cs typeface="Times New Roman" panose="02020603050405020304" pitchFamily="18" charset="0"/>
              </a:rPr>
              <a:t>UUID=</a:t>
            </a:r>
            <a:r>
              <a:rPr lang="en-US" sz="2000" dirty="0" err="1">
                <a:latin typeface="Times New Roman" panose="02020603050405020304" pitchFamily="18" charset="0"/>
                <a:cs typeface="Times New Roman" panose="02020603050405020304" pitchFamily="18" charset="0"/>
              </a:rPr>
              <a:t>xxxx</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Tells Linux </a:t>
            </a:r>
            <a:r>
              <a:rPr lang="en-US" sz="2000" b="1" dirty="0">
                <a:latin typeface="Times New Roman" panose="02020603050405020304" pitchFamily="18" charset="0"/>
                <a:cs typeface="Times New Roman" panose="02020603050405020304" pitchFamily="18" charset="0"/>
              </a:rPr>
              <a:t>which storage device/filesystem</a:t>
            </a:r>
            <a:r>
              <a:rPr lang="en-US" sz="2000" dirty="0">
                <a:latin typeface="Times New Roman" panose="02020603050405020304" pitchFamily="18" charset="0"/>
                <a:cs typeface="Times New Roman" panose="02020603050405020304" pitchFamily="18" charset="0"/>
              </a:rPr>
              <a:t> to use.</a:t>
            </a:r>
          </a:p>
          <a:p>
            <a:pPr>
              <a:buNone/>
            </a:pPr>
            <a:r>
              <a:rPr lang="en-US" sz="2000" b="1" dirty="0">
                <a:latin typeface="Times New Roman" panose="02020603050405020304" pitchFamily="18" charset="0"/>
                <a:cs typeface="Times New Roman" panose="02020603050405020304" pitchFamily="18" charset="0"/>
              </a:rPr>
              <a:t>2️⃣ /data</a:t>
            </a:r>
          </a:p>
          <a:p>
            <a:pPr rtl="0">
              <a:buNone/>
            </a:pPr>
            <a:r>
              <a:rPr lang="en-US" sz="2000" dirty="0">
                <a:latin typeface="Times New Roman" panose="02020603050405020304" pitchFamily="18" charset="0"/>
                <a:cs typeface="Times New Roman" panose="02020603050405020304" pitchFamily="18" charset="0"/>
              </a:rPr>
              <a:t>/data</a:t>
            </a:r>
          </a:p>
          <a:p>
            <a:pPr>
              <a:buNone/>
            </a:pPr>
            <a:r>
              <a:rPr lang="en-US" sz="2000" dirty="0">
                <a:latin typeface="Times New Roman" panose="02020603050405020304" pitchFamily="18" charset="0"/>
                <a:cs typeface="Times New Roman" panose="02020603050405020304" pitchFamily="18" charset="0"/>
              </a:rPr>
              <a:t>Tells Linux </a:t>
            </a:r>
            <a:r>
              <a:rPr lang="en-US" sz="2000" b="1" dirty="0">
                <a:latin typeface="Times New Roman" panose="02020603050405020304" pitchFamily="18" charset="0"/>
                <a:cs typeface="Times New Roman" panose="02020603050405020304" pitchFamily="18" charset="0"/>
              </a:rPr>
              <a:t>where to mount it</a:t>
            </a:r>
            <a:r>
              <a:rPr lang="en-US" sz="2000" dirty="0">
                <a:latin typeface="Times New Roman" panose="02020603050405020304" pitchFamily="18" charset="0"/>
                <a:cs typeface="Times New Roman" panose="02020603050405020304" pitchFamily="18" charset="0"/>
              </a:rPr>
              <a:t>.</a:t>
            </a:r>
          </a:p>
          <a:p>
            <a:pPr>
              <a:buNone/>
            </a:pPr>
            <a:r>
              <a:rPr lang="en-US" sz="2000" b="1" dirty="0">
                <a:latin typeface="Times New Roman" panose="02020603050405020304" pitchFamily="18" charset="0"/>
                <a:cs typeface="Times New Roman" panose="02020603050405020304" pitchFamily="18" charset="0"/>
              </a:rPr>
              <a:t>3️⃣ </a:t>
            </a:r>
            <a:r>
              <a:rPr lang="en-US" sz="2000" b="1" dirty="0" err="1">
                <a:latin typeface="Times New Roman" panose="02020603050405020304" pitchFamily="18" charset="0"/>
                <a:cs typeface="Times New Roman" panose="02020603050405020304" pitchFamily="18" charset="0"/>
              </a:rPr>
              <a:t>xfs</a:t>
            </a:r>
            <a:endParaRPr lang="en-US" sz="2000" b="1" dirty="0">
              <a:latin typeface="Times New Roman" panose="02020603050405020304" pitchFamily="18" charset="0"/>
              <a:cs typeface="Times New Roman" panose="02020603050405020304" pitchFamily="18" charset="0"/>
            </a:endParaRPr>
          </a:p>
          <a:p>
            <a:pPr rtl="0">
              <a:buNone/>
            </a:pPr>
            <a:r>
              <a:rPr lang="en-US" sz="2000" dirty="0" err="1">
                <a:latin typeface="Times New Roman" panose="02020603050405020304" pitchFamily="18" charset="0"/>
                <a:cs typeface="Times New Roman" panose="02020603050405020304" pitchFamily="18" charset="0"/>
              </a:rPr>
              <a:t>xfs</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Tells Linux the </a:t>
            </a:r>
            <a:r>
              <a:rPr lang="en-US" sz="2000" b="1" dirty="0">
                <a:latin typeface="Times New Roman" panose="02020603050405020304" pitchFamily="18" charset="0"/>
                <a:cs typeface="Times New Roman" panose="02020603050405020304" pitchFamily="18" charset="0"/>
              </a:rPr>
              <a:t>filesystem type</a:t>
            </a:r>
            <a:r>
              <a:rPr lang="en-US" sz="2000" dirty="0">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E149B6F8-E4AE-0158-1220-59AB8B2EE786}"/>
              </a:ext>
            </a:extLst>
          </p:cNvPr>
          <p:cNvSpPr txBox="1"/>
          <p:nvPr/>
        </p:nvSpPr>
        <p:spPr>
          <a:xfrm>
            <a:off x="4352925" y="0"/>
            <a:ext cx="4791075" cy="3477875"/>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4️⃣ defaults</a:t>
            </a:r>
          </a:p>
          <a:p>
            <a:pPr rtl="0">
              <a:buNone/>
            </a:pPr>
            <a:r>
              <a:rPr lang="en-US" sz="2000" dirty="0">
                <a:latin typeface="Times New Roman" panose="02020603050405020304" pitchFamily="18" charset="0"/>
                <a:cs typeface="Times New Roman" panose="02020603050405020304" pitchFamily="18" charset="0"/>
              </a:rPr>
              <a:t>defaults</a:t>
            </a:r>
          </a:p>
          <a:p>
            <a:pPr>
              <a:buNone/>
            </a:pPr>
            <a:r>
              <a:rPr lang="en-US" sz="2000" dirty="0">
                <a:latin typeface="Times New Roman" panose="02020603050405020304" pitchFamily="18" charset="0"/>
                <a:cs typeface="Times New Roman" panose="02020603050405020304" pitchFamily="18" charset="0"/>
              </a:rPr>
              <a:t>Use the standard/default mount options.</a:t>
            </a:r>
          </a:p>
          <a:p>
            <a:pPr>
              <a:buNone/>
            </a:pPr>
            <a:r>
              <a:rPr lang="en-US" sz="2000" b="1" dirty="0">
                <a:latin typeface="Times New Roman" panose="02020603050405020304" pitchFamily="18" charset="0"/>
                <a:cs typeface="Times New Roman" panose="02020603050405020304" pitchFamily="18" charset="0"/>
              </a:rPr>
              <a:t>5️⃣ 0</a:t>
            </a:r>
          </a:p>
          <a:p>
            <a:pPr rtl="0">
              <a:buNone/>
            </a:pPr>
            <a:r>
              <a:rPr lang="en-US" sz="2000" dirty="0">
                <a:latin typeface="Times New Roman" panose="02020603050405020304" pitchFamily="18" charset="0"/>
                <a:cs typeface="Times New Roman" panose="02020603050405020304" pitchFamily="18" charset="0"/>
              </a:rPr>
              <a:t>0</a:t>
            </a:r>
          </a:p>
          <a:p>
            <a:pPr>
              <a:buNone/>
            </a:pPr>
            <a:r>
              <a:rPr lang="en-US" sz="2000" dirty="0">
                <a:latin typeface="Times New Roman" panose="02020603050405020304" pitchFamily="18" charset="0"/>
                <a:cs typeface="Times New Roman" panose="02020603050405020304" pitchFamily="18" charset="0"/>
              </a:rPr>
              <a:t>The old dump backup field.</a:t>
            </a:r>
          </a:p>
          <a:p>
            <a:pPr>
              <a:buNone/>
            </a:pPr>
            <a:r>
              <a:rPr lang="en-US" sz="2000" b="1" dirty="0">
                <a:latin typeface="Times New Roman" panose="02020603050405020304" pitchFamily="18" charset="0"/>
                <a:cs typeface="Times New Roman" panose="02020603050405020304" pitchFamily="18" charset="0"/>
              </a:rPr>
              <a:t>6️⃣ 0</a:t>
            </a:r>
          </a:p>
          <a:p>
            <a:pPr rtl="0">
              <a:buNone/>
            </a:pPr>
            <a:r>
              <a:rPr lang="en-US" sz="2000" dirty="0">
                <a:latin typeface="Times New Roman" panose="02020603050405020304" pitchFamily="18" charset="0"/>
                <a:cs typeface="Times New Roman" panose="02020603050405020304" pitchFamily="18" charset="0"/>
              </a:rPr>
              <a:t>0</a:t>
            </a:r>
          </a:p>
          <a:p>
            <a:pPr>
              <a:buNone/>
            </a:pPr>
            <a:r>
              <a:rPr lang="en-US" sz="2000" dirty="0">
                <a:latin typeface="Times New Roman" panose="02020603050405020304" pitchFamily="18" charset="0"/>
                <a:cs typeface="Times New Roman" panose="02020603050405020304" pitchFamily="18" charset="0"/>
              </a:rPr>
              <a:t>Filesystem check order.</a:t>
            </a:r>
          </a:p>
          <a:p>
            <a:pPr>
              <a:buNone/>
            </a:pPr>
            <a:r>
              <a:rPr lang="en-US" sz="2000" dirty="0">
                <a:latin typeface="Times New Roman" panose="02020603050405020304" pitchFamily="18" charset="0"/>
                <a:cs typeface="Times New Roman" panose="02020603050405020304" pitchFamily="18" charset="0"/>
              </a:rPr>
              <a:t>Red Hat documents these six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fstab</a:t>
            </a:r>
            <a:r>
              <a:rPr lang="en-US" sz="2000" dirty="0">
                <a:latin typeface="Times New Roman" panose="02020603050405020304" pitchFamily="18" charset="0"/>
                <a:cs typeface="Times New Roman" panose="02020603050405020304" pitchFamily="18" charset="0"/>
              </a:rPr>
              <a:t> fields in this order. </a:t>
            </a:r>
          </a:p>
        </p:txBody>
      </p:sp>
    </p:spTree>
    <p:extLst>
      <p:ext uri="{BB962C8B-B14F-4D97-AF65-F5344CB8AC3E}">
        <p14:creationId xmlns:p14="http://schemas.microsoft.com/office/powerpoint/2010/main" val="1707069925"/>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69C7057-6838-90E3-BC90-EAA2DC94EA47}"/>
              </a:ext>
            </a:extLst>
          </p:cNvPr>
          <p:cNvSpPr txBox="1"/>
          <p:nvPr/>
        </p:nvSpPr>
        <p:spPr>
          <a:xfrm>
            <a:off x="3003630" y="1410158"/>
            <a:ext cx="3136739" cy="2554545"/>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If you're using vi:</a:t>
            </a:r>
          </a:p>
          <a:p>
            <a:pPr>
              <a:buNone/>
            </a:pPr>
            <a:r>
              <a:rPr lang="en-US" sz="2000" dirty="0">
                <a:latin typeface="Times New Roman" panose="02020603050405020304" pitchFamily="18" charset="0"/>
                <a:cs typeface="Times New Roman" panose="02020603050405020304" pitchFamily="18" charset="0"/>
              </a:rPr>
              <a:t>Press:</a:t>
            </a:r>
          </a:p>
          <a:p>
            <a:pPr rtl="0">
              <a:buNone/>
            </a:pPr>
            <a:r>
              <a:rPr lang="en-US" sz="2000" dirty="0">
                <a:latin typeface="Times New Roman" panose="02020603050405020304" pitchFamily="18" charset="0"/>
                <a:cs typeface="Times New Roman" panose="02020603050405020304" pitchFamily="18" charset="0"/>
              </a:rPr>
              <a:t>Esc</a:t>
            </a:r>
          </a:p>
          <a:p>
            <a:pPr>
              <a:buNone/>
            </a:pPr>
            <a:r>
              <a:rPr lang="en-US" sz="2000" dirty="0">
                <a:latin typeface="Times New Roman" panose="02020603050405020304" pitchFamily="18" charset="0"/>
                <a:cs typeface="Times New Roman" panose="02020603050405020304" pitchFamily="18" charset="0"/>
              </a:rPr>
              <a:t>Then type:</a:t>
            </a:r>
          </a:p>
          <a:p>
            <a:pPr rtl="0">
              <a:buNone/>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wq</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Press </a:t>
            </a:r>
            <a:r>
              <a:rPr lang="en-US" sz="2000" b="1" dirty="0">
                <a:latin typeface="Times New Roman" panose="02020603050405020304" pitchFamily="18" charset="0"/>
                <a:cs typeface="Times New Roman" panose="02020603050405020304" pitchFamily="18" charset="0"/>
              </a:rPr>
              <a:t>Enter</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w = write/save.</a:t>
            </a:r>
          </a:p>
          <a:p>
            <a:pPr>
              <a:buNone/>
            </a:pPr>
            <a:r>
              <a:rPr lang="en-US" sz="2000" dirty="0">
                <a:latin typeface="Times New Roman" panose="02020603050405020304" pitchFamily="18" charset="0"/>
                <a:cs typeface="Times New Roman" panose="02020603050405020304" pitchFamily="18" charset="0"/>
              </a:rPr>
              <a:t>q = quit.</a:t>
            </a:r>
          </a:p>
        </p:txBody>
      </p:sp>
      <p:sp>
        <p:nvSpPr>
          <p:cNvPr id="8" name="TextBox 7">
            <a:extLst>
              <a:ext uri="{FF2B5EF4-FFF2-40B4-BE49-F238E27FC236}">
                <a16:creationId xmlns:a16="http://schemas.microsoft.com/office/drawing/2014/main" id="{AE9DC1AE-36BC-E379-7B5C-E63FC0A060A5}"/>
              </a:ext>
            </a:extLst>
          </p:cNvPr>
          <p:cNvSpPr txBox="1"/>
          <p:nvPr/>
        </p:nvSpPr>
        <p:spPr>
          <a:xfrm>
            <a:off x="823686" y="448454"/>
            <a:ext cx="5159828" cy="400110"/>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STEP 16</a:t>
            </a:r>
          </a:p>
        </p:txBody>
      </p:sp>
      <p:sp>
        <p:nvSpPr>
          <p:cNvPr id="10" name="TextBox 9">
            <a:extLst>
              <a:ext uri="{FF2B5EF4-FFF2-40B4-BE49-F238E27FC236}">
                <a16:creationId xmlns:a16="http://schemas.microsoft.com/office/drawing/2014/main" id="{17E04120-6D12-5CAA-3C0E-44DEEDA52B35}"/>
              </a:ext>
            </a:extLst>
          </p:cNvPr>
          <p:cNvSpPr txBox="1"/>
          <p:nvPr/>
        </p:nvSpPr>
        <p:spPr>
          <a:xfrm>
            <a:off x="562429" y="2171640"/>
            <a:ext cx="1875972" cy="400110"/>
          </a:xfrm>
          <a:prstGeom prst="rect">
            <a:avLst/>
          </a:prstGeom>
          <a:noFill/>
        </p:spPr>
        <p:txBody>
          <a:bodyPr wrap="square">
            <a:spAutoFit/>
          </a:bodyPr>
          <a:lstStyle/>
          <a:p>
            <a:r>
              <a:rPr lang="en-US" sz="2000" b="1" dirty="0">
                <a:highlight>
                  <a:srgbClr val="FFFF00"/>
                </a:highlight>
                <a:latin typeface="Times New Roman" panose="02020603050405020304" pitchFamily="18" charset="0"/>
                <a:cs typeface="Times New Roman" panose="02020603050405020304" pitchFamily="18" charset="0"/>
              </a:rPr>
              <a:t>Save /</a:t>
            </a:r>
            <a:r>
              <a:rPr lang="en-US" sz="2000" b="1" dirty="0" err="1">
                <a:highlight>
                  <a:srgbClr val="FFFF00"/>
                </a:highlight>
                <a:latin typeface="Times New Roman" panose="02020603050405020304" pitchFamily="18" charset="0"/>
                <a:cs typeface="Times New Roman" panose="02020603050405020304" pitchFamily="18" charset="0"/>
              </a:rPr>
              <a:t>etc</a:t>
            </a:r>
            <a:r>
              <a:rPr lang="en-US" sz="2000" b="1" dirty="0">
                <a:highlight>
                  <a:srgbClr val="FFFF00"/>
                </a:highlight>
                <a:latin typeface="Times New Roman" panose="02020603050405020304" pitchFamily="18" charset="0"/>
                <a:cs typeface="Times New Roman" panose="02020603050405020304" pitchFamily="18" charset="0"/>
              </a:rPr>
              <a:t>/</a:t>
            </a:r>
            <a:r>
              <a:rPr lang="en-US" sz="2000" b="1" dirty="0" err="1">
                <a:highlight>
                  <a:srgbClr val="FFFF00"/>
                </a:highlight>
                <a:latin typeface="Times New Roman" panose="02020603050405020304" pitchFamily="18" charset="0"/>
                <a:cs typeface="Times New Roman" panose="02020603050405020304" pitchFamily="18" charset="0"/>
              </a:rPr>
              <a:t>fstab</a:t>
            </a:r>
            <a:endParaRPr lang="en-US" sz="2000" dirty="0">
              <a:highlight>
                <a:srgbClr val="FFFF00"/>
              </a:highlight>
            </a:endParaRPr>
          </a:p>
        </p:txBody>
      </p:sp>
    </p:spTree>
    <p:extLst>
      <p:ext uri="{BB962C8B-B14F-4D97-AF65-F5344CB8AC3E}">
        <p14:creationId xmlns:p14="http://schemas.microsoft.com/office/powerpoint/2010/main" val="734784667"/>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CE5FF-31C6-993C-807F-1204B1A878FD}"/>
              </a:ext>
            </a:extLst>
          </p:cNvPr>
          <p:cNvSpPr>
            <a:spLocks noGrp="1"/>
          </p:cNvSpPr>
          <p:nvPr>
            <p:ph type="title"/>
          </p:nvPr>
        </p:nvSpPr>
        <p:spPr/>
        <p:txBody>
          <a:bodyPr/>
          <a:lstStyle/>
          <a:p>
            <a:r>
              <a:rPr lang="en-US" sz="2000">
                <a:latin typeface="Times New Roman" panose="02020603050405020304" pitchFamily="18" charset="0"/>
                <a:cs typeface="Times New Roman" panose="02020603050405020304" pitchFamily="18" charset="0"/>
              </a:rPr>
              <a:t>STEP 17</a:t>
            </a:r>
            <a:endParaRPr lang="en-US" sz="2000" dirty="0"/>
          </a:p>
        </p:txBody>
      </p:sp>
      <p:sp>
        <p:nvSpPr>
          <p:cNvPr id="4" name="TextBox 3">
            <a:extLst>
              <a:ext uri="{FF2B5EF4-FFF2-40B4-BE49-F238E27FC236}">
                <a16:creationId xmlns:a16="http://schemas.microsoft.com/office/drawing/2014/main" id="{C01FA2E2-1A44-0EEC-965F-FEF4F9DF2BD6}"/>
              </a:ext>
            </a:extLst>
          </p:cNvPr>
          <p:cNvSpPr txBox="1"/>
          <p:nvPr/>
        </p:nvSpPr>
        <p:spPr>
          <a:xfrm>
            <a:off x="452699" y="1622604"/>
            <a:ext cx="8255872" cy="3170099"/>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This is VERY important. Don't reboot immediately.</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Run:</a:t>
            </a:r>
          </a:p>
          <a:p>
            <a:pPr rtl="0">
              <a:buNone/>
            </a:pPr>
            <a:r>
              <a:rPr lang="en-US" sz="2000" dirty="0">
                <a:highlight>
                  <a:srgbClr val="FFFF00"/>
                </a:highlight>
                <a:latin typeface="Times New Roman" panose="02020603050405020304" pitchFamily="18" charset="0"/>
                <a:cs typeface="Times New Roman" panose="02020603050405020304" pitchFamily="18" charset="0"/>
              </a:rPr>
              <a:t>mount -a</a:t>
            </a:r>
          </a:p>
          <a:p>
            <a:pPr>
              <a:buNone/>
            </a:pPr>
            <a:r>
              <a:rPr lang="en-US" sz="2000" dirty="0">
                <a:latin typeface="Times New Roman" panose="02020603050405020304" pitchFamily="18" charset="0"/>
                <a:cs typeface="Times New Roman" panose="02020603050405020304" pitchFamily="18" charset="0"/>
              </a:rPr>
              <a:t>-a = </a:t>
            </a:r>
            <a:r>
              <a:rPr lang="en-US" sz="2000" b="1" dirty="0">
                <a:latin typeface="Times New Roman" panose="02020603050405020304" pitchFamily="18" charset="0"/>
                <a:cs typeface="Times New Roman" panose="02020603050405020304" pitchFamily="18" charset="0"/>
              </a:rPr>
              <a:t>all</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It tells Linux to mount the filesystems configured in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fstab</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If you get </a:t>
            </a:r>
            <a:r>
              <a:rPr lang="en-US" sz="2000" b="1" dirty="0">
                <a:latin typeface="Times New Roman" panose="02020603050405020304" pitchFamily="18" charset="0"/>
                <a:cs typeface="Times New Roman" panose="02020603050405020304" pitchFamily="18" charset="0"/>
              </a:rPr>
              <a:t>no error</a:t>
            </a:r>
            <a:r>
              <a:rPr lang="en-US" sz="2000" dirty="0">
                <a:latin typeface="Times New Roman" panose="02020603050405020304" pitchFamily="18" charset="0"/>
                <a:cs typeface="Times New Roman" panose="02020603050405020304" pitchFamily="18" charset="0"/>
              </a:rPr>
              <a:t>, that's a good sign.</a:t>
            </a:r>
          </a:p>
          <a:p>
            <a:pPr>
              <a:buNone/>
            </a:pPr>
            <a:r>
              <a:rPr lang="en-US" sz="2000" dirty="0">
                <a:latin typeface="Times New Roman" panose="02020603050405020304" pitchFamily="18" charset="0"/>
                <a:cs typeface="Times New Roman" panose="02020603050405020304" pitchFamily="18" charset="0"/>
              </a:rPr>
              <a:t>Red Hat recommends testing the persistent configuration by mounting the filesystem after adding the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fstab</a:t>
            </a:r>
            <a:r>
              <a:rPr lang="en-US" sz="2000" dirty="0">
                <a:latin typeface="Times New Roman" panose="02020603050405020304" pitchFamily="18" charset="0"/>
                <a:cs typeface="Times New Roman" panose="02020603050405020304" pitchFamily="18" charset="0"/>
              </a:rPr>
              <a:t> entry. </a:t>
            </a:r>
          </a:p>
          <a:p>
            <a:pPr>
              <a:buNone/>
            </a:pPr>
            <a:r>
              <a:rPr lang="en-US" sz="2000" dirty="0">
                <a:latin typeface="Times New Roman" panose="02020603050405020304" pitchFamily="18" charset="0"/>
                <a:cs typeface="Times New Roman" panose="02020603050405020304" pitchFamily="18" charset="0"/>
              </a:rPr>
              <a:t>You can also run:</a:t>
            </a:r>
          </a:p>
          <a:p>
            <a:pPr rtl="0">
              <a:buNone/>
            </a:pPr>
            <a:r>
              <a:rPr lang="en-US" sz="2000" dirty="0" err="1">
                <a:latin typeface="Times New Roman" panose="02020603050405020304" pitchFamily="18" charset="0"/>
                <a:cs typeface="Times New Roman" panose="02020603050405020304" pitchFamily="18" charset="0"/>
              </a:rPr>
              <a:t>findmnt</a:t>
            </a:r>
            <a:r>
              <a:rPr lang="en-US" sz="2000" dirty="0">
                <a:latin typeface="Times New Roman" panose="02020603050405020304" pitchFamily="18" charset="0"/>
                <a:cs typeface="Times New Roman" panose="02020603050405020304" pitchFamily="18" charset="0"/>
              </a:rPr>
              <a:t> /data</a:t>
            </a:r>
            <a:endParaRPr lang="en-US" sz="2000" dirty="0"/>
          </a:p>
        </p:txBody>
      </p:sp>
      <p:sp>
        <p:nvSpPr>
          <p:cNvPr id="6" name="TextBox 5">
            <a:extLst>
              <a:ext uri="{FF2B5EF4-FFF2-40B4-BE49-F238E27FC236}">
                <a16:creationId xmlns:a16="http://schemas.microsoft.com/office/drawing/2014/main" id="{FC57E492-47ED-D048-CFCF-2B3231B6EB9C}"/>
              </a:ext>
            </a:extLst>
          </p:cNvPr>
          <p:cNvSpPr txBox="1"/>
          <p:nvPr/>
        </p:nvSpPr>
        <p:spPr>
          <a:xfrm>
            <a:off x="452699" y="1120109"/>
            <a:ext cx="5159828" cy="400110"/>
          </a:xfrm>
          <a:prstGeom prst="rect">
            <a:avLst/>
          </a:prstGeom>
          <a:noFill/>
        </p:spPr>
        <p:txBody>
          <a:bodyPr wrap="square">
            <a:spAutoFit/>
          </a:bodyPr>
          <a:lstStyle/>
          <a:p>
            <a:r>
              <a:rPr lang="en-US" sz="2000" dirty="0">
                <a:highlight>
                  <a:srgbClr val="00FF00"/>
                </a:highlight>
                <a:latin typeface="Times New Roman" panose="02020603050405020304" pitchFamily="18" charset="0"/>
                <a:cs typeface="Times New Roman" panose="02020603050405020304" pitchFamily="18" charset="0"/>
              </a:rPr>
              <a:t>Test /</a:t>
            </a:r>
            <a:r>
              <a:rPr lang="en-US" sz="2000" dirty="0" err="1">
                <a:highlight>
                  <a:srgbClr val="00FF00"/>
                </a:highlight>
                <a:latin typeface="Times New Roman" panose="02020603050405020304" pitchFamily="18" charset="0"/>
                <a:cs typeface="Times New Roman" panose="02020603050405020304" pitchFamily="18" charset="0"/>
              </a:rPr>
              <a:t>etc</a:t>
            </a:r>
            <a:r>
              <a:rPr lang="en-US" sz="2000" dirty="0">
                <a:highlight>
                  <a:srgbClr val="00FF00"/>
                </a:highlight>
                <a:latin typeface="Times New Roman" panose="02020603050405020304" pitchFamily="18" charset="0"/>
                <a:cs typeface="Times New Roman" panose="02020603050405020304" pitchFamily="18" charset="0"/>
              </a:rPr>
              <a:t>/</a:t>
            </a:r>
            <a:r>
              <a:rPr lang="en-US" sz="2000" dirty="0" err="1">
                <a:highlight>
                  <a:srgbClr val="00FF00"/>
                </a:highlight>
                <a:latin typeface="Times New Roman" panose="02020603050405020304" pitchFamily="18" charset="0"/>
                <a:cs typeface="Times New Roman" panose="02020603050405020304" pitchFamily="18" charset="0"/>
              </a:rPr>
              <a:t>fstab</a:t>
            </a:r>
            <a:endParaRPr lang="en-US" sz="2000" dirty="0">
              <a:highlight>
                <a:srgbClr val="00FF00"/>
              </a:highlight>
            </a:endParaRPr>
          </a:p>
        </p:txBody>
      </p:sp>
    </p:spTree>
    <p:extLst>
      <p:ext uri="{BB962C8B-B14F-4D97-AF65-F5344CB8AC3E}">
        <p14:creationId xmlns:p14="http://schemas.microsoft.com/office/powerpoint/2010/main" val="4273866572"/>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5F4DE28-1621-E193-0B2D-294E320B31BD}"/>
              </a:ext>
            </a:extLst>
          </p:cNvPr>
          <p:cNvSpPr txBox="1"/>
          <p:nvPr/>
        </p:nvSpPr>
        <p:spPr>
          <a:xfrm>
            <a:off x="615497" y="1140589"/>
            <a:ext cx="5159828" cy="2862322"/>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Run:</a:t>
            </a:r>
          </a:p>
          <a:p>
            <a:pPr rtl="0">
              <a:buNone/>
            </a:pPr>
            <a:r>
              <a:rPr lang="en-US" sz="2000" dirty="0" err="1">
                <a:highlight>
                  <a:srgbClr val="FFFF00"/>
                </a:highlight>
                <a:latin typeface="Times New Roman" panose="02020603050405020304" pitchFamily="18" charset="0"/>
                <a:cs typeface="Times New Roman" panose="02020603050405020304" pitchFamily="18" charset="0"/>
              </a:rPr>
              <a:t>systemctl</a:t>
            </a:r>
            <a:r>
              <a:rPr lang="en-US" sz="2000" dirty="0">
                <a:highlight>
                  <a:srgbClr val="FFFF00"/>
                </a:highlight>
                <a:latin typeface="Times New Roman" panose="02020603050405020304" pitchFamily="18" charset="0"/>
                <a:cs typeface="Times New Roman" panose="02020603050405020304" pitchFamily="18" charset="0"/>
              </a:rPr>
              <a:t> daemon-reload</a:t>
            </a:r>
          </a:p>
          <a:p>
            <a:pPr>
              <a:buNone/>
            </a:pPr>
            <a:r>
              <a:rPr lang="en-US" sz="2000" dirty="0" err="1">
                <a:latin typeface="Times New Roman" panose="02020603050405020304" pitchFamily="18" charset="0"/>
                <a:cs typeface="Times New Roman" panose="02020603050405020304" pitchFamily="18" charset="0"/>
              </a:rPr>
              <a:t>systemctl</a:t>
            </a:r>
            <a:r>
              <a:rPr lang="en-US" sz="2000" dirty="0">
                <a:latin typeface="Times New Roman" panose="02020603050405020304" pitchFamily="18" charset="0"/>
                <a:cs typeface="Times New Roman" panose="02020603050405020304" pitchFamily="18" charset="0"/>
              </a:rPr>
              <a:t> = command used to control/manage </a:t>
            </a:r>
            <a:r>
              <a:rPr lang="en-US" sz="2000" b="1" dirty="0" err="1">
                <a:latin typeface="Times New Roman" panose="02020603050405020304" pitchFamily="18" charset="0"/>
                <a:cs typeface="Times New Roman" panose="02020603050405020304" pitchFamily="18" charset="0"/>
              </a:rPr>
              <a:t>systemd</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daemon-reload tells </a:t>
            </a:r>
            <a:r>
              <a:rPr lang="en-US" sz="2000" dirty="0" err="1">
                <a:latin typeface="Times New Roman" panose="02020603050405020304" pitchFamily="18" charset="0"/>
                <a:cs typeface="Times New Roman" panose="02020603050405020304" pitchFamily="18" charset="0"/>
              </a:rPr>
              <a:t>systemd</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"Reload the configuration files because something changed."</a:t>
            </a:r>
          </a:p>
          <a:p>
            <a:pPr>
              <a:buNone/>
            </a:pPr>
            <a:r>
              <a:rPr lang="en-US" sz="2000" dirty="0">
                <a:latin typeface="Times New Roman" panose="02020603050405020304" pitchFamily="18" charset="0"/>
                <a:cs typeface="Times New Roman" panose="02020603050405020304" pitchFamily="18" charset="0"/>
              </a:rPr>
              <a:t>Red Hat includes </a:t>
            </a:r>
            <a:r>
              <a:rPr lang="en-US" sz="2000" dirty="0" err="1">
                <a:latin typeface="Times New Roman" panose="02020603050405020304" pitchFamily="18" charset="0"/>
                <a:cs typeface="Times New Roman" panose="02020603050405020304" pitchFamily="18" charset="0"/>
              </a:rPr>
              <a:t>systemctl</a:t>
            </a:r>
            <a:r>
              <a:rPr lang="en-US" sz="2000" dirty="0">
                <a:latin typeface="Times New Roman" panose="02020603050405020304" pitchFamily="18" charset="0"/>
                <a:cs typeface="Times New Roman" panose="02020603050405020304" pitchFamily="18" charset="0"/>
              </a:rPr>
              <a:t> daemon-reload when registering new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fstab</a:t>
            </a:r>
            <a:r>
              <a:rPr lang="en-US" sz="2000" dirty="0">
                <a:latin typeface="Times New Roman" panose="02020603050405020304" pitchFamily="18" charset="0"/>
                <a:cs typeface="Times New Roman" panose="02020603050405020304" pitchFamily="18" charset="0"/>
              </a:rPr>
              <a:t> configuration. </a:t>
            </a:r>
          </a:p>
        </p:txBody>
      </p:sp>
      <p:sp>
        <p:nvSpPr>
          <p:cNvPr id="6" name="TextBox 5">
            <a:extLst>
              <a:ext uri="{FF2B5EF4-FFF2-40B4-BE49-F238E27FC236}">
                <a16:creationId xmlns:a16="http://schemas.microsoft.com/office/drawing/2014/main" id="{447940DD-216B-B12E-9BA1-820F81F5EC38}"/>
              </a:ext>
            </a:extLst>
          </p:cNvPr>
          <p:cNvSpPr txBox="1"/>
          <p:nvPr/>
        </p:nvSpPr>
        <p:spPr>
          <a:xfrm>
            <a:off x="612775" y="511232"/>
            <a:ext cx="5162550" cy="400110"/>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STEP 18 — Reload </a:t>
            </a:r>
            <a:r>
              <a:rPr lang="en-US" sz="2000" b="1" dirty="0" err="1">
                <a:latin typeface="Times New Roman" panose="02020603050405020304" pitchFamily="18" charset="0"/>
                <a:cs typeface="Times New Roman" panose="02020603050405020304" pitchFamily="18" charset="0"/>
              </a:rPr>
              <a:t>systemd</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2205285"/>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D456B83-7AB0-D25B-F079-B7AA7164B414}"/>
              </a:ext>
            </a:extLst>
          </p:cNvPr>
          <p:cNvSpPr txBox="1"/>
          <p:nvPr/>
        </p:nvSpPr>
        <p:spPr>
          <a:xfrm>
            <a:off x="2436710" y="614221"/>
            <a:ext cx="4270580" cy="4093428"/>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Now:</a:t>
            </a:r>
          </a:p>
          <a:p>
            <a:pPr rtl="0">
              <a:buNone/>
            </a:pPr>
            <a:r>
              <a:rPr lang="en-US" sz="2000" dirty="0">
                <a:latin typeface="Times New Roman" panose="02020603050405020304" pitchFamily="18" charset="0"/>
                <a:cs typeface="Times New Roman" panose="02020603050405020304" pitchFamily="18" charset="0"/>
              </a:rPr>
              <a:t>reboot</a:t>
            </a:r>
          </a:p>
          <a:p>
            <a:pPr>
              <a:buNone/>
            </a:pPr>
            <a:r>
              <a:rPr lang="en-US" sz="2000" dirty="0">
                <a:latin typeface="Times New Roman" panose="02020603050405020304" pitchFamily="18" charset="0"/>
                <a:cs typeface="Times New Roman" panose="02020603050405020304" pitchFamily="18" charset="0"/>
              </a:rPr>
              <a:t>After Rocky Linux starts:</a:t>
            </a:r>
          </a:p>
          <a:p>
            <a:pPr rtl="0">
              <a:buNone/>
            </a:pPr>
            <a:r>
              <a:rPr lang="en-US" sz="2000" dirty="0" err="1">
                <a:latin typeface="Times New Roman" panose="02020603050405020304" pitchFamily="18" charset="0"/>
                <a:cs typeface="Times New Roman" panose="02020603050405020304" pitchFamily="18" charset="0"/>
              </a:rPr>
              <a:t>lsblk</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You should see:</a:t>
            </a:r>
          </a:p>
          <a:p>
            <a:pPr rtl="0">
              <a:buNone/>
            </a:pPr>
            <a:r>
              <a:rPr lang="en-US" sz="2000" dirty="0" err="1">
                <a:latin typeface="Times New Roman" panose="02020603050405020304" pitchFamily="18" charset="0"/>
                <a:cs typeface="Times New Roman" panose="02020603050405020304" pitchFamily="18" charset="0"/>
              </a:rPr>
              <a:t>sdb</a:t>
            </a:r>
            <a:r>
              <a:rPr lang="en-US" sz="2000" dirty="0">
                <a:latin typeface="Times New Roman" panose="02020603050405020304" pitchFamily="18" charset="0"/>
                <a:cs typeface="Times New Roman" panose="02020603050405020304" pitchFamily="18" charset="0"/>
              </a:rPr>
              <a:t>       20G disk</a:t>
            </a:r>
          </a:p>
          <a:p>
            <a:pPr rtl="0">
              <a:buNone/>
            </a:pPr>
            <a:r>
              <a:rPr lang="en-US" sz="2000" dirty="0">
                <a:latin typeface="Times New Roman" panose="02020603050405020304" pitchFamily="18" charset="0"/>
                <a:cs typeface="Times New Roman" panose="02020603050405020304" pitchFamily="18" charset="0"/>
              </a:rPr>
              <a:t>└─sdb1    20G part /data</a:t>
            </a:r>
          </a:p>
          <a:p>
            <a:pPr>
              <a:buNone/>
            </a:pPr>
            <a:r>
              <a:rPr lang="en-US" sz="2000" dirty="0">
                <a:latin typeface="Times New Roman" panose="02020603050405020304" pitchFamily="18" charset="0"/>
                <a:cs typeface="Times New Roman" panose="02020603050405020304" pitchFamily="18" charset="0"/>
              </a:rPr>
              <a:t>Then:</a:t>
            </a:r>
          </a:p>
          <a:p>
            <a:pPr rtl="0">
              <a:buNone/>
            </a:pPr>
            <a:r>
              <a:rPr lang="en-US" sz="2000" dirty="0" err="1">
                <a:latin typeface="Times New Roman" panose="02020603050405020304" pitchFamily="18" charset="0"/>
                <a:cs typeface="Times New Roman" panose="02020603050405020304" pitchFamily="18" charset="0"/>
              </a:rPr>
              <a:t>df</a:t>
            </a:r>
            <a:r>
              <a:rPr lang="en-US" sz="2000" dirty="0">
                <a:latin typeface="Times New Roman" panose="02020603050405020304" pitchFamily="18" charset="0"/>
                <a:cs typeface="Times New Roman" panose="02020603050405020304" pitchFamily="18" charset="0"/>
              </a:rPr>
              <a:t> -h</a:t>
            </a:r>
          </a:p>
          <a:p>
            <a:pPr>
              <a:buNone/>
            </a:pPr>
            <a:r>
              <a:rPr lang="en-US" sz="2000" dirty="0">
                <a:latin typeface="Times New Roman" panose="02020603050405020304" pitchFamily="18" charset="0"/>
                <a:cs typeface="Times New Roman" panose="02020603050405020304" pitchFamily="18" charset="0"/>
              </a:rPr>
              <a:t>And:</a:t>
            </a:r>
          </a:p>
          <a:p>
            <a:pPr rtl="0">
              <a:buNone/>
            </a:pPr>
            <a:r>
              <a:rPr lang="en-US" sz="2000" dirty="0" err="1">
                <a:latin typeface="Times New Roman" panose="02020603050405020304" pitchFamily="18" charset="0"/>
                <a:cs typeface="Times New Roman" panose="02020603050405020304" pitchFamily="18" charset="0"/>
              </a:rPr>
              <a:t>findmnt</a:t>
            </a:r>
            <a:r>
              <a:rPr lang="en-US" sz="2000" dirty="0">
                <a:latin typeface="Times New Roman" panose="02020603050405020304" pitchFamily="18" charset="0"/>
                <a:cs typeface="Times New Roman" panose="02020603050405020304" pitchFamily="18" charset="0"/>
              </a:rPr>
              <a:t> /data</a:t>
            </a:r>
          </a:p>
          <a:p>
            <a:pPr>
              <a:buNone/>
            </a:pPr>
            <a:r>
              <a:rPr lang="en-US" sz="2000" dirty="0">
                <a:latin typeface="Times New Roman" panose="02020603050405020304" pitchFamily="18" charset="0"/>
                <a:cs typeface="Times New Roman" panose="02020603050405020304" pitchFamily="18" charset="0"/>
              </a:rPr>
              <a:t>If /data appears, congratulations. </a:t>
            </a:r>
          </a:p>
          <a:p>
            <a:pPr>
              <a:buNone/>
            </a:pPr>
            <a:r>
              <a:rPr lang="en-US" sz="2000" dirty="0">
                <a:latin typeface="Times New Roman" panose="02020603050405020304" pitchFamily="18" charset="0"/>
                <a:cs typeface="Times New Roman" panose="02020603050405020304" pitchFamily="18" charset="0"/>
              </a:rPr>
              <a:t>You have created a </a:t>
            </a:r>
            <a:r>
              <a:rPr lang="en-US" sz="2000" b="1" dirty="0">
                <a:latin typeface="Times New Roman" panose="02020603050405020304" pitchFamily="18" charset="0"/>
                <a:cs typeface="Times New Roman" panose="02020603050405020304" pitchFamily="18" charset="0"/>
              </a:rPr>
              <a:t>persistent mount</a:t>
            </a:r>
            <a:r>
              <a:rPr lang="en-US" sz="2000" dirty="0">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27ABA6D9-10FD-5D09-5E2A-ECE27CE6FCC8}"/>
              </a:ext>
            </a:extLst>
          </p:cNvPr>
          <p:cNvSpPr txBox="1"/>
          <p:nvPr/>
        </p:nvSpPr>
        <p:spPr>
          <a:xfrm>
            <a:off x="396875" y="125211"/>
            <a:ext cx="5162550" cy="400110"/>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STEP 19 — Reboot and test</a:t>
            </a:r>
          </a:p>
        </p:txBody>
      </p:sp>
    </p:spTree>
    <p:extLst>
      <p:ext uri="{BB962C8B-B14F-4D97-AF65-F5344CB8AC3E}">
        <p14:creationId xmlns:p14="http://schemas.microsoft.com/office/powerpoint/2010/main" val="1251183746"/>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B05B170-EC74-A058-3714-0F44260BDD73}"/>
              </a:ext>
            </a:extLst>
          </p:cNvPr>
          <p:cNvSpPr txBox="1"/>
          <p:nvPr/>
        </p:nvSpPr>
        <p:spPr>
          <a:xfrm>
            <a:off x="1857375" y="734099"/>
            <a:ext cx="5162550" cy="4062651"/>
          </a:xfrm>
          <a:prstGeom prst="rect">
            <a:avLst/>
          </a:prstGeom>
          <a:noFill/>
        </p:spPr>
        <p:txBody>
          <a:bodyPr wrap="square">
            <a:spAutoFit/>
          </a:bodyPr>
          <a:lstStyle/>
          <a:p>
            <a:pPr>
              <a:buNone/>
            </a:pPr>
            <a:r>
              <a:rPr lang="en-US" sz="300" b="1" dirty="0">
                <a:latin typeface="Times New Roman" panose="02020603050405020304" pitchFamily="18" charset="0"/>
                <a:cs typeface="Times New Roman" panose="02020603050405020304" pitchFamily="18" charset="0"/>
              </a:rPr>
              <a:t>🧑‍🏫 Complete lab — commands only</a:t>
            </a:r>
          </a:p>
          <a:p>
            <a:pPr>
              <a:buNone/>
            </a:pPr>
            <a:r>
              <a:rPr lang="en-US" sz="300" dirty="0">
                <a:latin typeface="Times New Roman" panose="02020603050405020304" pitchFamily="18" charset="0"/>
                <a:cs typeface="Times New Roman" panose="02020603050405020304" pitchFamily="18" charset="0"/>
              </a:rPr>
              <a:t>If you're doing this as a practical, this is the sequence to remember:</a:t>
            </a:r>
          </a:p>
          <a:p>
            <a:pPr rtl="0">
              <a:buNone/>
            </a:pPr>
            <a:r>
              <a:rPr lang="en-US" sz="300" dirty="0">
                <a:latin typeface="Times New Roman" panose="02020603050405020304" pitchFamily="18" charset="0"/>
                <a:cs typeface="Times New Roman" panose="02020603050405020304" pitchFamily="18" charset="0"/>
              </a:rPr>
              <a:t># Become root</a:t>
            </a:r>
          </a:p>
          <a:p>
            <a:pPr rtl="0">
              <a:buNone/>
            </a:pPr>
            <a:r>
              <a:rPr lang="en-US" sz="300" dirty="0" err="1">
                <a:latin typeface="Times New Roman" panose="02020603050405020304" pitchFamily="18" charset="0"/>
                <a:cs typeface="Times New Roman" panose="02020603050405020304" pitchFamily="18" charset="0"/>
              </a:rPr>
              <a:t>sudo</a:t>
            </a:r>
            <a:r>
              <a:rPr lang="en-US" sz="300" dirty="0">
                <a:latin typeface="Times New Roman" panose="02020603050405020304" pitchFamily="18" charset="0"/>
                <a:cs typeface="Times New Roman" panose="02020603050405020304" pitchFamily="18" charset="0"/>
              </a:rPr>
              <a:t> -</a:t>
            </a:r>
            <a:r>
              <a:rPr lang="en-US" sz="300" dirty="0" err="1">
                <a:latin typeface="Times New Roman" panose="02020603050405020304" pitchFamily="18" charset="0"/>
                <a:cs typeface="Times New Roman" panose="02020603050405020304" pitchFamily="18" charset="0"/>
              </a:rPr>
              <a:t>i</a:t>
            </a:r>
            <a:endParaRPr lang="en-US" sz="300" dirty="0">
              <a:latin typeface="Times New Roman" panose="02020603050405020304" pitchFamily="18" charset="0"/>
              <a:cs typeface="Times New Roman" panose="02020603050405020304" pitchFamily="18" charset="0"/>
            </a:endParaRP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Find new disk</a:t>
            </a:r>
          </a:p>
          <a:p>
            <a:pPr rtl="0">
              <a:buNone/>
            </a:pPr>
            <a:r>
              <a:rPr lang="en-US" sz="300" dirty="0" err="1">
                <a:latin typeface="Times New Roman" panose="02020603050405020304" pitchFamily="18" charset="0"/>
                <a:cs typeface="Times New Roman" panose="02020603050405020304" pitchFamily="18" charset="0"/>
              </a:rPr>
              <a:t>lsblk</a:t>
            </a:r>
            <a:endParaRPr lang="en-US" sz="300" dirty="0">
              <a:latin typeface="Times New Roman" panose="02020603050405020304" pitchFamily="18" charset="0"/>
              <a:cs typeface="Times New Roman" panose="02020603050405020304" pitchFamily="18" charset="0"/>
            </a:endParaRP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Check filesystem</a:t>
            </a:r>
          </a:p>
          <a:p>
            <a:pPr rtl="0">
              <a:buNone/>
            </a:pPr>
            <a:r>
              <a:rPr lang="en-US" sz="300" dirty="0" err="1">
                <a:latin typeface="Times New Roman" panose="02020603050405020304" pitchFamily="18" charset="0"/>
                <a:cs typeface="Times New Roman" panose="02020603050405020304" pitchFamily="18" charset="0"/>
              </a:rPr>
              <a:t>lsblk</a:t>
            </a:r>
            <a:r>
              <a:rPr lang="en-US" sz="300" dirty="0">
                <a:latin typeface="Times New Roman" panose="02020603050405020304" pitchFamily="18" charset="0"/>
                <a:cs typeface="Times New Roman" panose="02020603050405020304" pitchFamily="18" charset="0"/>
              </a:rPr>
              <a:t> -f</a:t>
            </a: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Create partition</a:t>
            </a:r>
          </a:p>
          <a:p>
            <a:pPr rtl="0">
              <a:buNone/>
            </a:pPr>
            <a:r>
              <a:rPr lang="en-US" sz="300" dirty="0" err="1">
                <a:latin typeface="Times New Roman" panose="02020603050405020304" pitchFamily="18" charset="0"/>
                <a:cs typeface="Times New Roman" panose="02020603050405020304" pitchFamily="18" charset="0"/>
              </a:rPr>
              <a:t>fdisk</a:t>
            </a:r>
            <a:r>
              <a:rPr lang="en-US" sz="300" dirty="0">
                <a:latin typeface="Times New Roman" panose="02020603050405020304" pitchFamily="18" charset="0"/>
                <a:cs typeface="Times New Roman" panose="02020603050405020304" pitchFamily="18" charset="0"/>
              </a:rPr>
              <a:t> /dev/</a:t>
            </a:r>
            <a:r>
              <a:rPr lang="en-US" sz="300" dirty="0" err="1">
                <a:latin typeface="Times New Roman" panose="02020603050405020304" pitchFamily="18" charset="0"/>
                <a:cs typeface="Times New Roman" panose="02020603050405020304" pitchFamily="18" charset="0"/>
              </a:rPr>
              <a:t>sdb</a:t>
            </a:r>
            <a:endParaRPr lang="en-US" sz="300" dirty="0">
              <a:latin typeface="Times New Roman" panose="02020603050405020304" pitchFamily="18" charset="0"/>
              <a:cs typeface="Times New Roman" panose="02020603050405020304" pitchFamily="18" charset="0"/>
            </a:endParaRP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Inside </a:t>
            </a:r>
            <a:r>
              <a:rPr lang="en-US" sz="300" dirty="0" err="1">
                <a:latin typeface="Times New Roman" panose="02020603050405020304" pitchFamily="18" charset="0"/>
                <a:cs typeface="Times New Roman" panose="02020603050405020304" pitchFamily="18" charset="0"/>
              </a:rPr>
              <a:t>fdisk</a:t>
            </a:r>
            <a:r>
              <a:rPr lang="en-US" sz="300" dirty="0">
                <a:latin typeface="Times New Roman" panose="02020603050405020304" pitchFamily="18" charset="0"/>
                <a:cs typeface="Times New Roman" panose="02020603050405020304" pitchFamily="18" charset="0"/>
              </a:rPr>
              <a:t>:</a:t>
            </a:r>
          </a:p>
          <a:p>
            <a:pPr rtl="0">
              <a:buNone/>
            </a:pPr>
            <a:r>
              <a:rPr lang="en-US" sz="300" dirty="0">
                <a:latin typeface="Times New Roman" panose="02020603050405020304" pitchFamily="18" charset="0"/>
                <a:cs typeface="Times New Roman" panose="02020603050405020304" pitchFamily="18" charset="0"/>
              </a:rPr>
              <a:t>n</a:t>
            </a:r>
          </a:p>
          <a:p>
            <a:pPr rtl="0">
              <a:buNone/>
            </a:pPr>
            <a:r>
              <a:rPr lang="en-US" sz="300" dirty="0">
                <a:latin typeface="Times New Roman" panose="02020603050405020304" pitchFamily="18" charset="0"/>
                <a:cs typeface="Times New Roman" panose="02020603050405020304" pitchFamily="18" charset="0"/>
              </a:rPr>
              <a:t>p</a:t>
            </a:r>
          </a:p>
          <a:p>
            <a:pPr rtl="0">
              <a:buNone/>
            </a:pPr>
            <a:r>
              <a:rPr lang="en-US" sz="300" dirty="0">
                <a:latin typeface="Times New Roman" panose="02020603050405020304" pitchFamily="18" charset="0"/>
                <a:cs typeface="Times New Roman" panose="02020603050405020304" pitchFamily="18" charset="0"/>
              </a:rPr>
              <a:t>Enter</a:t>
            </a:r>
          </a:p>
          <a:p>
            <a:pPr rtl="0">
              <a:buNone/>
            </a:pPr>
            <a:r>
              <a:rPr lang="en-US" sz="300" dirty="0">
                <a:latin typeface="Times New Roman" panose="02020603050405020304" pitchFamily="18" charset="0"/>
                <a:cs typeface="Times New Roman" panose="02020603050405020304" pitchFamily="18" charset="0"/>
              </a:rPr>
              <a:t>Enter</a:t>
            </a:r>
          </a:p>
          <a:p>
            <a:pPr rtl="0">
              <a:buNone/>
            </a:pPr>
            <a:r>
              <a:rPr lang="en-US" sz="300" dirty="0">
                <a:latin typeface="Times New Roman" panose="02020603050405020304" pitchFamily="18" charset="0"/>
                <a:cs typeface="Times New Roman" panose="02020603050405020304" pitchFamily="18" charset="0"/>
              </a:rPr>
              <a:t>Enter</a:t>
            </a:r>
          </a:p>
          <a:p>
            <a:pPr rtl="0">
              <a:buNone/>
            </a:pPr>
            <a:r>
              <a:rPr lang="en-US" sz="300" dirty="0">
                <a:latin typeface="Times New Roman" panose="02020603050405020304" pitchFamily="18" charset="0"/>
                <a:cs typeface="Times New Roman" panose="02020603050405020304" pitchFamily="18" charset="0"/>
              </a:rPr>
              <a:t>w</a:t>
            </a: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Verify</a:t>
            </a:r>
          </a:p>
          <a:p>
            <a:pPr rtl="0">
              <a:buNone/>
            </a:pPr>
            <a:r>
              <a:rPr lang="en-US" sz="300" dirty="0" err="1">
                <a:latin typeface="Times New Roman" panose="02020603050405020304" pitchFamily="18" charset="0"/>
                <a:cs typeface="Times New Roman" panose="02020603050405020304" pitchFamily="18" charset="0"/>
              </a:rPr>
              <a:t>lsblk</a:t>
            </a:r>
            <a:endParaRPr lang="en-US" sz="300" dirty="0">
              <a:latin typeface="Times New Roman" panose="02020603050405020304" pitchFamily="18" charset="0"/>
              <a:cs typeface="Times New Roman" panose="02020603050405020304" pitchFamily="18" charset="0"/>
            </a:endParaRP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Create XFS filesystem</a:t>
            </a:r>
          </a:p>
          <a:p>
            <a:pPr rtl="0">
              <a:buNone/>
            </a:pPr>
            <a:r>
              <a:rPr lang="en-US" sz="300" dirty="0" err="1">
                <a:latin typeface="Times New Roman" panose="02020603050405020304" pitchFamily="18" charset="0"/>
                <a:cs typeface="Times New Roman" panose="02020603050405020304" pitchFamily="18" charset="0"/>
              </a:rPr>
              <a:t>mkfs.xfs</a:t>
            </a:r>
            <a:r>
              <a:rPr lang="en-US" sz="300" dirty="0">
                <a:latin typeface="Times New Roman" panose="02020603050405020304" pitchFamily="18" charset="0"/>
                <a:cs typeface="Times New Roman" panose="02020603050405020304" pitchFamily="18" charset="0"/>
              </a:rPr>
              <a:t> /dev/sdb1</a:t>
            </a: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Verify</a:t>
            </a:r>
          </a:p>
          <a:p>
            <a:pPr rtl="0">
              <a:buNone/>
            </a:pPr>
            <a:r>
              <a:rPr lang="en-US" sz="300" dirty="0" err="1">
                <a:latin typeface="Times New Roman" panose="02020603050405020304" pitchFamily="18" charset="0"/>
                <a:cs typeface="Times New Roman" panose="02020603050405020304" pitchFamily="18" charset="0"/>
              </a:rPr>
              <a:t>lsblk</a:t>
            </a:r>
            <a:r>
              <a:rPr lang="en-US" sz="300" dirty="0">
                <a:latin typeface="Times New Roman" panose="02020603050405020304" pitchFamily="18" charset="0"/>
                <a:cs typeface="Times New Roman" panose="02020603050405020304" pitchFamily="18" charset="0"/>
              </a:rPr>
              <a:t> -f</a:t>
            </a: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Create mount point</a:t>
            </a:r>
          </a:p>
          <a:p>
            <a:pPr rtl="0">
              <a:buNone/>
            </a:pPr>
            <a:r>
              <a:rPr lang="en-US" sz="300" dirty="0" err="1">
                <a:latin typeface="Times New Roman" panose="02020603050405020304" pitchFamily="18" charset="0"/>
                <a:cs typeface="Times New Roman" panose="02020603050405020304" pitchFamily="18" charset="0"/>
              </a:rPr>
              <a:t>mkdir</a:t>
            </a:r>
            <a:r>
              <a:rPr lang="en-US" sz="300" dirty="0">
                <a:latin typeface="Times New Roman" panose="02020603050405020304" pitchFamily="18" charset="0"/>
                <a:cs typeface="Times New Roman" panose="02020603050405020304" pitchFamily="18" charset="0"/>
              </a:rPr>
              <a:t> /data</a:t>
            </a: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Mount</a:t>
            </a:r>
          </a:p>
          <a:p>
            <a:pPr rtl="0">
              <a:buNone/>
            </a:pPr>
            <a:r>
              <a:rPr lang="en-US" sz="300" dirty="0">
                <a:latin typeface="Times New Roman" panose="02020603050405020304" pitchFamily="18" charset="0"/>
                <a:cs typeface="Times New Roman" panose="02020603050405020304" pitchFamily="18" charset="0"/>
              </a:rPr>
              <a:t>mount /dev/sdb1 /data</a:t>
            </a: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Verify</a:t>
            </a:r>
          </a:p>
          <a:p>
            <a:pPr rtl="0">
              <a:buNone/>
            </a:pPr>
            <a:r>
              <a:rPr lang="en-US" sz="300" dirty="0" err="1">
                <a:latin typeface="Times New Roman" panose="02020603050405020304" pitchFamily="18" charset="0"/>
                <a:cs typeface="Times New Roman" panose="02020603050405020304" pitchFamily="18" charset="0"/>
              </a:rPr>
              <a:t>df</a:t>
            </a:r>
            <a:r>
              <a:rPr lang="en-US" sz="300" dirty="0">
                <a:latin typeface="Times New Roman" panose="02020603050405020304" pitchFamily="18" charset="0"/>
                <a:cs typeface="Times New Roman" panose="02020603050405020304" pitchFamily="18" charset="0"/>
              </a:rPr>
              <a:t> -h</a:t>
            </a:r>
          </a:p>
          <a:p>
            <a:pPr rtl="0">
              <a:buNone/>
            </a:pPr>
            <a:r>
              <a:rPr lang="en-US" sz="300" dirty="0" err="1">
                <a:latin typeface="Times New Roman" panose="02020603050405020304" pitchFamily="18" charset="0"/>
                <a:cs typeface="Times New Roman" panose="02020603050405020304" pitchFamily="18" charset="0"/>
              </a:rPr>
              <a:t>findmnt</a:t>
            </a:r>
            <a:r>
              <a:rPr lang="en-US" sz="300" dirty="0">
                <a:latin typeface="Times New Roman" panose="02020603050405020304" pitchFamily="18" charset="0"/>
                <a:cs typeface="Times New Roman" panose="02020603050405020304" pitchFamily="18" charset="0"/>
              </a:rPr>
              <a:t> /data</a:t>
            </a: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Test storage</a:t>
            </a:r>
          </a:p>
          <a:p>
            <a:pPr rtl="0">
              <a:buNone/>
            </a:pPr>
            <a:r>
              <a:rPr lang="en-US" sz="300" dirty="0">
                <a:latin typeface="Times New Roman" panose="02020603050405020304" pitchFamily="18" charset="0"/>
                <a:cs typeface="Times New Roman" panose="02020603050405020304" pitchFamily="18" charset="0"/>
              </a:rPr>
              <a:t>echo "Hello Rocky Linux" &gt; /data/test.txt</a:t>
            </a:r>
          </a:p>
          <a:p>
            <a:pPr rtl="0">
              <a:buNone/>
            </a:pPr>
            <a:r>
              <a:rPr lang="en-US" sz="300" dirty="0">
                <a:latin typeface="Times New Roman" panose="02020603050405020304" pitchFamily="18" charset="0"/>
                <a:cs typeface="Times New Roman" panose="02020603050405020304" pitchFamily="18" charset="0"/>
              </a:rPr>
              <a:t>cat /data/test.txt</a:t>
            </a: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Get UUID</a:t>
            </a:r>
          </a:p>
          <a:p>
            <a:pPr rtl="0">
              <a:buNone/>
            </a:pPr>
            <a:r>
              <a:rPr lang="en-US" sz="300" dirty="0" err="1">
                <a:latin typeface="Times New Roman" panose="02020603050405020304" pitchFamily="18" charset="0"/>
                <a:cs typeface="Times New Roman" panose="02020603050405020304" pitchFamily="18" charset="0"/>
              </a:rPr>
              <a:t>lsblk</a:t>
            </a:r>
            <a:r>
              <a:rPr lang="en-US" sz="300" dirty="0">
                <a:latin typeface="Times New Roman" panose="02020603050405020304" pitchFamily="18" charset="0"/>
                <a:cs typeface="Times New Roman" panose="02020603050405020304" pitchFamily="18" charset="0"/>
              </a:rPr>
              <a:t> -f</a:t>
            </a: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Edit persistent mount configuration</a:t>
            </a:r>
          </a:p>
          <a:p>
            <a:pPr rtl="0">
              <a:buNone/>
            </a:pPr>
            <a:r>
              <a:rPr lang="en-US" sz="300" dirty="0">
                <a:latin typeface="Times New Roman" panose="02020603050405020304" pitchFamily="18" charset="0"/>
                <a:cs typeface="Times New Roman" panose="02020603050405020304" pitchFamily="18" charset="0"/>
              </a:rPr>
              <a:t>vi /</a:t>
            </a:r>
            <a:r>
              <a:rPr lang="en-US" sz="300" dirty="0" err="1">
                <a:latin typeface="Times New Roman" panose="02020603050405020304" pitchFamily="18" charset="0"/>
                <a:cs typeface="Times New Roman" panose="02020603050405020304" pitchFamily="18" charset="0"/>
              </a:rPr>
              <a:t>etc</a:t>
            </a:r>
            <a:r>
              <a:rPr lang="en-US" sz="300" dirty="0">
                <a:latin typeface="Times New Roman" panose="02020603050405020304" pitchFamily="18" charset="0"/>
                <a:cs typeface="Times New Roman" panose="02020603050405020304" pitchFamily="18" charset="0"/>
              </a:rPr>
              <a:t>/</a:t>
            </a:r>
            <a:r>
              <a:rPr lang="en-US" sz="300" dirty="0" err="1">
                <a:latin typeface="Times New Roman" panose="02020603050405020304" pitchFamily="18" charset="0"/>
                <a:cs typeface="Times New Roman" panose="02020603050405020304" pitchFamily="18" charset="0"/>
              </a:rPr>
              <a:t>fstab</a:t>
            </a:r>
            <a:endParaRPr lang="en-US" sz="300" dirty="0">
              <a:latin typeface="Times New Roman" panose="02020603050405020304" pitchFamily="18" charset="0"/>
              <a:cs typeface="Times New Roman" panose="02020603050405020304" pitchFamily="18" charset="0"/>
            </a:endParaRP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Add:</a:t>
            </a:r>
          </a:p>
          <a:p>
            <a:pPr rtl="0">
              <a:buNone/>
            </a:pPr>
            <a:r>
              <a:rPr lang="en-US" sz="300" dirty="0">
                <a:latin typeface="Times New Roman" panose="02020603050405020304" pitchFamily="18" charset="0"/>
                <a:cs typeface="Times New Roman" panose="02020603050405020304" pitchFamily="18" charset="0"/>
              </a:rPr>
              <a:t>UUID=YOUR-UUID /data </a:t>
            </a:r>
            <a:r>
              <a:rPr lang="en-US" sz="300" dirty="0" err="1">
                <a:latin typeface="Times New Roman" panose="02020603050405020304" pitchFamily="18" charset="0"/>
                <a:cs typeface="Times New Roman" panose="02020603050405020304" pitchFamily="18" charset="0"/>
              </a:rPr>
              <a:t>xfs</a:t>
            </a:r>
            <a:r>
              <a:rPr lang="en-US" sz="300" dirty="0">
                <a:latin typeface="Times New Roman" panose="02020603050405020304" pitchFamily="18" charset="0"/>
                <a:cs typeface="Times New Roman" panose="02020603050405020304" pitchFamily="18" charset="0"/>
              </a:rPr>
              <a:t> defaults 0 0</a:t>
            </a: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Reload </a:t>
            </a:r>
            <a:r>
              <a:rPr lang="en-US" sz="300" dirty="0" err="1">
                <a:latin typeface="Times New Roman" panose="02020603050405020304" pitchFamily="18" charset="0"/>
                <a:cs typeface="Times New Roman" panose="02020603050405020304" pitchFamily="18" charset="0"/>
              </a:rPr>
              <a:t>systemd</a:t>
            </a:r>
            <a:endParaRPr lang="en-US" sz="300" dirty="0">
              <a:latin typeface="Times New Roman" panose="02020603050405020304" pitchFamily="18" charset="0"/>
              <a:cs typeface="Times New Roman" panose="02020603050405020304" pitchFamily="18" charset="0"/>
            </a:endParaRPr>
          </a:p>
          <a:p>
            <a:pPr rtl="0">
              <a:buNone/>
            </a:pPr>
            <a:r>
              <a:rPr lang="en-US" sz="300" dirty="0" err="1">
                <a:latin typeface="Times New Roman" panose="02020603050405020304" pitchFamily="18" charset="0"/>
                <a:cs typeface="Times New Roman" panose="02020603050405020304" pitchFamily="18" charset="0"/>
              </a:rPr>
              <a:t>systemctl</a:t>
            </a:r>
            <a:r>
              <a:rPr lang="en-US" sz="300" dirty="0">
                <a:latin typeface="Times New Roman" panose="02020603050405020304" pitchFamily="18" charset="0"/>
                <a:cs typeface="Times New Roman" panose="02020603050405020304" pitchFamily="18" charset="0"/>
              </a:rPr>
              <a:t> daemon-reload</a:t>
            </a: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Test </a:t>
            </a:r>
            <a:r>
              <a:rPr lang="en-US" sz="300" dirty="0" err="1">
                <a:latin typeface="Times New Roman" panose="02020603050405020304" pitchFamily="18" charset="0"/>
                <a:cs typeface="Times New Roman" panose="02020603050405020304" pitchFamily="18" charset="0"/>
              </a:rPr>
              <a:t>fstab</a:t>
            </a: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mount -a</a:t>
            </a: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Verify</a:t>
            </a:r>
          </a:p>
          <a:p>
            <a:pPr rtl="0">
              <a:buNone/>
            </a:pPr>
            <a:r>
              <a:rPr lang="en-US" sz="300" dirty="0" err="1">
                <a:latin typeface="Times New Roman" panose="02020603050405020304" pitchFamily="18" charset="0"/>
                <a:cs typeface="Times New Roman" panose="02020603050405020304" pitchFamily="18" charset="0"/>
              </a:rPr>
              <a:t>findmnt</a:t>
            </a:r>
            <a:r>
              <a:rPr lang="en-US" sz="300" dirty="0">
                <a:latin typeface="Times New Roman" panose="02020603050405020304" pitchFamily="18" charset="0"/>
                <a:cs typeface="Times New Roman" panose="02020603050405020304" pitchFamily="18" charset="0"/>
              </a:rPr>
              <a:t> /data</a:t>
            </a:r>
          </a:p>
          <a:p>
            <a:pPr rtl="0">
              <a:buNone/>
            </a:pP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Reboot</a:t>
            </a:r>
          </a:p>
          <a:p>
            <a:pPr rtl="0">
              <a:buNone/>
            </a:pPr>
            <a:r>
              <a:rPr lang="en-US" sz="300" dirty="0">
                <a:latin typeface="Times New Roman" panose="02020603050405020304" pitchFamily="18" charset="0"/>
                <a:cs typeface="Times New Roman" panose="02020603050405020304" pitchFamily="18" charset="0"/>
              </a:rPr>
              <a:t>reboot</a:t>
            </a:r>
          </a:p>
          <a:p>
            <a:pPr>
              <a:buNone/>
            </a:pPr>
            <a:br>
              <a:rPr lang="en-US" sz="300" dirty="0">
                <a:latin typeface="Times New Roman" panose="02020603050405020304" pitchFamily="18" charset="0"/>
                <a:cs typeface="Times New Roman" panose="02020603050405020304" pitchFamily="18" charset="0"/>
              </a:rPr>
            </a:br>
            <a:endParaRPr lang="en-US" sz="300" dirty="0">
              <a:latin typeface="Times New Roman" panose="02020603050405020304" pitchFamily="18" charset="0"/>
              <a:cs typeface="Times New Roman" panose="02020603050405020304" pitchFamily="18" charset="0"/>
            </a:endParaRPr>
          </a:p>
          <a:p>
            <a:pPr>
              <a:buNone/>
            </a:pPr>
            <a:r>
              <a:rPr lang="en-US" sz="300" b="1" dirty="0">
                <a:latin typeface="Times New Roman" panose="02020603050405020304" pitchFamily="18" charset="0"/>
                <a:cs typeface="Times New Roman" panose="02020603050405020304" pitchFamily="18" charset="0"/>
              </a:rPr>
              <a:t>⭐ Remember this 7-step formula</a:t>
            </a:r>
          </a:p>
          <a:p>
            <a:pPr>
              <a:buNone/>
            </a:pPr>
            <a:r>
              <a:rPr lang="en-US" sz="300" dirty="0">
                <a:latin typeface="Times New Roman" panose="02020603050405020304" pitchFamily="18" charset="0"/>
                <a:cs typeface="Times New Roman" panose="02020603050405020304" pitchFamily="18" charset="0"/>
              </a:rPr>
              <a:t>For your Linux class, memorize:</a:t>
            </a:r>
          </a:p>
          <a:p>
            <a:pPr rtl="0">
              <a:buNone/>
            </a:pPr>
            <a:r>
              <a:rPr lang="en-US" sz="300" dirty="0">
                <a:latin typeface="Times New Roman" panose="02020603050405020304" pitchFamily="18" charset="0"/>
                <a:cs typeface="Times New Roman" panose="02020603050405020304" pitchFamily="18" charset="0"/>
              </a:rPr>
              <a:t>1. </a:t>
            </a:r>
            <a:r>
              <a:rPr lang="en-US" sz="300" dirty="0" err="1">
                <a:latin typeface="Times New Roman" panose="02020603050405020304" pitchFamily="18" charset="0"/>
                <a:cs typeface="Times New Roman" panose="02020603050405020304" pitchFamily="18" charset="0"/>
              </a:rPr>
              <a:t>lsblk</a:t>
            </a: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a:t>
            </a:r>
          </a:p>
          <a:p>
            <a:pPr rtl="0">
              <a:buNone/>
            </a:pPr>
            <a:r>
              <a:rPr lang="en-US" sz="300" dirty="0">
                <a:latin typeface="Times New Roman" panose="02020603050405020304" pitchFamily="18" charset="0"/>
                <a:cs typeface="Times New Roman" panose="02020603050405020304" pitchFamily="18" charset="0"/>
              </a:rPr>
              <a:t>2. </a:t>
            </a:r>
            <a:r>
              <a:rPr lang="en-US" sz="300" dirty="0" err="1">
                <a:latin typeface="Times New Roman" panose="02020603050405020304" pitchFamily="18" charset="0"/>
                <a:cs typeface="Times New Roman" panose="02020603050405020304" pitchFamily="18" charset="0"/>
              </a:rPr>
              <a:t>fdisk</a:t>
            </a: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a:t>
            </a:r>
          </a:p>
          <a:p>
            <a:pPr rtl="0">
              <a:buNone/>
            </a:pPr>
            <a:r>
              <a:rPr lang="en-US" sz="300" dirty="0">
                <a:latin typeface="Times New Roman" panose="02020603050405020304" pitchFamily="18" charset="0"/>
                <a:cs typeface="Times New Roman" panose="02020603050405020304" pitchFamily="18" charset="0"/>
              </a:rPr>
              <a:t>3. </a:t>
            </a:r>
            <a:r>
              <a:rPr lang="en-US" sz="300" dirty="0" err="1">
                <a:latin typeface="Times New Roman" panose="02020603050405020304" pitchFamily="18" charset="0"/>
                <a:cs typeface="Times New Roman" panose="02020603050405020304" pitchFamily="18" charset="0"/>
              </a:rPr>
              <a:t>mkfs.xfs</a:t>
            </a: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a:t>
            </a:r>
          </a:p>
          <a:p>
            <a:pPr rtl="0">
              <a:buNone/>
            </a:pPr>
            <a:r>
              <a:rPr lang="en-US" sz="300" dirty="0">
                <a:latin typeface="Times New Roman" panose="02020603050405020304" pitchFamily="18" charset="0"/>
                <a:cs typeface="Times New Roman" panose="02020603050405020304" pitchFamily="18" charset="0"/>
              </a:rPr>
              <a:t>4. </a:t>
            </a:r>
            <a:r>
              <a:rPr lang="en-US" sz="300" dirty="0" err="1">
                <a:latin typeface="Times New Roman" panose="02020603050405020304" pitchFamily="18" charset="0"/>
                <a:cs typeface="Times New Roman" panose="02020603050405020304" pitchFamily="18" charset="0"/>
              </a:rPr>
              <a:t>mkdir</a:t>
            </a: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a:t>
            </a:r>
          </a:p>
          <a:p>
            <a:pPr rtl="0">
              <a:buNone/>
            </a:pPr>
            <a:r>
              <a:rPr lang="en-US" sz="300" dirty="0">
                <a:latin typeface="Times New Roman" panose="02020603050405020304" pitchFamily="18" charset="0"/>
                <a:cs typeface="Times New Roman" panose="02020603050405020304" pitchFamily="18" charset="0"/>
              </a:rPr>
              <a:t>5. mount</a:t>
            </a:r>
          </a:p>
          <a:p>
            <a:pPr rtl="0">
              <a:buNone/>
            </a:pPr>
            <a:r>
              <a:rPr lang="en-US" sz="300" dirty="0">
                <a:latin typeface="Times New Roman" panose="02020603050405020304" pitchFamily="18" charset="0"/>
                <a:cs typeface="Times New Roman" panose="02020603050405020304" pitchFamily="18" charset="0"/>
              </a:rPr>
              <a:t>      ↓</a:t>
            </a:r>
          </a:p>
          <a:p>
            <a:pPr rtl="0">
              <a:buNone/>
            </a:pPr>
            <a:r>
              <a:rPr lang="en-US" sz="300" dirty="0">
                <a:latin typeface="Times New Roman" panose="02020603050405020304" pitchFamily="18" charset="0"/>
                <a:cs typeface="Times New Roman" panose="02020603050405020304" pitchFamily="18" charset="0"/>
              </a:rPr>
              <a:t>6. </a:t>
            </a:r>
            <a:r>
              <a:rPr lang="en-US" sz="300" dirty="0" err="1">
                <a:latin typeface="Times New Roman" panose="02020603050405020304" pitchFamily="18" charset="0"/>
                <a:cs typeface="Times New Roman" panose="02020603050405020304" pitchFamily="18" charset="0"/>
              </a:rPr>
              <a:t>df</a:t>
            </a:r>
            <a:r>
              <a:rPr lang="en-US" sz="300" dirty="0">
                <a:latin typeface="Times New Roman" panose="02020603050405020304" pitchFamily="18" charset="0"/>
                <a:cs typeface="Times New Roman" panose="02020603050405020304" pitchFamily="18" charset="0"/>
              </a:rPr>
              <a:t> -h / </a:t>
            </a:r>
            <a:r>
              <a:rPr lang="en-US" sz="300" dirty="0" err="1">
                <a:latin typeface="Times New Roman" panose="02020603050405020304" pitchFamily="18" charset="0"/>
                <a:cs typeface="Times New Roman" panose="02020603050405020304" pitchFamily="18" charset="0"/>
              </a:rPr>
              <a:t>findmnt</a:t>
            </a:r>
            <a:endParaRPr lang="en-US" sz="300" dirty="0">
              <a:latin typeface="Times New Roman" panose="02020603050405020304" pitchFamily="18" charset="0"/>
              <a:cs typeface="Times New Roman" panose="02020603050405020304" pitchFamily="18" charset="0"/>
            </a:endParaRPr>
          </a:p>
          <a:p>
            <a:pPr rtl="0">
              <a:buNone/>
            </a:pPr>
            <a:r>
              <a:rPr lang="en-US" sz="300" dirty="0">
                <a:latin typeface="Times New Roman" panose="02020603050405020304" pitchFamily="18" charset="0"/>
                <a:cs typeface="Times New Roman" panose="02020603050405020304" pitchFamily="18" charset="0"/>
              </a:rPr>
              <a:t>      ↓</a:t>
            </a:r>
          </a:p>
          <a:p>
            <a:pPr rtl="0">
              <a:buNone/>
            </a:pPr>
            <a:r>
              <a:rPr lang="en-US" sz="300" dirty="0">
                <a:latin typeface="Times New Roman" panose="02020603050405020304" pitchFamily="18" charset="0"/>
                <a:cs typeface="Times New Roman" panose="02020603050405020304" pitchFamily="18" charset="0"/>
              </a:rPr>
              <a:t>7. /</a:t>
            </a:r>
            <a:r>
              <a:rPr lang="en-US" sz="300" dirty="0" err="1">
                <a:latin typeface="Times New Roman" panose="02020603050405020304" pitchFamily="18" charset="0"/>
                <a:cs typeface="Times New Roman" panose="02020603050405020304" pitchFamily="18" charset="0"/>
              </a:rPr>
              <a:t>etc</a:t>
            </a:r>
            <a:r>
              <a:rPr lang="en-US" sz="300" dirty="0">
                <a:latin typeface="Times New Roman" panose="02020603050405020304" pitchFamily="18" charset="0"/>
                <a:cs typeface="Times New Roman" panose="02020603050405020304" pitchFamily="18" charset="0"/>
              </a:rPr>
              <a:t>/</a:t>
            </a:r>
            <a:r>
              <a:rPr lang="en-US" sz="300" dirty="0" err="1">
                <a:latin typeface="Times New Roman" panose="02020603050405020304" pitchFamily="18" charset="0"/>
                <a:cs typeface="Times New Roman" panose="02020603050405020304" pitchFamily="18" charset="0"/>
              </a:rPr>
              <a:t>fstab</a:t>
            </a:r>
            <a:endParaRPr lang="en-US" sz="300" dirty="0">
              <a:latin typeface="Times New Roman" panose="02020603050405020304" pitchFamily="18" charset="0"/>
              <a:cs typeface="Times New Roman" panose="02020603050405020304" pitchFamily="18" charset="0"/>
            </a:endParaRPr>
          </a:p>
          <a:p>
            <a:pPr>
              <a:buNone/>
            </a:pPr>
            <a:r>
              <a:rPr lang="en-US" sz="300" b="1" dirty="0">
                <a:latin typeface="Times New Roman" panose="02020603050405020304" pitchFamily="18" charset="0"/>
                <a:cs typeface="Times New Roman" panose="02020603050405020304" pitchFamily="18" charset="0"/>
              </a:rPr>
              <a:t>In simple English:</a:t>
            </a:r>
          </a:p>
          <a:p>
            <a:pPr>
              <a:buNone/>
            </a:pPr>
            <a:r>
              <a:rPr lang="en-US" sz="300" b="1" dirty="0">
                <a:latin typeface="Times New Roman" panose="02020603050405020304" pitchFamily="18" charset="0"/>
                <a:cs typeface="Times New Roman" panose="02020603050405020304" pitchFamily="18" charset="0"/>
              </a:rPr>
              <a:t>Find → Partition → Format → Create folder → Mount → Verify → Make permanent</a:t>
            </a:r>
            <a:endParaRPr lang="en-US" sz="300" dirty="0">
              <a:latin typeface="Times New Roman" panose="02020603050405020304" pitchFamily="18" charset="0"/>
              <a:cs typeface="Times New Roman" panose="02020603050405020304" pitchFamily="18" charset="0"/>
            </a:endParaRPr>
          </a:p>
          <a:p>
            <a:pPr>
              <a:buNone/>
            </a:pPr>
            <a:r>
              <a:rPr lang="en-US" sz="300" dirty="0">
                <a:latin typeface="Times New Roman" panose="02020603050405020304" pitchFamily="18" charset="0"/>
                <a:cs typeface="Times New Roman" panose="02020603050405020304" pitchFamily="18" charset="0"/>
              </a:rPr>
              <a:t>That's the complete process for attaching a new VMware virtual disk and mounting it in Rocky Linux. </a:t>
            </a:r>
          </a:p>
          <a:p>
            <a:pPr>
              <a:buNone/>
            </a:pPr>
            <a:r>
              <a:rPr lang="en-US" sz="300" b="1" dirty="0">
                <a:latin typeface="Times New Roman" panose="02020603050405020304" pitchFamily="18" charset="0"/>
                <a:cs typeface="Times New Roman" panose="02020603050405020304" pitchFamily="18" charset="0"/>
              </a:rPr>
              <a:t>Official references:</a:t>
            </a:r>
            <a:r>
              <a:rPr lang="en-US" sz="300" dirty="0">
                <a:latin typeface="Times New Roman" panose="02020603050405020304" pitchFamily="18" charset="0"/>
                <a:cs typeface="Times New Roman" panose="02020603050405020304" pitchFamily="18" charset="0"/>
              </a:rPr>
              <a:t> </a:t>
            </a:r>
            <a:r>
              <a:rPr lang="en-US" sz="300" dirty="0">
                <a:latin typeface="Times New Roman" panose="02020603050405020304" pitchFamily="18" charset="0"/>
                <a:cs typeface="Times New Roman" panose="02020603050405020304" pitchFamily="18" charset="0"/>
                <a:hlinkClick r:id="rId2"/>
              </a:rPr>
              <a:t>Red Hat — Mounting File Systems</a:t>
            </a:r>
            <a:r>
              <a:rPr lang="en-US" sz="300" dirty="0">
                <a:latin typeface="Times New Roman" panose="02020603050405020304" pitchFamily="18" charset="0"/>
                <a:cs typeface="Times New Roman" panose="02020603050405020304" pitchFamily="18" charset="0"/>
              </a:rPr>
              <a:t> · </a:t>
            </a:r>
            <a:r>
              <a:rPr lang="en-US" sz="300" dirty="0">
                <a:latin typeface="Times New Roman" panose="02020603050405020304" pitchFamily="18" charset="0"/>
                <a:cs typeface="Times New Roman" panose="02020603050405020304" pitchFamily="18" charset="0"/>
                <a:hlinkClick r:id="rId3"/>
              </a:rPr>
              <a:t>Red Hat — Persistent Mounts with /</a:t>
            </a:r>
            <a:r>
              <a:rPr lang="en-US" sz="300" dirty="0" err="1">
                <a:latin typeface="Times New Roman" panose="02020603050405020304" pitchFamily="18" charset="0"/>
                <a:cs typeface="Times New Roman" panose="02020603050405020304" pitchFamily="18" charset="0"/>
                <a:hlinkClick r:id="rId3"/>
              </a:rPr>
              <a:t>etc</a:t>
            </a:r>
            <a:r>
              <a:rPr lang="en-US" sz="300" dirty="0">
                <a:latin typeface="Times New Roman" panose="02020603050405020304" pitchFamily="18" charset="0"/>
                <a:cs typeface="Times New Roman" panose="02020603050405020304" pitchFamily="18" charset="0"/>
                <a:hlinkClick r:id="rId3"/>
              </a:rPr>
              <a:t>/</a:t>
            </a:r>
            <a:r>
              <a:rPr lang="en-US" sz="300" dirty="0" err="1">
                <a:latin typeface="Times New Roman" panose="02020603050405020304" pitchFamily="18" charset="0"/>
                <a:cs typeface="Times New Roman" panose="02020603050405020304" pitchFamily="18" charset="0"/>
                <a:hlinkClick r:id="rId3"/>
              </a:rPr>
              <a:t>fstab</a:t>
            </a:r>
            <a:r>
              <a:rPr lang="en-US" sz="300" dirty="0">
                <a:latin typeface="Times New Roman" panose="02020603050405020304" pitchFamily="18" charset="0"/>
                <a:cs typeface="Times New Roman" panose="02020603050405020304" pitchFamily="18" charset="0"/>
              </a:rPr>
              <a:t> · </a:t>
            </a:r>
            <a:r>
              <a:rPr lang="en-US" sz="300" dirty="0">
                <a:latin typeface="Times New Roman" panose="02020603050405020304" pitchFamily="18" charset="0"/>
                <a:cs typeface="Times New Roman" panose="02020603050405020304" pitchFamily="18" charset="0"/>
                <a:hlinkClick r:id="rId4"/>
              </a:rPr>
              <a:t>Red Hat — Creating XFS File Systems</a:t>
            </a:r>
            <a:endParaRPr lang="en-US" sz="300" dirty="0"/>
          </a:p>
        </p:txBody>
      </p:sp>
    </p:spTree>
    <p:extLst>
      <p:ext uri="{BB962C8B-B14F-4D97-AF65-F5344CB8AC3E}">
        <p14:creationId xmlns:p14="http://schemas.microsoft.com/office/powerpoint/2010/main" val="2172166067"/>
      </p:ext>
    </p:extLst>
  </p:cSld>
  <p:clrMapOvr>
    <a:masterClrMapping/>
  </p:clrMapOvr>
</p:sld>
</file>

<file path=ppt/theme/theme1.xml><?xml version="1.0" encoding="utf-8"?>
<a:theme xmlns:a="http://schemas.openxmlformats.org/drawingml/2006/main" name="Multimedia Software Pitch Deck by Slidesgo">
  <a:themeElements>
    <a:clrScheme name="Simple Light">
      <a:dk1>
        <a:srgbClr val="35363B"/>
      </a:dk1>
      <a:lt1>
        <a:srgbClr val="F3F3F3"/>
      </a:lt1>
      <a:dk2>
        <a:srgbClr val="D9DDE3"/>
      </a:dk2>
      <a:lt2>
        <a:srgbClr val="BA0034"/>
      </a:lt2>
      <a:accent1>
        <a:srgbClr val="F8B85E"/>
      </a:accent1>
      <a:accent2>
        <a:srgbClr val="34909D"/>
      </a:accent2>
      <a:accent3>
        <a:srgbClr val="55C0ED"/>
      </a:accent3>
      <a:accent4>
        <a:srgbClr val="6F7082"/>
      </a:accent4>
      <a:accent5>
        <a:srgbClr val="CED0D6"/>
      </a:accent5>
      <a:accent6>
        <a:srgbClr val="42444F"/>
      </a:accent6>
      <a:hlink>
        <a:srgbClr val="3536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17630</TotalTime>
  <Words>14169</Words>
  <Application>Microsoft Office PowerPoint</Application>
  <PresentationFormat>On-screen Show (16:9)</PresentationFormat>
  <Paragraphs>2298</Paragraphs>
  <Slides>256</Slides>
  <Notes>11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256</vt:i4>
      </vt:variant>
    </vt:vector>
  </HeadingPairs>
  <TitlesOfParts>
    <vt:vector size="270" baseType="lpstr">
      <vt:lpstr>Microsoft PhagsPa</vt:lpstr>
      <vt:lpstr>Chiller</vt:lpstr>
      <vt:lpstr>Wingdings</vt:lpstr>
      <vt:lpstr>Arial</vt:lpstr>
      <vt:lpstr>Times New Roman</vt:lpstr>
      <vt:lpstr>Lato</vt:lpstr>
      <vt:lpstr>Aptos Black</vt:lpstr>
      <vt:lpstr>Epilogue</vt:lpstr>
      <vt:lpstr>Calibri</vt:lpstr>
      <vt:lpstr>Titillium Web</vt:lpstr>
      <vt:lpstr>Nunito Light</vt:lpstr>
      <vt:lpstr>Montserrat</vt:lpstr>
      <vt:lpstr>Raleway</vt:lpstr>
      <vt:lpstr>Multimedia Software Pitch Deck by Slidesgo</vt:lpstr>
      <vt:lpstr>What is an OS?</vt:lpstr>
      <vt:lpstr>PowerPoint Presentation</vt:lpstr>
      <vt:lpstr>Definition: An OS that allows multiple users to access a computer system simultaneously or at different times. Ex: Rack Servers, Blade Servers, etc.</vt:lpstr>
      <vt:lpstr>PowerPoint Presentation</vt:lpstr>
      <vt:lpstr>PowerPoint Presentation</vt:lpstr>
      <vt:lpstr>PowerPoint Presentation</vt:lpstr>
      <vt:lpstr>Unix is a family of operating systems that originated in the late 1960s at Bell Labs, a research facility affiliated with AT&amp;T. It is a powerful and versatile operating system that has had a significant impact on the development of modern computing. Unix-like operating systems, often referred to as Unix or Unix-like systems, are designed to be highly portable, scalable, and provide a robust set of tools and utilities for various computing tasks.</vt:lpstr>
      <vt:lpstr>PowerPoint Presentation</vt:lpstr>
      <vt:lpstr>Key characteristics and features of Unix and Unix-like operating systems include:</vt:lpstr>
      <vt:lpstr>Key characteristics and features of Unix and Unix-like operating systems include:</vt:lpstr>
      <vt:lpstr>Facts to Agree</vt:lpstr>
      <vt:lpstr>PowerPoint Presentation</vt:lpstr>
      <vt:lpstr>PowerPoint Presentation</vt:lpstr>
      <vt:lpstr>PowerPoint Presentation</vt:lpstr>
      <vt:lpstr>PowerPoint Presentation</vt:lpstr>
      <vt:lpstr>Key characteristics of Linux and Linux distributions include:</vt:lpstr>
      <vt:lpstr>Key characteristics of Linux and Linux distributions include:</vt:lpstr>
      <vt:lpstr>PowerPoint Presentation</vt:lpstr>
      <vt:lpstr>Table Summarizing the Key Differences</vt:lpstr>
      <vt:lpstr>PowerPoint Presentation</vt:lpstr>
      <vt:lpstr>PowerPoint Presentation</vt:lpstr>
      <vt:lpstr>Terminal vs Shell</vt:lpstr>
      <vt:lpstr>Major Linux Families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File system in Linux</vt:lpstr>
      <vt:lpstr>Linux typically uses a hierarchical file system structure that starts from a single root directory denoted by /.  This structure is based on the Filesystem Hierarchy Standard (FHS).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some of the basic commands</vt:lpstr>
      <vt:lpstr>Hostname</vt:lpstr>
      <vt:lpstr>Date and Time view as well as management</vt:lpstr>
      <vt:lpstr>To set Time zones</vt:lpstr>
      <vt:lpstr>Calendar </vt:lpstr>
      <vt:lpstr>Basic Commands</vt:lpstr>
      <vt:lpstr>Absolute path vs Relative path </vt:lpstr>
      <vt:lpstr>PowerPoint Presentation</vt:lpstr>
      <vt:lpstr>PowerPoint Presentation</vt:lpstr>
      <vt:lpstr>PowerPoint Presentation</vt:lpstr>
      <vt:lpstr>PowerPoint Presentation</vt:lpstr>
      <vt:lpstr>PowerPoint Presentation</vt:lpstr>
      <vt:lpstr>rm (remove) command is used for removing file and directories with option. rmdir command is also used for removing empty directory.</vt:lpstr>
      <vt:lpstr>VIM Editor</vt:lpstr>
      <vt:lpstr>PowerPoint Presentation</vt:lpstr>
      <vt:lpstr>VIM- Command Mode</vt:lpstr>
      <vt:lpstr>VIM- Command Mode</vt:lpstr>
      <vt:lpstr>VIM- Command Mode</vt:lpstr>
      <vt:lpstr>VIM- Extended Mode</vt:lpstr>
      <vt:lpstr>PowerPoint Presentation</vt:lpstr>
      <vt:lpstr>PowerPoint Presentation</vt:lpstr>
      <vt:lpstr>PowerPoint Presentation</vt:lpstr>
      <vt:lpstr>What is GREP?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Pipeline</vt:lpstr>
      <vt:lpstr>How o use Pipeline and Command integration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Local Users </vt:lpstr>
      <vt:lpstr>commands</vt:lpstr>
      <vt:lpstr>Local user </vt:lpstr>
      <vt:lpstr>UID Ranges</vt:lpstr>
      <vt:lpstr>PowerPoint Presentation</vt:lpstr>
      <vt:lpstr>PowerPoint Presentation</vt:lpstr>
      <vt:lpstr>Managing Local Users </vt:lpstr>
      <vt:lpstr>PowerPoint Presentation</vt:lpstr>
      <vt:lpstr>PowerPoint Presentation</vt:lpstr>
      <vt:lpstr>PowerPoint Presentation</vt:lpstr>
      <vt:lpstr>Rename a username </vt:lpstr>
      <vt:lpstr>nologin, login can never be done why no login: to no to interact with the other user, it may be a data base stored once.</vt:lpstr>
      <vt:lpstr>Create user without a primary group</vt:lpstr>
      <vt:lpstr>Example </vt:lpstr>
      <vt:lpstr>PowerPoint Presentation</vt:lpstr>
      <vt:lpstr>Group</vt:lpstr>
      <vt:lpstr>PowerPoint Presentation</vt:lpstr>
      <vt:lpstr>PowerPoint Presentation</vt:lpstr>
      <vt:lpstr>Club all the commands</vt:lpstr>
      <vt:lpstr># usermod [option] &lt;username&gt;</vt:lpstr>
      <vt:lpstr>Add a user in multiple group/Add user to a secondary group   </vt:lpstr>
      <vt:lpstr>PowerPoint Presentation</vt:lpstr>
      <vt:lpstr>PowerPoint Presentation</vt:lpstr>
      <vt:lpstr>PowerPoint Presentation</vt:lpstr>
      <vt:lpstr>To add a user in multiple group</vt:lpstr>
      <vt:lpstr>To add multiple user in a single group</vt:lpstr>
      <vt:lpstr>PowerPoint Presentation</vt:lpstr>
      <vt:lpstr>PowerPoint Presentation</vt:lpstr>
      <vt:lpstr>PowerPoint Presentation</vt:lpstr>
      <vt:lpstr>PowerPoint Presentation</vt:lpstr>
      <vt:lpstr>PowerPoint Presentation</vt:lpstr>
      <vt:lpstr>Gaining Super User Access</vt:lpstr>
      <vt:lpstr> • Switching Users</vt:lpstr>
      <vt:lpstr>PowerPoint Presentation</vt:lpstr>
      <vt:lpstr>Sudo</vt:lpstr>
      <vt:lpstr>sudoers</vt:lpstr>
      <vt:lpstr>PowerPoint Presentation</vt:lpstr>
      <vt:lpstr>PowerPoint Presentation</vt:lpstr>
      <vt:lpstr>PowerPoint Presentation</vt:lpstr>
      <vt:lpstr>PowerPoint Presentation</vt:lpstr>
      <vt:lpstr>PowerPoint Presentation</vt:lpstr>
      <vt:lpstr>File Permission</vt:lpstr>
      <vt:lpstr>Types of Permission</vt:lpstr>
      <vt:lpstr>PowerPoint Presentation</vt:lpstr>
      <vt:lpstr>File Permission</vt:lpstr>
      <vt:lpstr>Symbolic Method</vt:lpstr>
      <vt:lpstr>Numeric Method</vt:lpstr>
      <vt:lpstr>PowerPoint Presentation</vt:lpstr>
      <vt:lpstr>PowerPoint Presentation</vt:lpstr>
      <vt:lpstr>Special Permission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Access control list</vt:lpstr>
      <vt:lpstr>PowerPoint Presentation</vt:lpstr>
      <vt:lpstr>To remove a specific entry</vt:lpstr>
      <vt:lpstr>Mounting a New Volume in Linux</vt:lpstr>
      <vt:lpstr>sudo -i sudo = SuperUser DO; -i = login shell. This opens a root administrator shell so storage commands can be performed without typing sudo every time. </vt:lpstr>
      <vt:lpstr>4. Check filesystems  lsblk -f The -f option shows filesystem information such as FSTYPE and UUID. A blank FSTYPE on the new disk normally means it has no filesystem yet.</vt:lpstr>
      <vt:lpstr>PowerPoint Presentation</vt:lpstr>
      <vt:lpstr>PowerPoint Presentation</vt:lpstr>
      <vt:lpstr>PowerPoint Presentation</vt:lpstr>
      <vt:lpstr>PowerPoint Presentation</vt:lpstr>
      <vt:lpstr>PowerPoint Presentation</vt:lpstr>
      <vt:lpstr>PowerPoint Presentation</vt:lpstr>
      <vt:lpstr>🔧 Basic Network Commands </vt:lpstr>
      <vt:lpstr>📡 Network Status &amp; Info </vt:lpstr>
      <vt:lpstr>🛠️ Network Manager Service </vt:lpstr>
      <vt:lpstr>🌐 Firewalld Commands </vt:lpstr>
      <vt:lpstr>🧠 Useful Tools </vt:lpstr>
      <vt:lpstr>PowerPoint Presentation</vt:lpstr>
      <vt:lpstr>What Is a Package Management</vt:lpstr>
      <vt:lpstr>PowerPoint Presentation</vt:lpstr>
      <vt:lpstr>PowerPoint Presentation</vt:lpstr>
      <vt:lpstr>What Is a Repository?</vt:lpstr>
      <vt:lpstr>What Are Dependencies?</vt:lpstr>
      <vt:lpstr>What Is Metadata?</vt:lpstr>
      <vt:lpstr>What Is a Package?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Basic Package Management Commands</vt:lpstr>
      <vt:lpstr>PowerPoint Presentation</vt:lpstr>
      <vt:lpstr>sudo yum install &lt;Package&gt; sudo yum update &lt;Package&gt; sudo yum remove &lt;Package&gt;</vt:lpstr>
      <vt:lpstr>PowerPoint Presentation</vt:lpstr>
      <vt:lpstr>Installations of a Few Packages</vt:lpstr>
      <vt:lpstr>Installations of a Few Packages</vt:lpstr>
      <vt:lpstr>OpenSSH Configuration </vt:lpstr>
      <vt:lpstr>Why We Use OpenSSH?</vt:lpstr>
      <vt:lpstr>PowerPoint Presentation</vt:lpstr>
      <vt:lpstr>PowerPoint Presentation</vt:lpstr>
      <vt:lpstr>PowerPoint Presentation</vt:lpstr>
      <vt:lpstr>PowerPoint Presentation</vt:lpstr>
      <vt:lpstr>SSH Server Packages for Linux</vt:lpstr>
      <vt:lpstr>PowerPoint Presentation</vt:lpstr>
      <vt:lpstr>PowerPoint Presentation</vt:lpstr>
      <vt:lpstr>PowerPoint Presentation</vt:lpstr>
      <vt:lpstr>PowerPoint Presentation</vt:lpstr>
      <vt:lpstr>Access from Windows</vt:lpstr>
      <vt:lpstr>SSH Key-Based Authentication</vt:lpstr>
      <vt:lpstr>Final Workflow Summary</vt:lpstr>
      <vt:lpstr>Samba Configuration</vt:lpstr>
      <vt:lpstr>Step 1: Install Samba</vt:lpstr>
      <vt:lpstr>Step 3: Create Linux User</vt:lpstr>
      <vt:lpstr>mkdir /sharedfolder chown -R student1:student1 /sharedfolder chmod -R 770 /sharedfolder  Creates folder and sets proper ownership &amp; permissions.</vt:lpstr>
      <vt:lpstr>Step 6: Edit Samba Configuration</vt:lpstr>
      <vt:lpstr>Step 7: Check &amp; Restart</vt:lpstr>
      <vt:lpstr>SELinux Fix (If Access Denied)</vt:lpstr>
      <vt:lpstr>PowerPoint Presentation</vt:lpstr>
      <vt:lpstr>What is Apache Server?</vt:lpstr>
      <vt:lpstr>Why is it used in Linux</vt:lpstr>
      <vt:lpstr>PowerPoint Presentation</vt:lpstr>
      <vt:lpstr>PowerPoint Presentation</vt:lpstr>
      <vt:lpstr>PowerPoint Presentation</vt:lpstr>
      <vt:lpstr>PowerPoint Presentation</vt:lpstr>
      <vt:lpstr>COCKPIT</vt:lpstr>
      <vt:lpstr>What can you do with Cockpit?</vt:lpstr>
      <vt:lpstr>How to Enable Cockpit</vt:lpstr>
      <vt:lpstr>How to Enable Cockpit</vt:lpstr>
      <vt:lpstr>Final Workflow Summary</vt:lpstr>
      <vt:lpstr>Webmin Configuration</vt:lpstr>
      <vt:lpstr>PowerPoint Presentation</vt:lpstr>
      <vt:lpstr>PowerPoint Presentation</vt:lpstr>
      <vt:lpstr>PowerPoint Presentation</vt:lpstr>
      <vt:lpstr>Step 5: Enable at Boot</vt:lpstr>
      <vt:lpstr>Step 7: Configure Firewall</vt:lpstr>
      <vt:lpstr>Access from Browser</vt:lpstr>
      <vt:lpstr>SELinux Check (If Needed)</vt:lpstr>
      <vt:lpstr>Important Linux storage/device names</vt:lpstr>
      <vt:lpstr>Imagine you add a 20 GB virtual hard disk to Vmware.</vt:lpstr>
      <vt:lpstr>STEP 1 — Add a new disk in VMware</vt:lpstr>
      <vt:lpstr>STEP 2 — Become root</vt:lpstr>
      <vt:lpstr>STEP 3 — Find your new disk</vt:lpstr>
      <vt:lpstr>PowerPoint Presentation</vt:lpstr>
      <vt:lpstr>STEP 4 — Check the filesystem</vt:lpstr>
      <vt:lpstr>STEP 5 — Create a partition</vt:lpstr>
      <vt:lpstr>PowerPoint Presentation</vt:lpstr>
      <vt:lpstr>STEP 6 — Verify the partition</vt:lpstr>
      <vt:lpstr>PowerPoint Presentation</vt:lpstr>
      <vt:lpstr>PowerPoint Presentation</vt:lpstr>
      <vt:lpstr>STEP 9 — Create the mount point</vt:lpstr>
      <vt:lpstr>STEP 10 — Mount the volume</vt:lpstr>
      <vt:lpstr>PowerPoint Presentation</vt:lpstr>
      <vt:lpstr>STEP 12 — Test whether you can use the disk</vt:lpstr>
      <vt:lpstr>PowerPoint Presentation</vt:lpstr>
      <vt:lpstr>PowerPoint Presentation</vt:lpstr>
      <vt:lpstr>STEP 15 — Edit /etc/fstab</vt:lpstr>
      <vt:lpstr>PowerPoint Presentation</vt:lpstr>
      <vt:lpstr>PowerPoint Presentation</vt:lpstr>
      <vt:lpstr>STEP 17</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Linux OS</dc:title>
  <dc:creator>Tejas Sathish</dc:creator>
  <cp:lastModifiedBy>Prasad G M</cp:lastModifiedBy>
  <cp:revision>380</cp:revision>
  <cp:lastPrinted>2025-11-28T05:24:34Z</cp:lastPrinted>
  <dcterms:modified xsi:type="dcterms:W3CDTF">2026-09-04T07:36:17Z</dcterms:modified>
</cp:coreProperties>
</file>